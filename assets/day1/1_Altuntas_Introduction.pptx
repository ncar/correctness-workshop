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303" r:id="rId2"/>
    <p:sldId id="319" r:id="rId3"/>
    <p:sldId id="335" r:id="rId4"/>
    <p:sldId id="324" r:id="rId5"/>
    <p:sldId id="338" r:id="rId6"/>
    <p:sldId id="315" r:id="rId7"/>
    <p:sldId id="336" r:id="rId8"/>
    <p:sldId id="345" r:id="rId9"/>
    <p:sldId id="343" r:id="rId10"/>
    <p:sldId id="401" r:id="rId11"/>
    <p:sldId id="400" r:id="rId12"/>
    <p:sldId id="339" r:id="rId13"/>
    <p:sldId id="330" r:id="rId14"/>
    <p:sldId id="373" r:id="rId15"/>
    <p:sldId id="340" r:id="rId16"/>
    <p:sldId id="394" r:id="rId17"/>
    <p:sldId id="395" r:id="rId18"/>
    <p:sldId id="391" r:id="rId19"/>
    <p:sldId id="397" r:id="rId20"/>
    <p:sldId id="396" r:id="rId21"/>
    <p:sldId id="392" r:id="rId22"/>
    <p:sldId id="388" r:id="rId23"/>
    <p:sldId id="353" r:id="rId24"/>
    <p:sldId id="279" r:id="rId25"/>
    <p:sldId id="348" r:id="rId26"/>
    <p:sldId id="276" r:id="rId27"/>
    <p:sldId id="274" r:id="rId28"/>
    <p:sldId id="275" r:id="rId29"/>
    <p:sldId id="360" r:id="rId30"/>
    <p:sldId id="359" r:id="rId31"/>
    <p:sldId id="363" r:id="rId32"/>
    <p:sldId id="365" r:id="rId33"/>
    <p:sldId id="361" r:id="rId34"/>
    <p:sldId id="366" r:id="rId35"/>
    <p:sldId id="367" r:id="rId36"/>
    <p:sldId id="370" r:id="rId37"/>
    <p:sldId id="368" r:id="rId38"/>
    <p:sldId id="404" r:id="rId39"/>
    <p:sldId id="407" r:id="rId40"/>
    <p:sldId id="284" r:id="rId41"/>
    <p:sldId id="398" r:id="rId42"/>
    <p:sldId id="423" r:id="rId43"/>
    <p:sldId id="424" r:id="rId44"/>
    <p:sldId id="425" r:id="rId45"/>
    <p:sldId id="371" r:id="rId46"/>
    <p:sldId id="286" r:id="rId47"/>
    <p:sldId id="287" r:id="rId48"/>
    <p:sldId id="288" r:id="rId49"/>
    <p:sldId id="297" r:id="rId50"/>
    <p:sldId id="300" r:id="rId51"/>
    <p:sldId id="427" r:id="rId52"/>
    <p:sldId id="298" r:id="rId53"/>
    <p:sldId id="299" r:id="rId54"/>
    <p:sldId id="412" r:id="rId55"/>
    <p:sldId id="413" r:id="rId56"/>
    <p:sldId id="414" r:id="rId57"/>
    <p:sldId id="356" r:id="rId58"/>
    <p:sldId id="419" r:id="rId59"/>
    <p:sldId id="354" r:id="rId60"/>
    <p:sldId id="355" r:id="rId61"/>
    <p:sldId id="406" r:id="rId62"/>
    <p:sldId id="410" r:id="rId63"/>
    <p:sldId id="411" r:id="rId64"/>
    <p:sldId id="420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6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8"/>
    <p:restoredTop sz="93699"/>
  </p:normalViewPr>
  <p:slideViewPr>
    <p:cSldViewPr snapToGrid="0">
      <p:cViewPr varScale="1">
        <p:scale>
          <a:sx n="114" d="100"/>
          <a:sy n="114" d="100"/>
        </p:scale>
        <p:origin x="1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230EA-E8E7-8740-87D1-4C0E850FB1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620ED-3F07-3D43-B38B-46C9568C4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27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Background image can be used as is or changed for a particular presentation in the “Slide Master” button found under the “View” tab.  </a:t>
            </a:r>
            <a:endParaRPr b="0"/>
          </a:p>
        </p:txBody>
      </p:sp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620ED-3F07-3D43-B38B-46C9568C404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3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ad-hoc, monolithic prototype,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like the quick scripts many of us have written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620ED-3F07-3D43-B38B-46C9568C404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58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D876-7163-A462-B0C9-0415F7A9B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E5E3B-4D25-5BAC-EE69-27CED74BA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39BF8-8BFF-EAF6-57AF-D2B01FC7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ACDBD-D3A9-0D9A-0501-676F4138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D5ECC-16B7-7AF9-3D34-6FA7DAD7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3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1531A-1223-0536-CE2D-44C0E01C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735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1135A-0BD0-CCC6-C925-175C9D29D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609"/>
            <a:ext cx="10515600" cy="503433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4pPr>
              <a:defRPr sz="18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12FB2-C227-DE35-88F4-FF841FE1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83C7D-FDB3-5605-399A-CB827E9F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9212-9DEA-C9C5-504C-76D4E0F3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6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E724-5E49-2647-E8A8-5FC312EF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63D64-BDD3-37DC-3EF9-D6562E12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446CB-78F4-D362-FDAC-0B8BA04F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1CA29-D47B-92BD-F543-45BBC964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C6CDF-60FB-4C19-9837-EEA5F173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8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D9D7-AF60-5F1B-2C6E-E68D86C76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CA28B-C2FE-E8EC-D943-D5DF6C460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74F30-4B43-8899-FB4B-CE1EDB90D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DC1CB-E7B7-3300-85EB-F0C83FCB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4D8DA-0D92-B3E6-41FB-203BA688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5F190-09C9-7D1A-A25C-819C0B26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90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9451-37E8-EDDB-C545-8B66673D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CBC38-CFD6-DA65-CC6F-DFE167BCE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38A94-A5FC-37E8-1961-3F3F6D61F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EB1B3C-149D-8FF0-04F5-AE249CBEA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CF487-0CB4-9188-E8A4-B38BE7B75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821A8-99E3-949A-1F82-757F59B3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3D982F-4B05-BC3E-20A0-751D72A1B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4E5E6-8A41-887D-FF1D-119A2917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8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E7038-C29C-9B53-61F8-49FA200C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0A15A-1D1C-EFBF-FE93-4D86D3EBA1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71719-E5A8-6020-A98E-78762617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01E74A-1FA6-B8D1-9597-AE9A6A0A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5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67304E-5CD4-2D02-6442-D064FBAC06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58276-4212-1082-1838-D07E44A5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5D020-8B3E-5BE7-49E7-9868A3D8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8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B687-2B12-0AB7-A51B-9C3046C5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5EBB6-8A28-644B-0892-375F27E1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163C5-9885-FF0F-614E-E0F98617D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9A51D-A8B3-D894-6CB0-9AD310E45F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3AF84-F5C2-EB47-5C5A-49AC230F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9F160-7DA3-9BF1-1917-4D51B908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1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41FE-0050-7DEA-4F1C-866D25C5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A50D8-E4F8-2F5A-3831-3B4C1AA371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24E1F-25A7-1AE3-AEAD-75A3973E2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9F4A-765B-E51A-7281-A5E93D9A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8A84D-DB11-1B16-5BE0-75CC0B97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40E14-50AF-19D0-2341-8E7D0C8E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2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3F963-08D2-1E21-E18E-0FAACB548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CAB4B-A44C-665B-7BCD-7A7E9AA16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02CFE-C8F8-189E-34E0-4A39D1B0BA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2837B-9C33-1D29-E78D-AB53F310B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CE3A-C11F-55B6-7FC4-5167F7B7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8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DBC5C-FDCE-0E16-1973-E9D5ADF8F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0FADE-CCA6-7100-4D96-FB3AC1AAF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F1C79-E64A-D9EB-AA27-4EC4459BF4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FA9CD-4446-DC4F-94E8-05C052BF39C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203F5-FF18-5D12-C46A-D4CEE1FE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A49C2-2875-3C56-3244-4FBEF2BF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05F0C-9FFA-AA42-B275-CCEED7B1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85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35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92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4" Type="http://schemas.openxmlformats.org/officeDocument/2006/relationships/image" Target="../media/image3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/>
          <p:nvPr/>
        </p:nvSpPr>
        <p:spPr>
          <a:xfrm>
            <a:off x="1098683" y="2910082"/>
            <a:ext cx="999460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Rigor and Reasoning in Research Software (R3Sw)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4379081" y="5592546"/>
            <a:ext cx="3433800" cy="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Nov 5-7, 2025</a:t>
            </a:r>
            <a:endParaRPr sz="1400" b="0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503256" y="4572076"/>
            <a:ext cx="11185451" cy="120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cap="none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Alper Altuntas</a:t>
            </a:r>
            <a:endParaRPr lang="en-US" sz="2800" u="none" strike="noStrike" cap="none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00" baseline="300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 strike="noStrike" cap="none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NSF National Center for Atmospheric Research (NCAR</a:t>
            </a:r>
            <a:r>
              <a:rPr lang="en-US" sz="2000" dirty="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</a:p>
        </p:txBody>
      </p:sp>
      <p:sp>
        <p:nvSpPr>
          <p:cNvPr id="6" name="Google Shape;127;p1">
            <a:extLst>
              <a:ext uri="{FF2B5EF4-FFF2-40B4-BE49-F238E27FC236}">
                <a16:creationId xmlns:a16="http://schemas.microsoft.com/office/drawing/2014/main" id="{0041CF33-6693-85BA-2523-AB423BFC3026}"/>
              </a:ext>
            </a:extLst>
          </p:cNvPr>
          <p:cNvSpPr/>
          <p:nvPr/>
        </p:nvSpPr>
        <p:spPr>
          <a:xfrm>
            <a:off x="246245" y="3464080"/>
            <a:ext cx="116994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92D0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Abstraction, Decomposition &amp; Specification</a:t>
            </a:r>
            <a:endParaRPr sz="2200" b="0" i="0" u="none" strike="noStrike" cap="none" dirty="0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BSSw Fellowship Logo">
            <a:extLst>
              <a:ext uri="{FF2B5EF4-FFF2-40B4-BE49-F238E27FC236}">
                <a16:creationId xmlns:a16="http://schemas.microsoft.com/office/drawing/2014/main" id="{739D83FA-9312-FB9E-4AD4-32CBE5905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213" y="230899"/>
            <a:ext cx="2015507" cy="1152870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80D0BE-BBBC-940A-DFFA-CDC81780125A}"/>
              </a:ext>
            </a:extLst>
          </p:cNvPr>
          <p:cNvSpPr txBox="1"/>
          <p:nvPr/>
        </p:nvSpPr>
        <p:spPr>
          <a:xfrm>
            <a:off x="246245" y="6119270"/>
            <a:ext cx="119457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900" b="0" i="0" dirty="0">
                <a:solidFill>
                  <a:srgbClr val="212529"/>
                </a:solidFill>
                <a:effectLst/>
                <a:latin typeface="Montserrat" panose="00000500000000000000" pitchFamily="2" charset="77"/>
              </a:rPr>
              <a:t>This work was supported by the Better Scientific Software Fellowship Program, a collaborative effort of the U.S. Department of Energy (DOE), Office of Advanced Scientific Computing Research via ANL under Contract DE-AC02-06CH11357 and the National Nuclear Security Administration Advanced Simulation and Computing Program via LLNL under Contract DE-AC52-07NA27344; and by the National Science Foundation (NSF) via SHI under Grant No. 2435328.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8FD0-0F79-E45F-1098-08F830B3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72477FC-5863-975C-CE0D-ECA31428F979}"/>
              </a:ext>
            </a:extLst>
          </p:cNvPr>
          <p:cNvSpPr txBox="1"/>
          <p:nvPr/>
        </p:nvSpPr>
        <p:spPr>
          <a:xfrm>
            <a:off x="2167847" y="5674560"/>
            <a:ext cx="7753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“Computational science now constitutes the third pillar of scientific inquiry.” (Presidential Information Technology Advisory Committee Report, 2005)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C601F2-52A4-F8D4-45E6-31FE9AFBB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099" y="955498"/>
            <a:ext cx="4570347" cy="4451856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368FF89F-CBE1-A8AB-292F-2B3416FF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Why this matters?</a:t>
            </a:r>
          </a:p>
        </p:txBody>
      </p:sp>
    </p:spTree>
    <p:extLst>
      <p:ext uri="{BB962C8B-B14F-4D97-AF65-F5344CB8AC3E}">
        <p14:creationId xmlns:p14="http://schemas.microsoft.com/office/powerpoint/2010/main" val="1037806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CEDC8-DFE8-C5AE-DBE2-9FD81EA7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8E79-B3DE-0426-EC17-0E71F4C34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The Goal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4F480-EBB5-E2A5-BB51-9FCD3F919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609"/>
            <a:ext cx="9161678" cy="5034336"/>
          </a:xfrm>
        </p:spPr>
        <p:txBody>
          <a:bodyPr/>
          <a:lstStyle/>
          <a:p>
            <a:r>
              <a:rPr lang="en-US" dirty="0"/>
              <a:t>Explore how to make scientific software more reliable, understandable, and robust.</a:t>
            </a:r>
          </a:p>
          <a:p>
            <a:r>
              <a:rPr lang="en-US" dirty="0"/>
              <a:t>We’ll aim to do so without losing the creativity and speed that make research exciting.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677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8AC092-1627-4B4C-4368-1B131B796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134" y="603803"/>
            <a:ext cx="4043307" cy="40433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A61B1C-6F6C-5211-D61A-16F41C857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The code-and-fix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7B2190-8035-A305-2C27-9A2AC30FE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56" y="1349131"/>
            <a:ext cx="6352642" cy="32868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write code quickly to get results,</a:t>
            </a:r>
            <a:br>
              <a:rPr lang="en-US" dirty="0"/>
            </a:br>
            <a:r>
              <a:rPr lang="en-US" dirty="0"/>
              <a:t>• fix issues as they appear,</a:t>
            </a:r>
            <a:br>
              <a:rPr lang="en-US" dirty="0"/>
            </a:br>
            <a:r>
              <a:rPr lang="en-US" dirty="0"/>
              <a:t>• and hope it holds together.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result? Code that works… most of the time.</a:t>
            </a:r>
            <a:br>
              <a:rPr lang="en-US" dirty="0"/>
            </a:br>
            <a:r>
              <a:rPr lang="en-US" dirty="0"/>
              <a:t>But is fragile, hard to test, and tricky to extend.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B6F7A-CE62-28A3-4C27-601EAE9B6ADD}"/>
              </a:ext>
            </a:extLst>
          </p:cNvPr>
          <p:cNvSpPr txBox="1"/>
          <p:nvPr/>
        </p:nvSpPr>
        <p:spPr>
          <a:xfrm>
            <a:off x="8023865" y="4635957"/>
            <a:ext cx="2615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The code-and-fix style</a:t>
            </a:r>
          </a:p>
        </p:txBody>
      </p:sp>
    </p:spTree>
    <p:extLst>
      <p:ext uri="{BB962C8B-B14F-4D97-AF65-F5344CB8AC3E}">
        <p14:creationId xmlns:p14="http://schemas.microsoft.com/office/powerpoint/2010/main" val="941633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E406-F4E2-5C8B-F78A-4A9CEC6B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652D3-B978-3420-0CFE-7492A29F3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609"/>
            <a:ext cx="9161678" cy="5034336"/>
          </a:xfrm>
        </p:spPr>
        <p:txBody>
          <a:bodyPr/>
          <a:lstStyle/>
          <a:p>
            <a:r>
              <a:rPr lang="en-US" dirty="0"/>
              <a:t>A theory is scientific if it’s </a:t>
            </a:r>
            <a:r>
              <a:rPr lang="en-US" b="1" i="1" dirty="0"/>
              <a:t>refutable</a:t>
            </a:r>
            <a:r>
              <a:rPr lang="en-US" dirty="0"/>
              <a:t>.</a:t>
            </a:r>
          </a:p>
          <a:p>
            <a:r>
              <a:rPr lang="en-US" dirty="0"/>
              <a:t>Similarly, a software can be </a:t>
            </a:r>
            <a:r>
              <a:rPr lang="en-US" b="1" i="1" dirty="0"/>
              <a:t>scientific</a:t>
            </a:r>
            <a:r>
              <a:rPr lang="en-US" dirty="0"/>
              <a:t>, if its testable / verifiable.</a:t>
            </a:r>
          </a:p>
          <a:p>
            <a:r>
              <a:rPr lang="en-US" dirty="0"/>
              <a:t>So, we’ll go over practical techniques to:</a:t>
            </a:r>
          </a:p>
          <a:p>
            <a:pPr lvl="1"/>
            <a:r>
              <a:rPr lang="en-US" b="1" dirty="0"/>
              <a:t>hypothesize</a:t>
            </a:r>
            <a:r>
              <a:rPr lang="en-US" dirty="0"/>
              <a:t>: specify intent</a:t>
            </a:r>
          </a:p>
          <a:p>
            <a:pPr lvl="1"/>
            <a:r>
              <a:rPr lang="en-US" b="1" dirty="0"/>
              <a:t>refute</a:t>
            </a:r>
            <a:r>
              <a:rPr lang="en-US" dirty="0"/>
              <a:t>: test / verification</a:t>
            </a:r>
          </a:p>
          <a:p>
            <a:pPr lvl="1"/>
            <a:r>
              <a:rPr lang="en-US" b="1" dirty="0"/>
              <a:t>refine</a:t>
            </a:r>
            <a:r>
              <a:rPr lang="en-US" dirty="0"/>
              <a:t> code &amp; understanding</a:t>
            </a:r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A0E1B-905E-3368-7FED-2AE11F43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A scientific mindset</a:t>
            </a:r>
          </a:p>
        </p:txBody>
      </p:sp>
    </p:spTree>
    <p:extLst>
      <p:ext uri="{BB962C8B-B14F-4D97-AF65-F5344CB8AC3E}">
        <p14:creationId xmlns:p14="http://schemas.microsoft.com/office/powerpoint/2010/main" val="103285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FA12-6307-0628-D425-B1E3A264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BEC5011-A9A9-C302-0C99-EC97FC280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277" y="1622668"/>
            <a:ext cx="1763352" cy="232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AC31C5-14DF-110C-3416-E8080A1A519E}"/>
              </a:ext>
            </a:extLst>
          </p:cNvPr>
          <p:cNvSpPr txBox="1"/>
          <p:nvPr/>
        </p:nvSpPr>
        <p:spPr>
          <a:xfrm>
            <a:off x="-81280" y="4300997"/>
            <a:ext cx="397589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Robert C. Martin</a:t>
            </a:r>
          </a:p>
          <a:p>
            <a:pPr algn="ctr"/>
            <a:r>
              <a:rPr lang="en-US" sz="1600" dirty="0"/>
              <a:t>Agile Manifesto, SOLID principles</a:t>
            </a:r>
          </a:p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6204C1-C8FB-383E-5E40-592C40C46252}"/>
              </a:ext>
            </a:extLst>
          </p:cNvPr>
          <p:cNvSpPr txBox="1"/>
          <p:nvPr/>
        </p:nvSpPr>
        <p:spPr>
          <a:xfrm>
            <a:off x="5184829" y="4300997"/>
            <a:ext cx="6225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“Provable” here doesn’t refer to a mathematical proof,</a:t>
            </a:r>
            <a:br>
              <a:rPr lang="en-US" i="1" dirty="0"/>
            </a:br>
            <a:r>
              <a:rPr lang="en-US" i="1" dirty="0"/>
              <a:t>but to scientific reasoning: something that can be falsified through experiments, or testing.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6857157-C703-9130-5A0D-9D5DF44FCC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485"/>
          <a:stretch>
            <a:fillRect/>
          </a:stretch>
        </p:blipFill>
        <p:spPr>
          <a:xfrm>
            <a:off x="3191660" y="1818023"/>
            <a:ext cx="8595389" cy="7389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BC8D84B-E145-11E5-1F53-8738DE7D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" t="28323" r="-9" b="58222"/>
          <a:stretch>
            <a:fillRect/>
          </a:stretch>
        </p:blipFill>
        <p:spPr>
          <a:xfrm>
            <a:off x="3191659" y="2497626"/>
            <a:ext cx="8595389" cy="44164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5AD2EC-082F-9E83-83E1-1A59DFAB2A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828"/>
          <a:stretch>
            <a:fillRect/>
          </a:stretch>
        </p:blipFill>
        <p:spPr>
          <a:xfrm>
            <a:off x="3191659" y="2890425"/>
            <a:ext cx="8595389" cy="69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32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CEB4D-DCB4-0253-913E-31341346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A19A-4FA4-C18D-A6B4-5CB51FF2A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Decomposition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434DA-CDBF-074D-9CD8-53DCFE0DC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9609"/>
            <a:ext cx="9944405" cy="2636888"/>
          </a:xfrm>
        </p:spPr>
        <p:txBody>
          <a:bodyPr/>
          <a:lstStyle/>
          <a:p>
            <a:r>
              <a:rPr lang="en-US" b="1" dirty="0"/>
              <a:t>Based on abstractions</a:t>
            </a:r>
            <a:r>
              <a:rPr lang="en-US" dirty="0"/>
              <a:t>, i.e., the key structures, relations, features, etc.</a:t>
            </a:r>
          </a:p>
          <a:p>
            <a:r>
              <a:rPr lang="en-US" b="1" dirty="0"/>
              <a:t>Decompose the code</a:t>
            </a:r>
            <a:r>
              <a:rPr lang="en-US" dirty="0"/>
              <a:t>, into modules, classes, methods, functions, …</a:t>
            </a:r>
          </a:p>
          <a:p>
            <a:r>
              <a:rPr lang="en-US" dirty="0"/>
              <a:t>Such that each part</a:t>
            </a:r>
          </a:p>
          <a:p>
            <a:pPr lvl="1"/>
            <a:r>
              <a:rPr lang="en-US" dirty="0"/>
              <a:t>has an </a:t>
            </a:r>
            <a:r>
              <a:rPr lang="en-US" b="1" dirty="0"/>
              <a:t>isolated, clear purpose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exposes </a:t>
            </a:r>
            <a:r>
              <a:rPr lang="en-US" b="1" dirty="0"/>
              <a:t>well-defined </a:t>
            </a:r>
            <a:r>
              <a:rPr lang="en-US" dirty="0"/>
              <a:t>interfaces.</a:t>
            </a:r>
          </a:p>
          <a:p>
            <a:pPr lvl="1"/>
            <a:r>
              <a:rPr lang="en-US" dirty="0"/>
              <a:t>is </a:t>
            </a:r>
            <a:r>
              <a:rPr lang="en-US" b="1" dirty="0"/>
              <a:t>refutable</a:t>
            </a:r>
            <a:r>
              <a:rPr lang="en-US" dirty="0"/>
              <a:t>, i.e., testable.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BBB0D-95D4-6619-D3E6-4D020BBD41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480"/>
          <a:stretch>
            <a:fillRect/>
          </a:stretch>
        </p:blipFill>
        <p:spPr>
          <a:xfrm>
            <a:off x="4009847" y="4177037"/>
            <a:ext cx="1565453" cy="17461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AC387A-5F17-3B42-D9EE-CBE7146661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713"/>
          <a:stretch>
            <a:fillRect/>
          </a:stretch>
        </p:blipFill>
        <p:spPr>
          <a:xfrm>
            <a:off x="6750050" y="4177037"/>
            <a:ext cx="1931256" cy="174617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65E9AE-743C-F5A5-CFD2-89D7FCCC198F}"/>
              </a:ext>
            </a:extLst>
          </p:cNvPr>
          <p:cNvCxnSpPr>
            <a:cxnSpLocks/>
          </p:cNvCxnSpPr>
          <p:nvPr/>
        </p:nvCxnSpPr>
        <p:spPr>
          <a:xfrm>
            <a:off x="5911850" y="4991100"/>
            <a:ext cx="54982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042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BA6E2-E329-FCB5-DEE2-507A2809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6E8ED-1BEC-587D-7CA4-F2EA1E354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109609"/>
            <a:ext cx="10441839" cy="5034336"/>
          </a:xfrm>
        </p:spPr>
        <p:txBody>
          <a:bodyPr/>
          <a:lstStyle/>
          <a:p>
            <a:r>
              <a:rPr lang="en-US" dirty="0"/>
              <a:t>One we can’t capture fully in a one-day tutorial, or in a few slides.</a:t>
            </a:r>
          </a:p>
          <a:p>
            <a:r>
              <a:rPr lang="en-US" dirty="0"/>
              <a:t>Here, we focus on a few key principles for decomposing a </a:t>
            </a:r>
            <a:r>
              <a:rPr lang="en-US" b="1" i="1" dirty="0"/>
              <a:t>large, monolithic </a:t>
            </a:r>
            <a:r>
              <a:rPr lang="en-US" dirty="0"/>
              <a:t>routine into smaller functions that facilitate </a:t>
            </a:r>
            <a:r>
              <a:rPr lang="en-US" b="1" i="1" dirty="0"/>
              <a:t>testing and reasoning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Single purpose</a:t>
            </a:r>
            <a:r>
              <a:rPr lang="en-US" dirty="0"/>
              <a:t>: each procedure should do one thing and do it clearly.</a:t>
            </a:r>
          </a:p>
          <a:p>
            <a:pPr lvl="1"/>
            <a:r>
              <a:rPr lang="en-US" b="1" dirty="0"/>
              <a:t>General</a:t>
            </a:r>
            <a:r>
              <a:rPr lang="en-US" dirty="0"/>
              <a:t>: avoid hard-coded values or hidden assumptions</a:t>
            </a:r>
          </a:p>
          <a:p>
            <a:pPr lvl="1"/>
            <a:r>
              <a:rPr lang="en-US" b="1" dirty="0"/>
              <a:t>Explicit, narrow interfaces:</a:t>
            </a:r>
            <a:r>
              <a:rPr lang="en-US" dirty="0"/>
              <a:t> small, coherent APIs that express intent</a:t>
            </a:r>
          </a:p>
          <a:p>
            <a:pPr lvl="1"/>
            <a:r>
              <a:rPr lang="en-US" b="1" dirty="0"/>
              <a:t>Dependency injection</a:t>
            </a:r>
            <a:r>
              <a:rPr lang="en-US" dirty="0"/>
              <a:t>: pass in policies or strategies, don’t grab </a:t>
            </a:r>
            <a:r>
              <a:rPr lang="en-US" dirty="0" err="1"/>
              <a:t>globals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1E63C-487F-0940-AF83-70507C33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/>
              <a:t>Decomposition is the central software design task. (J. Ousterhout)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15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3B786-25BF-6C7A-8E7A-DE23A494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232E-D2B6-B6F2-700C-D000C38A8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Specification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ABA8A-1AD7-521B-0A92-06E739774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90" y="900670"/>
            <a:ext cx="9944405" cy="312121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Once we have modular pieces, we need to say what each one should do:</a:t>
            </a:r>
          </a:p>
          <a:p>
            <a:r>
              <a:rPr lang="en-US" dirty="0"/>
              <a:t>A </a:t>
            </a:r>
            <a:r>
              <a:rPr lang="en-US" b="1" i="1" dirty="0"/>
              <a:t>specification</a:t>
            </a:r>
            <a:r>
              <a:rPr lang="en-US" dirty="0"/>
              <a:t> is a precise, </a:t>
            </a:r>
            <a:r>
              <a:rPr lang="en-US" b="1" i="1" dirty="0"/>
              <a:t>refutable</a:t>
            </a:r>
            <a:r>
              <a:rPr lang="en-US" dirty="0"/>
              <a:t> statement that defines:</a:t>
            </a:r>
          </a:p>
          <a:p>
            <a:pPr lvl="1"/>
            <a:r>
              <a:rPr lang="en-US" dirty="0"/>
              <a:t>What properties, conditions, and constraints are expected to hold.</a:t>
            </a:r>
          </a:p>
          <a:p>
            <a:pPr lvl="1"/>
            <a:r>
              <a:rPr lang="en-US" dirty="0"/>
              <a:t>What behaviors and outputs should result from given inputs.</a:t>
            </a:r>
          </a:p>
          <a:p>
            <a:pPr lvl="1"/>
            <a:endParaRPr lang="en-US" sz="1000" dirty="0"/>
          </a:p>
          <a:p>
            <a:r>
              <a:rPr lang="en-US" dirty="0"/>
              <a:t>Levels of specification:</a:t>
            </a:r>
          </a:p>
          <a:p>
            <a:pPr lvl="1"/>
            <a:r>
              <a:rPr lang="en-US" dirty="0"/>
              <a:t>System-level. </a:t>
            </a:r>
          </a:p>
          <a:p>
            <a:pPr lvl="1"/>
            <a:r>
              <a:rPr lang="en-US" dirty="0"/>
              <a:t>Module/class/</a:t>
            </a:r>
            <a:r>
              <a:rPr lang="en-US" b="1" dirty="0"/>
              <a:t>function level</a:t>
            </a:r>
            <a:r>
              <a:rPr lang="en-US" dirty="0"/>
              <a:t>. </a:t>
            </a:r>
            <a:endParaRPr lang="en-US" i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CAD8237-EF6A-43D0-69D3-D4429051A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45"/>
          <a:stretch>
            <a:fillRect/>
          </a:stretch>
        </p:blipFill>
        <p:spPr>
          <a:xfrm>
            <a:off x="3243136" y="4346988"/>
            <a:ext cx="2233133" cy="18922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812F826-2013-EB3F-9CF9-D6A9D968F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45"/>
          <a:stretch>
            <a:fillRect/>
          </a:stretch>
        </p:blipFill>
        <p:spPr>
          <a:xfrm>
            <a:off x="6521760" y="4357498"/>
            <a:ext cx="2233133" cy="189220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DEEB91A-9A4A-9829-334C-8AE08FF6A208}"/>
              </a:ext>
            </a:extLst>
          </p:cNvPr>
          <p:cNvSpPr txBox="1"/>
          <p:nvPr/>
        </p:nvSpPr>
        <p:spPr>
          <a:xfrm>
            <a:off x="6524374" y="5785251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{Q}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9FC7F0-5A24-213D-065C-99F1D2E55B53}"/>
              </a:ext>
            </a:extLst>
          </p:cNvPr>
          <p:cNvSpPr txBox="1"/>
          <p:nvPr/>
        </p:nvSpPr>
        <p:spPr>
          <a:xfrm>
            <a:off x="7701275" y="5785251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{Q}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0B2E18-8DB6-5D80-86E1-432315F629DF}"/>
              </a:ext>
            </a:extLst>
          </p:cNvPr>
          <p:cNvSpPr txBox="1"/>
          <p:nvPr/>
        </p:nvSpPr>
        <p:spPr>
          <a:xfrm>
            <a:off x="7024854" y="5100709"/>
            <a:ext cx="1247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  {Q}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EF26AA-F032-AD0C-088F-1ACED6D422DC}"/>
              </a:ext>
            </a:extLst>
          </p:cNvPr>
          <p:cNvSpPr txBox="1"/>
          <p:nvPr/>
        </p:nvSpPr>
        <p:spPr>
          <a:xfrm>
            <a:off x="7090781" y="4426546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{Q}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6A92732-55B3-AEE6-6AB9-69A2ED944A37}"/>
              </a:ext>
            </a:extLst>
          </p:cNvPr>
          <p:cNvCxnSpPr>
            <a:cxnSpLocks/>
          </p:cNvCxnSpPr>
          <p:nvPr/>
        </p:nvCxnSpPr>
        <p:spPr>
          <a:xfrm>
            <a:off x="5734050" y="5264150"/>
            <a:ext cx="54982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027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254AF-B460-D6F7-BFAB-F38FABE07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C054-FB6F-6207-401C-242C5D20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What to specify?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E7764-15DC-2C9E-9302-EF228D82C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90" y="900671"/>
            <a:ext cx="10832910" cy="1563130"/>
          </a:xfrm>
        </p:spPr>
        <p:txBody>
          <a:bodyPr/>
          <a:lstStyle/>
          <a:p>
            <a:r>
              <a:rPr lang="en-US" b="1" dirty="0"/>
              <a:t>Assumptions</a:t>
            </a:r>
            <a:r>
              <a:rPr lang="en-US" dirty="0"/>
              <a:t>: background facts we take as given (e.g., valid </a:t>
            </a:r>
            <a:r>
              <a:rPr lang="en-US" dirty="0" err="1"/>
              <a:t>b.c.</a:t>
            </a:r>
            <a:r>
              <a:rPr lang="en-US" dirty="0"/>
              <a:t>)</a:t>
            </a:r>
          </a:p>
          <a:p>
            <a:r>
              <a:rPr lang="en-US" b="1" dirty="0"/>
              <a:t>Contracts</a:t>
            </a:r>
            <a:r>
              <a:rPr lang="en-US" dirty="0"/>
              <a:t>: function preconditions and postconditions.</a:t>
            </a:r>
          </a:p>
          <a:p>
            <a:r>
              <a:rPr lang="en-US" b="1" dirty="0"/>
              <a:t>Properties</a:t>
            </a:r>
            <a:r>
              <a:rPr lang="en-US" dirty="0"/>
              <a:t>: logical, computational, or physical/scientific.</a:t>
            </a:r>
          </a:p>
        </p:txBody>
      </p:sp>
    </p:spTree>
    <p:extLst>
      <p:ext uri="{BB962C8B-B14F-4D97-AF65-F5344CB8AC3E}">
        <p14:creationId xmlns:p14="http://schemas.microsoft.com/office/powerpoint/2010/main" val="282550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C864D-A2F4-EA24-66E3-92DD010F5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2D50-40FF-4332-1185-EEE2ED3A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What to specify?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610F0-8CDA-7BA3-821B-E098344F1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90" y="900671"/>
            <a:ext cx="10832910" cy="1563130"/>
          </a:xfrm>
        </p:spPr>
        <p:txBody>
          <a:bodyPr/>
          <a:lstStyle/>
          <a:p>
            <a:r>
              <a:rPr lang="en-US" b="1" dirty="0"/>
              <a:t>Assumptions</a:t>
            </a:r>
            <a:r>
              <a:rPr lang="en-US" dirty="0"/>
              <a:t>: background facts we take as given (e.g., valid </a:t>
            </a:r>
            <a:r>
              <a:rPr lang="en-US" dirty="0" err="1"/>
              <a:t>b.c.</a:t>
            </a:r>
            <a:r>
              <a:rPr lang="en-US" dirty="0"/>
              <a:t>)</a:t>
            </a:r>
          </a:p>
          <a:p>
            <a:r>
              <a:rPr lang="en-US" b="1" dirty="0"/>
              <a:t>Contracts</a:t>
            </a:r>
            <a:r>
              <a:rPr lang="en-US" dirty="0"/>
              <a:t>: function preconditions and postconditions.</a:t>
            </a:r>
          </a:p>
          <a:p>
            <a:r>
              <a:rPr lang="en-US" b="1" dirty="0"/>
              <a:t>Properties</a:t>
            </a:r>
            <a:r>
              <a:rPr lang="en-US" dirty="0"/>
              <a:t>: logical, computational, or physical/scientific.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EB0A05-F050-E175-F592-E7EF4757E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809" y="3380794"/>
            <a:ext cx="4658018" cy="15986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29A785-8449-2AA7-4FCB-16BDDFE2A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805"/>
          <a:stretch>
            <a:fillRect/>
          </a:stretch>
        </p:blipFill>
        <p:spPr>
          <a:xfrm>
            <a:off x="1132728" y="3664818"/>
            <a:ext cx="2036532" cy="103060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409044-5F41-1A8D-7539-D9A01D78D775}"/>
              </a:ext>
            </a:extLst>
          </p:cNvPr>
          <p:cNvCxnSpPr>
            <a:cxnSpLocks/>
          </p:cNvCxnSpPr>
          <p:nvPr/>
        </p:nvCxnSpPr>
        <p:spPr>
          <a:xfrm>
            <a:off x="4044427" y="4055444"/>
            <a:ext cx="1301750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058D2E-D5A5-D27D-57C6-D716323C034C}"/>
              </a:ext>
            </a:extLst>
          </p:cNvPr>
          <p:cNvSpPr txBox="1"/>
          <p:nvPr/>
        </p:nvSpPr>
        <p:spPr>
          <a:xfrm>
            <a:off x="3841750" y="3353188"/>
            <a:ext cx="1574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Contract</a:t>
            </a:r>
          </a:p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Specification</a:t>
            </a:r>
          </a:p>
        </p:txBody>
      </p:sp>
    </p:spTree>
    <p:extLst>
      <p:ext uri="{BB962C8B-B14F-4D97-AF65-F5344CB8AC3E}">
        <p14:creationId xmlns:p14="http://schemas.microsoft.com/office/powerpoint/2010/main" val="3711774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B12F7-5D43-88AA-CE30-753B8BFB2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C6516-2436-5D1C-2438-E36E4F9B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How to specify?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053CC-F753-01C1-D6F9-F243BF6A2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9609"/>
            <a:ext cx="9644483" cy="28591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 tutorial, our main focus is function-level specification. As such, we use a lightweight, practical style of specification that combines:</a:t>
            </a:r>
          </a:p>
          <a:p>
            <a:r>
              <a:rPr lang="en-US" b="1" dirty="0"/>
              <a:t>Type annotations</a:t>
            </a:r>
            <a:endParaRPr lang="en-US" dirty="0"/>
          </a:p>
          <a:p>
            <a:r>
              <a:rPr lang="en-US" b="1" dirty="0"/>
              <a:t>Assertions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Both </a:t>
            </a:r>
            <a:r>
              <a:rPr lang="en-US" i="1" dirty="0" err="1"/>
              <a:t>pytest</a:t>
            </a:r>
            <a:r>
              <a:rPr lang="en-US" i="1" dirty="0"/>
              <a:t> and hypothesis libraries rely on assertions.</a:t>
            </a:r>
          </a:p>
        </p:txBody>
      </p:sp>
    </p:spTree>
    <p:extLst>
      <p:ext uri="{BB962C8B-B14F-4D97-AF65-F5344CB8AC3E}">
        <p14:creationId xmlns:p14="http://schemas.microsoft.com/office/powerpoint/2010/main" val="532000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2450F-2B71-FF81-5D01-5B3844CD5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575B-F7D6-74FE-D24D-D5F61BD3C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Why specify?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91C85-5A6E-FFC6-C632-8A3F60FD9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9609"/>
            <a:ext cx="10588143" cy="3272196"/>
          </a:xfrm>
        </p:spPr>
        <p:txBody>
          <a:bodyPr/>
          <a:lstStyle/>
          <a:p>
            <a:r>
              <a:rPr lang="en-US" b="1" dirty="0"/>
              <a:t>Testing</a:t>
            </a:r>
            <a:r>
              <a:rPr lang="en-US" dirty="0"/>
              <a:t>: Reasoning artifacts (e.g., assertions) ease testing efforts.</a:t>
            </a:r>
          </a:p>
          <a:p>
            <a:r>
              <a:rPr lang="en-US" b="1" dirty="0"/>
              <a:t>Change</a:t>
            </a:r>
            <a:r>
              <a:rPr lang="en-US" dirty="0"/>
              <a:t>: To safely evolve or replace implementations.</a:t>
            </a:r>
          </a:p>
          <a:p>
            <a:r>
              <a:rPr lang="en-US" b="1" dirty="0"/>
              <a:t>Reasoning and Understanding</a:t>
            </a:r>
            <a:r>
              <a:rPr lang="en-US" dirty="0"/>
              <a:t>: To think rigorously about intent.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sz="2000" dirty="0"/>
              <a:t>“Writing is Nature's way of showing you how sloppy your thinking is.” (Dick Guindon)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468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7DDE-E839-1836-672A-8AC84A7E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29EB-0C05-ED34-04A9-EDA6F713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6751-EB89-281E-2145-2D93B6771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9609"/>
            <a:ext cx="10463785" cy="2461173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With abstractions identified, pieces decomposed, and specifications written:</a:t>
            </a:r>
          </a:p>
          <a:p>
            <a:pPr lvl="1"/>
            <a:r>
              <a:rPr lang="en-US" dirty="0"/>
              <a:t>implement code that satisfies them.</a:t>
            </a:r>
          </a:p>
          <a:p>
            <a:pPr marL="0" indent="0">
              <a:buNone/>
            </a:pPr>
            <a:r>
              <a:rPr lang="en-US" i="1" dirty="0"/>
              <a:t>This shifts our mindset: </a:t>
            </a:r>
          </a:p>
          <a:p>
            <a:pPr lvl="1"/>
            <a:r>
              <a:rPr lang="en-US" dirty="0"/>
              <a:t>Instead of starting with lines of code and hoping they work, we start with clear expectations and then fill in implementations that must meet them.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CA2AA8-3E7C-EC29-3DBA-578B1425C4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45"/>
          <a:stretch>
            <a:fillRect/>
          </a:stretch>
        </p:blipFill>
        <p:spPr>
          <a:xfrm>
            <a:off x="6837068" y="4062553"/>
            <a:ext cx="2233133" cy="18922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A0F070-C5D5-88B9-E279-F8E89CE22185}"/>
              </a:ext>
            </a:extLst>
          </p:cNvPr>
          <p:cNvSpPr txBox="1"/>
          <p:nvPr/>
        </p:nvSpPr>
        <p:spPr>
          <a:xfrm>
            <a:off x="6820018" y="5490306"/>
            <a:ext cx="10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04B2F-30BA-6CEF-A85E-7A0DE10DEDD9}"/>
              </a:ext>
            </a:extLst>
          </p:cNvPr>
          <p:cNvSpPr txBox="1"/>
          <p:nvPr/>
        </p:nvSpPr>
        <p:spPr>
          <a:xfrm>
            <a:off x="7996919" y="5490306"/>
            <a:ext cx="10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54095C-89FA-DB1E-BEBB-0D35D7FC5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253" y="5549546"/>
            <a:ext cx="224620" cy="2654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53E1E7-09F3-C56E-BAC0-94E359490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690" y="5534658"/>
            <a:ext cx="224620" cy="2654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369B41-417E-10DA-6E14-BEC9604E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45"/>
          <a:stretch>
            <a:fillRect/>
          </a:stretch>
        </p:blipFill>
        <p:spPr>
          <a:xfrm>
            <a:off x="3200491" y="4071713"/>
            <a:ext cx="2233133" cy="18922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577B2A-3899-738A-5DF4-553673DA975F}"/>
              </a:ext>
            </a:extLst>
          </p:cNvPr>
          <p:cNvSpPr txBox="1"/>
          <p:nvPr/>
        </p:nvSpPr>
        <p:spPr>
          <a:xfrm>
            <a:off x="3183441" y="5499466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F74A35-C3BE-6F42-5225-ED1FF81BC754}"/>
              </a:ext>
            </a:extLst>
          </p:cNvPr>
          <p:cNvSpPr txBox="1"/>
          <p:nvPr/>
        </p:nvSpPr>
        <p:spPr>
          <a:xfrm>
            <a:off x="4360342" y="5499466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65EA29-FB59-AF41-175C-070EA54E1387}"/>
              </a:ext>
            </a:extLst>
          </p:cNvPr>
          <p:cNvSpPr txBox="1"/>
          <p:nvPr/>
        </p:nvSpPr>
        <p:spPr>
          <a:xfrm>
            <a:off x="7325711" y="4795830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 {Q}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B1CFFBB-F206-9867-AFD1-00DECE6CA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528" y="4855070"/>
            <a:ext cx="224620" cy="2654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79A85F1-05F4-FB56-E543-66D3F603A086}"/>
              </a:ext>
            </a:extLst>
          </p:cNvPr>
          <p:cNvSpPr txBox="1"/>
          <p:nvPr/>
        </p:nvSpPr>
        <p:spPr>
          <a:xfrm>
            <a:off x="7351697" y="4134782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{Q}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828E32E-932D-F634-207A-4618751DB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494" y="4194022"/>
            <a:ext cx="224620" cy="265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EE1AE12-D6AD-AC5B-44B8-2638217ECBE3}"/>
              </a:ext>
            </a:extLst>
          </p:cNvPr>
          <p:cNvSpPr txBox="1"/>
          <p:nvPr/>
        </p:nvSpPr>
        <p:spPr>
          <a:xfrm>
            <a:off x="3740956" y="4808013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 {Q}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CAD8B1-2A71-0A85-1B57-9A05B6A0B0ED}"/>
              </a:ext>
            </a:extLst>
          </p:cNvPr>
          <p:cNvSpPr txBox="1"/>
          <p:nvPr/>
        </p:nvSpPr>
        <p:spPr>
          <a:xfrm>
            <a:off x="3769512" y="4140761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{Q}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701F98-5739-1F04-E6D1-0368C9D7D689}"/>
              </a:ext>
            </a:extLst>
          </p:cNvPr>
          <p:cNvCxnSpPr>
            <a:cxnSpLocks/>
          </p:cNvCxnSpPr>
          <p:nvPr/>
        </p:nvCxnSpPr>
        <p:spPr>
          <a:xfrm>
            <a:off x="5829300" y="4991100"/>
            <a:ext cx="54982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35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8761-C62E-E2AB-52DD-988AAF3B6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8E8D-81EE-A9CA-1D5F-3B502DE41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Testing &amp; verification (i.e., refutation)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EA1DA-9ACA-BA47-C443-F13C7505EDBA}"/>
              </a:ext>
            </a:extLst>
          </p:cNvPr>
          <p:cNvSpPr txBox="1"/>
          <p:nvPr/>
        </p:nvSpPr>
        <p:spPr>
          <a:xfrm>
            <a:off x="753466" y="1302106"/>
            <a:ext cx="1085575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the final step. The majority of this tutorial is devoted to practical testing and verification techniques. We’ll cover: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Unit testing</a:t>
            </a:r>
            <a:r>
              <a:rPr lang="en-US" sz="2000" dirty="0"/>
              <a:t>: </a:t>
            </a:r>
            <a:r>
              <a:rPr lang="en-US" sz="2000" i="1" dirty="0"/>
              <a:t>for this input, expect this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Property-based testing</a:t>
            </a:r>
            <a:r>
              <a:rPr lang="en-US" sz="2000" dirty="0"/>
              <a:t>: </a:t>
            </a:r>
            <a:r>
              <a:rPr lang="en-US" sz="2000" i="1" dirty="0"/>
              <a:t>for all inputs satisfying preconditions, expect this relation to hold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Bounded Formal Verification</a:t>
            </a:r>
            <a:r>
              <a:rPr lang="en-US" sz="2000" dirty="0"/>
              <a:t>: </a:t>
            </a:r>
            <a:r>
              <a:rPr lang="en-US" sz="2000" i="1" dirty="0"/>
              <a:t>prove that properties hold for all possible inputs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Functional ”off-offline” testing: </a:t>
            </a:r>
            <a:r>
              <a:rPr lang="en-US" sz="2000" i="1" dirty="0"/>
              <a:t>real-world applications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30217-F517-A968-8788-2D107F9C2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565" y="4577237"/>
            <a:ext cx="1096335" cy="11295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A10836-49FA-AC4D-5727-06FD7EEDC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145"/>
          <a:stretch>
            <a:fillRect/>
          </a:stretch>
        </p:blipFill>
        <p:spPr>
          <a:xfrm>
            <a:off x="3784975" y="4195903"/>
            <a:ext cx="2233133" cy="18922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138D14-E609-D5EE-4BC5-51BA30F093F1}"/>
              </a:ext>
            </a:extLst>
          </p:cNvPr>
          <p:cNvSpPr txBox="1"/>
          <p:nvPr/>
        </p:nvSpPr>
        <p:spPr>
          <a:xfrm>
            <a:off x="3767925" y="5623656"/>
            <a:ext cx="10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796AA-A758-5A61-5BF9-8E6D98014F0A}"/>
              </a:ext>
            </a:extLst>
          </p:cNvPr>
          <p:cNvSpPr txBox="1"/>
          <p:nvPr/>
        </p:nvSpPr>
        <p:spPr>
          <a:xfrm>
            <a:off x="4944826" y="5623656"/>
            <a:ext cx="10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CECFF1-E842-604E-92C0-BEB534EFB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160" y="5682896"/>
            <a:ext cx="224620" cy="2654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92BAB3-EBCD-8198-4197-3B752E770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597" y="5668008"/>
            <a:ext cx="224620" cy="2654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C11DBB-7725-99B6-88AB-F90E16EF6A76}"/>
              </a:ext>
            </a:extLst>
          </p:cNvPr>
          <p:cNvSpPr txBox="1"/>
          <p:nvPr/>
        </p:nvSpPr>
        <p:spPr>
          <a:xfrm>
            <a:off x="4273618" y="4929180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 {Q}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7FBAB2-1707-4232-54AF-5BE4005F2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435" y="4988420"/>
            <a:ext cx="224620" cy="2654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A87C0A-587B-9636-8AE9-7D99C479FE97}"/>
              </a:ext>
            </a:extLst>
          </p:cNvPr>
          <p:cNvSpPr txBox="1"/>
          <p:nvPr/>
        </p:nvSpPr>
        <p:spPr>
          <a:xfrm>
            <a:off x="4299604" y="4268132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{Q}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136780-23A5-E913-6BE2-B58325D2B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401" y="4327372"/>
            <a:ext cx="224620" cy="26546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38142D-BFC6-8510-1D41-192587DE3BDF}"/>
              </a:ext>
            </a:extLst>
          </p:cNvPr>
          <p:cNvCxnSpPr>
            <a:cxnSpLocks/>
          </p:cNvCxnSpPr>
          <p:nvPr/>
        </p:nvCxnSpPr>
        <p:spPr>
          <a:xfrm>
            <a:off x="6184900" y="5111750"/>
            <a:ext cx="54982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560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F8A95-0EA3-6F30-1DF6-4FCE761E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EFAB8-F6A5-6251-8B08-656643F1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In summary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CA948D1-137F-681A-B317-3BE0326D01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162"/>
          <a:stretch>
            <a:fillRect/>
          </a:stretch>
        </p:blipFill>
        <p:spPr>
          <a:xfrm>
            <a:off x="771319" y="2587912"/>
            <a:ext cx="3695701" cy="1761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7AE5AE-2353-5853-B7C5-799AF76ACACE}"/>
              </a:ext>
            </a:extLst>
          </p:cNvPr>
          <p:cNvSpPr txBox="1"/>
          <p:nvPr/>
        </p:nvSpPr>
        <p:spPr>
          <a:xfrm>
            <a:off x="2592211" y="4369407"/>
            <a:ext cx="1874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Abstraction &amp; </a:t>
            </a:r>
          </a:p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Decomposition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37B4404-CB4B-4C0E-210B-48DDD4FD1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267" y="3225136"/>
            <a:ext cx="605713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70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C2645-B6EE-90B2-93BE-4CA20EBC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9D29-F94C-7B6F-71E0-1DD7F9ACB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In summary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CB2589E-C04A-6308-DD5A-6324484097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457"/>
          <a:stretch>
            <a:fillRect/>
          </a:stretch>
        </p:blipFill>
        <p:spPr>
          <a:xfrm>
            <a:off x="771319" y="2587912"/>
            <a:ext cx="5946981" cy="1761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ACDFE3-97D2-B68C-BF3C-4DAAC1345298}"/>
              </a:ext>
            </a:extLst>
          </p:cNvPr>
          <p:cNvSpPr txBox="1"/>
          <p:nvPr/>
        </p:nvSpPr>
        <p:spPr>
          <a:xfrm>
            <a:off x="2592211" y="4369407"/>
            <a:ext cx="1874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Abstraction &amp; </a:t>
            </a:r>
          </a:p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Decomposition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DE8F3-B1D9-3455-CD02-59D16A5E232F}"/>
              </a:ext>
            </a:extLst>
          </p:cNvPr>
          <p:cNvSpPr txBox="1"/>
          <p:nvPr/>
        </p:nvSpPr>
        <p:spPr>
          <a:xfrm>
            <a:off x="5042661" y="4507907"/>
            <a:ext cx="157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Specification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A73A0FC-CABE-35B0-4EAC-E2904C6A1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267" y="3225136"/>
            <a:ext cx="605713" cy="482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CA24E0-BF93-6742-6676-A7E624121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004" y="3223359"/>
            <a:ext cx="605713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92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D5B83-F3DD-8DFF-67A7-F77E6B22B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BBDF-DE09-0F39-DA35-EDF02014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In summary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FAEF82C-F2D8-8831-5151-80E2DF962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19" y="2587912"/>
            <a:ext cx="8430297" cy="1761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27DBDC-0222-FFD9-4540-FFB52EEC13EF}"/>
              </a:ext>
            </a:extLst>
          </p:cNvPr>
          <p:cNvSpPr txBox="1"/>
          <p:nvPr/>
        </p:nvSpPr>
        <p:spPr>
          <a:xfrm>
            <a:off x="2592211" y="4369407"/>
            <a:ext cx="1874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Abstraction &amp; </a:t>
            </a:r>
          </a:p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Decomposition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E23C0-388B-4C14-D58E-17968D500394}"/>
              </a:ext>
            </a:extLst>
          </p:cNvPr>
          <p:cNvSpPr txBox="1"/>
          <p:nvPr/>
        </p:nvSpPr>
        <p:spPr>
          <a:xfrm>
            <a:off x="5042661" y="4507907"/>
            <a:ext cx="157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Specification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B39351-65A7-5549-E610-499F6AEF0CEA}"/>
              </a:ext>
            </a:extLst>
          </p:cNvPr>
          <p:cNvSpPr txBox="1"/>
          <p:nvPr/>
        </p:nvSpPr>
        <p:spPr>
          <a:xfrm>
            <a:off x="7249729" y="4507907"/>
            <a:ext cx="187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Implementation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5A45725-6C9B-464E-5396-EC5906768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267" y="3225136"/>
            <a:ext cx="605713" cy="482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001ED0A-35EE-1515-2EE4-C722D42EC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004" y="3223359"/>
            <a:ext cx="605713" cy="482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5B8AA0B-D150-F8FF-F4E8-109A82DBC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572" y="3223359"/>
            <a:ext cx="605713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4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5C3BB-6EF8-DC8D-8710-49ECB3B6C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B33E-6D73-CB52-6DFA-5D10C517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In summary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089F0B9-AD5D-414B-41E7-827C1E23E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781" y="3039165"/>
            <a:ext cx="911069" cy="9386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41FC47B-5FF0-E87A-D195-587B28935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9" y="2587912"/>
            <a:ext cx="8430297" cy="1761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E8A4C5-7B83-27CC-6353-F40335774ABD}"/>
              </a:ext>
            </a:extLst>
          </p:cNvPr>
          <p:cNvSpPr txBox="1"/>
          <p:nvPr/>
        </p:nvSpPr>
        <p:spPr>
          <a:xfrm>
            <a:off x="2592211" y="4369407"/>
            <a:ext cx="1874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Abstraction &amp; </a:t>
            </a:r>
          </a:p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Decomposition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7B311B-4993-212C-0E61-D16BE1CA0C14}"/>
              </a:ext>
            </a:extLst>
          </p:cNvPr>
          <p:cNvSpPr txBox="1"/>
          <p:nvPr/>
        </p:nvSpPr>
        <p:spPr>
          <a:xfrm>
            <a:off x="5042661" y="4507907"/>
            <a:ext cx="157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Specification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3A32E-AA0C-26E4-9E3A-92803E05601F}"/>
              </a:ext>
            </a:extLst>
          </p:cNvPr>
          <p:cNvSpPr txBox="1"/>
          <p:nvPr/>
        </p:nvSpPr>
        <p:spPr>
          <a:xfrm>
            <a:off x="9643029" y="4378762"/>
            <a:ext cx="1445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Testing &amp;</a:t>
            </a:r>
          </a:p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Verification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4914E7B-5169-7AF4-A7B7-0D8187589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9267" y="3225136"/>
            <a:ext cx="605713" cy="482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498F00A-D99D-DB2F-2C18-167E0F000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004" y="3223359"/>
            <a:ext cx="605713" cy="482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4B746E4-1278-D76F-A9A9-F654DB10C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572" y="3223359"/>
            <a:ext cx="605713" cy="482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4EB7706-29EE-9E57-7BA5-58370103D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224" y="3223359"/>
            <a:ext cx="605713" cy="482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BAF65C-4EE5-47D1-7873-D26B395A759F}"/>
              </a:ext>
            </a:extLst>
          </p:cNvPr>
          <p:cNvSpPr txBox="1"/>
          <p:nvPr/>
        </p:nvSpPr>
        <p:spPr>
          <a:xfrm>
            <a:off x="7249729" y="4507907"/>
            <a:ext cx="187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486956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5D8B3-40A7-C19D-9566-1183E2A4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EAF6CE3-6E4E-89D9-FC54-A6730AA41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781" y="3039165"/>
            <a:ext cx="911069" cy="9386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D7B2AAC-070F-C8AC-DF12-14011630A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9" y="2587912"/>
            <a:ext cx="8430297" cy="1761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1867CB-D025-7617-F4EB-7189B0F505AF}"/>
              </a:ext>
            </a:extLst>
          </p:cNvPr>
          <p:cNvSpPr txBox="1"/>
          <p:nvPr/>
        </p:nvSpPr>
        <p:spPr>
          <a:xfrm>
            <a:off x="2592211" y="4369407"/>
            <a:ext cx="1874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Abstraction &amp; </a:t>
            </a:r>
          </a:p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Decomposition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0E9BE-8C04-FED0-F475-12B8D750B4EA}"/>
              </a:ext>
            </a:extLst>
          </p:cNvPr>
          <p:cNvSpPr txBox="1"/>
          <p:nvPr/>
        </p:nvSpPr>
        <p:spPr>
          <a:xfrm>
            <a:off x="5042661" y="4507907"/>
            <a:ext cx="157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Specification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A3AED-F148-FD35-1004-BA8B8B79EAB1}"/>
              </a:ext>
            </a:extLst>
          </p:cNvPr>
          <p:cNvSpPr txBox="1"/>
          <p:nvPr/>
        </p:nvSpPr>
        <p:spPr>
          <a:xfrm>
            <a:off x="9643029" y="4378762"/>
            <a:ext cx="1445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Testing &amp;</a:t>
            </a:r>
          </a:p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Verification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BCAF9BD-A251-19FA-9755-7640A22C6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9267" y="3225136"/>
            <a:ext cx="605713" cy="482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0C3F7C-4343-B21F-AC9C-7B12CD1AA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004" y="3223359"/>
            <a:ext cx="605713" cy="482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A8AA7D3-A6BD-1230-00E6-8C58A23DF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572" y="3223359"/>
            <a:ext cx="605713" cy="482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AA04B16-7FE8-3F5F-7CB2-3FE57391E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224" y="3223359"/>
            <a:ext cx="605713" cy="482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50F8BF-DBF7-0132-267E-AF3C553DA71F}"/>
              </a:ext>
            </a:extLst>
          </p:cNvPr>
          <p:cNvSpPr txBox="1"/>
          <p:nvPr/>
        </p:nvSpPr>
        <p:spPr>
          <a:xfrm>
            <a:off x="1512439" y="1269209"/>
            <a:ext cx="9167121" cy="9848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2000" b="1" dirty="0"/>
              <a:t>“The initial design for a system or component is almost never the best one; experience inevitably shows better ways to do things.” (J. Ousterhout, 2022)</a:t>
            </a:r>
            <a:endParaRPr lang="en-US" sz="20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C0C8BF3-4BA5-DEA3-D205-F94E3946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Waterfall?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262AB-C5CC-F9DB-1AFE-A9280439748D}"/>
              </a:ext>
            </a:extLst>
          </p:cNvPr>
          <p:cNvSpPr txBox="1"/>
          <p:nvPr/>
        </p:nvSpPr>
        <p:spPr>
          <a:xfrm>
            <a:off x="7249729" y="4507907"/>
            <a:ext cx="187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08530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AD5A-37F5-B881-EB91-A7ED30A49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B06EB89-E079-B755-39E3-2F3896623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781" y="3039165"/>
            <a:ext cx="911069" cy="9386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EF9206E-8476-2D69-6193-542B6875F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9" y="2587912"/>
            <a:ext cx="8430297" cy="1761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9CCBAE-AAA4-EB44-DCAB-56B65B99DAEB}"/>
              </a:ext>
            </a:extLst>
          </p:cNvPr>
          <p:cNvSpPr txBox="1"/>
          <p:nvPr/>
        </p:nvSpPr>
        <p:spPr>
          <a:xfrm>
            <a:off x="2592211" y="4369407"/>
            <a:ext cx="1874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Abstraction &amp; </a:t>
            </a:r>
          </a:p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Decomposition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69A74-70A3-BEEE-9F58-23ECF6C866B3}"/>
              </a:ext>
            </a:extLst>
          </p:cNvPr>
          <p:cNvSpPr txBox="1"/>
          <p:nvPr/>
        </p:nvSpPr>
        <p:spPr>
          <a:xfrm>
            <a:off x="5042661" y="4507907"/>
            <a:ext cx="157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Specification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45E0C-E093-9629-0F20-B5C63FC47227}"/>
              </a:ext>
            </a:extLst>
          </p:cNvPr>
          <p:cNvSpPr txBox="1"/>
          <p:nvPr/>
        </p:nvSpPr>
        <p:spPr>
          <a:xfrm>
            <a:off x="9643029" y="4378762"/>
            <a:ext cx="1445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Testing &amp;</a:t>
            </a:r>
          </a:p>
          <a:p>
            <a:pPr algn="ctr"/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Verification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F0CFBEF-7C61-CCB5-3A7D-D1C6484B6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9267" y="3225136"/>
            <a:ext cx="605713" cy="482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041D3FC-57BA-7A50-D16B-E51A7CE62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004" y="3223359"/>
            <a:ext cx="605713" cy="482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A87110F-E5DC-DD66-2E34-6FD2AD6A8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572" y="3223359"/>
            <a:ext cx="605713" cy="482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2D44F01-8455-5572-A5C2-B5445B9AA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224" y="3223359"/>
            <a:ext cx="605713" cy="482600"/>
          </a:xfrm>
          <a:prstGeom prst="rect">
            <a:avLst/>
          </a:prstGeom>
        </p:spPr>
      </p:pic>
      <p:sp>
        <p:nvSpPr>
          <p:cNvPr id="4" name="Arc 3">
            <a:extLst>
              <a:ext uri="{FF2B5EF4-FFF2-40B4-BE49-F238E27FC236}">
                <a16:creationId xmlns:a16="http://schemas.microsoft.com/office/drawing/2014/main" id="{FD1FD508-A94E-56EE-6D9D-3DF106A76530}"/>
              </a:ext>
            </a:extLst>
          </p:cNvPr>
          <p:cNvSpPr/>
          <p:nvPr/>
        </p:nvSpPr>
        <p:spPr>
          <a:xfrm rot="19100490">
            <a:off x="3967869" y="2625023"/>
            <a:ext cx="1245228" cy="1114313"/>
          </a:xfrm>
          <a:prstGeom prst="arc">
            <a:avLst/>
          </a:prstGeom>
          <a:ln w="25400">
            <a:solidFill>
              <a:schemeClr val="bg2">
                <a:lumMod val="50000"/>
              </a:schemeClr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BDBAE-7B15-62BC-A0EB-F6AC6D1D08E9}"/>
              </a:ext>
            </a:extLst>
          </p:cNvPr>
          <p:cNvSpPr/>
          <p:nvPr/>
        </p:nvSpPr>
        <p:spPr>
          <a:xfrm rot="19100490">
            <a:off x="6308889" y="2625024"/>
            <a:ext cx="1245228" cy="1114313"/>
          </a:xfrm>
          <a:prstGeom prst="arc">
            <a:avLst/>
          </a:prstGeom>
          <a:ln w="25400">
            <a:solidFill>
              <a:schemeClr val="bg2">
                <a:lumMod val="50000"/>
              </a:schemeClr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AF75CDE3-5DDE-1AC9-4693-33BBF29AB20E}"/>
              </a:ext>
            </a:extLst>
          </p:cNvPr>
          <p:cNvSpPr/>
          <p:nvPr/>
        </p:nvSpPr>
        <p:spPr>
          <a:xfrm rot="19100490">
            <a:off x="8660638" y="2625022"/>
            <a:ext cx="1245228" cy="1114313"/>
          </a:xfrm>
          <a:prstGeom prst="arc">
            <a:avLst/>
          </a:prstGeom>
          <a:ln w="25400">
            <a:solidFill>
              <a:schemeClr val="bg2">
                <a:lumMod val="50000"/>
              </a:schemeClr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8C9BC9B6-0B67-7673-3F44-699E01B33872}"/>
              </a:ext>
            </a:extLst>
          </p:cNvPr>
          <p:cNvSpPr/>
          <p:nvPr/>
        </p:nvSpPr>
        <p:spPr>
          <a:xfrm rot="19100490">
            <a:off x="5652795" y="1982288"/>
            <a:ext cx="4365195" cy="3835938"/>
          </a:xfrm>
          <a:prstGeom prst="arc">
            <a:avLst/>
          </a:prstGeom>
          <a:ln w="25400">
            <a:solidFill>
              <a:schemeClr val="bg2">
                <a:lumMod val="50000"/>
              </a:schemeClr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A653060-F905-F54E-EA56-5A420B4FA12A}"/>
              </a:ext>
            </a:extLst>
          </p:cNvPr>
          <p:cNvSpPr/>
          <p:nvPr/>
        </p:nvSpPr>
        <p:spPr>
          <a:xfrm rot="19100490">
            <a:off x="3404113" y="1982289"/>
            <a:ext cx="4365195" cy="3835938"/>
          </a:xfrm>
          <a:prstGeom prst="arc">
            <a:avLst/>
          </a:prstGeom>
          <a:ln w="25400">
            <a:solidFill>
              <a:schemeClr val="bg2">
                <a:lumMod val="50000"/>
              </a:schemeClr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F28EF719-0CBD-2C74-71BA-29CBE372AB8A}"/>
              </a:ext>
            </a:extLst>
          </p:cNvPr>
          <p:cNvSpPr/>
          <p:nvPr/>
        </p:nvSpPr>
        <p:spPr>
          <a:xfrm rot="19100490">
            <a:off x="2863439" y="1303651"/>
            <a:ext cx="7506997" cy="6619248"/>
          </a:xfrm>
          <a:prstGeom prst="arc">
            <a:avLst/>
          </a:prstGeom>
          <a:ln w="25400">
            <a:solidFill>
              <a:schemeClr val="bg2">
                <a:lumMod val="50000"/>
              </a:schemeClr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675D8DF-5B78-4718-0C0F-6049A02C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strike="sngStrike" dirty="0"/>
              <a:t>Waterfall</a:t>
            </a:r>
            <a:r>
              <a:rPr lang="en-US" dirty="0"/>
              <a:t> </a:t>
            </a:r>
            <a:br>
              <a:rPr lang="en-US" dirty="0"/>
            </a:br>
            <a:r>
              <a:rPr lang="en-US" sz="3200" i="1" dirty="0">
                <a:latin typeface="Bradley Hand" pitchFamily="2" charset="77"/>
              </a:rPr>
              <a:t>Incremental</a:t>
            </a:r>
            <a:endParaRPr lang="en-US" i="1" dirty="0">
              <a:latin typeface="Bradley Hand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59AE77-FF5A-411B-4ABE-FE5EC8B5EF29}"/>
              </a:ext>
            </a:extLst>
          </p:cNvPr>
          <p:cNvSpPr txBox="1"/>
          <p:nvPr/>
        </p:nvSpPr>
        <p:spPr>
          <a:xfrm>
            <a:off x="7249729" y="4507907"/>
            <a:ext cx="187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91830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F86A7-BF1D-7D69-6F85-3D0BC280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8DDD-91C7-7306-22C1-1FD98A5D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strike="sngStrike" dirty="0"/>
              <a:t>Waterfall</a:t>
            </a:r>
            <a:r>
              <a:rPr lang="en-US" dirty="0"/>
              <a:t> </a:t>
            </a:r>
            <a:br>
              <a:rPr lang="en-US" dirty="0"/>
            </a:br>
            <a:r>
              <a:rPr lang="en-US" sz="3200" i="1" dirty="0">
                <a:latin typeface="Bradley Hand" pitchFamily="2" charset="77"/>
              </a:rPr>
              <a:t>Incremental</a:t>
            </a:r>
            <a:endParaRPr lang="en-US" i="1" dirty="0">
              <a:latin typeface="Bradley Hand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D8BD6-7E1B-2A2C-6043-A64C2D28B571}"/>
              </a:ext>
            </a:extLst>
          </p:cNvPr>
          <p:cNvSpPr txBox="1"/>
          <p:nvPr/>
        </p:nvSpPr>
        <p:spPr>
          <a:xfrm>
            <a:off x="504749" y="1422400"/>
            <a:ext cx="10532563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 enable incremental design &amp; development: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Tight feedback loops: </a:t>
            </a:r>
            <a:r>
              <a:rPr lang="en-US" sz="2000" dirty="0"/>
              <a:t>Later work (</a:t>
            </a:r>
            <a:r>
              <a:rPr lang="en-US" sz="2000" dirty="0" err="1"/>
              <a:t>impl</a:t>
            </a:r>
            <a:r>
              <a:rPr lang="en-US" sz="2000" dirty="0"/>
              <a:t>/tests) can challenge and refine earlier choices.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Move in small slices: </a:t>
            </a:r>
            <a:r>
              <a:rPr lang="en-US" sz="2000" dirty="0"/>
              <a:t>specify just enough, implement a bit, test and revise.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000" dirty="0"/>
              <a:t>How this works: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Clear abstractions </a:t>
            </a:r>
            <a:r>
              <a:rPr lang="en-US" sz="2000" dirty="0"/>
              <a:t>→ easy to change parts without ripple.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Clear, stable interfaces </a:t>
            </a:r>
            <a:r>
              <a:rPr lang="en-US" sz="2000" dirty="0"/>
              <a:t>→ refactor internals freely.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Specs/contracts </a:t>
            </a:r>
            <a:r>
              <a:rPr lang="en-US" sz="2000" dirty="0"/>
              <a:t>→ instant oracles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Fast unit/property tests </a:t>
            </a:r>
            <a:r>
              <a:rPr lang="en-US" sz="2000" dirty="0"/>
              <a:t>→ quick checks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6626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8372-A9B9-0660-62B1-0553C8B9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192B-81F1-4DDC-D79C-00D1FDB3B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90322"/>
            <a:ext cx="10515600" cy="477355"/>
          </a:xfrm>
        </p:spPr>
        <p:txBody>
          <a:bodyPr/>
          <a:lstStyle/>
          <a:p>
            <a:pPr algn="ctr"/>
            <a:r>
              <a:rPr lang="en-US" sz="3600" i="1" dirty="0"/>
              <a:t>A running example</a:t>
            </a:r>
          </a:p>
        </p:txBody>
      </p:sp>
    </p:spTree>
    <p:extLst>
      <p:ext uri="{BB962C8B-B14F-4D97-AF65-F5344CB8AC3E}">
        <p14:creationId xmlns:p14="http://schemas.microsoft.com/office/powerpoint/2010/main" val="3335886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8A66-0C00-E9DC-9C8A-738817ED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DECCC5-6202-7920-2AAC-5886E397E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725" y="2767766"/>
            <a:ext cx="2074461" cy="115757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27E8AC5-1EFE-2C3E-E46B-0AE9166E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A running example: The 1-D Heat equation</a:t>
            </a:r>
          </a:p>
        </p:txBody>
      </p:sp>
    </p:spTree>
    <p:extLst>
      <p:ext uri="{BB962C8B-B14F-4D97-AF65-F5344CB8AC3E}">
        <p14:creationId xmlns:p14="http://schemas.microsoft.com/office/powerpoint/2010/main" val="3248569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71BB-B5A0-B091-AAAB-760759FEC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392CAF-A823-8515-B01C-840D864AB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725" y="2767766"/>
            <a:ext cx="2074461" cy="1157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7F0AA7-5A3B-5166-008D-972505F90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92" y="2763335"/>
            <a:ext cx="3576636" cy="226455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649C26-29A2-B55F-E44C-B3098D982790}"/>
              </a:ext>
            </a:extLst>
          </p:cNvPr>
          <p:cNvCxnSpPr>
            <a:cxnSpLocks/>
          </p:cNvCxnSpPr>
          <p:nvPr/>
        </p:nvCxnSpPr>
        <p:spPr>
          <a:xfrm>
            <a:off x="4294868" y="1736981"/>
            <a:ext cx="0" cy="3707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B97F6F2-3B8C-7187-7463-DE62A5360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802" y="1410789"/>
            <a:ext cx="5513217" cy="120120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BFD248A-C38B-3EEA-ACC7-E2877161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A running example: The 1-D Heat equation</a:t>
            </a:r>
          </a:p>
        </p:txBody>
      </p:sp>
    </p:spTree>
    <p:extLst>
      <p:ext uri="{BB962C8B-B14F-4D97-AF65-F5344CB8AC3E}">
        <p14:creationId xmlns:p14="http://schemas.microsoft.com/office/powerpoint/2010/main" val="4279025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84514-FDAF-8BB2-DAD5-211CB5C1D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A0E20D-3156-501B-DF37-CC5272C88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57" y="999257"/>
            <a:ext cx="6590444" cy="54206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CFF2F2-A255-A014-7CFA-C63322FEE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A quick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996286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FE96-396E-DAF8-42B8-1C8DBB6E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26CD5EE-3A9B-C5D3-FFC1-53DD0A438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70" y="1464507"/>
            <a:ext cx="4592780" cy="37775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D1E517-33AE-DBDB-872B-9D9851DD8B1D}"/>
              </a:ext>
            </a:extLst>
          </p:cNvPr>
          <p:cNvSpPr txBox="1"/>
          <p:nvPr/>
        </p:nvSpPr>
        <p:spPr>
          <a:xfrm>
            <a:off x="5411932" y="1031190"/>
            <a:ext cx="640079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Quite straightforward and manageable, but allows us to observe and generalize some issues regarding testing/reasoning: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Unclear abstractions</a:t>
            </a:r>
            <a:r>
              <a:rPr lang="en-US" sz="2400" dirty="0"/>
              <a:t>: data structures and relations not explicit.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No reasoning artifacts</a:t>
            </a:r>
            <a:r>
              <a:rPr lang="en-US" sz="2400" dirty="0"/>
              <a:t>: no assertions, property specifications, or contracts.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Mixed concerns</a:t>
            </a:r>
            <a:r>
              <a:rPr lang="en-US" sz="2400" dirty="0"/>
              <a:t>: one function handling multiple responsibilities.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Opaque state</a:t>
            </a:r>
            <a:r>
              <a:rPr lang="en-US" sz="2400" dirty="0"/>
              <a:t>: hard to inspect intermediate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No reuse or substitution</a:t>
            </a:r>
            <a:r>
              <a:rPr lang="en-US" sz="2400" dirty="0"/>
              <a:t>: computations tightly coupled.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07EAB-04AD-D05B-0571-05493E6E9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A quick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940658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4623F-04D0-6465-F10E-91B7C01B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87B487B-5A5B-4A36-A21C-BD5E8841C01C}"/>
              </a:ext>
            </a:extLst>
          </p:cNvPr>
          <p:cNvSpPr txBox="1"/>
          <p:nvPr/>
        </p:nvSpPr>
        <p:spPr>
          <a:xfrm>
            <a:off x="483343" y="1120170"/>
            <a:ext cx="112253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only ~10 lines of code, these issues may not seem significant.</a:t>
            </a:r>
          </a:p>
          <a:p>
            <a:endParaRPr lang="en-US" sz="2400" dirty="0"/>
          </a:p>
          <a:p>
            <a:r>
              <a:rPr lang="en-US" sz="2400" dirty="0"/>
              <a:t>Our aim is to discuss strategies and techniques generalizable to real applications: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same patterns/issues appear in routines with 100s of lines.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There, these design flaws become real barriers to understanding and testing.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98C19-2907-E033-2C4C-FE914E1DF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Monolithic Code - Observations</a:t>
            </a:r>
          </a:p>
        </p:txBody>
      </p:sp>
    </p:spTree>
    <p:extLst>
      <p:ext uri="{BB962C8B-B14F-4D97-AF65-F5344CB8AC3E}">
        <p14:creationId xmlns:p14="http://schemas.microsoft.com/office/powerpoint/2010/main" val="2213471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5F4FF-6D2E-4603-D003-72E0EE9C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096A56-C65A-E6AB-EB4A-2950BA64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344" y="646970"/>
            <a:ext cx="9258300" cy="3054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C327A8-B094-30D5-B803-B1991E8B4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Design for Reasoning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44793-2E8B-1DF1-C81D-0FCC1F3C12DD}"/>
              </a:ext>
            </a:extLst>
          </p:cNvPr>
          <p:cNvSpPr txBox="1"/>
          <p:nvPr/>
        </p:nvSpPr>
        <p:spPr>
          <a:xfrm>
            <a:off x="6796499" y="3987246"/>
            <a:ext cx="38126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/>
              <a:t>What we want: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2400" dirty="0"/>
              <a:t>separation of concerns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2400" dirty="0"/>
              <a:t>explicit expectations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2400" dirty="0"/>
              <a:t>A structure we can </a:t>
            </a:r>
            <a:r>
              <a:rPr lang="en-US" sz="2400" i="1" dirty="0"/>
              <a:t>understand, test, extend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4C2900-2563-4B64-B256-076FC1DF4D4B}"/>
              </a:ext>
            </a:extLst>
          </p:cNvPr>
          <p:cNvSpPr txBox="1"/>
          <p:nvPr/>
        </p:nvSpPr>
        <p:spPr>
          <a:xfrm>
            <a:off x="1222092" y="3936126"/>
            <a:ext cx="341382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What we had: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monolithic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mixed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hard to test or extend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lack explicit reasoning</a:t>
            </a:r>
          </a:p>
        </p:txBody>
      </p:sp>
    </p:spTree>
    <p:extLst>
      <p:ext uri="{BB962C8B-B14F-4D97-AF65-F5344CB8AC3E}">
        <p14:creationId xmlns:p14="http://schemas.microsoft.com/office/powerpoint/2010/main" val="620594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1D8A-95B6-A3CA-5792-F9EFBF88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5B43-0180-BC70-8DD0-CD5B3A956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Abstraction – Deciding What Matters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9ECEA-FBB9-0231-8BFA-F43C17F015EB}"/>
              </a:ext>
            </a:extLst>
          </p:cNvPr>
          <p:cNvSpPr txBox="1"/>
          <p:nvPr/>
        </p:nvSpPr>
        <p:spPr>
          <a:xfrm>
            <a:off x="829315" y="3764122"/>
            <a:ext cx="872937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Concepts in Heat Equation Solver: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Mesh</a:t>
            </a:r>
            <a:r>
              <a:rPr lang="en-US" sz="2400" dirty="0"/>
              <a:t> → domain geometry. A collection of cells.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Cell fields</a:t>
            </a:r>
            <a:r>
              <a:rPr lang="en-US" sz="2400" dirty="0"/>
              <a:t> → quantities stored at cell centers (or cell </a:t>
            </a:r>
            <a:r>
              <a:rPr lang="en-US" sz="2400" dirty="0" err="1"/>
              <a:t>avg.d</a:t>
            </a:r>
            <a:r>
              <a:rPr lang="en-US" sz="24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Face fields</a:t>
            </a:r>
            <a:r>
              <a:rPr lang="en-US" sz="2400" dirty="0"/>
              <a:t> → quantities incident on cell interfaces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Computations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4BACB-BCAA-AAB5-C4D3-3D0239461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618" y="2270755"/>
            <a:ext cx="4792982" cy="10442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B4372D-CAFB-02E7-2629-0497FE717796}"/>
              </a:ext>
            </a:extLst>
          </p:cNvPr>
          <p:cNvSpPr txBox="1"/>
          <p:nvPr/>
        </p:nvSpPr>
        <p:spPr>
          <a:xfrm>
            <a:off x="829314" y="990671"/>
            <a:ext cx="80135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Goal:</a:t>
            </a:r>
            <a:r>
              <a:rPr lang="en-US" sz="2400" dirty="0"/>
              <a:t> Identify the key concepts that define the system.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Focus on </a:t>
            </a:r>
            <a:r>
              <a:rPr lang="en-US" sz="2400" i="1" dirty="0"/>
              <a:t>what</a:t>
            </a:r>
            <a:r>
              <a:rPr lang="en-US" sz="2400" dirty="0"/>
              <a:t> we represent, not </a:t>
            </a:r>
            <a:r>
              <a:rPr lang="en-US" sz="2400" i="1" dirty="0"/>
              <a:t>how</a:t>
            </a:r>
            <a:r>
              <a:rPr lang="en-US" sz="2400" dirty="0"/>
              <a:t> we compute it.</a:t>
            </a:r>
          </a:p>
        </p:txBody>
      </p:sp>
    </p:spTree>
    <p:extLst>
      <p:ext uri="{BB962C8B-B14F-4D97-AF65-F5344CB8AC3E}">
        <p14:creationId xmlns:p14="http://schemas.microsoft.com/office/powerpoint/2010/main" val="3638714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6D226-9ED1-B389-44B5-BCB1DBBC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C46F-1CAF-D3B9-DB41-75F331239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Abstraction – Deciding What Matters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C2130-1FBC-A75C-3B61-224C2F72A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56" y="1206454"/>
            <a:ext cx="6748837" cy="468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46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D15CF-6393-7183-48C1-329686550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0112-E939-8547-7509-3E051848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Abstraction – Deciding What Matters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C6157-ACE1-B112-7895-7327D39DF320}"/>
              </a:ext>
            </a:extLst>
          </p:cNvPr>
          <p:cNvSpPr txBox="1"/>
          <p:nvPr/>
        </p:nvSpPr>
        <p:spPr>
          <a:xfrm>
            <a:off x="8034617" y="2696134"/>
            <a:ext cx="36993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Note</a:t>
            </a:r>
            <a:r>
              <a:rPr lang="en-US" sz="2000" dirty="0"/>
              <a:t> that our approach is mainly based on procedural abstraction. We won’t rely much on OOP features beyond this simple data class.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A0434-715E-912E-B707-4EFC9B25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56" y="1206454"/>
            <a:ext cx="6748837" cy="468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43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05573-2B1B-2104-B5C2-39BCFA85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8835-CD9F-F5D1-7F72-92EEA240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Decomposition – Organizing the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79DBA-5686-51AC-0A7F-84A34273738C}"/>
              </a:ext>
            </a:extLst>
          </p:cNvPr>
          <p:cNvSpPr txBox="1"/>
          <p:nvPr/>
        </p:nvSpPr>
        <p:spPr>
          <a:xfrm>
            <a:off x="616184" y="990671"/>
            <a:ext cx="101583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Goal: </a:t>
            </a:r>
            <a:r>
              <a:rPr lang="en-US" sz="2400" dirty="0"/>
              <a:t>Split computation along abstractions.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Each procedure should have a </a:t>
            </a:r>
            <a:r>
              <a:rPr lang="en-US" sz="2400" b="1" dirty="0"/>
              <a:t>single, clear purpose.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Procedures should be </a:t>
            </a:r>
            <a:r>
              <a:rPr lang="en-US" sz="2400" b="1" dirty="0"/>
              <a:t>general.</a:t>
            </a:r>
            <a:r>
              <a:rPr lang="en-US" sz="2400" dirty="0"/>
              <a:t> Avoid hard-coded assumptions.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Keep them </a:t>
            </a:r>
            <a:r>
              <a:rPr lang="en-US" sz="2400" b="1" dirty="0"/>
              <a:t>simple but composable.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42550F-7688-A0A1-FB6B-C071A21DE5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480"/>
          <a:stretch>
            <a:fillRect/>
          </a:stretch>
        </p:blipFill>
        <p:spPr>
          <a:xfrm>
            <a:off x="3692347" y="3783337"/>
            <a:ext cx="1565453" cy="17461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6DCBA4-E679-B8FB-8989-F702C9CF8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713"/>
          <a:stretch>
            <a:fillRect/>
          </a:stretch>
        </p:blipFill>
        <p:spPr>
          <a:xfrm>
            <a:off x="6432550" y="3783337"/>
            <a:ext cx="1931256" cy="174617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F09455-4F7D-12FC-E432-9F88E7B4DCF2}"/>
              </a:ext>
            </a:extLst>
          </p:cNvPr>
          <p:cNvCxnSpPr>
            <a:cxnSpLocks/>
          </p:cNvCxnSpPr>
          <p:nvPr/>
        </p:nvCxnSpPr>
        <p:spPr>
          <a:xfrm>
            <a:off x="5594350" y="4597400"/>
            <a:ext cx="54982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890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EC744-72DC-9C8D-2292-86D2E671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6B42-311B-D3EF-F15C-B40C3D106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Decomposition – The core 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F7F12-D657-9D77-F28F-2DF36F066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56" y="941401"/>
            <a:ext cx="10515600" cy="539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77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BF1C-966F-7D26-8046-DC2637CFC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E4EA-04D8-47BF-AE4F-7D7E32B37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Decomposition – The core 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7C2FC-494C-4C09-AAFE-70C80096F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56" y="941401"/>
            <a:ext cx="10515600" cy="53926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AFF3D3-2C0B-A47B-1DA1-9F924BDD4C18}"/>
              </a:ext>
            </a:extLst>
          </p:cNvPr>
          <p:cNvSpPr txBox="1"/>
          <p:nvPr/>
        </p:nvSpPr>
        <p:spPr>
          <a:xfrm>
            <a:off x="7097919" y="3219906"/>
            <a:ext cx="4709046" cy="2862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Argument naming convention: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c: cell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f: face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_out suffix: output argument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_</a:t>
            </a:r>
            <a:r>
              <a:rPr lang="en-US" sz="2000" dirty="0" err="1"/>
              <a:t>inout</a:t>
            </a:r>
            <a:r>
              <a:rPr lang="en-US" sz="2000" dirty="0"/>
              <a:t> suffix: input/output argument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These general argument names make the</a:t>
            </a:r>
          </a:p>
          <a:p>
            <a:r>
              <a:rPr lang="en-US" sz="2000" dirty="0"/>
              <a:t>procedures reusable (in line with</a:t>
            </a:r>
          </a:p>
          <a:p>
            <a:r>
              <a:rPr lang="en-US" sz="2000" i="1" dirty="0"/>
              <a:t>abstraction by parameterization</a:t>
            </a:r>
            <a:r>
              <a:rPr lang="en-US" sz="2000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167135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18D7D-485F-A0FD-70DC-1CE46D7B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11E92-7D65-4A87-2444-58481F730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Program to an interface, not an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5156B7-2492-1B3D-387E-4A6D4D3550A2}"/>
              </a:ext>
            </a:extLst>
          </p:cNvPr>
          <p:cNvSpPr txBox="1"/>
          <p:nvPr/>
        </p:nvSpPr>
        <p:spPr>
          <a:xfrm>
            <a:off x="458057" y="842480"/>
            <a:ext cx="11219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Gamma et al. </a:t>
            </a:r>
            <a:r>
              <a:rPr lang="en-US" i="1" dirty="0"/>
              <a:t>Design Patterns</a:t>
            </a:r>
            <a:r>
              <a:rPr lang="en-US" dirty="0"/>
              <a:t>, 1995</a:t>
            </a:r>
          </a:p>
          <a:p>
            <a:endParaRPr lang="en-US" dirty="0"/>
          </a:p>
          <a:p>
            <a:r>
              <a:rPr lang="en-US" sz="2000" dirty="0"/>
              <a:t>Design each function around what it promises to do, not how it does it.</a:t>
            </a:r>
          </a:p>
          <a:p>
            <a:r>
              <a:rPr lang="en-US" sz="2000" dirty="0"/>
              <a:t>By depending only on clear, minimal interfaces (inputs, outputs, and contracts) </a:t>
            </a:r>
          </a:p>
          <a:p>
            <a:r>
              <a:rPr lang="en-US" sz="2000" dirty="0"/>
              <a:t>other parts of the code remain unaffected when internals change.</a:t>
            </a:r>
          </a:p>
        </p:txBody>
      </p:sp>
    </p:spTree>
    <p:extLst>
      <p:ext uri="{BB962C8B-B14F-4D97-AF65-F5344CB8AC3E}">
        <p14:creationId xmlns:p14="http://schemas.microsoft.com/office/powerpoint/2010/main" val="42565174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BA546-0E3E-1343-DF65-B35A6018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C251-078F-54EC-5E95-F89788FA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Specification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F0C642-1DAF-9A84-5947-B199DA704877}"/>
              </a:ext>
            </a:extLst>
          </p:cNvPr>
          <p:cNvSpPr txBox="1"/>
          <p:nvPr/>
        </p:nvSpPr>
        <p:spPr>
          <a:xfrm>
            <a:off x="458056" y="927100"/>
            <a:ext cx="7701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 addition to type annotations in core API, we can specify contracts: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05FC2E-5203-86FD-CAFD-5A8B6B3DE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01" y="1513239"/>
            <a:ext cx="9834986" cy="19157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4E5F5B-096D-D0AB-2750-8650EE0F4E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145"/>
          <a:stretch>
            <a:fillRect/>
          </a:stretch>
        </p:blipFill>
        <p:spPr>
          <a:xfrm>
            <a:off x="6837068" y="4062553"/>
            <a:ext cx="2233133" cy="18922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053880-2221-5211-9DED-C9AF8BA506A1}"/>
              </a:ext>
            </a:extLst>
          </p:cNvPr>
          <p:cNvSpPr txBox="1"/>
          <p:nvPr/>
        </p:nvSpPr>
        <p:spPr>
          <a:xfrm>
            <a:off x="6820018" y="5490306"/>
            <a:ext cx="10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1C3700-AA02-2510-904F-49042A8B43E1}"/>
              </a:ext>
            </a:extLst>
          </p:cNvPr>
          <p:cNvSpPr txBox="1"/>
          <p:nvPr/>
        </p:nvSpPr>
        <p:spPr>
          <a:xfrm>
            <a:off x="7996919" y="5490306"/>
            <a:ext cx="10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00D799-94CA-39F4-BBA0-DDBD4F4A4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253" y="5549546"/>
            <a:ext cx="224620" cy="2654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8A54A0F-629B-FA64-6765-160C3D7A9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0690" y="5534658"/>
            <a:ext cx="224620" cy="2654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65725AD-C643-85BB-B12B-7BEC336974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145"/>
          <a:stretch>
            <a:fillRect/>
          </a:stretch>
        </p:blipFill>
        <p:spPr>
          <a:xfrm>
            <a:off x="3200491" y="4071713"/>
            <a:ext cx="2233133" cy="189220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8434FCD-A784-18E7-1DFC-3A83BED0FA00}"/>
              </a:ext>
            </a:extLst>
          </p:cNvPr>
          <p:cNvSpPr txBox="1"/>
          <p:nvPr/>
        </p:nvSpPr>
        <p:spPr>
          <a:xfrm>
            <a:off x="3183441" y="5499466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C1C6C5-7443-11C5-9209-0510D764E8C4}"/>
              </a:ext>
            </a:extLst>
          </p:cNvPr>
          <p:cNvSpPr txBox="1"/>
          <p:nvPr/>
        </p:nvSpPr>
        <p:spPr>
          <a:xfrm>
            <a:off x="4360342" y="5499466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A150E2-59D5-0AEB-CFA2-0B2FDD355078}"/>
              </a:ext>
            </a:extLst>
          </p:cNvPr>
          <p:cNvSpPr txBox="1"/>
          <p:nvPr/>
        </p:nvSpPr>
        <p:spPr>
          <a:xfrm>
            <a:off x="7325711" y="4795830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 {Q}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F57220A-BDDA-FB37-7D65-FC0CC5829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528" y="4855070"/>
            <a:ext cx="224620" cy="26546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A94075F-CE3F-6545-A8C9-FBBB2EB8DC90}"/>
              </a:ext>
            </a:extLst>
          </p:cNvPr>
          <p:cNvSpPr txBox="1"/>
          <p:nvPr/>
        </p:nvSpPr>
        <p:spPr>
          <a:xfrm>
            <a:off x="7351697" y="4134782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{Q}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3029DAD-4C1E-0281-78B8-D51A1EC7E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494" y="4194022"/>
            <a:ext cx="224620" cy="26546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439E9A4-4234-2295-0F37-7215DBF3897B}"/>
              </a:ext>
            </a:extLst>
          </p:cNvPr>
          <p:cNvSpPr txBox="1"/>
          <p:nvPr/>
        </p:nvSpPr>
        <p:spPr>
          <a:xfrm>
            <a:off x="3740956" y="4808013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 {Q}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30D1E5-7A96-F806-4AF5-81ADB6EE5928}"/>
              </a:ext>
            </a:extLst>
          </p:cNvPr>
          <p:cNvSpPr txBox="1"/>
          <p:nvPr/>
        </p:nvSpPr>
        <p:spPr>
          <a:xfrm>
            <a:off x="3769512" y="4140761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{Q}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74DA657-ED79-B412-0CA3-54EAC37CC13B}"/>
              </a:ext>
            </a:extLst>
          </p:cNvPr>
          <p:cNvCxnSpPr>
            <a:cxnSpLocks/>
          </p:cNvCxnSpPr>
          <p:nvPr/>
        </p:nvCxnSpPr>
        <p:spPr>
          <a:xfrm>
            <a:off x="5829300" y="4991100"/>
            <a:ext cx="54982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8674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24FC-0130-CFE5-6336-E9CC47014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5BE2-AD0E-B20F-88D5-63FF03C7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Specification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8871D-C008-AA35-BBE3-BAAF82E9AB4E}"/>
              </a:ext>
            </a:extLst>
          </p:cNvPr>
          <p:cNvSpPr txBox="1"/>
          <p:nvPr/>
        </p:nvSpPr>
        <p:spPr>
          <a:xfrm>
            <a:off x="458056" y="927100"/>
            <a:ext cx="8188267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Beyond contracts and structural correctness, we can express: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logical, computational, or physical/scientific properties</a:t>
            </a:r>
          </a:p>
          <a:p>
            <a:pPr lvl="1"/>
            <a:endParaRPr lang="en-US" sz="2000" dirty="0"/>
          </a:p>
          <a:p>
            <a:r>
              <a:rPr lang="en-US" sz="2000" dirty="0"/>
              <a:t>For the heat equation solver, examples include: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Telescoping: </a:t>
            </a:r>
            <a:r>
              <a:rPr lang="en-US" sz="2000" dirty="0"/>
              <a:t>sum of divergences equals boundary flux difference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Conservation: </a:t>
            </a:r>
            <a:r>
              <a:rPr lang="en-US" sz="2000" dirty="0"/>
              <a:t>total heat remains constant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Symmetry: </a:t>
            </a:r>
            <a:r>
              <a:rPr lang="en-US" sz="2000" dirty="0"/>
              <a:t>symmetric initial conditions stay symmetric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Monotonicity: </a:t>
            </a:r>
            <a:r>
              <a:rPr lang="en-US" sz="2000" dirty="0"/>
              <a:t>No new extrema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67938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CCB0-9A94-96DE-D3D8-36DCF8926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40B456F-DEA6-9361-C839-FBE1116D631F}"/>
              </a:ext>
            </a:extLst>
          </p:cNvPr>
          <p:cNvSpPr txBox="1"/>
          <p:nvPr/>
        </p:nvSpPr>
        <p:spPr>
          <a:xfrm>
            <a:off x="458056" y="1052654"/>
            <a:ext cx="11392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sum of the divergence over all cells equals the net flux through the boundaries.</a:t>
            </a:r>
          </a:p>
          <a:p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E54BF-ED70-0D02-1137-104B297DCD02}"/>
              </a:ext>
            </a:extLst>
          </p:cNvPr>
          <p:cNvSpPr txBox="1"/>
          <p:nvPr/>
        </p:nvSpPr>
        <p:spPr>
          <a:xfrm>
            <a:off x="464291" y="1183190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2400" dirty="0"/>
            </a:b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D44906-9FE2-A33F-045F-875C10CB0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96" y="1572070"/>
            <a:ext cx="4130305" cy="8842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83C5CE-880C-92E1-A4B1-C3B4C1CC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Specifying the Telescoping Property</a:t>
            </a:r>
          </a:p>
        </p:txBody>
      </p:sp>
    </p:spTree>
    <p:extLst>
      <p:ext uri="{BB962C8B-B14F-4D97-AF65-F5344CB8AC3E}">
        <p14:creationId xmlns:p14="http://schemas.microsoft.com/office/powerpoint/2010/main" val="3295851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26D4-AD0B-6F25-A3AB-B14CC843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480622A-FA82-1EED-6D94-6C5094F02B6E}"/>
              </a:ext>
            </a:extLst>
          </p:cNvPr>
          <p:cNvSpPr txBox="1"/>
          <p:nvPr/>
        </p:nvSpPr>
        <p:spPr>
          <a:xfrm>
            <a:off x="458056" y="1052654"/>
            <a:ext cx="11392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sum of the divergence over all cells equals the net flux through the boundaries.</a:t>
            </a:r>
          </a:p>
          <a:p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C914A-5FFD-0144-7C1A-FC0E49528C83}"/>
              </a:ext>
            </a:extLst>
          </p:cNvPr>
          <p:cNvSpPr txBox="1"/>
          <p:nvPr/>
        </p:nvSpPr>
        <p:spPr>
          <a:xfrm>
            <a:off x="464291" y="1183190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2400" dirty="0"/>
            </a:b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48EFF4-BF44-845B-574A-6574CE91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96" y="1572070"/>
            <a:ext cx="4130305" cy="8842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D7636-EE5A-2FA0-B967-AD1665A2B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Specifying the Telescoping Property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461F8D-D927-C764-3479-F74CABE44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96" y="3740938"/>
            <a:ext cx="7772400" cy="19646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A68E12-7A48-D6D7-9360-2E8470881A04}"/>
              </a:ext>
            </a:extLst>
          </p:cNvPr>
          <p:cNvSpPr txBox="1"/>
          <p:nvPr/>
        </p:nvSpPr>
        <p:spPr>
          <a:xfrm>
            <a:off x="605481" y="2656699"/>
            <a:ext cx="71450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Isolation of concerns and having well defined APIs</a:t>
            </a:r>
          </a:p>
          <a:p>
            <a:r>
              <a:rPr lang="en-US" sz="2400" dirty="0"/>
              <a:t>facilitate specification and testing of such properties:</a:t>
            </a:r>
          </a:p>
        </p:txBody>
      </p:sp>
    </p:spTree>
    <p:extLst>
      <p:ext uri="{BB962C8B-B14F-4D97-AF65-F5344CB8AC3E}">
        <p14:creationId xmlns:p14="http://schemas.microsoft.com/office/powerpoint/2010/main" val="10489697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64A99-CF6E-43A4-1F8A-A2ED040A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7ADC-B37D-17D8-702B-73B5C3EF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08C06A-4BAB-0794-F2FE-2E829E11B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682" y="3365472"/>
            <a:ext cx="1096335" cy="11295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BCDD077-72F5-13E3-9757-05E1DCACA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145"/>
          <a:stretch>
            <a:fillRect/>
          </a:stretch>
        </p:blipFill>
        <p:spPr>
          <a:xfrm>
            <a:off x="3941092" y="2984138"/>
            <a:ext cx="2233133" cy="18922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E1651F7-72B0-559A-4C5B-8B566354B2FD}"/>
              </a:ext>
            </a:extLst>
          </p:cNvPr>
          <p:cNvSpPr txBox="1"/>
          <p:nvPr/>
        </p:nvSpPr>
        <p:spPr>
          <a:xfrm>
            <a:off x="3924042" y="4411891"/>
            <a:ext cx="10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C5332F-D65B-CB86-91E4-36FE4ACBCCDA}"/>
              </a:ext>
            </a:extLst>
          </p:cNvPr>
          <p:cNvSpPr txBox="1"/>
          <p:nvPr/>
        </p:nvSpPr>
        <p:spPr>
          <a:xfrm>
            <a:off x="5100943" y="4411891"/>
            <a:ext cx="10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C9E5162-B54F-7C2D-14D8-00E3090CB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277" y="4471131"/>
            <a:ext cx="224620" cy="26546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F820B18-D944-F83B-D610-864DF1ECC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714" y="4456243"/>
            <a:ext cx="224620" cy="26546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ECB8A30-82B5-F7A0-8915-9291985B0216}"/>
              </a:ext>
            </a:extLst>
          </p:cNvPr>
          <p:cNvSpPr txBox="1"/>
          <p:nvPr/>
        </p:nvSpPr>
        <p:spPr>
          <a:xfrm>
            <a:off x="4429735" y="3717415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 {Q}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1778AA8-54CB-74B7-5614-BEF5C662C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552" y="3776655"/>
            <a:ext cx="224620" cy="26546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B1B348E-DFE9-35E5-C6DA-3A118779A212}"/>
              </a:ext>
            </a:extLst>
          </p:cNvPr>
          <p:cNvSpPr txBox="1"/>
          <p:nvPr/>
        </p:nvSpPr>
        <p:spPr>
          <a:xfrm>
            <a:off x="4455721" y="3056367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{Q}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D344395-110F-3F15-6854-399081A65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518" y="3115607"/>
            <a:ext cx="224620" cy="265460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A0F3DA5-34F0-7C1C-77C9-0E5E054B1B74}"/>
              </a:ext>
            </a:extLst>
          </p:cNvPr>
          <p:cNvCxnSpPr>
            <a:cxnSpLocks/>
          </p:cNvCxnSpPr>
          <p:nvPr/>
        </p:nvCxnSpPr>
        <p:spPr>
          <a:xfrm>
            <a:off x="6341017" y="3899985"/>
            <a:ext cx="54982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EDDE4195-B8F0-8BAF-0983-C92A572D3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9609"/>
            <a:ext cx="10463785" cy="2461173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With abstractions identified, pieces decomposed, and specifications written:</a:t>
            </a:r>
          </a:p>
          <a:p>
            <a:pPr lvl="1"/>
            <a:r>
              <a:rPr lang="en-US" dirty="0"/>
              <a:t>implement code that satisfies them.</a:t>
            </a:r>
          </a:p>
        </p:txBody>
      </p:sp>
    </p:spTree>
    <p:extLst>
      <p:ext uri="{BB962C8B-B14F-4D97-AF65-F5344CB8AC3E}">
        <p14:creationId xmlns:p14="http://schemas.microsoft.com/office/powerpoint/2010/main" val="15502588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4A65-91C4-D147-03AC-FA1A435B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FD48-4C19-3118-0F32-2EE3567E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E343C0-CC94-9154-BE6F-4FD81555C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4"/>
          <a:stretch>
            <a:fillRect/>
          </a:stretch>
        </p:blipFill>
        <p:spPr>
          <a:xfrm>
            <a:off x="719880" y="1046661"/>
            <a:ext cx="8803383" cy="155803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D81EFC-2A8E-589A-3A71-0284413685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277"/>
          <a:stretch>
            <a:fillRect/>
          </a:stretch>
        </p:blipFill>
        <p:spPr>
          <a:xfrm>
            <a:off x="8526155" y="4305057"/>
            <a:ext cx="3576636" cy="8542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40195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CBB9E-D742-A363-8A30-B68C84FE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E73CE-1C22-2A42-ABFD-10E3CB916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2681C-50B7-281C-FB5F-E9FBAF0D8E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4"/>
          <a:stretch>
            <a:fillRect/>
          </a:stretch>
        </p:blipFill>
        <p:spPr>
          <a:xfrm>
            <a:off x="719880" y="1046661"/>
            <a:ext cx="8803383" cy="155803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C4A273-FE2E-4366-62D1-9675069E18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3" r="11723"/>
          <a:stretch>
            <a:fillRect/>
          </a:stretch>
        </p:blipFill>
        <p:spPr>
          <a:xfrm>
            <a:off x="936702" y="1950920"/>
            <a:ext cx="8660781" cy="161476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96AEF4-F5C8-1DF6-2209-7D307EDB91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081" b="25510"/>
          <a:stretch>
            <a:fillRect/>
          </a:stretch>
        </p:blipFill>
        <p:spPr>
          <a:xfrm>
            <a:off x="8526155" y="5122127"/>
            <a:ext cx="3576636" cy="8697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76413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C9EE1-A21C-E2EC-BFCB-5FD1DBB4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E4FE-E7B6-BF19-7F35-3355B0A17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F0F558-BA61-4508-FC8A-8FFDC6C84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4"/>
          <a:stretch>
            <a:fillRect/>
          </a:stretch>
        </p:blipFill>
        <p:spPr>
          <a:xfrm>
            <a:off x="719880" y="1046661"/>
            <a:ext cx="8803383" cy="155803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B53306-0E24-1ED2-0184-B8FA751734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3" r="11723"/>
          <a:stretch>
            <a:fillRect/>
          </a:stretch>
        </p:blipFill>
        <p:spPr>
          <a:xfrm>
            <a:off x="936702" y="1950920"/>
            <a:ext cx="8660781" cy="161476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01E110-79FA-08C3-E55A-F3827A6D80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4"/>
          <a:stretch>
            <a:fillRect/>
          </a:stretch>
        </p:blipFill>
        <p:spPr>
          <a:xfrm>
            <a:off x="1367883" y="2662795"/>
            <a:ext cx="8372080" cy="3284522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50800" dist="590216" dir="5400000" sx="21000" sy="21000" algn="ctr" rotWithShape="0">
              <a:srgbClr val="000000"/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132F1A-522A-5F68-3933-EA1E1BCFCB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2520"/>
          <a:stretch>
            <a:fillRect/>
          </a:stretch>
        </p:blipFill>
        <p:spPr>
          <a:xfrm>
            <a:off x="8444379" y="5189045"/>
            <a:ext cx="3576636" cy="6222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8590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FA01E-65FC-5687-1217-6B1922203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7C453-2076-6FE9-2BC5-4C064472A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9B2FD-0725-DAF2-8C3F-7051E45CC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45"/>
          <a:stretch>
            <a:fillRect/>
          </a:stretch>
        </p:blipFill>
        <p:spPr>
          <a:xfrm>
            <a:off x="6837068" y="4062553"/>
            <a:ext cx="2233133" cy="18922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8D5420-8EB8-DE00-A553-3465C11DA67C}"/>
              </a:ext>
            </a:extLst>
          </p:cNvPr>
          <p:cNvSpPr txBox="1"/>
          <p:nvPr/>
        </p:nvSpPr>
        <p:spPr>
          <a:xfrm>
            <a:off x="6820018" y="5490306"/>
            <a:ext cx="10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AAE7C-85E7-E592-7BE4-990676DC0D02}"/>
              </a:ext>
            </a:extLst>
          </p:cNvPr>
          <p:cNvSpPr txBox="1"/>
          <p:nvPr/>
        </p:nvSpPr>
        <p:spPr>
          <a:xfrm>
            <a:off x="7996919" y="5490306"/>
            <a:ext cx="10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3D9BB6-8330-3A7E-C812-FDB9BC18B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253" y="5549546"/>
            <a:ext cx="224620" cy="265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A4A146-DBE3-8722-E3CA-FBF1BC293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690" y="5534658"/>
            <a:ext cx="224620" cy="2654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47A692-A367-B236-9D55-5B7B8163D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45"/>
          <a:stretch>
            <a:fillRect/>
          </a:stretch>
        </p:blipFill>
        <p:spPr>
          <a:xfrm>
            <a:off x="3200491" y="4071713"/>
            <a:ext cx="2233133" cy="18922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E50E62-1F77-963B-ED96-9069214F07F8}"/>
              </a:ext>
            </a:extLst>
          </p:cNvPr>
          <p:cNvSpPr txBox="1"/>
          <p:nvPr/>
        </p:nvSpPr>
        <p:spPr>
          <a:xfrm>
            <a:off x="3183441" y="5499466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F0805C-0E99-A9D5-C34C-AD5A1FC21DC3}"/>
              </a:ext>
            </a:extLst>
          </p:cNvPr>
          <p:cNvSpPr txBox="1"/>
          <p:nvPr/>
        </p:nvSpPr>
        <p:spPr>
          <a:xfrm>
            <a:off x="4360342" y="5499466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{Q}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5C2827-A3AD-D55E-11A4-4740931CD6AB}"/>
              </a:ext>
            </a:extLst>
          </p:cNvPr>
          <p:cNvSpPr txBox="1"/>
          <p:nvPr/>
        </p:nvSpPr>
        <p:spPr>
          <a:xfrm>
            <a:off x="7325711" y="4795830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 {Q}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375B3F1-A559-3672-F6F5-3E85B53B3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528" y="4855070"/>
            <a:ext cx="224620" cy="2654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ACDE8C5-779A-C5B2-47DD-6E503C311A58}"/>
              </a:ext>
            </a:extLst>
          </p:cNvPr>
          <p:cNvSpPr txBox="1"/>
          <p:nvPr/>
        </p:nvSpPr>
        <p:spPr>
          <a:xfrm>
            <a:off x="7351697" y="4134782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{Q}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801DBA-9172-7D39-A9CF-B95AD898C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494" y="4194022"/>
            <a:ext cx="224620" cy="265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F5612AE-2741-8914-2955-C2495BE1B5E5}"/>
              </a:ext>
            </a:extLst>
          </p:cNvPr>
          <p:cNvSpPr txBox="1"/>
          <p:nvPr/>
        </p:nvSpPr>
        <p:spPr>
          <a:xfrm>
            <a:off x="3740956" y="4808013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 {Q}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CF79F7-9660-936C-D9AC-DF8B3402EF96}"/>
              </a:ext>
            </a:extLst>
          </p:cNvPr>
          <p:cNvSpPr txBox="1"/>
          <p:nvPr/>
        </p:nvSpPr>
        <p:spPr>
          <a:xfrm>
            <a:off x="3769512" y="4140761"/>
            <a:ext cx="110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E6585"/>
                </a:solidFill>
              </a:rPr>
              <a:t>{P}        {Q}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A0BAF2-A723-8FCB-B12D-1EC6AF68165B}"/>
              </a:ext>
            </a:extLst>
          </p:cNvPr>
          <p:cNvCxnSpPr>
            <a:cxnSpLocks/>
          </p:cNvCxnSpPr>
          <p:nvPr/>
        </p:nvCxnSpPr>
        <p:spPr>
          <a:xfrm>
            <a:off x="5829300" y="4991100"/>
            <a:ext cx="54982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6EE353-8289-A270-D120-5B03175C3237}"/>
              </a:ext>
            </a:extLst>
          </p:cNvPr>
          <p:cNvSpPr txBox="1"/>
          <p:nvPr/>
        </p:nvSpPr>
        <p:spPr>
          <a:xfrm>
            <a:off x="483343" y="1120170"/>
            <a:ext cx="112253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the remainder of this tutorial, we’ll cover several testing and verification techniques in detail with and with hands-on exercises: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Unit Testing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Property-base testing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Bounded formal verification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2675326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653DA-2254-1057-6FA6-DAD15B59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C12C84-3132-F421-4878-D9B601A19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183878"/>
            <a:ext cx="7772400" cy="22451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0E1952-3BA5-127B-528C-469AA266B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Unit Testing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08901-D362-EBD8-4FC4-0333D5F07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017" y="1062275"/>
            <a:ext cx="1448986" cy="1362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248979-3B34-AFD5-2002-02C3FE490FBE}"/>
              </a:ext>
            </a:extLst>
          </p:cNvPr>
          <p:cNvSpPr txBox="1"/>
          <p:nvPr/>
        </p:nvSpPr>
        <p:spPr>
          <a:xfrm>
            <a:off x="9292852" y="2663278"/>
            <a:ext cx="24613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Manish </a:t>
            </a:r>
            <a:r>
              <a:rPr lang="en-US" b="1" dirty="0" err="1"/>
              <a:t>Venumuddula</a:t>
            </a:r>
            <a:endParaRPr lang="en-US" b="1" dirty="0"/>
          </a:p>
          <a:p>
            <a:pPr algn="ctr"/>
            <a:r>
              <a:rPr lang="en-US" dirty="0"/>
              <a:t>(NSF NCAR)</a:t>
            </a:r>
          </a:p>
        </p:txBody>
      </p:sp>
    </p:spTree>
    <p:extLst>
      <p:ext uri="{BB962C8B-B14F-4D97-AF65-F5344CB8AC3E}">
        <p14:creationId xmlns:p14="http://schemas.microsoft.com/office/powerpoint/2010/main" val="38747077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5D3D-8806-740C-C5D8-605E9BAF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B747B7-88BD-DCB4-FAC0-3E88050DD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1183878"/>
            <a:ext cx="7772400" cy="2245122"/>
          </a:xfrm>
          <a:prstGeom prst="rect">
            <a:avLst/>
          </a:prstGeom>
        </p:spPr>
      </p:pic>
      <p:pic>
        <p:nvPicPr>
          <p:cNvPr id="8" name="pytest">
            <a:hlinkClick r:id="" action="ppaction://media"/>
            <a:extLst>
              <a:ext uri="{FF2B5EF4-FFF2-40B4-BE49-F238E27FC236}">
                <a16:creationId xmlns:a16="http://schemas.microsoft.com/office/drawing/2014/main" id="{A70710C4-3D0B-1EC4-D4A8-3D75C38BEA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9229" y="3554522"/>
            <a:ext cx="8053430" cy="30126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CB6A48-368D-2612-C5F3-5C78FD289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Unit Testing</a:t>
            </a:r>
          </a:p>
        </p:txBody>
      </p:sp>
    </p:spTree>
    <p:extLst>
      <p:ext uri="{BB962C8B-B14F-4D97-AF65-F5344CB8AC3E}">
        <p14:creationId xmlns:p14="http://schemas.microsoft.com/office/powerpoint/2010/main" val="363499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4DF7-1664-0486-CB34-893766FA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B7BC8A-0098-A7E4-4178-E6FE6EC37D77}"/>
              </a:ext>
            </a:extLst>
          </p:cNvPr>
          <p:cNvSpPr txBox="1"/>
          <p:nvPr/>
        </p:nvSpPr>
        <p:spPr>
          <a:xfrm>
            <a:off x="458056" y="1265364"/>
            <a:ext cx="99379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Unit tests are practical and useful.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are great for quick, focused feedback.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But they only test the examples we think to write.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69C46-76F8-A75D-543A-8D0C38B9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Unit Testing</a:t>
            </a:r>
          </a:p>
        </p:txBody>
      </p:sp>
    </p:spTree>
    <p:extLst>
      <p:ext uri="{BB962C8B-B14F-4D97-AF65-F5344CB8AC3E}">
        <p14:creationId xmlns:p14="http://schemas.microsoft.com/office/powerpoint/2010/main" val="28547142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DD122-C263-54A3-8061-C0244E44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D99FE85-4010-5C2F-1C2B-F4BC98928497}"/>
              </a:ext>
            </a:extLst>
          </p:cNvPr>
          <p:cNvSpPr txBox="1"/>
          <p:nvPr/>
        </p:nvSpPr>
        <p:spPr>
          <a:xfrm>
            <a:off x="458056" y="1198704"/>
            <a:ext cx="82473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all inputs satisfying preconditions, check specified relations/properties.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Auto-generate many random inputs: explore cases we might never think to test.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randomness is </a:t>
            </a:r>
            <a:r>
              <a:rPr lang="en-US" sz="2400" i="1" dirty="0"/>
              <a:t>smart</a:t>
            </a:r>
            <a:r>
              <a:rPr lang="en-US" sz="2400" dirty="0"/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guided by strategies and constraints.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target edge cases.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shrink counterexamples.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87E71-8B62-9BF1-8E53-9B128F54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Property-Based Testing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655C4A1-A8BB-C957-9600-1C0F8633C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236" y="1144655"/>
            <a:ext cx="1448987" cy="144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C5065F-98F4-E919-9DE9-07237D587970}"/>
              </a:ext>
            </a:extLst>
          </p:cNvPr>
          <p:cNvSpPr txBox="1"/>
          <p:nvPr/>
        </p:nvSpPr>
        <p:spPr>
          <a:xfrm>
            <a:off x="9480819" y="2782669"/>
            <a:ext cx="1867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Deepak Cherian</a:t>
            </a:r>
          </a:p>
          <a:p>
            <a:pPr algn="ctr"/>
            <a:r>
              <a:rPr lang="en-US" dirty="0"/>
              <a:t>(Earthmover)</a:t>
            </a:r>
          </a:p>
        </p:txBody>
      </p:sp>
    </p:spTree>
    <p:extLst>
      <p:ext uri="{BB962C8B-B14F-4D97-AF65-F5344CB8AC3E}">
        <p14:creationId xmlns:p14="http://schemas.microsoft.com/office/powerpoint/2010/main" val="30806645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9309-026E-F35E-422B-9717617F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bt2">
            <a:hlinkClick r:id="" action="ppaction://media"/>
            <a:extLst>
              <a:ext uri="{FF2B5EF4-FFF2-40B4-BE49-F238E27FC236}">
                <a16:creationId xmlns:a16="http://schemas.microsoft.com/office/drawing/2014/main" id="{00B498B7-1FEF-BDA9-D777-595D0B7B07D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4877" y="1050769"/>
            <a:ext cx="9095816" cy="55743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043A2F-AA25-08F4-42B4-74BBA28AF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Property-Based Testing</a:t>
            </a:r>
          </a:p>
        </p:txBody>
      </p:sp>
    </p:spTree>
    <p:extLst>
      <p:ext uri="{BB962C8B-B14F-4D97-AF65-F5344CB8AC3E}">
        <p14:creationId xmlns:p14="http://schemas.microsoft.com/office/powerpoint/2010/main" val="85203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C5516-0E7A-F4E7-BE52-EFE5BAA5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DDC5E71-2A7F-A5EF-001E-2D83EDA5301B}"/>
              </a:ext>
            </a:extLst>
          </p:cNvPr>
          <p:cNvSpPr txBox="1"/>
          <p:nvPr/>
        </p:nvSpPr>
        <p:spPr>
          <a:xfrm>
            <a:off x="458057" y="1120347"/>
            <a:ext cx="830680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this mindset to a Python version of a production code that simulates wildfire behavior (translated from Fortran).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Explore </a:t>
            </a:r>
            <a:r>
              <a:rPr lang="en-US" sz="2000" b="1" dirty="0"/>
              <a:t>scientific representations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using synthetic fuels and comparing to observational data.</a:t>
            </a:r>
            <a:endParaRPr lang="en-US" sz="2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0879AE-B7FB-052D-95DA-FA2C79092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Functional Testing</a:t>
            </a:r>
          </a:p>
        </p:txBody>
      </p:sp>
      <p:pic>
        <p:nvPicPr>
          <p:cNvPr id="5" name="Picture 6" descr="Profile photo of Adrianna Foster">
            <a:extLst>
              <a:ext uri="{FF2B5EF4-FFF2-40B4-BE49-F238E27FC236}">
                <a16:creationId xmlns:a16="http://schemas.microsoft.com/office/drawing/2014/main" id="{2F982AF9-5BC0-F127-078E-B0BEAB083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567" y="700447"/>
            <a:ext cx="1448987" cy="144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BC3ECF-DA39-2744-4615-272283543569}"/>
              </a:ext>
            </a:extLst>
          </p:cNvPr>
          <p:cNvSpPr txBox="1"/>
          <p:nvPr/>
        </p:nvSpPr>
        <p:spPr>
          <a:xfrm>
            <a:off x="9381885" y="2291467"/>
            <a:ext cx="21783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Adrianna Foster</a:t>
            </a:r>
          </a:p>
          <a:p>
            <a:pPr algn="ctr"/>
            <a:r>
              <a:rPr lang="en-US" dirty="0"/>
              <a:t>(NSF NCAR)</a:t>
            </a:r>
          </a:p>
          <a:p>
            <a:pPr algn="ctr"/>
            <a:r>
              <a:rPr lang="en-US" dirty="0"/>
              <a:t>“Functional testing”</a:t>
            </a:r>
          </a:p>
        </p:txBody>
      </p:sp>
      <p:pic>
        <p:nvPicPr>
          <p:cNvPr id="10242" name="Picture 2" descr="Propagating Flux">
            <a:extLst>
              <a:ext uri="{FF2B5EF4-FFF2-40B4-BE49-F238E27FC236}">
                <a16:creationId xmlns:a16="http://schemas.microsoft.com/office/drawing/2014/main" id="{F7ED36A5-FCAF-6E5A-0B23-4DD9B3406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21" y="3373545"/>
            <a:ext cx="3603702" cy="257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low load climate grass">
            <a:extLst>
              <a:ext uri="{FF2B5EF4-FFF2-40B4-BE49-F238E27FC236}">
                <a16:creationId xmlns:a16="http://schemas.microsoft.com/office/drawing/2014/main" id="{DB371567-B128-2BC2-157F-2027F1839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994" y="3643204"/>
            <a:ext cx="6090165" cy="219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24752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DBA1-466B-3AAD-D76C-147F4931A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CD27CA-931D-1594-01A5-E6821F00DCBF}"/>
              </a:ext>
            </a:extLst>
          </p:cNvPr>
          <p:cNvSpPr txBox="1"/>
          <p:nvPr/>
        </p:nvSpPr>
        <p:spPr>
          <a:xfrm>
            <a:off x="155945" y="2426379"/>
            <a:ext cx="118801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/>
          </a:p>
          <a:p>
            <a:pPr algn="ctr"/>
            <a:r>
              <a:rPr lang="en-US" sz="2400" dirty="0"/>
              <a:t>“Testing can be used to show the presence of bugs, </a:t>
            </a:r>
          </a:p>
          <a:p>
            <a:pPr algn="ctr"/>
            <a:r>
              <a:rPr lang="en-US" sz="2400" dirty="0"/>
              <a:t>but never to show their absence.”</a:t>
            </a:r>
          </a:p>
          <a:p>
            <a:pPr algn="ctr"/>
            <a:r>
              <a:rPr lang="en-US" sz="2400" dirty="0"/>
              <a:t>-  </a:t>
            </a:r>
            <a:r>
              <a:rPr lang="en-US" sz="2400" dirty="0" err="1"/>
              <a:t>Edsger</a:t>
            </a:r>
            <a:r>
              <a:rPr lang="en-US" sz="2400" dirty="0"/>
              <a:t> W. Dijkstra</a:t>
            </a:r>
          </a:p>
        </p:txBody>
      </p:sp>
    </p:spTree>
    <p:extLst>
      <p:ext uri="{BB962C8B-B14F-4D97-AF65-F5344CB8AC3E}">
        <p14:creationId xmlns:p14="http://schemas.microsoft.com/office/powerpoint/2010/main" val="6196682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9077-F8A9-17E5-38F9-6E0EEDA74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04258E-1FDE-EA23-B757-399D696D1BCC}"/>
              </a:ext>
            </a:extLst>
          </p:cNvPr>
          <p:cNvSpPr txBox="1"/>
          <p:nvPr/>
        </p:nvSpPr>
        <p:spPr>
          <a:xfrm>
            <a:off x="458056" y="1196547"/>
            <a:ext cx="11880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Symbolically</a:t>
            </a:r>
            <a:r>
              <a:rPr lang="en-US" sz="2000" dirty="0"/>
              <a:t> check whether properties hold for all possible inputs within specified ranges.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Less practical, but still achievable when we have the right abstractions and decompositions.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60608-CB29-6313-6C70-D23DCA244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73" y="2389926"/>
            <a:ext cx="9748134" cy="319532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14AA1D5-14E0-6C4C-71B6-CC5C72189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Bounded Formal Verification</a:t>
            </a:r>
          </a:p>
        </p:txBody>
      </p:sp>
    </p:spTree>
    <p:extLst>
      <p:ext uri="{BB962C8B-B14F-4D97-AF65-F5344CB8AC3E}">
        <p14:creationId xmlns:p14="http://schemas.microsoft.com/office/powerpoint/2010/main" val="30758921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C893B-870C-2454-A2FD-53DE5FEF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9D7EDFB-28BF-A0A1-F0B4-461B6EF6F499}"/>
              </a:ext>
            </a:extLst>
          </p:cNvPr>
          <p:cNvSpPr txBox="1"/>
          <p:nvPr/>
        </p:nvSpPr>
        <p:spPr>
          <a:xfrm>
            <a:off x="458056" y="1120347"/>
            <a:ext cx="108576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By reasoning symbolically: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move from </a:t>
            </a:r>
            <a:r>
              <a:rPr lang="en-US" sz="2000" b="1" dirty="0"/>
              <a:t>testing some cases </a:t>
            </a:r>
            <a:r>
              <a:rPr lang="en-US" sz="2000" dirty="0"/>
              <a:t>to </a:t>
            </a:r>
            <a:r>
              <a:rPr lang="en-US" sz="2000" b="1" dirty="0"/>
              <a:t>proving properties for all cases</a:t>
            </a:r>
            <a:r>
              <a:rPr lang="en-US" sz="2000" dirty="0"/>
              <a:t> within a defined scope.</a:t>
            </a:r>
          </a:p>
          <a:p>
            <a:endParaRPr lang="en-US" sz="2000" dirty="0"/>
          </a:p>
          <a:p>
            <a:r>
              <a:rPr lang="en-US" sz="2000" dirty="0"/>
              <a:t>This gives </a:t>
            </a:r>
            <a:r>
              <a:rPr lang="en-US" sz="2000" b="1" dirty="0"/>
              <a:t>scope completeness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solver explores </a:t>
            </a:r>
            <a:r>
              <a:rPr lang="en-US" sz="2000" b="1" i="1" dirty="0"/>
              <a:t>every</a:t>
            </a:r>
            <a:r>
              <a:rPr lang="en-US" sz="2000" dirty="0"/>
              <a:t> combination of inputs allowed by the specification.</a:t>
            </a:r>
          </a:p>
          <a:p>
            <a:endParaRPr lang="en-US" sz="2000" dirty="0"/>
          </a:p>
          <a:p>
            <a:r>
              <a:rPr lang="en-US" sz="2000" dirty="0"/>
              <a:t>And thanks to </a:t>
            </a:r>
            <a:r>
              <a:rPr lang="en-US" sz="2000" b="1" dirty="0"/>
              <a:t>the small scope hypothesis: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high proportion of bugs can be found by checking the program for </a:t>
            </a:r>
            <a:r>
              <a:rPr lang="en-US" sz="2000" b="1" i="1" dirty="0"/>
              <a:t>all</a:t>
            </a:r>
            <a:r>
              <a:rPr lang="en-US" sz="2000" dirty="0"/>
              <a:t> inputs within some small scope. (D. Jackson, 2006)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F2A893-C7B0-E822-4647-1B3A4B3DA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Bounded Formal Verification</a:t>
            </a:r>
          </a:p>
        </p:txBody>
      </p:sp>
    </p:spTree>
    <p:extLst>
      <p:ext uri="{BB962C8B-B14F-4D97-AF65-F5344CB8AC3E}">
        <p14:creationId xmlns:p14="http://schemas.microsoft.com/office/powerpoint/2010/main" val="42643442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9FA7C-5A14-E364-7D78-C4734F83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D4C9B9D-0F95-3378-5CDC-20FC31353A46}"/>
              </a:ext>
            </a:extLst>
          </p:cNvPr>
          <p:cNvSpPr txBox="1"/>
          <p:nvPr/>
        </p:nvSpPr>
        <p:spPr>
          <a:xfrm>
            <a:off x="458056" y="1120347"/>
            <a:ext cx="113289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We’ll introduce the Z3 Solver, a popular formal methods tool used across many domains.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Bug finding &amp; verification</a:t>
            </a:r>
            <a:r>
              <a:rPr lang="en-US" sz="2000" dirty="0"/>
              <a:t>: powers symbolic execution and static-analysis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Constraint solving</a:t>
            </a:r>
            <a:r>
              <a:rPr lang="en-US" sz="2000" dirty="0"/>
              <a:t>: finds configurations or schedules that satisfy complex interdependent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Compilers &amp; optimizers</a:t>
            </a:r>
            <a:r>
              <a:rPr lang="en-US" sz="2000" dirty="0"/>
              <a:t>: LLVM-based tools to check that optimized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Tool development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We’ve used Z3 in </a:t>
            </a:r>
            <a:r>
              <a:rPr lang="en-US" sz="2000" b="1" dirty="0"/>
              <a:t>visualCaseGen</a:t>
            </a:r>
            <a:r>
              <a:rPr lang="en-US" sz="2000" dirty="0"/>
              <a:t>, a custom CESM case configurator: Z3 validates setting in real time by analyzing dependencies, detecting conflicts, and explaining incompatibilities.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D54E269-DE36-4547-5757-AA54D8101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The Z3 Solver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34DA6-0732-A4A9-9991-C53FE4799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46" y="4260535"/>
            <a:ext cx="5414807" cy="15755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2B37D2-6CBE-2B64-35EF-91C4F7EB7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539" y="4260535"/>
            <a:ext cx="4319117" cy="152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908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F9A1-C7AB-947C-2A39-346C9D0D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87EAE5E-CA3A-71B8-C952-30C0EB06F672}"/>
              </a:ext>
            </a:extLst>
          </p:cNvPr>
          <p:cNvSpPr txBox="1"/>
          <p:nvPr/>
        </p:nvSpPr>
        <p:spPr>
          <a:xfrm>
            <a:off x="458057" y="1120347"/>
            <a:ext cx="74964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Tomorrow’s Keynote: “Lean into Verifiable Intelligence”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talk about Lean, another formal verification tool, and how AI and formal reasoning are coming together to make systems both smarter and more trustworthy.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C81E020-5AC9-2559-E636-33B32318D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Formal Reasoning and AI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73B65E-1BD6-479C-2621-0DBA15CB1328}"/>
              </a:ext>
            </a:extLst>
          </p:cNvPr>
          <p:cNvSpPr txBox="1"/>
          <p:nvPr/>
        </p:nvSpPr>
        <p:spPr>
          <a:xfrm>
            <a:off x="9416370" y="2669598"/>
            <a:ext cx="1557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Soonho</a:t>
            </a:r>
            <a:r>
              <a:rPr lang="en-US" b="1" dirty="0"/>
              <a:t> Kong</a:t>
            </a:r>
          </a:p>
          <a:p>
            <a:pPr algn="ctr"/>
            <a:r>
              <a:rPr lang="en-US" dirty="0"/>
              <a:t>(Amazon)</a:t>
            </a:r>
          </a:p>
        </p:txBody>
      </p:sp>
      <p:pic>
        <p:nvPicPr>
          <p:cNvPr id="4" name="Picture 2" descr="View soonho-tri's full-sized avatar">
            <a:extLst>
              <a:ext uri="{FF2B5EF4-FFF2-40B4-BE49-F238E27FC236}">
                <a16:creationId xmlns:a16="http://schemas.microsoft.com/office/drawing/2014/main" id="{68BC6013-9C4F-22E2-31BA-B48B42B30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484" y="842481"/>
            <a:ext cx="1727106" cy="1727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Lean - Microsoft Research">
            <a:extLst>
              <a:ext uri="{FF2B5EF4-FFF2-40B4-BE49-F238E27FC236}">
                <a16:creationId xmlns:a16="http://schemas.microsoft.com/office/drawing/2014/main" id="{FE141EE2-4DC8-D42F-9267-16394C31C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0632" y="3542072"/>
            <a:ext cx="2356810" cy="126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9996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6E86-2F62-4C29-AD68-68C39E34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44BE-B319-AA6B-706F-DF030465D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37" y="3429000"/>
            <a:ext cx="10515600" cy="477355"/>
          </a:xfrm>
        </p:spPr>
        <p:txBody>
          <a:bodyPr/>
          <a:lstStyle/>
          <a:p>
            <a:pPr algn="ctr"/>
            <a:r>
              <a:rPr lang="en-US" sz="3200" i="1" dirty="0"/>
              <a:t>Final Words</a:t>
            </a:r>
          </a:p>
        </p:txBody>
      </p:sp>
    </p:spTree>
    <p:extLst>
      <p:ext uri="{BB962C8B-B14F-4D97-AF65-F5344CB8AC3E}">
        <p14:creationId xmlns:p14="http://schemas.microsoft.com/office/powerpoint/2010/main" val="18883454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24917-EFA7-B70D-5B9D-5DEA2DED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213CA-9BF2-C7C1-7D64-076CBC87E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Coverage and Problem Sizes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6B9CCC8-B6E9-A0E5-4099-4ED245AA66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48"/>
          <a:stretch>
            <a:fillRect/>
          </a:stretch>
        </p:blipFill>
        <p:spPr>
          <a:xfrm>
            <a:off x="9416345" y="3345461"/>
            <a:ext cx="2374553" cy="248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E27403-020C-D577-C3F1-C97BDF1F7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194" y="1073150"/>
            <a:ext cx="6427611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502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10672-55B8-A588-A3D8-28BDCD983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095B2-4E5A-D235-6EC7-96C339B15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Coverage and Problem Sizes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E9FDFE1-1BEF-D643-2448-6B324CEE39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697"/>
          <a:stretch>
            <a:fillRect/>
          </a:stretch>
        </p:blipFill>
        <p:spPr>
          <a:xfrm>
            <a:off x="9416345" y="3345461"/>
            <a:ext cx="2374553" cy="4773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A31507-D089-39CD-5895-E7BAED5D2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194" y="1073150"/>
            <a:ext cx="6427611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4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B4A7A-0F4F-CDCA-6CFF-3CBF43BF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0325-8F3E-3C3C-1AAF-1261BB58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Coverage and Problem Sizes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1AAD1C2-1A9C-B702-4854-3A0AD8FF0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345" y="3345461"/>
            <a:ext cx="2374553" cy="7661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A10A3E-2B01-F68A-F63F-3C3960CA4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194" y="1073150"/>
            <a:ext cx="6427611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369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D277-79D4-227E-EBC9-5C0E1196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E489-C3ED-4FAB-C0FD-87B1E8A0D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No One-Size-Fits-All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2FCF6-7BBB-97AE-0C5F-9BBB6C276511}"/>
              </a:ext>
            </a:extLst>
          </p:cNvPr>
          <p:cNvSpPr txBox="1"/>
          <p:nvPr/>
        </p:nvSpPr>
        <p:spPr>
          <a:xfrm>
            <a:off x="584200" y="1182231"/>
            <a:ext cx="961994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Each technique brings its own tradeoffs in effort, scope, and assurance.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Unit testing</a:t>
            </a:r>
            <a:r>
              <a:rPr lang="en-US" sz="2400" dirty="0"/>
              <a:t>: fast, focused, and essential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Property-based testing</a:t>
            </a:r>
            <a:r>
              <a:rPr lang="en-US" sz="2400" dirty="0"/>
              <a:t>: broad and exploratory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Formal Verification</a:t>
            </a:r>
            <a:r>
              <a:rPr lang="en-US" sz="2400" dirty="0"/>
              <a:t>: deep and exhaustive, but less practical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Choose based on your project’s needs and practical constraints.</a:t>
            </a:r>
          </a:p>
        </p:txBody>
      </p:sp>
    </p:spTree>
    <p:extLst>
      <p:ext uri="{BB962C8B-B14F-4D97-AF65-F5344CB8AC3E}">
        <p14:creationId xmlns:p14="http://schemas.microsoft.com/office/powerpoint/2010/main" val="3614320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00C57-1280-F186-F2E0-33480AC95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7FFC-CB17-4139-17DD-F3248F76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Beyond Tools: A Scientific Mindset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4FBDF-0E2B-AA24-FB1D-8B9AA4FCB338}"/>
              </a:ext>
            </a:extLst>
          </p:cNvPr>
          <p:cNvSpPr txBox="1"/>
          <p:nvPr/>
        </p:nvSpPr>
        <p:spPr>
          <a:xfrm>
            <a:off x="458056" y="1003300"/>
            <a:ext cx="108061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Start by thinking about the abstractions and properties your code should hold.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Hypothesize about these properties through reasoning and specification.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Attempt to refute your hypothesis through tests / verification.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Incrementally refine your code and your understanding based on the results.</a:t>
            </a:r>
          </a:p>
        </p:txBody>
      </p:sp>
    </p:spTree>
    <p:extLst>
      <p:ext uri="{BB962C8B-B14F-4D97-AF65-F5344CB8AC3E}">
        <p14:creationId xmlns:p14="http://schemas.microsoft.com/office/powerpoint/2010/main" val="23820194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2D05-EAB2-4A06-B389-2187C4EF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23C2-C5F9-6B2A-1356-1ADB0001C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6" y="365126"/>
            <a:ext cx="10515600" cy="477355"/>
          </a:xfrm>
        </p:spPr>
        <p:txBody>
          <a:bodyPr/>
          <a:lstStyle/>
          <a:p>
            <a:r>
              <a:rPr lang="en-US" dirty="0"/>
              <a:t>Does the extra work slow us down?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B91B5-304C-3713-F7B3-551368F59850}"/>
              </a:ext>
            </a:extLst>
          </p:cNvPr>
          <p:cNvSpPr txBox="1"/>
          <p:nvPr/>
        </p:nvSpPr>
        <p:spPr>
          <a:xfrm>
            <a:off x="458056" y="1003300"/>
            <a:ext cx="9575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Yes, for one-off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But for code that lives beyond a few versions, the effort pays back: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It enables quick inquiries, changes, and exploration of new ideas.</a:t>
            </a:r>
          </a:p>
        </p:txBody>
      </p:sp>
    </p:spTree>
    <p:extLst>
      <p:ext uri="{BB962C8B-B14F-4D97-AF65-F5344CB8AC3E}">
        <p14:creationId xmlns:p14="http://schemas.microsoft.com/office/powerpoint/2010/main" val="28263644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19C68-A34B-EAD1-EEAE-7BF7B09C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AA22A-E1F1-45D3-29AC-9AC89F71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Thanks!</a:t>
            </a:r>
            <a:br>
              <a:rPr lang="en-US" sz="34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4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400" b="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altuntas@ucar.edu</a:t>
            </a:r>
            <a:endParaRPr lang="en-US" sz="3400" i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8" descr="BSSw Fellowship Logo">
            <a:extLst>
              <a:ext uri="{FF2B5EF4-FFF2-40B4-BE49-F238E27FC236}">
                <a16:creationId xmlns:a16="http://schemas.microsoft.com/office/drawing/2014/main" id="{01DF1953-BBE8-2288-CA50-64BF65113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76523" y="992094"/>
            <a:ext cx="3658447" cy="209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4E5BE5-79AD-D0AB-28FF-35DA52C63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511" y="4682996"/>
            <a:ext cx="1704411" cy="1704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3328DF-E487-54E3-B071-E48831A34A9B}"/>
              </a:ext>
            </a:extLst>
          </p:cNvPr>
          <p:cNvSpPr txBox="1"/>
          <p:nvPr/>
        </p:nvSpPr>
        <p:spPr>
          <a:xfrm>
            <a:off x="6665084" y="3844968"/>
            <a:ext cx="4569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Link to survey:</a:t>
            </a:r>
          </a:p>
          <a:p>
            <a:pPr algn="ctr"/>
            <a:r>
              <a:rPr lang="en-US" dirty="0"/>
              <a:t>https://</a:t>
            </a:r>
            <a:r>
              <a:rPr lang="en-US" dirty="0" err="1"/>
              <a:t>www.surveymonkey.com</a:t>
            </a:r>
            <a:r>
              <a:rPr lang="en-US" dirty="0"/>
              <a:t>/r/RFQYLG6</a:t>
            </a:r>
          </a:p>
        </p:txBody>
      </p:sp>
    </p:spTree>
    <p:extLst>
      <p:ext uri="{BB962C8B-B14F-4D97-AF65-F5344CB8AC3E}">
        <p14:creationId xmlns:p14="http://schemas.microsoft.com/office/powerpoint/2010/main" val="1071826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15285</TotalTime>
  <Words>2460</Words>
  <Application>Microsoft Macintosh PowerPoint</Application>
  <PresentationFormat>Widescreen</PresentationFormat>
  <Paragraphs>337</Paragraphs>
  <Slides>64</Slides>
  <Notes>3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Aptos</vt:lpstr>
      <vt:lpstr>Arial</vt:lpstr>
      <vt:lpstr>Bradley Hand</vt:lpstr>
      <vt:lpstr>Calibri</vt:lpstr>
      <vt:lpstr>Helvetica Neue</vt:lpstr>
      <vt:lpstr>Montserrat</vt:lpstr>
      <vt:lpstr>Office Theme</vt:lpstr>
      <vt:lpstr>PowerPoint Presentation</vt:lpstr>
      <vt:lpstr>Why this matters?</vt:lpstr>
      <vt:lpstr>The Goal</vt:lpstr>
      <vt:lpstr>The code-and-fix style</vt:lpstr>
      <vt:lpstr>A scientific mindset</vt:lpstr>
      <vt:lpstr>PowerPoint Presentation</vt:lpstr>
      <vt:lpstr>Decomposition</vt:lpstr>
      <vt:lpstr>Decomposition is the central software design task. (J. Ousterhout)</vt:lpstr>
      <vt:lpstr>Specification</vt:lpstr>
      <vt:lpstr>What to specify?</vt:lpstr>
      <vt:lpstr>What to specify?</vt:lpstr>
      <vt:lpstr>How to specify?</vt:lpstr>
      <vt:lpstr>Why specify?</vt:lpstr>
      <vt:lpstr>Implementation</vt:lpstr>
      <vt:lpstr>Testing &amp; verification (i.e., refutation)</vt:lpstr>
      <vt:lpstr>In summary</vt:lpstr>
      <vt:lpstr>In summary</vt:lpstr>
      <vt:lpstr>In summary</vt:lpstr>
      <vt:lpstr>In summary</vt:lpstr>
      <vt:lpstr>Waterfall?</vt:lpstr>
      <vt:lpstr>Waterfall  Incremental</vt:lpstr>
      <vt:lpstr>Waterfall  Incremental</vt:lpstr>
      <vt:lpstr>A running example</vt:lpstr>
      <vt:lpstr>A running example: The 1-D Heat equation</vt:lpstr>
      <vt:lpstr>A running example: The 1-D Heat equation</vt:lpstr>
      <vt:lpstr>A quick implementation</vt:lpstr>
      <vt:lpstr>A quick implementation</vt:lpstr>
      <vt:lpstr>Monolithic Code - Observations</vt:lpstr>
      <vt:lpstr>Design for Reasoning</vt:lpstr>
      <vt:lpstr>Abstraction – Deciding What Matters</vt:lpstr>
      <vt:lpstr>Abstraction – Deciding What Matters</vt:lpstr>
      <vt:lpstr>Abstraction – Deciding What Matters</vt:lpstr>
      <vt:lpstr>Decomposition – Organizing the code</vt:lpstr>
      <vt:lpstr>Decomposition – The core API</vt:lpstr>
      <vt:lpstr>Decomposition – The core API</vt:lpstr>
      <vt:lpstr>Program to an interface, not an implementation</vt:lpstr>
      <vt:lpstr>Specification</vt:lpstr>
      <vt:lpstr>Specification</vt:lpstr>
      <vt:lpstr>Specifying the Telescoping Property</vt:lpstr>
      <vt:lpstr>Specifying the Telescoping Property</vt:lpstr>
      <vt:lpstr>Implementation</vt:lpstr>
      <vt:lpstr>Implementation</vt:lpstr>
      <vt:lpstr>Implementation</vt:lpstr>
      <vt:lpstr>Implementation</vt:lpstr>
      <vt:lpstr>Testing</vt:lpstr>
      <vt:lpstr>Unit Testing</vt:lpstr>
      <vt:lpstr>Unit Testing</vt:lpstr>
      <vt:lpstr>Unit Testing</vt:lpstr>
      <vt:lpstr>Property-Based Testing</vt:lpstr>
      <vt:lpstr>Property-Based Testing</vt:lpstr>
      <vt:lpstr>Functional Testing</vt:lpstr>
      <vt:lpstr>PowerPoint Presentation</vt:lpstr>
      <vt:lpstr>Bounded Formal Verification</vt:lpstr>
      <vt:lpstr>Bounded Formal Verification</vt:lpstr>
      <vt:lpstr>The Z3 Solver</vt:lpstr>
      <vt:lpstr>Formal Reasoning and AI</vt:lpstr>
      <vt:lpstr>Final Words</vt:lpstr>
      <vt:lpstr>Coverage and Problem Sizes</vt:lpstr>
      <vt:lpstr>Coverage and Problem Sizes</vt:lpstr>
      <vt:lpstr>Coverage and Problem Sizes</vt:lpstr>
      <vt:lpstr>No One-Size-Fits-All Solution</vt:lpstr>
      <vt:lpstr>Beyond Tools: A Scientific Mindset</vt:lpstr>
      <vt:lpstr>Does the extra work slow us down?  </vt:lpstr>
      <vt:lpstr>Thanks!  altuntas@ucar.edu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Alper Altuntas</dc:creator>
  <cp:lastModifiedBy>Alper Altuntas</cp:lastModifiedBy>
  <cp:revision>64</cp:revision>
  <dcterms:created xsi:type="dcterms:W3CDTF">2025-10-23T01:09:46Z</dcterms:created>
  <dcterms:modified xsi:type="dcterms:W3CDTF">2025-11-14T18:42:44Z</dcterms:modified>
</cp:coreProperties>
</file>