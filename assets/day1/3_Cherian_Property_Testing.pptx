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Figtree"/>
      <p:regular r:id="rId37"/>
      <p:bold r:id="rId38"/>
      <p:italic r:id="rId39"/>
      <p:boldItalic r:id="rId40"/>
    </p:embeddedFont>
    <p:embeddedFont>
      <p:font typeface="Nunito"/>
      <p:regular r:id="rId41"/>
      <p:bold r:id="rId42"/>
      <p:italic r:id="rId43"/>
      <p:boldItalic r:id="rId44"/>
    </p:embeddedFont>
    <p:embeddedFont>
      <p:font typeface="Nunito Medium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  <p:embeddedFont>
      <p:font typeface="IBM Plex Mono"/>
      <p:regular r:id="rId53"/>
      <p:bold r:id="rId54"/>
      <p:italic r:id="rId55"/>
      <p:boldItalic r:id="rId56"/>
    </p:embeddedFont>
    <p:embeddedFont>
      <p:font typeface="Nunito Light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8BE3F7-E8CA-465B-A22F-FAF525C5F9D9}">
  <a:tblStyle styleId="{788BE3F7-E8CA-465B-A22F-FAF525C5F9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-boldItalic.fntdata"/><Relationship Id="rId42" Type="http://schemas.openxmlformats.org/officeDocument/2006/relationships/font" Target="fonts/Nunito-bold.fntdata"/><Relationship Id="rId41" Type="http://schemas.openxmlformats.org/officeDocument/2006/relationships/font" Target="fonts/Nunito-regular.fntdata"/><Relationship Id="rId44" Type="http://schemas.openxmlformats.org/officeDocument/2006/relationships/font" Target="fonts/Nunito-boldItalic.fntdata"/><Relationship Id="rId43" Type="http://schemas.openxmlformats.org/officeDocument/2006/relationships/font" Target="fonts/Nunito-italic.fntdata"/><Relationship Id="rId46" Type="http://schemas.openxmlformats.org/officeDocument/2006/relationships/font" Target="fonts/NunitoMedium-bold.fntdata"/><Relationship Id="rId45" Type="http://schemas.openxmlformats.org/officeDocument/2006/relationships/font" Target="fonts/Nunit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NunitoMedium-boldItalic.fntdata"/><Relationship Id="rId47" Type="http://schemas.openxmlformats.org/officeDocument/2006/relationships/font" Target="fonts/NunitoMedium-italic.fntdata"/><Relationship Id="rId49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Figtree-regular.fntdata"/><Relationship Id="rId36" Type="http://schemas.openxmlformats.org/officeDocument/2006/relationships/slide" Target="slides/slide30.xml"/><Relationship Id="rId39" Type="http://schemas.openxmlformats.org/officeDocument/2006/relationships/font" Target="fonts/Figtree-italic.fntdata"/><Relationship Id="rId38" Type="http://schemas.openxmlformats.org/officeDocument/2006/relationships/font" Target="fonts/Figtree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NunitoLight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3" Type="http://schemas.openxmlformats.org/officeDocument/2006/relationships/font" Target="fonts/IBMPlexMono-regular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55" Type="http://schemas.openxmlformats.org/officeDocument/2006/relationships/font" Target="fonts/IBMPlexMono-italic.fntdata"/><Relationship Id="rId10" Type="http://schemas.openxmlformats.org/officeDocument/2006/relationships/slide" Target="slides/slide4.xml"/><Relationship Id="rId54" Type="http://schemas.openxmlformats.org/officeDocument/2006/relationships/font" Target="fonts/IBMPlexMono-bold.fntdata"/><Relationship Id="rId13" Type="http://schemas.openxmlformats.org/officeDocument/2006/relationships/slide" Target="slides/slide7.xml"/><Relationship Id="rId57" Type="http://schemas.openxmlformats.org/officeDocument/2006/relationships/font" Target="fonts/NunitoLight-regular.fntdata"/><Relationship Id="rId12" Type="http://schemas.openxmlformats.org/officeDocument/2006/relationships/slide" Target="slides/slide6.xml"/><Relationship Id="rId56" Type="http://schemas.openxmlformats.org/officeDocument/2006/relationships/font" Target="fonts/IBMPlexMono-boldItalic.fntdata"/><Relationship Id="rId15" Type="http://schemas.openxmlformats.org/officeDocument/2006/relationships/slide" Target="slides/slide9.xml"/><Relationship Id="rId59" Type="http://schemas.openxmlformats.org/officeDocument/2006/relationships/font" Target="fonts/NunitoLight-italic.fntdata"/><Relationship Id="rId14" Type="http://schemas.openxmlformats.org/officeDocument/2006/relationships/slide" Target="slides/slide8.xml"/><Relationship Id="rId58" Type="http://schemas.openxmlformats.org/officeDocument/2006/relationships/font" Target="fonts/NunitoLight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daff756bd_0_4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daff756bd_0_4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f6f00c267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9f6f00c267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f6f00c267_1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f6f00c267_1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f6f00c267_1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9f6f00c267_1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f6f00c267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f6f00c26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dad7f9fa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dad7f9fa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5dad7f9fa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5dad7f9fa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d52e6f4a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9d52e6f4a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d52e6f4a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d52e6f4a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d52e6f4ab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9d52e6f4ab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d52e6f4ab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9d52e6f4ab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9d52e6f4ab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9d52e6f4ab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9f6f00c267_1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9f6f00c267_1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d52e6f4ab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9d52e6f4ab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9d52e6f4ab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9d52e6f4ab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f6f00c267_1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9f6f00c267_1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9d52e6f4ab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9d52e6f4ab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9f6f00c267_1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9f6f00c267_1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09c82b30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a09c82b30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a09c82b3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a09c82b3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9f6f00c267_1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9f6f00c267_1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9f6f00c267_1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9f6f00c267_1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9d52e6f4ab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9d52e6f4ab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5dad7f9fa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5dad7f9fa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ff11a695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5ff11a695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9f6f00c267_1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9f6f00c267_1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9f6f00c267_1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9f6f00c267_1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9f6f00c267_1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9f6f00c267_1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9f6f00c267_1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9f6f00c267_1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5dad7f9fa7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5dad7f9fa7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6700" y="1552175"/>
            <a:ext cx="34632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418098" y="1799700"/>
            <a:ext cx="58014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gtre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descr="Layer_1 (1).pn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259" t="0"/>
          <a:stretch/>
        </p:blipFill>
        <p:spPr>
          <a:xfrm>
            <a:off x="456701" y="422500"/>
            <a:ext cx="1697325" cy="27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456700" y="3584400"/>
            <a:ext cx="5524500" cy="2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">
  <p:cSld name="CUSTOM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581250" y="19432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title"/>
          </p:nvPr>
        </p:nvSpPr>
        <p:spPr>
          <a:xfrm>
            <a:off x="3581250" y="23883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title"/>
          </p:nvPr>
        </p:nvSpPr>
        <p:spPr>
          <a:xfrm>
            <a:off x="3581250" y="28225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title"/>
          </p:nvPr>
        </p:nvSpPr>
        <p:spPr>
          <a:xfrm>
            <a:off x="3581250" y="32652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title"/>
          </p:nvPr>
        </p:nvSpPr>
        <p:spPr>
          <a:xfrm>
            <a:off x="3581250" y="37078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title"/>
          </p:nvPr>
        </p:nvSpPr>
        <p:spPr>
          <a:xfrm>
            <a:off x="2926050" y="32785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title"/>
          </p:nvPr>
        </p:nvSpPr>
        <p:spPr>
          <a:xfrm>
            <a:off x="2926050" y="28334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8" type="title"/>
          </p:nvPr>
        </p:nvSpPr>
        <p:spPr>
          <a:xfrm>
            <a:off x="2926050" y="23883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9" type="title"/>
          </p:nvPr>
        </p:nvSpPr>
        <p:spPr>
          <a:xfrm>
            <a:off x="2926050" y="19431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3" type="title"/>
          </p:nvPr>
        </p:nvSpPr>
        <p:spPr>
          <a:xfrm>
            <a:off x="2926050" y="14980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4" type="title"/>
          </p:nvPr>
        </p:nvSpPr>
        <p:spPr>
          <a:xfrm>
            <a:off x="418100" y="3069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5" type="title"/>
          </p:nvPr>
        </p:nvSpPr>
        <p:spPr>
          <a:xfrm>
            <a:off x="3581250" y="14981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6" type="title"/>
          </p:nvPr>
        </p:nvSpPr>
        <p:spPr>
          <a:xfrm>
            <a:off x="2926050" y="37236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Figtree"/>
              <a:buNone/>
              <a:defRPr sz="24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Layer_1 (1).png" id="28" name="Google Shape;28;p3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 title="Color=Violet, Dot size=Small.png"/>
          <p:cNvPicPr preferRelativeResize="0"/>
          <p:nvPr/>
        </p:nvPicPr>
        <p:blipFill rotWithShape="1">
          <a:blip r:embed="rId3">
            <a:alphaModFix/>
          </a:blip>
          <a:srcRect b="0" l="61668" r="0" t="0"/>
          <a:stretch/>
        </p:blipFill>
        <p:spPr>
          <a:xfrm>
            <a:off x="7172400" y="0"/>
            <a:ext cx="19716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>
            <p:ph idx="2" type="pic"/>
          </p:nvPr>
        </p:nvSpPr>
        <p:spPr>
          <a:xfrm>
            <a:off x="556050" y="948300"/>
            <a:ext cx="2096100" cy="2092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418100" y="3261600"/>
            <a:ext cx="24825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3" type="title"/>
          </p:nvPr>
        </p:nvSpPr>
        <p:spPr>
          <a:xfrm>
            <a:off x="418100" y="3551100"/>
            <a:ext cx="24825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406275" y="3990200"/>
            <a:ext cx="24825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35" name="Google Shape;35;p4"/>
          <p:cNvSpPr txBox="1"/>
          <p:nvPr>
            <p:ph idx="4" type="title"/>
          </p:nvPr>
        </p:nvSpPr>
        <p:spPr>
          <a:xfrm>
            <a:off x="3289713" y="3261600"/>
            <a:ext cx="24825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5" type="title"/>
          </p:nvPr>
        </p:nvSpPr>
        <p:spPr>
          <a:xfrm>
            <a:off x="3289713" y="3551100"/>
            <a:ext cx="24825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6" type="body"/>
          </p:nvPr>
        </p:nvSpPr>
        <p:spPr>
          <a:xfrm>
            <a:off x="3277888" y="3990200"/>
            <a:ext cx="24825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38" name="Google Shape;38;p4"/>
          <p:cNvSpPr txBox="1"/>
          <p:nvPr>
            <p:ph idx="7" type="title"/>
          </p:nvPr>
        </p:nvSpPr>
        <p:spPr>
          <a:xfrm>
            <a:off x="6161338" y="3261600"/>
            <a:ext cx="24825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8" type="title"/>
          </p:nvPr>
        </p:nvSpPr>
        <p:spPr>
          <a:xfrm>
            <a:off x="6161338" y="3551100"/>
            <a:ext cx="24825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9" type="body"/>
          </p:nvPr>
        </p:nvSpPr>
        <p:spPr>
          <a:xfrm>
            <a:off x="6149513" y="3990200"/>
            <a:ext cx="24825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4"/>
          <p:cNvSpPr/>
          <p:nvPr>
            <p:ph idx="13" type="pic"/>
          </p:nvPr>
        </p:nvSpPr>
        <p:spPr>
          <a:xfrm>
            <a:off x="3471089" y="948300"/>
            <a:ext cx="2096100" cy="2092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" name="Google Shape;43;p4"/>
          <p:cNvSpPr/>
          <p:nvPr>
            <p:ph idx="14" type="pic"/>
          </p:nvPr>
        </p:nvSpPr>
        <p:spPr>
          <a:xfrm>
            <a:off x="6354553" y="948300"/>
            <a:ext cx="2096100" cy="2092200"/>
          </a:xfrm>
          <a:prstGeom prst="ellipse">
            <a:avLst/>
          </a:prstGeom>
          <a:noFill/>
          <a:ln>
            <a:noFill/>
          </a:ln>
        </p:spPr>
      </p:sp>
      <p:pic>
        <p:nvPicPr>
          <p:cNvPr descr="Layer_1 (1).png" id="44" name="Google Shape;44;p4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A">
  <p:cSld name="CUSTOM_8_1_1_1_1_1_1_1_1_1_1_1_1_1_1_1_1_1_1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 rot="10800000">
            <a:off x="3414000" y="0"/>
            <a:ext cx="5730000" cy="5143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418100" y="1803600"/>
            <a:ext cx="48456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gtree"/>
              <a:buNone/>
              <a:defRPr sz="4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gtree"/>
              <a:buNone/>
              <a:defRPr sz="4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gtree"/>
              <a:buNone/>
              <a:defRPr sz="4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gtree"/>
              <a:buNone/>
              <a:defRPr sz="4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gtree"/>
              <a:buNone/>
              <a:defRPr sz="4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gtree"/>
              <a:buNone/>
              <a:defRPr sz="4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gtree"/>
              <a:buNone/>
              <a:defRPr sz="4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gtree"/>
              <a:buNone/>
              <a:defRPr sz="4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1" type="subTitle"/>
          </p:nvPr>
        </p:nvSpPr>
        <p:spPr>
          <a:xfrm>
            <a:off x="418450" y="1443900"/>
            <a:ext cx="4845600" cy="3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50" name="Google Shape;50;p5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A 1">
  <p:cSld name="CUSTOM_8_1_1_1_1_1_1_1_1_1_1_1_1_1_1_1_1_1_1_1_2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418100" y="1803600"/>
            <a:ext cx="48456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gtree"/>
              <a:buNone/>
              <a:defRPr sz="4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gtree"/>
              <a:buNone/>
              <a:defRPr sz="4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gtree"/>
              <a:buNone/>
              <a:defRPr sz="4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gtree"/>
              <a:buNone/>
              <a:defRPr sz="4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gtree"/>
              <a:buNone/>
              <a:defRPr sz="4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gtree"/>
              <a:buNone/>
              <a:defRPr sz="4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gtree"/>
              <a:buNone/>
              <a:defRPr sz="4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gtree"/>
              <a:buNone/>
              <a:defRPr sz="48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418450" y="1443900"/>
            <a:ext cx="4845600" cy="3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55" name="Google Shape;55;p6"/>
          <p:cNvPicPr preferRelativeResize="0"/>
          <p:nvPr/>
        </p:nvPicPr>
        <p:blipFill rotWithShape="1">
          <a:blip r:embed="rId2">
            <a:alphaModFix amt="20000"/>
          </a:blip>
          <a:srcRect b="0" l="0" r="259" t="0"/>
          <a:stretch/>
        </p:blipFill>
        <p:spPr>
          <a:xfrm>
            <a:off x="418100" y="4719100"/>
            <a:ext cx="912396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bg>
      <p:bgPr>
        <a:gradFill>
          <a:gsLst>
            <a:gs pos="0">
              <a:schemeClr val="lt2"/>
            </a:gs>
            <a:gs pos="72000">
              <a:schemeClr val="lt1"/>
            </a:gs>
            <a:gs pos="100000">
              <a:schemeClr val="lt1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/>
        </p:nvSpPr>
        <p:spPr>
          <a:xfrm>
            <a:off x="41281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2"/>
                </a:solidFill>
              </a:rPr>
              <a:t>“</a:t>
            </a:r>
            <a:endParaRPr b="1" sz="7200">
              <a:solidFill>
                <a:schemeClr val="dk2"/>
              </a:solidFill>
            </a:endParaRPr>
          </a:p>
        </p:txBody>
      </p:sp>
      <p:sp>
        <p:nvSpPr>
          <p:cNvPr id="58" name="Google Shape;58;p7"/>
          <p:cNvSpPr txBox="1"/>
          <p:nvPr>
            <p:ph idx="1" type="subTitle"/>
          </p:nvPr>
        </p:nvSpPr>
        <p:spPr>
          <a:xfrm>
            <a:off x="4128150" y="1631400"/>
            <a:ext cx="4371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59" name="Google Shape;59;p7"/>
          <p:cNvSpPr/>
          <p:nvPr>
            <p:ph idx="2" type="pic"/>
          </p:nvPr>
        </p:nvSpPr>
        <p:spPr>
          <a:xfrm>
            <a:off x="418100" y="1305263"/>
            <a:ext cx="1951200" cy="194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" name="Google Shape;60;p7"/>
          <p:cNvSpPr txBox="1"/>
          <p:nvPr>
            <p:ph type="title"/>
          </p:nvPr>
        </p:nvSpPr>
        <p:spPr>
          <a:xfrm>
            <a:off x="418100" y="3355938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3" type="subTitle"/>
          </p:nvPr>
        </p:nvSpPr>
        <p:spPr>
          <a:xfrm>
            <a:off x="418100" y="3666038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63" name="Google Shape;63;p7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 rot="-5400000">
            <a:off x="3054300" y="17400"/>
            <a:ext cx="5126100" cy="51261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2"/>
                </a:solidFill>
              </a:rPr>
              <a:t>“</a:t>
            </a:r>
            <a:endParaRPr b="1" sz="7200">
              <a:solidFill>
                <a:schemeClr val="lt2"/>
              </a:solidFill>
            </a:endParaRPr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418100" y="3429000"/>
            <a:ext cx="2394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69" name="Google Shape;69;p8"/>
          <p:cNvSpPr txBox="1"/>
          <p:nvPr>
            <p:ph idx="2" type="subTitle"/>
          </p:nvPr>
        </p:nvSpPr>
        <p:spPr>
          <a:xfrm>
            <a:off x="418100" y="3739100"/>
            <a:ext cx="16299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0" name="Google Shape;70;p8"/>
          <p:cNvSpPr/>
          <p:nvPr>
            <p:ph idx="3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72" name="Google Shape;72;p8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 1">
  <p:cSld name="CUSTOM_8_1_1_1_1_1_1_1_1_1_1_1_1_1_1_1_1_1_1_1_1_2_1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 rot="-5400000">
            <a:off x="3054300" y="17400"/>
            <a:ext cx="5126100" cy="51261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5" name="Google Shape;7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2"/>
                </a:solidFill>
              </a:rPr>
              <a:t>“</a:t>
            </a:r>
            <a:endParaRPr b="1" sz="7200">
              <a:solidFill>
                <a:schemeClr val="lt2"/>
              </a:solidFill>
            </a:endParaRPr>
          </a:p>
        </p:txBody>
      </p:sp>
      <p:sp>
        <p:nvSpPr>
          <p:cNvPr id="76" name="Google Shape;76;p9"/>
          <p:cNvSpPr txBox="1"/>
          <p:nvPr>
            <p:ph type="title"/>
          </p:nvPr>
        </p:nvSpPr>
        <p:spPr>
          <a:xfrm>
            <a:off x="418100" y="3429000"/>
            <a:ext cx="2394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2" type="subTitle"/>
          </p:nvPr>
        </p:nvSpPr>
        <p:spPr>
          <a:xfrm>
            <a:off x="418100" y="3739100"/>
            <a:ext cx="16299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9"/>
          <p:cNvSpPr/>
          <p:nvPr>
            <p:ph idx="3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81" name="Google Shape;81;p9"/>
          <p:cNvPicPr preferRelativeResize="0"/>
          <p:nvPr/>
        </p:nvPicPr>
        <p:blipFill rotWithShape="1">
          <a:blip r:embed="rId2">
            <a:alphaModFix amt="20000"/>
          </a:blip>
          <a:srcRect b="0" l="0" r="259" t="0"/>
          <a:stretch/>
        </p:blipFill>
        <p:spPr>
          <a:xfrm>
            <a:off x="418100" y="4719100"/>
            <a:ext cx="912396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">
  <p:cSld name="CUSTOM_8_1_1_1_1_1_1_1_1_1_1_1_1_1_1_1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10"/>
          <p:cNvSpPr txBox="1"/>
          <p:nvPr>
            <p:ph type="title"/>
          </p:nvPr>
        </p:nvSpPr>
        <p:spPr>
          <a:xfrm>
            <a:off x="418100" y="3048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>
            <a:off x="419575" y="7695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2" type="body"/>
          </p:nvPr>
        </p:nvSpPr>
        <p:spPr>
          <a:xfrm>
            <a:off x="419575" y="1801500"/>
            <a:ext cx="3462600" cy="24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88" name="Google Shape;88;p10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/>
          <p:nvPr>
            <p:ph idx="3" type="pic"/>
          </p:nvPr>
        </p:nvSpPr>
        <p:spPr>
          <a:xfrm>
            <a:off x="5024575" y="392775"/>
            <a:ext cx="3716700" cy="4351500"/>
          </a:xfrm>
          <a:prstGeom prst="roundRect">
            <a:avLst>
              <a:gd fmla="val 3516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 1">
  <p:cSld name="CUSTOM_8_1_1_1_1_1_1_1_1_1_1_1_1_1_1_1_1_1_1_1_1_1_2"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 rot="10800000">
            <a:off x="4622875" y="-5350"/>
            <a:ext cx="4520100" cy="514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2" name="Google Shape;92;p11"/>
          <p:cNvSpPr txBox="1"/>
          <p:nvPr>
            <p:ph type="title"/>
          </p:nvPr>
        </p:nvSpPr>
        <p:spPr>
          <a:xfrm>
            <a:off x="418100" y="3048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gtree"/>
              <a:buNone/>
              <a:defRPr sz="20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419575" y="7695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1"/>
          <p:cNvSpPr txBox="1"/>
          <p:nvPr>
            <p:ph idx="2" type="body"/>
          </p:nvPr>
        </p:nvSpPr>
        <p:spPr>
          <a:xfrm>
            <a:off x="419575" y="1801500"/>
            <a:ext cx="3462600" cy="24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Jost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96" name="Google Shape;96;p11"/>
          <p:cNvPicPr preferRelativeResize="0"/>
          <p:nvPr/>
        </p:nvPicPr>
        <p:blipFill rotWithShape="1">
          <a:blip r:embed="rId2">
            <a:alphaModFix amt="20000"/>
          </a:blip>
          <a:srcRect b="0" l="0" r="259" t="0"/>
          <a:stretch/>
        </p:blipFill>
        <p:spPr>
          <a:xfrm>
            <a:off x="418100" y="4719100"/>
            <a:ext cx="912396" cy="14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/>
          <p:nvPr>
            <p:ph idx="3" type="pic"/>
          </p:nvPr>
        </p:nvSpPr>
        <p:spPr>
          <a:xfrm>
            <a:off x="5024575" y="392775"/>
            <a:ext cx="3716700" cy="4351500"/>
          </a:xfrm>
          <a:prstGeom prst="roundRect">
            <a:avLst>
              <a:gd fmla="val 3516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B">
  <p:cSld name="CUSTOM_8_1_1_1_1_1_1_1_1_1_1_1_1_1_1_1_1_1_1_1_1_1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0" y="0"/>
            <a:ext cx="5143500" cy="5143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0" name="Google Shape;100;p12"/>
          <p:cNvSpPr txBox="1"/>
          <p:nvPr>
            <p:ph idx="1" type="subTitle"/>
          </p:nvPr>
        </p:nvSpPr>
        <p:spPr>
          <a:xfrm>
            <a:off x="419575" y="189539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2"/>
          <p:cNvSpPr txBox="1"/>
          <p:nvPr>
            <p:ph type="title"/>
          </p:nvPr>
        </p:nvSpPr>
        <p:spPr>
          <a:xfrm>
            <a:off x="418100" y="2307375"/>
            <a:ext cx="76113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Layer_1 (1).png" id="103" name="Google Shape;103;p12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B 1">
  <p:cSld name="CUSTOM_8_1_1_1_1_1_1_1_1_1_1_1_1_1_1_1_1_1_1_1_1_1_1_1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0" y="13225"/>
            <a:ext cx="8442900" cy="5143500"/>
          </a:xfrm>
          <a:prstGeom prst="rect">
            <a:avLst/>
          </a:prstGeom>
          <a:gradFill>
            <a:gsLst>
              <a:gs pos="0">
                <a:srgbClr val="201F2C">
                  <a:alpha val="79607"/>
                </a:srgbClr>
              </a:gs>
              <a:gs pos="43000">
                <a:srgbClr val="201F2C">
                  <a:alpha val="79607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3"/>
          <p:cNvSpPr txBox="1"/>
          <p:nvPr>
            <p:ph idx="1" type="subTitle"/>
          </p:nvPr>
        </p:nvSpPr>
        <p:spPr>
          <a:xfrm>
            <a:off x="419575" y="189539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3"/>
          <p:cNvSpPr txBox="1"/>
          <p:nvPr>
            <p:ph type="title"/>
          </p:nvPr>
        </p:nvSpPr>
        <p:spPr>
          <a:xfrm>
            <a:off x="418100" y="2307375"/>
            <a:ext cx="76113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Layer_1 (1).png" id="109" name="Google Shape;109;p13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112" name="Google Shape;112;p14"/>
          <p:cNvSpPr txBox="1"/>
          <p:nvPr>
            <p:ph idx="2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13" name="Google Shape;113;p14"/>
          <p:cNvSpPr txBox="1"/>
          <p:nvPr>
            <p:ph idx="3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114" name="Google Shape;114;p14"/>
          <p:cNvSpPr txBox="1"/>
          <p:nvPr>
            <p:ph idx="4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15" name="Google Shape;115;p14"/>
          <p:cNvSpPr txBox="1"/>
          <p:nvPr>
            <p:ph idx="5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16" name="Google Shape;116;p14"/>
          <p:cNvSpPr txBox="1"/>
          <p:nvPr>
            <p:ph idx="6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118" name="Google Shape;118;p14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418100" y="304800"/>
            <a:ext cx="52425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122" name="Google Shape;122;p15"/>
          <p:cNvSpPr txBox="1"/>
          <p:nvPr>
            <p:ph idx="2" type="subTitle"/>
          </p:nvPr>
        </p:nvSpPr>
        <p:spPr>
          <a:xfrm>
            <a:off x="429350" y="12629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3" name="Google Shape;123;p15"/>
          <p:cNvSpPr txBox="1"/>
          <p:nvPr>
            <p:ph idx="3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124" name="Google Shape;124;p15"/>
          <p:cNvSpPr txBox="1"/>
          <p:nvPr>
            <p:ph idx="4" type="subTitle"/>
          </p:nvPr>
        </p:nvSpPr>
        <p:spPr>
          <a:xfrm>
            <a:off x="4833813" y="12629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5" name="Google Shape;125;p15"/>
          <p:cNvSpPr txBox="1"/>
          <p:nvPr>
            <p:ph idx="5" type="body"/>
          </p:nvPr>
        </p:nvSpPr>
        <p:spPr>
          <a:xfrm>
            <a:off x="2631588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126" name="Google Shape;126;p15"/>
          <p:cNvSpPr txBox="1"/>
          <p:nvPr>
            <p:ph idx="6" type="subTitle"/>
          </p:nvPr>
        </p:nvSpPr>
        <p:spPr>
          <a:xfrm>
            <a:off x="2631588" y="12629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7" name="Google Shape;127;p15"/>
          <p:cNvSpPr txBox="1"/>
          <p:nvPr>
            <p:ph idx="7" type="body"/>
          </p:nvPr>
        </p:nvSpPr>
        <p:spPr>
          <a:xfrm>
            <a:off x="7036075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/>
            </a:lvl9pPr>
          </a:lstStyle>
          <a:p/>
        </p:txBody>
      </p:sp>
      <p:sp>
        <p:nvSpPr>
          <p:cNvPr id="128" name="Google Shape;128;p15"/>
          <p:cNvSpPr txBox="1"/>
          <p:nvPr>
            <p:ph idx="8" type="subTitle"/>
          </p:nvPr>
        </p:nvSpPr>
        <p:spPr>
          <a:xfrm>
            <a:off x="7036075" y="12629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9" name="Google Shape;129;p15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130" name="Google Shape;130;p15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11225" y="457200"/>
            <a:ext cx="8521800" cy="4226400"/>
          </a:xfrm>
          <a:prstGeom prst="roundRect">
            <a:avLst>
              <a:gd fmla="val 309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5" name="Google Shape;135;p1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6" name="Google Shape;136;p16"/>
          <p:cNvSpPr txBox="1"/>
          <p:nvPr>
            <p:ph type="title"/>
          </p:nvPr>
        </p:nvSpPr>
        <p:spPr>
          <a:xfrm>
            <a:off x="1170325" y="1801500"/>
            <a:ext cx="6803400" cy="8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7" name="Google Shape;137;p16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itle slide">
  <p:cSld name="Title slid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400200" y="2834125"/>
            <a:ext cx="8343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142" name="Google Shape;142;p17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152" name="Google Shape;152;p18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163" name="Google Shape;163;p19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172" name="Google Shape;172;p20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347125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1" name="Google Shape;18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183" name="Google Shape;183;p21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193" name="Google Shape;193;p22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_1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24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CCCCCC"/>
                </a:solidFill>
              </a:defRPr>
            </a:lvl1pPr>
            <a:lvl2pPr lvl="1">
              <a:buNone/>
              <a:defRPr>
                <a:solidFill>
                  <a:srgbClr val="CCCCCC"/>
                </a:solidFill>
              </a:defRPr>
            </a:lvl2pPr>
            <a:lvl3pPr lvl="2">
              <a:buNone/>
              <a:defRPr>
                <a:solidFill>
                  <a:srgbClr val="CCCCCC"/>
                </a:solidFill>
              </a:defRPr>
            </a:lvl3pPr>
            <a:lvl4pPr lvl="3">
              <a:buNone/>
              <a:defRPr>
                <a:solidFill>
                  <a:srgbClr val="CCCCCC"/>
                </a:solidFill>
              </a:defRPr>
            </a:lvl4pPr>
            <a:lvl5pPr lvl="4">
              <a:buNone/>
              <a:defRPr>
                <a:solidFill>
                  <a:srgbClr val="CCCCCC"/>
                </a:solidFill>
              </a:defRPr>
            </a:lvl5pPr>
            <a:lvl6pPr lvl="5">
              <a:buNone/>
              <a:defRPr>
                <a:solidFill>
                  <a:srgbClr val="CCCCCC"/>
                </a:solidFill>
              </a:defRPr>
            </a:lvl6pPr>
            <a:lvl7pPr lvl="6">
              <a:buNone/>
              <a:defRPr>
                <a:solidFill>
                  <a:srgbClr val="CCCCCC"/>
                </a:solidFill>
              </a:defRPr>
            </a:lvl7pPr>
            <a:lvl8pPr lvl="7">
              <a:buNone/>
              <a:defRPr>
                <a:solidFill>
                  <a:srgbClr val="CCCCCC"/>
                </a:solidFill>
              </a:defRPr>
            </a:lvl8pPr>
            <a:lvl9pPr lvl="8">
              <a:buNone/>
              <a:defRPr>
                <a:solidFill>
                  <a:srgbClr val="CCCCC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205" name="Google Shape;205;p24"/>
          <p:cNvPicPr preferRelativeResize="0"/>
          <p:nvPr/>
        </p:nvPicPr>
        <p:blipFill rotWithShape="1">
          <a:blip r:embed="rId2">
            <a:alphaModFix amt="20000"/>
          </a:blip>
          <a:srcRect b="0" l="0" r="259" t="0"/>
          <a:stretch/>
        </p:blipFill>
        <p:spPr>
          <a:xfrm>
            <a:off x="418100" y="4719100"/>
            <a:ext cx="912396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4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 and two columns_1">
    <p:bg>
      <p:bgPr>
        <a:solidFill>
          <a:schemeClr val="dk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25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CCCCCC"/>
                </a:solidFill>
              </a:defRPr>
            </a:lvl1pPr>
            <a:lvl2pPr lvl="1">
              <a:buNone/>
              <a:defRPr>
                <a:solidFill>
                  <a:srgbClr val="CCCCCC"/>
                </a:solidFill>
              </a:defRPr>
            </a:lvl2pPr>
            <a:lvl3pPr lvl="2">
              <a:buNone/>
              <a:defRPr>
                <a:solidFill>
                  <a:srgbClr val="CCCCCC"/>
                </a:solidFill>
              </a:defRPr>
            </a:lvl3pPr>
            <a:lvl4pPr lvl="3">
              <a:buNone/>
              <a:defRPr>
                <a:solidFill>
                  <a:srgbClr val="CCCCCC"/>
                </a:solidFill>
              </a:defRPr>
            </a:lvl4pPr>
            <a:lvl5pPr lvl="4">
              <a:buNone/>
              <a:defRPr>
                <a:solidFill>
                  <a:srgbClr val="CCCCCC"/>
                </a:solidFill>
              </a:defRPr>
            </a:lvl5pPr>
            <a:lvl6pPr lvl="5">
              <a:buNone/>
              <a:defRPr>
                <a:solidFill>
                  <a:srgbClr val="CCCCCC"/>
                </a:solidFill>
              </a:defRPr>
            </a:lvl6pPr>
            <a:lvl7pPr lvl="6">
              <a:buNone/>
              <a:defRPr>
                <a:solidFill>
                  <a:srgbClr val="CCCCCC"/>
                </a:solidFill>
              </a:defRPr>
            </a:lvl7pPr>
            <a:lvl8pPr lvl="7">
              <a:buNone/>
              <a:defRPr>
                <a:solidFill>
                  <a:srgbClr val="CCCCCC"/>
                </a:solidFill>
              </a:defRPr>
            </a:lvl8pPr>
            <a:lvl9pPr lvl="8">
              <a:buNone/>
              <a:defRPr>
                <a:solidFill>
                  <a:srgbClr val="CCCCC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216" name="Google Shape;216;p25"/>
          <p:cNvPicPr preferRelativeResize="0"/>
          <p:nvPr/>
        </p:nvPicPr>
        <p:blipFill rotWithShape="1">
          <a:blip r:embed="rId2">
            <a:alphaModFix amt="20000"/>
          </a:blip>
          <a:srcRect b="0" l="0" r="259" t="0"/>
          <a:stretch/>
        </p:blipFill>
        <p:spPr>
          <a:xfrm>
            <a:off x="418100" y="4719100"/>
            <a:ext cx="912396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5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26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CCCCCC"/>
                </a:solidFill>
              </a:defRPr>
            </a:lvl1pPr>
            <a:lvl2pPr lvl="1">
              <a:buNone/>
              <a:defRPr>
                <a:solidFill>
                  <a:srgbClr val="CCCCCC"/>
                </a:solidFill>
              </a:defRPr>
            </a:lvl2pPr>
            <a:lvl3pPr lvl="2">
              <a:buNone/>
              <a:defRPr>
                <a:solidFill>
                  <a:srgbClr val="CCCCCC"/>
                </a:solidFill>
              </a:defRPr>
            </a:lvl3pPr>
            <a:lvl4pPr lvl="3">
              <a:buNone/>
              <a:defRPr>
                <a:solidFill>
                  <a:srgbClr val="CCCCCC"/>
                </a:solidFill>
              </a:defRPr>
            </a:lvl4pPr>
            <a:lvl5pPr lvl="4">
              <a:buNone/>
              <a:defRPr>
                <a:solidFill>
                  <a:srgbClr val="CCCCCC"/>
                </a:solidFill>
              </a:defRPr>
            </a:lvl5pPr>
            <a:lvl6pPr lvl="5">
              <a:buNone/>
              <a:defRPr>
                <a:solidFill>
                  <a:srgbClr val="CCCCCC"/>
                </a:solidFill>
              </a:defRPr>
            </a:lvl6pPr>
            <a:lvl7pPr lvl="6">
              <a:buNone/>
              <a:defRPr>
                <a:solidFill>
                  <a:srgbClr val="CCCCCC"/>
                </a:solidFill>
              </a:defRPr>
            </a:lvl7pPr>
            <a:lvl8pPr lvl="7">
              <a:buNone/>
              <a:defRPr>
                <a:solidFill>
                  <a:srgbClr val="CCCCCC"/>
                </a:solidFill>
              </a:defRPr>
            </a:lvl8pPr>
            <a:lvl9pPr lvl="8">
              <a:buNone/>
              <a:defRPr>
                <a:solidFill>
                  <a:srgbClr val="CCCCC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225" name="Google Shape;225;p26"/>
          <p:cNvPicPr preferRelativeResize="0"/>
          <p:nvPr/>
        </p:nvPicPr>
        <p:blipFill rotWithShape="1">
          <a:blip r:embed="rId2">
            <a:alphaModFix amt="20000"/>
          </a:blip>
          <a:srcRect b="0" l="0" r="259" t="0"/>
          <a:stretch/>
        </p:blipFill>
        <p:spPr>
          <a:xfrm>
            <a:off x="418100" y="4719100"/>
            <a:ext cx="912396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 title and description_1">
    <p:bg>
      <p:bgPr>
        <a:solidFill>
          <a:schemeClr val="dk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" name="Google Shape;233;p27"/>
          <p:cNvSpPr txBox="1"/>
          <p:nvPr>
            <p:ph idx="1" type="subTitle"/>
          </p:nvPr>
        </p:nvSpPr>
        <p:spPr>
          <a:xfrm>
            <a:off x="347125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CCCCCC"/>
                </a:solidFill>
              </a:defRPr>
            </a:lvl1pPr>
            <a:lvl2pPr lvl="1">
              <a:buNone/>
              <a:defRPr>
                <a:solidFill>
                  <a:srgbClr val="CCCCCC"/>
                </a:solidFill>
              </a:defRPr>
            </a:lvl2pPr>
            <a:lvl3pPr lvl="2">
              <a:buNone/>
              <a:defRPr>
                <a:solidFill>
                  <a:srgbClr val="CCCCCC"/>
                </a:solidFill>
              </a:defRPr>
            </a:lvl3pPr>
            <a:lvl4pPr lvl="3">
              <a:buNone/>
              <a:defRPr>
                <a:solidFill>
                  <a:srgbClr val="CCCCCC"/>
                </a:solidFill>
              </a:defRPr>
            </a:lvl4pPr>
            <a:lvl5pPr lvl="4">
              <a:buNone/>
              <a:defRPr>
                <a:solidFill>
                  <a:srgbClr val="CCCCCC"/>
                </a:solidFill>
              </a:defRPr>
            </a:lvl5pPr>
            <a:lvl6pPr lvl="5">
              <a:buNone/>
              <a:defRPr>
                <a:solidFill>
                  <a:srgbClr val="CCCCCC"/>
                </a:solidFill>
              </a:defRPr>
            </a:lvl6pPr>
            <a:lvl7pPr lvl="6">
              <a:buNone/>
              <a:defRPr>
                <a:solidFill>
                  <a:srgbClr val="CCCCCC"/>
                </a:solidFill>
              </a:defRPr>
            </a:lvl7pPr>
            <a:lvl8pPr lvl="7">
              <a:buNone/>
              <a:defRPr>
                <a:solidFill>
                  <a:srgbClr val="CCCCCC"/>
                </a:solidFill>
              </a:defRPr>
            </a:lvl8pPr>
            <a:lvl9pPr lvl="8">
              <a:buNone/>
              <a:defRPr>
                <a:solidFill>
                  <a:srgbClr val="CCCCC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236" name="Google Shape;236;p27"/>
          <p:cNvPicPr preferRelativeResize="0"/>
          <p:nvPr/>
        </p:nvPicPr>
        <p:blipFill rotWithShape="1">
          <a:blip r:embed="rId2">
            <a:alphaModFix amt="20000"/>
          </a:blip>
          <a:srcRect b="0" l="0" r="259" t="0"/>
          <a:stretch/>
        </p:blipFill>
        <p:spPr>
          <a:xfrm>
            <a:off x="418100" y="4719100"/>
            <a:ext cx="912396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7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7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648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 number_1"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4" name="Google Shape;244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CCCCCC"/>
                </a:solidFill>
              </a:defRPr>
            </a:lvl1pPr>
            <a:lvl2pPr lvl="1">
              <a:buNone/>
              <a:defRPr>
                <a:solidFill>
                  <a:srgbClr val="CCCCCC"/>
                </a:solidFill>
              </a:defRPr>
            </a:lvl2pPr>
            <a:lvl3pPr lvl="2">
              <a:buNone/>
              <a:defRPr>
                <a:solidFill>
                  <a:srgbClr val="CCCCCC"/>
                </a:solidFill>
              </a:defRPr>
            </a:lvl3pPr>
            <a:lvl4pPr lvl="3">
              <a:buNone/>
              <a:defRPr>
                <a:solidFill>
                  <a:srgbClr val="CCCCCC"/>
                </a:solidFill>
              </a:defRPr>
            </a:lvl4pPr>
            <a:lvl5pPr lvl="4">
              <a:buNone/>
              <a:defRPr>
                <a:solidFill>
                  <a:srgbClr val="CCCCCC"/>
                </a:solidFill>
              </a:defRPr>
            </a:lvl5pPr>
            <a:lvl6pPr lvl="5">
              <a:buNone/>
              <a:defRPr>
                <a:solidFill>
                  <a:srgbClr val="CCCCCC"/>
                </a:solidFill>
              </a:defRPr>
            </a:lvl6pPr>
            <a:lvl7pPr lvl="6">
              <a:buNone/>
              <a:defRPr>
                <a:solidFill>
                  <a:srgbClr val="CCCCCC"/>
                </a:solidFill>
              </a:defRPr>
            </a:lvl7pPr>
            <a:lvl8pPr lvl="7">
              <a:buNone/>
              <a:defRPr>
                <a:solidFill>
                  <a:srgbClr val="CCCCCC"/>
                </a:solidFill>
              </a:defRPr>
            </a:lvl8pPr>
            <a:lvl9pPr lvl="8">
              <a:buNone/>
              <a:defRPr>
                <a:solidFill>
                  <a:srgbClr val="CCCCC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246" name="Google Shape;246;p28"/>
          <p:cNvPicPr preferRelativeResize="0"/>
          <p:nvPr/>
        </p:nvPicPr>
        <p:blipFill rotWithShape="1">
          <a:blip r:embed="rId2">
            <a:alphaModFix amt="20000"/>
          </a:blip>
          <a:srcRect b="0" l="0" r="259" t="0"/>
          <a:stretch/>
        </p:blipFill>
        <p:spPr>
          <a:xfrm>
            <a:off x="418100" y="4719100"/>
            <a:ext cx="912396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8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8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8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 title="texture-dots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bg>
      <p:bgPr>
        <a:solidFill>
          <a:schemeClr val="dk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311700" y="10000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6" name="Google Shape;256;p30"/>
          <p:cNvSpPr/>
          <p:nvPr>
            <p:ph idx="2" type="pic"/>
          </p:nvPr>
        </p:nvSpPr>
        <p:spPr>
          <a:xfrm>
            <a:off x="4992024" y="1000375"/>
            <a:ext cx="3840300" cy="3416400"/>
          </a:xfrm>
          <a:prstGeom prst="roundRect">
            <a:avLst>
              <a:gd fmla="val 4778" name="adj"/>
            </a:avLst>
          </a:prstGeom>
          <a:noFill/>
          <a:ln>
            <a:noFill/>
          </a:ln>
        </p:spPr>
      </p:sp>
      <p:sp>
        <p:nvSpPr>
          <p:cNvPr id="257" name="Google Shape;257;p30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258" name="Google Shape;258;p30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Two storyboard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idx="1" type="body"/>
          </p:nvPr>
        </p:nvSpPr>
        <p:spPr>
          <a:xfrm>
            <a:off x="311700" y="37754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9pPr>
          </a:lstStyle>
          <a:p/>
        </p:txBody>
      </p:sp>
      <p:sp>
        <p:nvSpPr>
          <p:cNvPr id="266" name="Google Shape;266;p31"/>
          <p:cNvSpPr/>
          <p:nvPr>
            <p:ph idx="2" type="pic"/>
          </p:nvPr>
        </p:nvSpPr>
        <p:spPr>
          <a:xfrm>
            <a:off x="311725" y="980900"/>
            <a:ext cx="4027500" cy="2392800"/>
          </a:xfrm>
          <a:prstGeom prst="roundRect">
            <a:avLst>
              <a:gd fmla="val 4619" name="adj"/>
            </a:avLst>
          </a:prstGeom>
          <a:noFill/>
          <a:ln>
            <a:noFill/>
          </a:ln>
        </p:spPr>
      </p:sp>
      <p:sp>
        <p:nvSpPr>
          <p:cNvPr id="267" name="Google Shape;267;p31"/>
          <p:cNvSpPr txBox="1"/>
          <p:nvPr>
            <p:ph idx="3" type="body"/>
          </p:nvPr>
        </p:nvSpPr>
        <p:spPr>
          <a:xfrm>
            <a:off x="4804825" y="37754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9pPr>
          </a:lstStyle>
          <a:p/>
        </p:txBody>
      </p:sp>
      <p:sp>
        <p:nvSpPr>
          <p:cNvPr id="268" name="Google Shape;268;p3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4" type="subTitle"/>
          </p:nvPr>
        </p:nvSpPr>
        <p:spPr>
          <a:xfrm>
            <a:off x="311725" y="34305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70" name="Google Shape;270;p31"/>
          <p:cNvSpPr txBox="1"/>
          <p:nvPr>
            <p:ph idx="5" type="subTitle"/>
          </p:nvPr>
        </p:nvSpPr>
        <p:spPr>
          <a:xfrm>
            <a:off x="4804825" y="34305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71" name="Google Shape;271;p31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272" name="Google Shape;272;p31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1"/>
          <p:cNvSpPr txBox="1"/>
          <p:nvPr>
            <p:ph idx="6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p3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1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1"/>
          <p:cNvSpPr/>
          <p:nvPr>
            <p:ph idx="7" type="pic"/>
          </p:nvPr>
        </p:nvSpPr>
        <p:spPr>
          <a:xfrm>
            <a:off x="4804825" y="980900"/>
            <a:ext cx="4027500" cy="2392800"/>
          </a:xfrm>
          <a:prstGeom prst="roundRect">
            <a:avLst>
              <a:gd fmla="val 461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Three storyboards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idx="1" type="body"/>
          </p:nvPr>
        </p:nvSpPr>
        <p:spPr>
          <a:xfrm>
            <a:off x="311700" y="37593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9pPr>
          </a:lstStyle>
          <a:p/>
        </p:txBody>
      </p:sp>
      <p:sp>
        <p:nvSpPr>
          <p:cNvPr id="282" name="Google Shape;282;p32"/>
          <p:cNvSpPr/>
          <p:nvPr>
            <p:ph idx="2" type="pic"/>
          </p:nvPr>
        </p:nvSpPr>
        <p:spPr>
          <a:xfrm>
            <a:off x="311725" y="975925"/>
            <a:ext cx="2627100" cy="2273100"/>
          </a:xfrm>
          <a:prstGeom prst="roundRect">
            <a:avLst>
              <a:gd fmla="val 5726" name="adj"/>
            </a:avLst>
          </a:prstGeom>
          <a:noFill/>
          <a:ln>
            <a:noFill/>
          </a:ln>
        </p:spPr>
      </p:sp>
      <p:sp>
        <p:nvSpPr>
          <p:cNvPr id="283" name="Google Shape;283;p32"/>
          <p:cNvSpPr txBox="1"/>
          <p:nvPr>
            <p:ph idx="3" type="body"/>
          </p:nvPr>
        </p:nvSpPr>
        <p:spPr>
          <a:xfrm>
            <a:off x="6205225" y="37593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9pPr>
          </a:lstStyle>
          <a:p/>
        </p:txBody>
      </p:sp>
      <p:sp>
        <p:nvSpPr>
          <p:cNvPr id="284" name="Google Shape;284;p32"/>
          <p:cNvSpPr txBox="1"/>
          <p:nvPr>
            <p:ph idx="4" type="body"/>
          </p:nvPr>
        </p:nvSpPr>
        <p:spPr>
          <a:xfrm>
            <a:off x="3255250" y="37593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2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200"/>
            </a:lvl9pPr>
          </a:lstStyle>
          <a:p/>
        </p:txBody>
      </p:sp>
      <p:sp>
        <p:nvSpPr>
          <p:cNvPr id="285" name="Google Shape;285;p3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6" name="Google Shape;286;p32"/>
          <p:cNvSpPr txBox="1"/>
          <p:nvPr>
            <p:ph idx="5" type="subTitle"/>
          </p:nvPr>
        </p:nvSpPr>
        <p:spPr>
          <a:xfrm>
            <a:off x="311725" y="33543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7" name="Google Shape;287;p32"/>
          <p:cNvSpPr txBox="1"/>
          <p:nvPr>
            <p:ph idx="6" type="subTitle"/>
          </p:nvPr>
        </p:nvSpPr>
        <p:spPr>
          <a:xfrm>
            <a:off x="6205225" y="33543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8" name="Google Shape;288;p32"/>
          <p:cNvSpPr txBox="1"/>
          <p:nvPr>
            <p:ph idx="7" type="subTitle"/>
          </p:nvPr>
        </p:nvSpPr>
        <p:spPr>
          <a:xfrm>
            <a:off x="3255250" y="33543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9" name="Google Shape;289;p32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yer_1 (1).png" id="290" name="Google Shape;290;p32"/>
          <p:cNvPicPr preferRelativeResize="0"/>
          <p:nvPr/>
        </p:nvPicPr>
        <p:blipFill rotWithShape="1">
          <a:blip r:embed="rId2">
            <a:alphaModFix amt="60000"/>
          </a:blip>
          <a:srcRect b="0" l="0" r="259" t="0"/>
          <a:stretch/>
        </p:blipFill>
        <p:spPr>
          <a:xfrm>
            <a:off x="418100" y="4719100"/>
            <a:ext cx="912374" cy="14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 txBox="1"/>
          <p:nvPr>
            <p:ph idx="8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2" name="Google Shape;292;p3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3672077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836038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508109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2" title="texture-dots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344135" y="5013228"/>
            <a:ext cx="1799866" cy="9589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2"/>
          <p:cNvSpPr/>
          <p:nvPr>
            <p:ph idx="9" type="pic"/>
          </p:nvPr>
        </p:nvSpPr>
        <p:spPr>
          <a:xfrm>
            <a:off x="3225663" y="975925"/>
            <a:ext cx="2627100" cy="2273100"/>
          </a:xfrm>
          <a:prstGeom prst="roundRect">
            <a:avLst>
              <a:gd fmla="val 5726" name="adj"/>
            </a:avLst>
          </a:prstGeom>
          <a:noFill/>
          <a:ln>
            <a:noFill/>
          </a:ln>
        </p:spPr>
      </p:sp>
      <p:sp>
        <p:nvSpPr>
          <p:cNvPr id="298" name="Google Shape;298;p32"/>
          <p:cNvSpPr/>
          <p:nvPr>
            <p:ph idx="13" type="pic"/>
          </p:nvPr>
        </p:nvSpPr>
        <p:spPr>
          <a:xfrm>
            <a:off x="6139600" y="975925"/>
            <a:ext cx="2627100" cy="2273100"/>
          </a:xfrm>
          <a:prstGeom prst="roundRect">
            <a:avLst>
              <a:gd fmla="val 5726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71825" y="149825"/>
            <a:ext cx="62124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Nunito"/>
              <a:buNone/>
              <a:defRPr sz="5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solidFill>
                  <a:srgbClr val="CCCCCC"/>
                </a:solidFill>
              </a:defRPr>
            </a:lvl1pPr>
            <a:lvl2pPr lvl="1" algn="r">
              <a:buNone/>
              <a:defRPr sz="800">
                <a:solidFill>
                  <a:srgbClr val="CCCCCC"/>
                </a:solidFill>
              </a:defRPr>
            </a:lvl2pPr>
            <a:lvl3pPr lvl="2" algn="r">
              <a:buNone/>
              <a:defRPr sz="800">
                <a:solidFill>
                  <a:srgbClr val="CCCCCC"/>
                </a:solidFill>
              </a:defRPr>
            </a:lvl3pPr>
            <a:lvl4pPr lvl="3" algn="r">
              <a:buNone/>
              <a:defRPr sz="800">
                <a:solidFill>
                  <a:srgbClr val="CCCCCC"/>
                </a:solidFill>
              </a:defRPr>
            </a:lvl4pPr>
            <a:lvl5pPr lvl="4" algn="r">
              <a:buNone/>
              <a:defRPr sz="800">
                <a:solidFill>
                  <a:srgbClr val="CCCCCC"/>
                </a:solidFill>
              </a:defRPr>
            </a:lvl5pPr>
            <a:lvl6pPr lvl="5" algn="r">
              <a:buNone/>
              <a:defRPr sz="800">
                <a:solidFill>
                  <a:srgbClr val="CCCCCC"/>
                </a:solidFill>
              </a:defRPr>
            </a:lvl6pPr>
            <a:lvl7pPr lvl="6" algn="r">
              <a:buNone/>
              <a:defRPr sz="800">
                <a:solidFill>
                  <a:srgbClr val="CCCCCC"/>
                </a:solidFill>
              </a:defRPr>
            </a:lvl7pPr>
            <a:lvl8pPr lvl="7" algn="r">
              <a:buNone/>
              <a:defRPr sz="800">
                <a:solidFill>
                  <a:srgbClr val="CCCCCC"/>
                </a:solidFill>
              </a:defRPr>
            </a:lvl8pPr>
            <a:lvl9pPr lvl="8" algn="r">
              <a:buNone/>
              <a:defRPr sz="800">
                <a:solidFill>
                  <a:srgbClr val="CCCCC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research.chalmers.se/publication/517894/file/517894_Fulltext.pdf" TargetMode="External"/><Relationship Id="rId4" Type="http://schemas.openxmlformats.org/officeDocument/2006/relationships/hyperlink" Target="https://research.chalmers.se/publication/517894/file/517894_Fulltext.pdf" TargetMode="External"/><Relationship Id="rId9" Type="http://schemas.openxmlformats.org/officeDocument/2006/relationships/image" Target="../media/image13.jpg"/><Relationship Id="rId5" Type="http://schemas.openxmlformats.org/officeDocument/2006/relationships/hyperlink" Target="https://research.chalmers.se/publication/517894/file/517894_Fulltext.pdf" TargetMode="External"/><Relationship Id="rId6" Type="http://schemas.openxmlformats.org/officeDocument/2006/relationships/hyperlink" Target="https://fsharpforfunandprofit.com/posts/property-based-testing-2/#categories-for-properties" TargetMode="External"/><Relationship Id="rId7" Type="http://schemas.openxmlformats.org/officeDocument/2006/relationships/hyperlink" Target="https://www.hillelwayne.com/post/contract-examples/" TargetMode="External"/><Relationship Id="rId8" Type="http://schemas.openxmlformats.org/officeDocument/2006/relationships/hyperlink" Target="http://www.youtube.com/watch?v=G0NUOst-53U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ieeexplore.ieee.org/document/8074764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hyperlink" Target="https://hypothesis.readthedocs.io/en/latest/" TargetMode="External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hyperlink" Target="https://github.com/zarr-developers/zarr-python/pull/2851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hyperlink" Target="https://github.com/zarr-developers/zarr-python/actions/workflows/hypothesis.yaml?query=event%3Aschedul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type="title"/>
          </p:nvPr>
        </p:nvSpPr>
        <p:spPr>
          <a:xfrm>
            <a:off x="418101" y="1799700"/>
            <a:ext cx="85353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 love </a:t>
            </a:r>
            <a:br>
              <a:rPr lang="en"/>
            </a:br>
            <a:r>
              <a:rPr lang="en"/>
              <a:t>property testing</a:t>
            </a:r>
            <a:endParaRPr/>
          </a:p>
        </p:txBody>
      </p:sp>
      <p:sp>
        <p:nvSpPr>
          <p:cNvPr id="304" name="Google Shape;304;p33"/>
          <p:cNvSpPr txBox="1"/>
          <p:nvPr>
            <p:ph idx="2" type="subTitle"/>
          </p:nvPr>
        </p:nvSpPr>
        <p:spPr>
          <a:xfrm>
            <a:off x="456700" y="3584400"/>
            <a:ext cx="5524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Deepak Cherian, Ph.D</a:t>
            </a:r>
            <a:endParaRPr/>
          </a:p>
        </p:txBody>
      </p:sp>
      <p:sp>
        <p:nvSpPr>
          <p:cNvPr id="305" name="Google Shape;305;p33"/>
          <p:cNvSpPr txBox="1"/>
          <p:nvPr>
            <p:ph idx="1" type="subTitle"/>
          </p:nvPr>
        </p:nvSpPr>
        <p:spPr>
          <a:xfrm>
            <a:off x="456700" y="1552175"/>
            <a:ext cx="34632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 &amp; Failure &amp; Fun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1" name="Google Shape;311;p34" title="deepak-photo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6980" l="0" r="0" t="3185"/>
          <a:stretch/>
        </p:blipFill>
        <p:spPr>
          <a:xfrm>
            <a:off x="418100" y="1305263"/>
            <a:ext cx="1951200" cy="1947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2" name="Google Shape;312;p34"/>
          <p:cNvSpPr txBox="1"/>
          <p:nvPr>
            <p:ph type="title"/>
          </p:nvPr>
        </p:nvSpPr>
        <p:spPr>
          <a:xfrm>
            <a:off x="418100" y="3429000"/>
            <a:ext cx="2394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Deepak Cherian</a:t>
            </a:r>
            <a:endParaRPr/>
          </a:p>
        </p:txBody>
      </p:sp>
      <p:sp>
        <p:nvSpPr>
          <p:cNvPr id="313" name="Google Shape;313;p34"/>
          <p:cNvSpPr txBox="1"/>
          <p:nvPr>
            <p:ph idx="4294967295" type="subTitle"/>
          </p:nvPr>
        </p:nvSpPr>
        <p:spPr>
          <a:xfrm>
            <a:off x="418100" y="3666089"/>
            <a:ext cx="233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4"/>
          <p:cNvSpPr/>
          <p:nvPr/>
        </p:nvSpPr>
        <p:spPr>
          <a:xfrm>
            <a:off x="4694575" y="1463100"/>
            <a:ext cx="3635100" cy="2217300"/>
          </a:xfrm>
          <a:prstGeom prst="roundRect">
            <a:avLst>
              <a:gd fmla="val 11004" name="adj"/>
            </a:avLst>
          </a:prstGeom>
          <a:solidFill>
            <a:srgbClr val="C396F9">
              <a:alpha val="2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" name="Google Shape;315;p34"/>
          <p:cNvGrpSpPr/>
          <p:nvPr/>
        </p:nvGrpSpPr>
        <p:grpSpPr>
          <a:xfrm>
            <a:off x="6077649" y="1716800"/>
            <a:ext cx="754875" cy="815282"/>
            <a:chOff x="-124033" y="0"/>
            <a:chExt cx="2013000" cy="2174086"/>
          </a:xfrm>
        </p:grpSpPr>
        <p:pic>
          <p:nvPicPr>
            <p:cNvPr descr="pasted-movie.png" id="316" name="Google Shape;316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9947" y="0"/>
              <a:ext cx="1261695" cy="1462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34"/>
            <p:cNvSpPr txBox="1"/>
            <p:nvPr/>
          </p:nvSpPr>
          <p:spPr>
            <a:xfrm>
              <a:off x="-124033" y="1640386"/>
              <a:ext cx="20130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78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lang="en" sz="1300">
                  <a:solidFill>
                    <a:srgbClr val="F3F3F3"/>
                  </a:solidFill>
                  <a:latin typeface="Figtree"/>
                  <a:ea typeface="Figtree"/>
                  <a:cs typeface="Figtree"/>
                  <a:sym typeface="Figtree"/>
                </a:rPr>
                <a:t>Icechunk</a:t>
              </a:r>
              <a:endParaRPr b="1" sz="1300">
                <a:solidFill>
                  <a:srgbClr val="F3F3F3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pic>
        <p:nvPicPr>
          <p:cNvPr descr="pasted-movie.png" id="318" name="Google Shape;318;p34"/>
          <p:cNvPicPr preferRelativeResize="0"/>
          <p:nvPr/>
        </p:nvPicPr>
        <p:blipFill rotWithShape="1">
          <a:blip r:embed="rId5">
            <a:alphaModFix/>
          </a:blip>
          <a:srcRect b="9015" l="20039" r="20033" t="9023"/>
          <a:stretch/>
        </p:blipFill>
        <p:spPr>
          <a:xfrm>
            <a:off x="5189253" y="2734515"/>
            <a:ext cx="518746" cy="7094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34"/>
          <p:cNvGrpSpPr/>
          <p:nvPr/>
        </p:nvGrpSpPr>
        <p:grpSpPr>
          <a:xfrm>
            <a:off x="5105350" y="1716800"/>
            <a:ext cx="686553" cy="815301"/>
            <a:chOff x="0" y="0"/>
            <a:chExt cx="1550481" cy="1892089"/>
          </a:xfrm>
        </p:grpSpPr>
        <p:pic>
          <p:nvPicPr>
            <p:cNvPr descr="Xarray_Logo_RGB_Final.png" id="320" name="Google Shape;320;p34"/>
            <p:cNvPicPr preferRelativeResize="0"/>
            <p:nvPr/>
          </p:nvPicPr>
          <p:blipFill rotWithShape="1">
            <a:blip r:embed="rId6">
              <a:alphaModFix/>
            </a:blip>
            <a:srcRect b="17438" l="3828" r="60951" t="17444"/>
            <a:stretch/>
          </p:blipFill>
          <p:spPr>
            <a:xfrm>
              <a:off x="105723" y="0"/>
              <a:ext cx="1339142" cy="12379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array_Logo_RGB_Final.png" id="321" name="Google Shape;321;p34"/>
            <p:cNvPicPr preferRelativeResize="0"/>
            <p:nvPr/>
          </p:nvPicPr>
          <p:blipFill rotWithShape="1">
            <a:blip r:embed="rId7">
              <a:alphaModFix/>
            </a:blip>
            <a:srcRect b="17438" l="44100" r="3832" t="17444"/>
            <a:stretch/>
          </p:blipFill>
          <p:spPr>
            <a:xfrm>
              <a:off x="0" y="922562"/>
              <a:ext cx="1550481" cy="9695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2" name="Google Shape;322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2099" y="2802912"/>
            <a:ext cx="173195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94849" y="1867125"/>
            <a:ext cx="1179625" cy="51462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4"/>
          <p:cNvSpPr txBox="1"/>
          <p:nvPr>
            <p:ph idx="2" type="subTitle"/>
          </p:nvPr>
        </p:nvSpPr>
        <p:spPr>
          <a:xfrm>
            <a:off x="418100" y="3739100"/>
            <a:ext cx="2230500" cy="8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IBM Plex Mono"/>
                <a:ea typeface="IBM Plex Mono"/>
                <a:cs typeface="IBM Plex Mono"/>
                <a:sym typeface="IBM Plex Mono"/>
              </a:rPr>
              <a:t>FORWARD ENGINEER</a:t>
            </a:r>
            <a:br>
              <a:rPr lang="en" sz="800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lang="en" sz="800">
                <a:latin typeface="IBM Plex Mono"/>
                <a:ea typeface="IBM Plex Mono"/>
                <a:cs typeface="IBM Plex Mono"/>
                <a:sym typeface="IBM Plex Mono"/>
              </a:rPr>
              <a:t>OCEANOGRAPHER</a:t>
            </a:r>
            <a:br>
              <a:rPr lang="en" sz="800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lang="en" sz="800">
                <a:latin typeface="IBM Plex Mono"/>
                <a:ea typeface="IBM Plex Mono"/>
                <a:cs typeface="IBM Plex Mono"/>
                <a:sym typeface="IBM Plex Mono"/>
              </a:rPr>
              <a:t>OSS MAINTAINER</a:t>
            </a:r>
            <a:endParaRPr sz="8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IBM Plex Mono"/>
                <a:ea typeface="IBM Plex Mono"/>
                <a:cs typeface="IBM Plex Mono"/>
                <a:sym typeface="IBM Plex Mono"/>
              </a:rPr>
              <a:t>FORMERLY AT NCAR, CGD OCEAN SECTION</a:t>
            </a:r>
            <a:endParaRPr sz="8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 txBox="1"/>
          <p:nvPr>
            <p:ph type="title"/>
          </p:nvPr>
        </p:nvSpPr>
        <p:spPr>
          <a:xfrm>
            <a:off x="4267200" y="538500"/>
            <a:ext cx="4175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cloud-native data infrastructure at Earthmover PBC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property testing?</a:t>
            </a:r>
            <a:endParaRPr/>
          </a:p>
        </p:txBody>
      </p:sp>
      <p:sp>
        <p:nvSpPr>
          <p:cNvPr id="331" name="Google Shape;33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Write test case generators that sample the input space.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 property </a:t>
            </a:r>
            <a:r>
              <a:rPr lang="en"/>
              <a:t>testing</a:t>
            </a:r>
            <a:r>
              <a:rPr lang="en"/>
              <a:t> library usually provides helpers for these.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 helpers are “smart” : check NaN, Inf, INT_MAX, INT_MIN etc.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For each test case, assert that a property holds for the output of the tested function.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When a failing case is detected, a good property testing library </a:t>
            </a:r>
            <a:br>
              <a:rPr lang="en"/>
            </a:br>
            <a:r>
              <a:rPr lang="en"/>
              <a:t>will </a:t>
            </a:r>
            <a:r>
              <a:rPr i="1" lang="en"/>
              <a:t>shrink</a:t>
            </a:r>
            <a:r>
              <a:rPr lang="en"/>
              <a:t> the failing case to a much </a:t>
            </a:r>
            <a:r>
              <a:rPr i="1" lang="en"/>
              <a:t>simpler</a:t>
            </a:r>
            <a:r>
              <a:rPr lang="en"/>
              <a:t> case (defined somehow).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take: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test: I generate complexity → test specific examples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I am the “oracle” → I write out the correct answer to test against</a:t>
            </a:r>
            <a:br>
              <a:rPr lang="en"/>
            </a:b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test: I describe how to generate complexity → test abstract properties are satisfied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Sidestep the “oracle” problem</a:t>
            </a:r>
            <a:endParaRPr/>
          </a:p>
        </p:txBody>
      </p:sp>
      <p:sp>
        <p:nvSpPr>
          <p:cNvPr id="332" name="Google Shape;332;p35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/>
          <p:nvPr>
            <p:ph idx="12" type="sldNum"/>
          </p:nvPr>
        </p:nvSpPr>
        <p:spPr>
          <a:xfrm>
            <a:off x="8442909" y="4715513"/>
            <a:ext cx="548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22850" spcFirstLastPara="1" rIns="22850" wrap="square" tIns="228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36"/>
          <p:cNvSpPr txBox="1"/>
          <p:nvPr>
            <p:ph idx="4294967295" type="title"/>
          </p:nvPr>
        </p:nvSpPr>
        <p:spPr>
          <a:xfrm>
            <a:off x="296250" y="218800"/>
            <a:ext cx="817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Over the past 18 months, </a:t>
            </a:r>
            <a:r>
              <a:rPr lang="en" sz="2700"/>
              <a:t>I have built property testing suites for these open-source projects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grpSp>
        <p:nvGrpSpPr>
          <p:cNvPr id="339" name="Google Shape;339;p36"/>
          <p:cNvGrpSpPr/>
          <p:nvPr/>
        </p:nvGrpSpPr>
        <p:grpSpPr>
          <a:xfrm>
            <a:off x="228600" y="1322225"/>
            <a:ext cx="2162100" cy="3195900"/>
            <a:chOff x="151350" y="1322225"/>
            <a:chExt cx="2162100" cy="3195900"/>
          </a:xfrm>
        </p:grpSpPr>
        <p:sp>
          <p:nvSpPr>
            <p:cNvPr id="340" name="Google Shape;340;p36"/>
            <p:cNvSpPr/>
            <p:nvPr/>
          </p:nvSpPr>
          <p:spPr>
            <a:xfrm>
              <a:off x="357750" y="1322225"/>
              <a:ext cx="1749300" cy="3195900"/>
            </a:xfrm>
            <a:prstGeom prst="roundRect">
              <a:avLst>
                <a:gd fmla="val 7906" name="adj"/>
              </a:avLst>
            </a:prstGeom>
            <a:solidFill>
              <a:srgbClr val="C396F9">
                <a:alpha val="2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460050" y="1390750"/>
              <a:ext cx="1544700" cy="1652700"/>
            </a:xfrm>
            <a:prstGeom prst="roundRect">
              <a:avLst>
                <a:gd fmla="val 11004" name="adj"/>
              </a:avLst>
            </a:prstGeom>
            <a:solidFill>
              <a:srgbClr val="C396F9">
                <a:alpha val="2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asted-movie.png" id="342" name="Google Shape;342;p36"/>
            <p:cNvPicPr preferRelativeResize="0"/>
            <p:nvPr/>
          </p:nvPicPr>
          <p:blipFill rotWithShape="1">
            <a:blip r:embed="rId3">
              <a:alphaModFix/>
            </a:blip>
            <a:srcRect b="9015" l="20039" r="20033" t="9023"/>
            <a:stretch/>
          </p:blipFill>
          <p:spPr>
            <a:xfrm>
              <a:off x="973027" y="1540653"/>
              <a:ext cx="518746" cy="70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36"/>
            <p:cNvSpPr txBox="1"/>
            <p:nvPr/>
          </p:nvSpPr>
          <p:spPr>
            <a:xfrm>
              <a:off x="151350" y="2275500"/>
              <a:ext cx="2162100" cy="5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Chunked, </a:t>
              </a:r>
              <a:b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</a:br>
              <a: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compressed </a:t>
              </a:r>
              <a:b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</a:br>
              <a: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N-D Arrays</a:t>
              </a:r>
              <a:endParaRPr sz="10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44" name="Google Shape;344;p36"/>
            <p:cNvSpPr txBox="1"/>
            <p:nvPr/>
          </p:nvSpPr>
          <p:spPr>
            <a:xfrm>
              <a:off x="517650" y="3108225"/>
              <a:ext cx="15894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Data format</a:t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Stores data in any key/value store : {“a”: 0}</a:t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Cannot lose or misrepresent data</a:t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45" name="Google Shape;345;p36"/>
          <p:cNvGrpSpPr/>
          <p:nvPr/>
        </p:nvGrpSpPr>
        <p:grpSpPr>
          <a:xfrm>
            <a:off x="2779442" y="1322225"/>
            <a:ext cx="1815300" cy="3268288"/>
            <a:chOff x="2528525" y="1322225"/>
            <a:chExt cx="1815300" cy="3268288"/>
          </a:xfrm>
        </p:grpSpPr>
        <p:sp>
          <p:nvSpPr>
            <p:cNvPr id="346" name="Google Shape;346;p36"/>
            <p:cNvSpPr/>
            <p:nvPr/>
          </p:nvSpPr>
          <p:spPr>
            <a:xfrm>
              <a:off x="2528525" y="1322225"/>
              <a:ext cx="1815300" cy="3159300"/>
            </a:xfrm>
            <a:prstGeom prst="roundRect">
              <a:avLst>
                <a:gd fmla="val 7906" name="adj"/>
              </a:avLst>
            </a:prstGeom>
            <a:solidFill>
              <a:srgbClr val="C396F9">
                <a:alpha val="2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2576375" y="1390750"/>
              <a:ext cx="1719600" cy="1652700"/>
            </a:xfrm>
            <a:prstGeom prst="roundRect">
              <a:avLst>
                <a:gd fmla="val 11004" name="adj"/>
              </a:avLst>
            </a:prstGeom>
            <a:solidFill>
              <a:srgbClr val="C396F9">
                <a:alpha val="2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6"/>
            <p:cNvSpPr txBox="1"/>
            <p:nvPr/>
          </p:nvSpPr>
          <p:spPr>
            <a:xfrm>
              <a:off x="2698475" y="2275500"/>
              <a:ext cx="1475400" cy="5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Transactional Storage Engine for Zarr</a:t>
              </a:r>
              <a:endParaRPr sz="10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grpSp>
          <p:nvGrpSpPr>
            <p:cNvPr id="349" name="Google Shape;349;p36"/>
            <p:cNvGrpSpPr/>
            <p:nvPr/>
          </p:nvGrpSpPr>
          <p:grpSpPr>
            <a:xfrm>
              <a:off x="3058738" y="1487738"/>
              <a:ext cx="754875" cy="815282"/>
              <a:chOff x="-124033" y="0"/>
              <a:chExt cx="2013000" cy="2174086"/>
            </a:xfrm>
          </p:grpSpPr>
          <p:pic>
            <p:nvPicPr>
              <p:cNvPr descr="pasted-movie.png" id="350" name="Google Shape;350;p3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9947" y="0"/>
                <a:ext cx="1261695" cy="1462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1" name="Google Shape;351;p36"/>
              <p:cNvSpPr txBox="1"/>
              <p:nvPr/>
            </p:nvSpPr>
            <p:spPr>
              <a:xfrm>
                <a:off x="-124033" y="1640386"/>
                <a:ext cx="2013000" cy="53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578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01F2C"/>
                  </a:buClr>
                  <a:buSzPts val="1400"/>
                  <a:buFont typeface="Arial"/>
                  <a:buNone/>
                </a:pPr>
                <a:r>
                  <a:rPr b="0" i="0" lang="en" sz="13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Icechunk</a:t>
                </a:r>
                <a:endParaRPr sz="40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52" name="Google Shape;352;p36"/>
            <p:cNvSpPr txBox="1"/>
            <p:nvPr/>
          </p:nvSpPr>
          <p:spPr>
            <a:xfrm>
              <a:off x="2576375" y="3108213"/>
              <a:ext cx="1719600" cy="14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Emphasis on safety &amp; correctness over vanilla Zarr</a:t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Cannot lose or misrepresent data</a:t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53" name="Google Shape;353;p36"/>
          <p:cNvGrpSpPr/>
          <p:nvPr/>
        </p:nvGrpSpPr>
        <p:grpSpPr>
          <a:xfrm>
            <a:off x="4983483" y="1322225"/>
            <a:ext cx="1719600" cy="3110100"/>
            <a:chOff x="4659100" y="1322225"/>
            <a:chExt cx="1719600" cy="3110100"/>
          </a:xfrm>
        </p:grpSpPr>
        <p:sp>
          <p:nvSpPr>
            <p:cNvPr id="354" name="Google Shape;354;p36"/>
            <p:cNvSpPr/>
            <p:nvPr/>
          </p:nvSpPr>
          <p:spPr>
            <a:xfrm>
              <a:off x="4659100" y="1322225"/>
              <a:ext cx="1719600" cy="3110100"/>
            </a:xfrm>
            <a:prstGeom prst="roundRect">
              <a:avLst>
                <a:gd fmla="val 7906" name="adj"/>
              </a:avLst>
            </a:prstGeom>
            <a:solidFill>
              <a:srgbClr val="C396F9">
                <a:alpha val="2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4746550" y="1459275"/>
              <a:ext cx="1544700" cy="1584300"/>
            </a:xfrm>
            <a:prstGeom prst="roundRect">
              <a:avLst>
                <a:gd fmla="val 11004" name="adj"/>
              </a:avLst>
            </a:prstGeom>
            <a:solidFill>
              <a:srgbClr val="C396F9">
                <a:alpha val="2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6"/>
            <p:cNvSpPr txBox="1"/>
            <p:nvPr/>
          </p:nvSpPr>
          <p:spPr>
            <a:xfrm>
              <a:off x="4781200" y="3108213"/>
              <a:ext cx="14754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Given any dataset, render a region of the globe as an image.</a:t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</a:br>
              <a:r>
                <a:rPr i="1"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Must faithfully represent data</a:t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57" name="Google Shape;357;p36"/>
            <p:cNvSpPr txBox="1"/>
            <p:nvPr/>
          </p:nvSpPr>
          <p:spPr>
            <a:xfrm>
              <a:off x="5020150" y="2135475"/>
              <a:ext cx="9975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789"/>
                </a:lnSpc>
                <a:spcBef>
                  <a:spcPts val="0"/>
                </a:spcBef>
                <a:spcAft>
                  <a:spcPts val="0"/>
                </a:spcAft>
                <a:buClr>
                  <a:srgbClr val="201F2C"/>
                </a:buClr>
                <a:buSzPts val="1400"/>
                <a:buFont typeface="Arial"/>
                <a:buNone/>
              </a:pPr>
              <a:r>
                <a:rPr lang="en" sz="1300">
                  <a:solidFill>
                    <a:schemeClr val="dk1"/>
                  </a:solidFill>
                </a:rPr>
                <a:t>x</a:t>
              </a:r>
              <a:r>
                <a:rPr lang="en" sz="1300">
                  <a:solidFill>
                    <a:schemeClr val="dk1"/>
                  </a:solidFill>
                </a:rPr>
                <a:t>publish</a:t>
              </a:r>
              <a:r>
                <a:rPr lang="en" sz="1300">
                  <a:solidFill>
                    <a:schemeClr val="dk1"/>
                  </a:solidFill>
                </a:rPr>
                <a:t>-tiles</a:t>
              </a:r>
              <a:endParaRPr sz="400">
                <a:solidFill>
                  <a:schemeClr val="dk1"/>
                </a:solidFill>
              </a:endParaRPr>
            </a:p>
          </p:txBody>
        </p:sp>
        <p:sp>
          <p:nvSpPr>
            <p:cNvPr id="358" name="Google Shape;358;p36"/>
            <p:cNvSpPr txBox="1"/>
            <p:nvPr/>
          </p:nvSpPr>
          <p:spPr>
            <a:xfrm>
              <a:off x="4929550" y="2275500"/>
              <a:ext cx="1178700" cy="5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From Zarr to </a:t>
              </a:r>
              <a:b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</a:br>
              <a: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web map</a:t>
              </a:r>
              <a:endParaRPr sz="10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359" name="Google Shape;359;p36"/>
          <p:cNvGrpSpPr/>
          <p:nvPr/>
        </p:nvGrpSpPr>
        <p:grpSpPr>
          <a:xfrm>
            <a:off x="7091825" y="1322225"/>
            <a:ext cx="1719600" cy="3110100"/>
            <a:chOff x="6863925" y="1322225"/>
            <a:chExt cx="1719600" cy="3110100"/>
          </a:xfrm>
        </p:grpSpPr>
        <p:sp>
          <p:nvSpPr>
            <p:cNvPr id="360" name="Google Shape;360;p36"/>
            <p:cNvSpPr/>
            <p:nvPr/>
          </p:nvSpPr>
          <p:spPr>
            <a:xfrm>
              <a:off x="6863925" y="1322225"/>
              <a:ext cx="1719600" cy="3110100"/>
            </a:xfrm>
            <a:prstGeom prst="roundRect">
              <a:avLst>
                <a:gd fmla="val 7906" name="adj"/>
              </a:avLst>
            </a:prstGeom>
            <a:solidFill>
              <a:srgbClr val="C396F9">
                <a:alpha val="2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6951375" y="1459150"/>
              <a:ext cx="1544700" cy="1584300"/>
            </a:xfrm>
            <a:prstGeom prst="roundRect">
              <a:avLst>
                <a:gd fmla="val 11004" name="adj"/>
              </a:avLst>
            </a:prstGeom>
            <a:solidFill>
              <a:srgbClr val="C396F9">
                <a:alpha val="2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6"/>
            <p:cNvSpPr txBox="1"/>
            <p:nvPr/>
          </p:nvSpPr>
          <p:spPr>
            <a:xfrm>
              <a:off x="6986025" y="3108213"/>
              <a:ext cx="14754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Computation executed in many ways (serial ,parallel, compiled)</a:t>
              </a:r>
              <a:endParaRPr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i="1" lang="en" sz="1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Supports broad range of data types &amp; operations</a:t>
              </a:r>
              <a:endParaRPr i="1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3" name="Google Shape;363;p36"/>
            <p:cNvSpPr txBox="1"/>
            <p:nvPr/>
          </p:nvSpPr>
          <p:spPr>
            <a:xfrm>
              <a:off x="7224975" y="2135350"/>
              <a:ext cx="9975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789"/>
                </a:lnSpc>
                <a:spcBef>
                  <a:spcPts val="0"/>
                </a:spcBef>
                <a:spcAft>
                  <a:spcPts val="0"/>
                </a:spcAft>
                <a:buClr>
                  <a:srgbClr val="201F2C"/>
                </a:buClr>
                <a:buSzPts val="1400"/>
                <a:buFont typeface="Arial"/>
                <a:buNone/>
              </a:pPr>
              <a:r>
                <a:rPr lang="en" sz="1300">
                  <a:solidFill>
                    <a:schemeClr val="dk1"/>
                  </a:solidFill>
                </a:rPr>
                <a:t>flox</a:t>
              </a:r>
              <a:endParaRPr sz="400"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6"/>
            <p:cNvSpPr txBox="1"/>
            <p:nvPr/>
          </p:nvSpPr>
          <p:spPr>
            <a:xfrm>
              <a:off x="6929025" y="2275375"/>
              <a:ext cx="1589400" cy="5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Grouped aggregations for arrays</a:t>
              </a:r>
              <a:endParaRPr sz="10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370" name="Google Shape;37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stakes are high — data formats cannot lose data.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We want to move fast, with confidence.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 am on the hook if this breaks.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</a:t>
            </a:r>
            <a:r>
              <a:rPr lang="en"/>
              <a:t>he input space is large. Covering it with unit tests is hard!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This is fun!  (more fun than unit tests ;); and elegant! And a tool for thought!</a:t>
            </a:r>
            <a:endParaRPr/>
          </a:p>
        </p:txBody>
      </p:sp>
      <p:sp>
        <p:nvSpPr>
          <p:cNvPr id="371" name="Google Shape;371;p37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idx="14" type="title"/>
          </p:nvPr>
        </p:nvSpPr>
        <p:spPr>
          <a:xfrm>
            <a:off x="418100" y="3069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/>
              <a:t>Agenda</a:t>
            </a:r>
            <a:endParaRPr b="0" sz="3000"/>
          </a:p>
        </p:txBody>
      </p:sp>
      <p:sp>
        <p:nvSpPr>
          <p:cNvPr id="377" name="Google Shape;377;p38"/>
          <p:cNvSpPr txBox="1"/>
          <p:nvPr>
            <p:ph idx="15" type="title"/>
          </p:nvPr>
        </p:nvSpPr>
        <p:spPr>
          <a:xfrm>
            <a:off x="3581250" y="1498100"/>
            <a:ext cx="33120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Where I have used property testing?</a:t>
            </a:r>
            <a:endParaRPr sz="1400"/>
          </a:p>
        </p:txBody>
      </p:sp>
      <p:sp>
        <p:nvSpPr>
          <p:cNvPr id="378" name="Google Shape;378;p38"/>
          <p:cNvSpPr txBox="1"/>
          <p:nvPr>
            <p:ph type="title"/>
          </p:nvPr>
        </p:nvSpPr>
        <p:spPr>
          <a:xfrm>
            <a:off x="3581250" y="19432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Examples of properties tested</a:t>
            </a:r>
            <a:endParaRPr sz="1400"/>
          </a:p>
        </p:txBody>
      </p:sp>
      <p:sp>
        <p:nvSpPr>
          <p:cNvPr id="379" name="Google Shape;379;p38"/>
          <p:cNvSpPr txBox="1"/>
          <p:nvPr>
            <p:ph idx="2" type="title"/>
          </p:nvPr>
        </p:nvSpPr>
        <p:spPr>
          <a:xfrm>
            <a:off x="3581250" y="23883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Hands-on exercises!</a:t>
            </a:r>
            <a:endParaRPr sz="1400"/>
          </a:p>
        </p:txBody>
      </p:sp>
      <p:sp>
        <p:nvSpPr>
          <p:cNvPr id="380" name="Google Shape;380;p38"/>
          <p:cNvSpPr txBox="1"/>
          <p:nvPr>
            <p:ph idx="3" type="title"/>
          </p:nvPr>
        </p:nvSpPr>
        <p:spPr>
          <a:xfrm>
            <a:off x="3581250" y="2822588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Beware!</a:t>
            </a:r>
            <a:endParaRPr sz="1400"/>
          </a:p>
        </p:txBody>
      </p:sp>
      <p:sp>
        <p:nvSpPr>
          <p:cNvPr id="381" name="Google Shape;381;p38"/>
          <p:cNvSpPr txBox="1"/>
          <p:nvPr>
            <p:ph idx="7" type="title"/>
          </p:nvPr>
        </p:nvSpPr>
        <p:spPr>
          <a:xfrm>
            <a:off x="2926050" y="28334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2" name="Google Shape;382;p38"/>
          <p:cNvSpPr txBox="1"/>
          <p:nvPr>
            <p:ph idx="8" type="title"/>
          </p:nvPr>
        </p:nvSpPr>
        <p:spPr>
          <a:xfrm>
            <a:off x="2926050" y="23883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3" name="Google Shape;383;p38"/>
          <p:cNvSpPr txBox="1"/>
          <p:nvPr>
            <p:ph idx="9" type="title"/>
          </p:nvPr>
        </p:nvSpPr>
        <p:spPr>
          <a:xfrm>
            <a:off x="2926050" y="19431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4" name="Google Shape;384;p38"/>
          <p:cNvSpPr txBox="1"/>
          <p:nvPr>
            <p:ph idx="13" type="title"/>
          </p:nvPr>
        </p:nvSpPr>
        <p:spPr>
          <a:xfrm>
            <a:off x="2926050" y="14980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5" name="Google Shape;385;p38"/>
          <p:cNvSpPr txBox="1"/>
          <p:nvPr>
            <p:ph idx="3" type="title"/>
          </p:nvPr>
        </p:nvSpPr>
        <p:spPr>
          <a:xfrm>
            <a:off x="3581250" y="3256888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Lessons learned</a:t>
            </a:r>
            <a:endParaRPr sz="1400"/>
          </a:p>
        </p:txBody>
      </p:sp>
      <p:sp>
        <p:nvSpPr>
          <p:cNvPr id="386" name="Google Shape;386;p38"/>
          <p:cNvSpPr txBox="1"/>
          <p:nvPr>
            <p:ph idx="7" type="title"/>
          </p:nvPr>
        </p:nvSpPr>
        <p:spPr>
          <a:xfrm>
            <a:off x="2926050" y="32677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	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 txBox="1"/>
          <p:nvPr>
            <p:ph type="title"/>
          </p:nvPr>
        </p:nvSpPr>
        <p:spPr>
          <a:xfrm>
            <a:off x="418100" y="2161200"/>
            <a:ext cx="70044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properties</a:t>
            </a:r>
            <a:endParaRPr/>
          </a:p>
        </p:txBody>
      </p:sp>
      <p:sp>
        <p:nvSpPr>
          <p:cNvPr id="392" name="Google Shape;392;p39"/>
          <p:cNvSpPr txBox="1"/>
          <p:nvPr>
            <p:ph idx="1" type="subTitle"/>
          </p:nvPr>
        </p:nvSpPr>
        <p:spPr>
          <a:xfrm>
            <a:off x="418450" y="1801500"/>
            <a:ext cx="48456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flavor of what property tests test</a:t>
            </a:r>
            <a:endParaRPr/>
          </a:p>
        </p:txBody>
      </p:sp>
      <p:sp>
        <p:nvSpPr>
          <p:cNvPr id="393" name="Google Shape;393;p39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/>
          <p:nvPr>
            <p:ph idx="1" type="body"/>
          </p:nvPr>
        </p:nvSpPr>
        <p:spPr>
          <a:xfrm>
            <a:off x="311700" y="1152475"/>
            <a:ext cx="831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John Hughes - How to </a:t>
            </a:r>
            <a:r>
              <a:rPr lang="en" u="sng">
                <a:solidFill>
                  <a:schemeClr val="hlink"/>
                </a:solidFill>
                <a:hlinkClick r:id="rId4"/>
              </a:rPr>
              <a:t>specify</a:t>
            </a:r>
            <a:r>
              <a:rPr lang="en" u="sng">
                <a:solidFill>
                  <a:schemeClr val="hlink"/>
                </a:solidFill>
                <a:hlinkClick r:id="rId5"/>
              </a:rPr>
              <a:t> it!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“DO NOT THINK, </a:t>
            </a:r>
            <a:br>
              <a:rPr lang="en"/>
            </a:br>
            <a:r>
              <a:rPr lang="en"/>
              <a:t>let QuickCheck [hypothesis] </a:t>
            </a:r>
            <a:br>
              <a:rPr lang="en"/>
            </a:br>
            <a:r>
              <a:rPr lang="en"/>
              <a:t>do your thinking for you.”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Sean Wlaschin series on property testing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Hillel Wayne on choosing properties</a:t>
            </a:r>
            <a:endParaRPr/>
          </a:p>
        </p:txBody>
      </p:sp>
      <p:sp>
        <p:nvSpPr>
          <p:cNvPr id="399" name="Google Shape;399;p40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4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pic>
        <p:nvPicPr>
          <p:cNvPr descr="Keynote: How to specify it! A guide to writing properties of pure functions&#10;&#10;&#10;This video was recorded at Lambda Days 2020  http://www.lambdadays.org/lambdadays2020&#10;&#10;Get involved in Lambda Days' next conference http://www.lambdadays.org&#10;&#10;Learn more about the talk:&#10;https://www.lambdadays.org/lambdadays2020/john-hughes&#10;&#10;&#10;Lambda Days&#10;Website: www.lambdadays.org&#10;Twitter: www.twitter.com/LambdaDays&#10;Facebook: https://www.facebook.com/lambdadays&#10;LinkedIn: https://www.linkedin.com/company/11840018/" id="401" name="Google Shape;401;p40" title="John Hughes - Keynote: How to specify it! (...) - Lambda Days 2020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25050" y="1417963"/>
            <a:ext cx="4102350" cy="2307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1"/>
          <p:cNvSpPr txBox="1"/>
          <p:nvPr>
            <p:ph type="title"/>
          </p:nvPr>
        </p:nvSpPr>
        <p:spPr>
          <a:xfrm>
            <a:off x="311700" y="228603"/>
            <a:ext cx="8730600" cy="10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Validity testing or invariants: xpublish-tiles</a:t>
            </a:r>
            <a:endParaRPr/>
          </a:p>
        </p:txBody>
      </p:sp>
      <p:sp>
        <p:nvSpPr>
          <p:cNvPr id="407" name="Google Shape;407;p41"/>
          <p:cNvSpPr txBox="1"/>
          <p:nvPr>
            <p:ph idx="1" type="body"/>
          </p:nvPr>
        </p:nvSpPr>
        <p:spPr>
          <a:xfrm>
            <a:off x="325200" y="1487149"/>
            <a:ext cx="8493600" cy="15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Property:</a:t>
            </a:r>
            <a:r>
              <a:rPr lang="en"/>
              <a:t> </a:t>
            </a:r>
            <a:r>
              <a:rPr lang="en">
                <a:solidFill>
                  <a:srgbClr val="EEEEEE"/>
                </a:solidFill>
              </a:rPr>
              <a:t>For a dataset with global coverage, no tile should have a transparent pixel. </a:t>
            </a:r>
            <a:endParaRPr>
              <a:solidFill>
                <a:srgbClr val="EEEEE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EEEEE"/>
              </a:buClr>
              <a:buSzPts val="1200"/>
              <a:buChar char="-"/>
            </a:pPr>
            <a:r>
              <a:rPr lang="en" sz="1200">
                <a:solidFill>
                  <a:srgbClr val="EEEEEE"/>
                </a:solidFill>
              </a:rPr>
              <a:t>Test over</a:t>
            </a:r>
            <a:endParaRPr sz="1200">
              <a:solidFill>
                <a:srgbClr val="EEEEEE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Char char="-"/>
            </a:pPr>
            <a:r>
              <a:rPr lang="en" sz="1200">
                <a:solidFill>
                  <a:srgbClr val="EEEEEE"/>
                </a:solidFill>
              </a:rPr>
              <a:t>Latitude: increasing or decreasing; </a:t>
            </a:r>
            <a:endParaRPr sz="1200">
              <a:solidFill>
                <a:srgbClr val="EEEEEE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Char char="-"/>
            </a:pPr>
            <a:r>
              <a:rPr lang="en" sz="1200">
                <a:solidFill>
                  <a:srgbClr val="EEEEEE"/>
                </a:solidFill>
              </a:rPr>
              <a:t>Longitude: -180° →180°, 0°→360°</a:t>
            </a:r>
            <a:endParaRPr sz="1200">
              <a:solidFill>
                <a:srgbClr val="EEEEE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200"/>
              <a:buChar char="-"/>
            </a:pPr>
            <a:r>
              <a:rPr lang="en" sz="1200">
                <a:solidFill>
                  <a:srgbClr val="EEEEEE"/>
                </a:solidFill>
              </a:rPr>
              <a:t>Arbitrary data shapes (or grid spacings)</a:t>
            </a:r>
            <a:endParaRPr sz="1200">
              <a:solidFill>
                <a:srgbClr val="EEEEE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200"/>
              <a:buChar char="-"/>
            </a:pPr>
            <a:r>
              <a:rPr lang="en" sz="1200">
                <a:solidFill>
                  <a:srgbClr val="EEEEEE"/>
                </a:solidFill>
              </a:rPr>
              <a:t>Arbitrary zoom levels</a:t>
            </a:r>
            <a:endParaRPr sz="1200">
              <a:solidFill>
                <a:srgbClr val="EEEEEE"/>
              </a:solidFill>
            </a:endParaRPr>
          </a:p>
        </p:txBody>
      </p:sp>
      <p:sp>
        <p:nvSpPr>
          <p:cNvPr id="408" name="Google Shape;408;p41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9" name="Google Shape;4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5325" y="1895400"/>
            <a:ext cx="3470075" cy="2970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p41"/>
          <p:cNvCxnSpPr/>
          <p:nvPr/>
        </p:nvCxnSpPr>
        <p:spPr>
          <a:xfrm flipH="1" rot="10800000">
            <a:off x="4481075" y="3243900"/>
            <a:ext cx="2337900" cy="428100"/>
          </a:xfrm>
          <a:prstGeom prst="straightConnector1">
            <a:avLst/>
          </a:prstGeom>
          <a:noFill/>
          <a:ln cap="flat" cmpd="sng" w="19050">
            <a:solidFill>
              <a:srgbClr val="B7E40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1" name="Google Shape;411;p41"/>
          <p:cNvSpPr txBox="1"/>
          <p:nvPr/>
        </p:nvSpPr>
        <p:spPr>
          <a:xfrm>
            <a:off x="3395025" y="3451638"/>
            <a:ext cx="1533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This should</a:t>
            </a:r>
            <a:br>
              <a:rPr lang="en" sz="12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never happen</a:t>
            </a:r>
            <a:endParaRPr sz="1200">
              <a:solidFill>
                <a:srgbClr val="EEEEE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Validity testing</a:t>
            </a:r>
            <a:r>
              <a:rPr lang="en"/>
              <a:t> or invariants</a:t>
            </a:r>
            <a:r>
              <a:rPr lang="en"/>
              <a:t>: Zarr</a:t>
            </a:r>
            <a:endParaRPr/>
          </a:p>
        </p:txBody>
      </p:sp>
      <p:sp>
        <p:nvSpPr>
          <p:cNvPr id="417" name="Google Shape;417;p42"/>
          <p:cNvSpPr txBox="1"/>
          <p:nvPr>
            <p:ph idx="1" type="body"/>
          </p:nvPr>
        </p:nvSpPr>
        <p:spPr>
          <a:xfrm>
            <a:off x="311700" y="1152475"/>
            <a:ext cx="831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Property:</a:t>
            </a:r>
            <a:r>
              <a:rPr lang="en"/>
              <a:t> we read what we write </a:t>
            </a:r>
            <a:br>
              <a:rPr lang="en"/>
            </a:b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Generate an arbitrary in-memory array</a:t>
            </a:r>
            <a:endParaRPr sz="12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Arbitrary data types (ints, floats, chars, datetimes etc.)</a:t>
            </a:r>
            <a:endParaRPr sz="12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Arbitrary shapes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Arbitrary values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Write</a:t>
            </a:r>
            <a:r>
              <a:rPr lang="en" sz="1200"/>
              <a:t> to disk and read back</a:t>
            </a:r>
            <a:endParaRPr sz="12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Over arbitrary store types (in-memory, object store, file storage, etc.)</a:t>
            </a:r>
            <a:endParaRPr sz="12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Arbitrary folders</a:t>
            </a:r>
            <a:endParaRPr sz="12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Arbitrary </a:t>
            </a:r>
            <a:r>
              <a:rPr lang="en" sz="1200"/>
              <a:t>compression</a:t>
            </a:r>
            <a:endParaRPr sz="12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Arbitrary “chunking”</a:t>
            </a:r>
            <a:endParaRPr sz="12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And more…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Must be identical to what was written (simple property)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8" name="Google Shape;418;p42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asted-movie.png" id="419" name="Google Shape;419;p42"/>
          <p:cNvPicPr preferRelativeResize="0"/>
          <p:nvPr/>
        </p:nvPicPr>
        <p:blipFill rotWithShape="1">
          <a:blip r:embed="rId3">
            <a:alphaModFix/>
          </a:blip>
          <a:srcRect b="9015" l="20039" r="20033" t="9023"/>
          <a:stretch/>
        </p:blipFill>
        <p:spPr>
          <a:xfrm>
            <a:off x="7497552" y="294178"/>
            <a:ext cx="518746" cy="709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Validity testing or “invariants”: heat equation</a:t>
            </a:r>
            <a:endParaRPr/>
          </a:p>
        </p:txBody>
      </p:sp>
      <p:sp>
        <p:nvSpPr>
          <p:cNvPr id="425" name="Google Shape;425;p43"/>
          <p:cNvSpPr txBox="1"/>
          <p:nvPr>
            <p:ph idx="1" type="body"/>
          </p:nvPr>
        </p:nvSpPr>
        <p:spPr>
          <a:xfrm>
            <a:off x="311700" y="2571750"/>
            <a:ext cx="82638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Conservation of heat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Symmetry preservation: symmetric initial condition + symmetric boundary conditions == symmetric solution.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Monotonicity: non-decreasing initial states remain non-decreasing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look at how to implement these later in this session.</a:t>
            </a:r>
            <a:endParaRPr/>
          </a:p>
        </p:txBody>
      </p:sp>
      <p:sp>
        <p:nvSpPr>
          <p:cNvPr id="426" name="Google Shape;426;p43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7" name="Google Shape;427;p43"/>
          <p:cNvPicPr preferRelativeResize="0"/>
          <p:nvPr/>
        </p:nvPicPr>
        <p:blipFill rotWithShape="1">
          <a:blip r:embed="rId3">
            <a:alphaModFix/>
          </a:blip>
          <a:srcRect b="0" l="14318" r="12292" t="0"/>
          <a:stretch/>
        </p:blipFill>
        <p:spPr>
          <a:xfrm>
            <a:off x="1148475" y="1114000"/>
            <a:ext cx="2147925" cy="113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3"/>
          <p:cNvSpPr txBox="1"/>
          <p:nvPr/>
        </p:nvSpPr>
        <p:spPr>
          <a:xfrm>
            <a:off x="3468685" y="1372638"/>
            <a:ext cx="159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With prescribed boundary fluxes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9" name="Google Shape;42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771" y="1175950"/>
            <a:ext cx="2671900" cy="100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4"/>
          <p:cNvSpPr txBox="1"/>
          <p:nvPr>
            <p:ph type="title"/>
          </p:nvPr>
        </p:nvSpPr>
        <p:spPr>
          <a:xfrm>
            <a:off x="311700" y="22323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What is the postcondition?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“Construct inputs whose output is easy to predict.”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4"/>
          <p:cNvSpPr txBox="1"/>
          <p:nvPr>
            <p:ph idx="1" type="body"/>
          </p:nvPr>
        </p:nvSpPr>
        <p:spPr>
          <a:xfrm>
            <a:off x="311700" y="1508575"/>
            <a:ext cx="8520600" cy="30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Property:</a:t>
            </a:r>
            <a:r>
              <a:rPr lang="en"/>
              <a:t> Aggregating an array A after grouping by an array B of constant values is identical </a:t>
            </a:r>
            <a:br>
              <a:rPr lang="en"/>
            </a:br>
            <a:r>
              <a:rPr lang="en"/>
              <a:t>                 to aggregating the array 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Consider </a:t>
            </a:r>
            <a:r>
              <a:rPr i="1" lang="en"/>
              <a:t>A</a:t>
            </a:r>
            <a:r>
              <a:rPr lang="en"/>
              <a:t>: array of arbitrary data type &amp; shape e.g. [0, 1, 2];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i="1" lang="en"/>
              <a:t>B:</a:t>
            </a:r>
            <a:r>
              <a:rPr lang="en"/>
              <a:t> array to group “by” of arbitrary data type but constant values e.g. [1, 1, 1], [‘a’, ‘a’, ‘a’]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A.groupby(B).mean()</a:t>
            </a:r>
            <a:r>
              <a:rPr lang="en"/>
              <a:t> is identical to 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A.mean()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/>
              <a:t>- tests handling of inf, Nan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tests datatype casting rules etc.</a:t>
            </a:r>
            <a:endParaRPr sz="1200"/>
          </a:p>
        </p:txBody>
      </p:sp>
      <p:sp>
        <p:nvSpPr>
          <p:cNvPr id="436" name="Google Shape;436;p44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What is the postcondition?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“Construct inputs whose output is easy to predict.”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5"/>
          <p:cNvSpPr txBox="1"/>
          <p:nvPr>
            <p:ph idx="1" type="body"/>
          </p:nvPr>
        </p:nvSpPr>
        <p:spPr>
          <a:xfrm>
            <a:off x="311700" y="2509700"/>
            <a:ext cx="8555100" cy="20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</a:t>
            </a:r>
            <a:r>
              <a:rPr lang="en"/>
              <a:t> = arbitrary constant + 0 fluxes; ⇒ u = arbitrary constant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</a:t>
            </a:r>
            <a:r>
              <a:rPr lang="en"/>
              <a:t> = arbitrary linear function + 0 fluxes; ⇒ u  = arbitrary initial function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 = constant + both boundary fluxes heat (or cool) ⇒ du/dt &gt;0 (&lt;0)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5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4" name="Google Shape;444;p45"/>
          <p:cNvPicPr preferRelativeResize="0"/>
          <p:nvPr/>
        </p:nvPicPr>
        <p:blipFill rotWithShape="1">
          <a:blip r:embed="rId3">
            <a:alphaModFix/>
          </a:blip>
          <a:srcRect b="0" l="14318" r="12292" t="0"/>
          <a:stretch/>
        </p:blipFill>
        <p:spPr>
          <a:xfrm>
            <a:off x="1146950" y="1328963"/>
            <a:ext cx="2147925" cy="113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5"/>
          <p:cNvSpPr txBox="1"/>
          <p:nvPr/>
        </p:nvSpPr>
        <p:spPr>
          <a:xfrm>
            <a:off x="3467160" y="1587600"/>
            <a:ext cx="159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With prescribed boundary fluxes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6" name="Google Shape;44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1246" y="1390913"/>
            <a:ext cx="2671900" cy="100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Metamorphic tests: </a:t>
            </a:r>
            <a:br>
              <a:rPr lang="en"/>
            </a:br>
            <a:r>
              <a:rPr lang="en" sz="2000"/>
              <a:t>“related calls yield related results”</a:t>
            </a:r>
            <a:endParaRPr sz="2000"/>
          </a:p>
        </p:txBody>
      </p:sp>
      <p:sp>
        <p:nvSpPr>
          <p:cNvPr id="452" name="Google Shape;452;p46"/>
          <p:cNvSpPr txBox="1"/>
          <p:nvPr>
            <p:ph idx="1" type="body"/>
          </p:nvPr>
        </p:nvSpPr>
        <p:spPr>
          <a:xfrm>
            <a:off x="297600" y="1299125"/>
            <a:ext cx="845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oracle needed!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Spotify example (</a:t>
            </a:r>
            <a:r>
              <a:rPr lang="en" u="sng">
                <a:solidFill>
                  <a:schemeClr val="hlink"/>
                </a:solidFill>
                <a:hlinkClick r:id="rId3"/>
              </a:rPr>
              <a:t>doi:10.1109/TSE.2017.2764464</a:t>
            </a:r>
            <a:r>
              <a:rPr lang="en"/>
              <a:t>): </a:t>
            </a:r>
            <a:br>
              <a:rPr lang="en"/>
            </a:b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Property:</a:t>
            </a:r>
            <a:r>
              <a:rPr lang="en"/>
              <a:t> Search for “word1 word2” must have fewer results than the search for “word1”.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Flox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Property:</a:t>
            </a:r>
            <a:r>
              <a:rPr lang="en"/>
              <a:t> forward filling and backward filling are inverse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		Consider array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 = [1, 2, np.nan, 3]</a:t>
            </a:r>
            <a:br>
              <a:rPr lang="en"/>
            </a:br>
            <a:r>
              <a:rPr lang="en"/>
              <a:t>		</a:t>
            </a:r>
            <a:r>
              <a:rPr lang="en"/>
              <a:t>	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fill(A) == reversed(bfill(reversed(A)))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== [1, 2, 2, 3] </a:t>
            </a:r>
            <a:br>
              <a:rPr lang="en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         bfill(A) == reversed(ffill(reversed(A))) ==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[1, 2, 3, 3]</a:t>
            </a:r>
            <a:r>
              <a:rPr lang="en"/>
              <a:t> </a:t>
            </a:r>
            <a:r>
              <a:rPr lang="en"/>
              <a:t>                             </a:t>
            </a:r>
            <a:endParaRPr/>
          </a:p>
        </p:txBody>
      </p:sp>
      <p:sp>
        <p:nvSpPr>
          <p:cNvPr id="453" name="Google Shape;453;p46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7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47"/>
          <p:cNvSpPr txBox="1"/>
          <p:nvPr/>
        </p:nvSpPr>
        <p:spPr>
          <a:xfrm>
            <a:off x="311700" y="1470506"/>
            <a:ext cx="85206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B7E401"/>
                </a:solidFill>
                <a:latin typeface="Nunito"/>
                <a:ea typeface="Nunito"/>
                <a:cs typeface="Nunito"/>
                <a:sym typeface="Nunito"/>
              </a:rPr>
              <a:t>Property:</a:t>
            </a:r>
            <a:r>
              <a:rPr lang="en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 The same data on a </a:t>
            </a:r>
            <a:r>
              <a:rPr i="1" lang="en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uniformly spaced</a:t>
            </a:r>
            <a:r>
              <a:rPr lang="en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 grid should render </a:t>
            </a:r>
            <a:br>
              <a:rPr lang="en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as an equivalent tile regardless of how underlying coordinates are specified.</a:t>
            </a:r>
            <a:endParaRPr>
              <a:solidFill>
                <a:srgbClr val="ADADA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60" name="Google Shape;460;p47"/>
          <p:cNvGraphicFramePr/>
          <p:nvPr/>
        </p:nvGraphicFramePr>
        <p:xfrm>
          <a:off x="4333914" y="32133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{788BE3F7-E8CA-465B-A22F-FAF525C5F9D9}</a:tableStyleId>
              </a:tblPr>
              <a:tblGrid>
                <a:gridCol w="382850"/>
                <a:gridCol w="382850"/>
              </a:tblGrid>
              <a:tr h="35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1" name="Google Shape;461;p47"/>
          <p:cNvGraphicFramePr/>
          <p:nvPr/>
        </p:nvGraphicFramePr>
        <p:xfrm>
          <a:off x="3871679" y="23571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{788BE3F7-E8CA-465B-A22F-FAF525C5F9D9}</a:tableStyleId>
              </a:tblPr>
              <a:tblGrid>
                <a:gridCol w="382850"/>
              </a:tblGrid>
              <a:tr h="38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2" name="Google Shape;462;p47"/>
          <p:cNvSpPr txBox="1"/>
          <p:nvPr/>
        </p:nvSpPr>
        <p:spPr>
          <a:xfrm>
            <a:off x="956501" y="3227763"/>
            <a:ext cx="25803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E401"/>
                </a:solidFill>
                <a:latin typeface="Nunito"/>
                <a:ea typeface="Nunito"/>
                <a:cs typeface="Nunito"/>
                <a:sym typeface="Nunito"/>
              </a:rPr>
              <a:t>GeoTransform: [-0.5, 1, 0, -0.5, 0, 1]</a:t>
            </a:r>
            <a:endParaRPr sz="1000">
              <a:solidFill>
                <a:srgbClr val="B7E40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B7E401"/>
                </a:solidFill>
                <a:latin typeface="Nunito"/>
                <a:ea typeface="Nunito"/>
                <a:cs typeface="Nunito"/>
                <a:sym typeface="Nunito"/>
              </a:rPr>
              <a:t>Shape: 2 x 2</a:t>
            </a:r>
            <a:endParaRPr sz="1000">
              <a:solidFill>
                <a:srgbClr val="B7E40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63" name="Google Shape;463;p47"/>
          <p:cNvGraphicFramePr/>
          <p:nvPr/>
        </p:nvGraphicFramePr>
        <p:xfrm>
          <a:off x="6003100" y="2357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{788BE3F7-E8CA-465B-A22F-FAF525C5F9D9}</a:tableStyleId>
              </a:tblPr>
              <a:tblGrid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4" name="Google Shape;464;p47"/>
          <p:cNvGraphicFramePr/>
          <p:nvPr/>
        </p:nvGraphicFramePr>
        <p:xfrm>
          <a:off x="6878375" y="3187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{788BE3F7-E8CA-465B-A22F-FAF525C5F9D9}</a:tableStyleId>
              </a:tblPr>
              <a:tblGrid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B7E40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900">
                        <a:solidFill>
                          <a:srgbClr val="B7E40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5" name="Google Shape;465;p47"/>
          <p:cNvSpPr txBox="1"/>
          <p:nvPr/>
        </p:nvSpPr>
        <p:spPr>
          <a:xfrm>
            <a:off x="4568564" y="3568779"/>
            <a:ext cx="296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B7E40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endParaRPr sz="1000">
              <a:solidFill>
                <a:srgbClr val="B7E40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6" name="Google Shape;466;p47"/>
          <p:cNvSpPr txBox="1"/>
          <p:nvPr/>
        </p:nvSpPr>
        <p:spPr>
          <a:xfrm>
            <a:off x="3575279" y="2541404"/>
            <a:ext cx="296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B7E401"/>
                </a:solidFill>
                <a:latin typeface="Nunito"/>
                <a:ea typeface="Nunito"/>
                <a:cs typeface="Nunito"/>
                <a:sym typeface="Nunito"/>
              </a:rPr>
              <a:t>y</a:t>
            </a:r>
            <a:endParaRPr sz="1000">
              <a:solidFill>
                <a:srgbClr val="B7E40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7" name="Google Shape;467;p47"/>
          <p:cNvSpPr txBox="1"/>
          <p:nvPr/>
        </p:nvSpPr>
        <p:spPr>
          <a:xfrm>
            <a:off x="5704714" y="2541895"/>
            <a:ext cx="296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B7E401"/>
                </a:solidFill>
                <a:latin typeface="Nunito"/>
                <a:ea typeface="Nunito"/>
                <a:cs typeface="Nunito"/>
                <a:sym typeface="Nunito"/>
              </a:rPr>
              <a:t>y</a:t>
            </a:r>
            <a:endParaRPr sz="1000">
              <a:solidFill>
                <a:srgbClr val="B7E40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8" name="Google Shape;468;p47"/>
          <p:cNvSpPr txBox="1"/>
          <p:nvPr/>
        </p:nvSpPr>
        <p:spPr>
          <a:xfrm>
            <a:off x="6543100" y="3597304"/>
            <a:ext cx="296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B7E40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endParaRPr sz="1000">
              <a:solidFill>
                <a:srgbClr val="B7E40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9" name="Google Shape;469;p47"/>
          <p:cNvSpPr txBox="1"/>
          <p:nvPr/>
        </p:nvSpPr>
        <p:spPr>
          <a:xfrm>
            <a:off x="1029370" y="3876191"/>
            <a:ext cx="2316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(a) Affine transform + shape</a:t>
            </a:r>
            <a:endParaRPr sz="1000">
              <a:solidFill>
                <a:srgbClr val="EEEEE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0" name="Google Shape;470;p47"/>
          <p:cNvSpPr txBox="1"/>
          <p:nvPr/>
        </p:nvSpPr>
        <p:spPr>
          <a:xfrm>
            <a:off x="3413992" y="3876191"/>
            <a:ext cx="2316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(b) Rectilinear mesh</a:t>
            </a:r>
            <a:br>
              <a:rPr lang="en" sz="10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0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     1D x, y  coordinates</a:t>
            </a:r>
            <a:endParaRPr sz="1000">
              <a:solidFill>
                <a:srgbClr val="EEEEE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1" name="Google Shape;471;p47"/>
          <p:cNvSpPr txBox="1"/>
          <p:nvPr/>
        </p:nvSpPr>
        <p:spPr>
          <a:xfrm>
            <a:off x="5730010" y="3876191"/>
            <a:ext cx="2316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(c) Curvilinear mesh</a:t>
            </a:r>
            <a:br>
              <a:rPr lang="en" sz="10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000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     2D x, y  coordinates</a:t>
            </a:r>
            <a:endParaRPr sz="1000">
              <a:solidFill>
                <a:srgbClr val="EEEEE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72" name="Google Shape;472;p47"/>
          <p:cNvGraphicFramePr/>
          <p:nvPr/>
        </p:nvGraphicFramePr>
        <p:xfrm>
          <a:off x="6880050" y="2357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{788BE3F7-E8CA-465B-A22F-FAF525C5F9D9}</a:tableStyleId>
              </a:tblPr>
              <a:tblGrid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73" name="Google Shape;473;p47"/>
          <p:cNvGraphicFramePr/>
          <p:nvPr/>
        </p:nvGraphicFramePr>
        <p:xfrm>
          <a:off x="4351152" y="2357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{788BE3F7-E8CA-465B-A22F-FAF525C5F9D9}</a:tableStyleId>
              </a:tblPr>
              <a:tblGrid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74" name="Google Shape;474;p47"/>
          <p:cNvGraphicFramePr/>
          <p:nvPr/>
        </p:nvGraphicFramePr>
        <p:xfrm>
          <a:off x="1863800" y="2357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{788BE3F7-E8CA-465B-A22F-FAF525C5F9D9}</a:tableStyleId>
              </a:tblPr>
              <a:tblGrid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EEEE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sz="900">
                        <a:solidFill>
                          <a:srgbClr val="EEEEEE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5" name="Google Shape;475;p47"/>
          <p:cNvSpPr txBox="1"/>
          <p:nvPr>
            <p:ph type="title"/>
          </p:nvPr>
        </p:nvSpPr>
        <p:spPr>
          <a:xfrm>
            <a:off x="311700" y="228603"/>
            <a:ext cx="8730600" cy="10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/>
              <a:t>Metamorphic</a:t>
            </a:r>
            <a:r>
              <a:rPr lang="en"/>
              <a:t> tests: x</a:t>
            </a:r>
            <a:r>
              <a:rPr lang="en"/>
              <a:t>publish</a:t>
            </a:r>
            <a:r>
              <a:rPr lang="en"/>
              <a:t>-tiles</a:t>
            </a:r>
            <a:br>
              <a:rPr lang="en"/>
            </a:br>
            <a:r>
              <a:rPr lang="en" sz="2000"/>
              <a:t>“D</a:t>
            </a:r>
            <a:r>
              <a:rPr lang="en" sz="2000"/>
              <a:t>ifferent paths; same destination”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Metamorphic tests: heat equation</a:t>
            </a:r>
            <a:endParaRPr/>
          </a:p>
        </p:txBody>
      </p:sp>
      <p:sp>
        <p:nvSpPr>
          <p:cNvPr id="481" name="Google Shape;481;p48"/>
          <p:cNvSpPr txBox="1"/>
          <p:nvPr>
            <p:ph idx="1" type="body"/>
          </p:nvPr>
        </p:nvSpPr>
        <p:spPr>
          <a:xfrm>
            <a:off x="311700" y="2406275"/>
            <a:ext cx="7734600" cy="2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Symmetry about the center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Solution is unchanged upon shifting x coordinate; generalizes to dimensional consistency &amp; non-dimensionalization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Add an arbitrary constant to the initial condition; solution must be unchanged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Solution with time step Δt and spacing Δx should be </a:t>
            </a:r>
            <a:r>
              <a:rPr i="1" lang="en"/>
              <a:t>approx</a:t>
            </a:r>
            <a:r>
              <a:rPr lang="en"/>
              <a:t> equal</a:t>
            </a:r>
            <a:r>
              <a:rPr lang="en"/>
              <a:t> to that with Δt/N (assuming stability condition etc….). </a:t>
            </a:r>
            <a:r>
              <a:rPr lang="en"/>
              <a:t>Similar</a:t>
            </a:r>
            <a:r>
              <a:rPr lang="en"/>
              <a:t> for N * Δx (given Δt)</a:t>
            </a:r>
            <a:endParaRPr/>
          </a:p>
        </p:txBody>
      </p:sp>
      <p:sp>
        <p:nvSpPr>
          <p:cNvPr id="482" name="Google Shape;482;p48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3" name="Google Shape;483;p48"/>
          <p:cNvPicPr preferRelativeResize="0"/>
          <p:nvPr/>
        </p:nvPicPr>
        <p:blipFill rotWithShape="1">
          <a:blip r:embed="rId3">
            <a:alphaModFix/>
          </a:blip>
          <a:srcRect b="0" l="14318" r="12292" t="0"/>
          <a:stretch/>
        </p:blipFill>
        <p:spPr>
          <a:xfrm>
            <a:off x="1146950" y="1328963"/>
            <a:ext cx="2147925" cy="113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8"/>
          <p:cNvSpPr txBox="1"/>
          <p:nvPr/>
        </p:nvSpPr>
        <p:spPr>
          <a:xfrm>
            <a:off x="3467160" y="1587600"/>
            <a:ext cx="159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With prescribed boundary fluxes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85" name="Google Shape;48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1246" y="1390913"/>
            <a:ext cx="2671900" cy="100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Model-based properties</a:t>
            </a:r>
            <a:endParaRPr/>
          </a:p>
        </p:txBody>
      </p:sp>
      <p:sp>
        <p:nvSpPr>
          <p:cNvPr id="491" name="Google Shape;491;p49"/>
          <p:cNvSpPr txBox="1"/>
          <p:nvPr>
            <p:ph idx="1" type="body"/>
          </p:nvPr>
        </p:nvSpPr>
        <p:spPr>
          <a:xfrm>
            <a:off x="311700" y="1152475"/>
            <a:ext cx="830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against a simpler model (“implement a simple oracle”)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only works if the model is simpler to implement.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Indexing an array is identical to indexing that array after writing to disk in Zarr format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numpy_array[0, slice(10), 3] == zarr_array[0, slice(10), 3]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heat equation could be a model for a different system (e.g. ocean model vertical mixing scheme).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9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>
            <p:ph type="title"/>
          </p:nvPr>
        </p:nvSpPr>
        <p:spPr>
          <a:xfrm>
            <a:off x="419575" y="319250"/>
            <a:ext cx="76113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498" name="Google Shape;498;p50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9" name="Google Shape;499;p50"/>
          <p:cNvSpPr txBox="1"/>
          <p:nvPr>
            <p:ph idx="4294967295" type="body"/>
          </p:nvPr>
        </p:nvSpPr>
        <p:spPr>
          <a:xfrm>
            <a:off x="311700" y="1152475"/>
            <a:ext cx="830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the hypothesis library in a notebook.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Hypothesis is a great (opinionated) property testing library!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Open-source!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Integrated with pytest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Used by an estimated 5% of python developers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Very UX focused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Docs are great!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https://hypothesis.readthedocs.io/en/latest/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Releases every day or two!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Easy integration </a:t>
            </a:r>
            <a:r>
              <a:rPr lang="en"/>
              <a:t>with CI.</a:t>
            </a:r>
            <a:endParaRPr/>
          </a:p>
        </p:txBody>
      </p:sp>
      <p:pic>
        <p:nvPicPr>
          <p:cNvPr id="500" name="Google Shape;50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7250" y="3337800"/>
            <a:ext cx="14287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1"/>
          <p:cNvSpPr txBox="1"/>
          <p:nvPr>
            <p:ph idx="1" type="subTitle"/>
          </p:nvPr>
        </p:nvSpPr>
        <p:spPr>
          <a:xfrm>
            <a:off x="419575" y="189539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</a:t>
            </a:r>
            <a:r>
              <a:rPr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test_metamorphic.py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06" name="Google Shape;506;p51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51"/>
          <p:cNvSpPr txBox="1"/>
          <p:nvPr>
            <p:ph type="title"/>
          </p:nvPr>
        </p:nvSpPr>
        <p:spPr>
          <a:xfrm>
            <a:off x="418100" y="2307375"/>
            <a:ext cx="76113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Metamorphic testing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2"/>
          <p:cNvSpPr txBox="1"/>
          <p:nvPr>
            <p:ph idx="1" type="subTitle"/>
          </p:nvPr>
        </p:nvSpPr>
        <p:spPr>
          <a:xfrm>
            <a:off x="419575" y="189539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variant of model-based </a:t>
            </a:r>
            <a:r>
              <a:rPr lang="en"/>
              <a:t>property</a:t>
            </a:r>
            <a:r>
              <a:rPr lang="en"/>
              <a:t> testing</a:t>
            </a:r>
            <a:endParaRPr/>
          </a:p>
        </p:txBody>
      </p:sp>
      <p:sp>
        <p:nvSpPr>
          <p:cNvPr id="513" name="Google Shape;513;p52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52"/>
          <p:cNvSpPr txBox="1"/>
          <p:nvPr>
            <p:ph type="title"/>
          </p:nvPr>
        </p:nvSpPr>
        <p:spPr>
          <a:xfrm>
            <a:off x="418100" y="2307375"/>
            <a:ext cx="76113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(maybe) stateful testing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3"/>
          <p:cNvSpPr txBox="1"/>
          <p:nvPr>
            <p:ph idx="1" type="subTitle"/>
          </p:nvPr>
        </p:nvSpPr>
        <p:spPr>
          <a:xfrm>
            <a:off x="419575" y="189539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testing can lead to overconfidence</a:t>
            </a:r>
            <a:endParaRPr/>
          </a:p>
        </p:txBody>
      </p:sp>
      <p:sp>
        <p:nvSpPr>
          <p:cNvPr id="520" name="Google Shape;520;p53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53"/>
          <p:cNvSpPr txBox="1"/>
          <p:nvPr>
            <p:ph type="title"/>
          </p:nvPr>
        </p:nvSpPr>
        <p:spPr>
          <a:xfrm>
            <a:off x="418100" y="2307375"/>
            <a:ext cx="76113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failure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4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54"/>
          <p:cNvSpPr txBox="1"/>
          <p:nvPr>
            <p:ph idx="1" type="body"/>
          </p:nvPr>
        </p:nvSpPr>
        <p:spPr>
          <a:xfrm>
            <a:off x="311700" y="92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 made a complex change to improve performance. </a:t>
            </a:r>
            <a:br>
              <a:rPr lang="en"/>
            </a:br>
            <a:r>
              <a:rPr lang="en"/>
              <a:t>Unit tests passed, thought property test </a:t>
            </a:r>
            <a:r>
              <a:rPr lang="en"/>
              <a:t>coverage was good.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Then a user reports data loss!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Zarr cuts an array in to “chunks” of uniform size; the last chunk can be smaller e.g. [2, 2, 1]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 introduced a bug when overwriting the last chunk when it is smaller.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Why? We spent all our effort testing parts of parameter space that weren’t relevant to most users or irrelevant to the read/write operation being tested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arrays of shape (0,) and (1,); complicated unicode attributes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	And almost no effort testing the most common “complex” case (a smaller last chunk).</a:t>
            </a:r>
            <a:endParaRPr/>
          </a:p>
        </p:txBody>
      </p:sp>
      <p:sp>
        <p:nvSpPr>
          <p:cNvPr id="528" name="Google Shape;528;p5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learned: examine your strategies!</a:t>
            </a:r>
            <a:endParaRPr/>
          </a:p>
        </p:txBody>
      </p:sp>
      <p:pic>
        <p:nvPicPr>
          <p:cNvPr id="529" name="Google Shape;529;p54"/>
          <p:cNvPicPr preferRelativeResize="0"/>
          <p:nvPr/>
        </p:nvPicPr>
        <p:blipFill rotWithShape="1">
          <a:blip r:embed="rId3">
            <a:alphaModFix/>
          </a:blip>
          <a:srcRect b="19974" l="0" r="0" t="0"/>
          <a:stretch/>
        </p:blipFill>
        <p:spPr>
          <a:xfrm>
            <a:off x="4353450" y="3536175"/>
            <a:ext cx="3959726" cy="137614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4"/>
          <p:cNvSpPr txBox="1"/>
          <p:nvPr/>
        </p:nvSpPr>
        <p:spPr>
          <a:xfrm>
            <a:off x="3029850" y="4024150"/>
            <a:ext cx="128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Pull Request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5"/>
          <p:cNvSpPr txBox="1"/>
          <p:nvPr>
            <p:ph type="title"/>
          </p:nvPr>
        </p:nvSpPr>
        <p:spPr>
          <a:xfrm>
            <a:off x="418100" y="2307375"/>
            <a:ext cx="76113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536" name="Google Shape;536;p55"/>
          <p:cNvSpPr txBox="1"/>
          <p:nvPr>
            <p:ph idx="1" type="subTitle"/>
          </p:nvPr>
        </p:nvSpPr>
        <p:spPr>
          <a:xfrm>
            <a:off x="419575" y="189539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5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6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56"/>
          <p:cNvSpPr txBox="1"/>
          <p:nvPr>
            <p:ph type="title"/>
          </p:nvPr>
        </p:nvSpPr>
        <p:spPr>
          <a:xfrm>
            <a:off x="418100" y="1005625"/>
            <a:ext cx="34326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rPr>
              <a:t>01.</a:t>
            </a:r>
            <a:endParaRPr sz="9600">
              <a:solidFill>
                <a:schemeClr val="dk2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44" name="Google Shape;544;p56"/>
          <p:cNvSpPr txBox="1"/>
          <p:nvPr>
            <p:ph idx="1" type="subTitle"/>
          </p:nvPr>
        </p:nvSpPr>
        <p:spPr>
          <a:xfrm>
            <a:off x="419575" y="2682600"/>
            <a:ext cx="3716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Property tests </a:t>
            </a:r>
            <a:r>
              <a:rPr b="1" lang="en" sz="1400"/>
              <a:t>don’t replace</a:t>
            </a:r>
            <a:r>
              <a:rPr lang="en" sz="1400"/>
              <a:t> </a:t>
            </a:r>
            <a:br>
              <a:rPr lang="en" sz="1400"/>
            </a:br>
            <a:r>
              <a:rPr lang="en" sz="1400"/>
              <a:t>other testing strategies. 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45" name="Google Shape;545;p56"/>
          <p:cNvSpPr txBox="1"/>
          <p:nvPr>
            <p:ph idx="2" type="body"/>
          </p:nvPr>
        </p:nvSpPr>
        <p:spPr>
          <a:xfrm>
            <a:off x="419575" y="3120175"/>
            <a:ext cx="31884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They are meant to help you increase coverage (and think through the problem).</a:t>
            </a:r>
            <a:br>
              <a:rPr lang="en"/>
            </a:br>
            <a:endParaRPr/>
          </a:p>
        </p:txBody>
      </p:sp>
      <p:cxnSp>
        <p:nvCxnSpPr>
          <p:cNvPr id="546" name="Google Shape;546;p56"/>
          <p:cNvCxnSpPr/>
          <p:nvPr/>
        </p:nvCxnSpPr>
        <p:spPr>
          <a:xfrm>
            <a:off x="413700" y="2463025"/>
            <a:ext cx="310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56"/>
          <p:cNvSpPr/>
          <p:nvPr>
            <p:ph idx="3" type="pic"/>
          </p:nvPr>
        </p:nvSpPr>
        <p:spPr>
          <a:xfrm>
            <a:off x="5024575" y="392775"/>
            <a:ext cx="3716700" cy="43515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57"/>
          <p:cNvSpPr txBox="1"/>
          <p:nvPr>
            <p:ph type="title"/>
          </p:nvPr>
        </p:nvSpPr>
        <p:spPr>
          <a:xfrm>
            <a:off x="418100" y="1005625"/>
            <a:ext cx="34326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2"/>
                </a:solidFill>
                <a:latin typeface="Nunito Light"/>
                <a:ea typeface="Nunito Light"/>
                <a:cs typeface="Nunito Light"/>
                <a:sym typeface="Nunito Light"/>
              </a:rPr>
              <a:t>02.</a:t>
            </a:r>
            <a:endParaRPr sz="9600">
              <a:solidFill>
                <a:schemeClr val="lt2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54" name="Google Shape;554;p57"/>
          <p:cNvSpPr txBox="1"/>
          <p:nvPr>
            <p:ph idx="1" type="subTitle"/>
          </p:nvPr>
        </p:nvSpPr>
        <p:spPr>
          <a:xfrm>
            <a:off x="419575" y="2682600"/>
            <a:ext cx="3716700" cy="7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Property tests </a:t>
            </a:r>
            <a:r>
              <a:rPr b="1" lang="en" sz="1400"/>
              <a:t>pseudo-randomly</a:t>
            </a:r>
            <a:r>
              <a:rPr lang="en" sz="1400"/>
              <a:t> sample the input search space.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55" name="Google Shape;555;p57"/>
          <p:cNvSpPr txBox="1"/>
          <p:nvPr>
            <p:ph idx="2" type="body"/>
          </p:nvPr>
        </p:nvSpPr>
        <p:spPr>
          <a:xfrm>
            <a:off x="419575" y="3120175"/>
            <a:ext cx="39855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This means it is upon you to narrow the search space to “interesting” regions. Hypothesis can help.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Minimize the search space along dimensions </a:t>
            </a:r>
            <a:br>
              <a:rPr lang="en"/>
            </a:br>
            <a:r>
              <a:rPr lang="en"/>
              <a:t>that are unimportant for the property you are testing.</a:t>
            </a:r>
            <a:br>
              <a:rPr lang="en"/>
            </a:br>
            <a:br>
              <a:rPr lang="en"/>
            </a:br>
            <a:r>
              <a:rPr lang="en"/>
              <a:t>A successful test doesn’t prove anything! Use CI.</a:t>
            </a:r>
            <a:endParaRPr/>
          </a:p>
        </p:txBody>
      </p:sp>
      <p:cxnSp>
        <p:nvCxnSpPr>
          <p:cNvPr id="556" name="Google Shape;556;p57"/>
          <p:cNvCxnSpPr/>
          <p:nvPr/>
        </p:nvCxnSpPr>
        <p:spPr>
          <a:xfrm>
            <a:off x="413700" y="2463025"/>
            <a:ext cx="3107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57" name="Google Shape;55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9900" y="962750"/>
            <a:ext cx="3985501" cy="3000546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7"/>
          <p:cNvSpPr txBox="1"/>
          <p:nvPr/>
        </p:nvSpPr>
        <p:spPr>
          <a:xfrm>
            <a:off x="6204300" y="605425"/>
            <a:ext cx="14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Zarr nightly CI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8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58"/>
          <p:cNvSpPr txBox="1"/>
          <p:nvPr>
            <p:ph type="title"/>
          </p:nvPr>
        </p:nvSpPr>
        <p:spPr>
          <a:xfrm>
            <a:off x="418100" y="1005625"/>
            <a:ext cx="34326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rPr>
              <a:t>03.</a:t>
            </a:r>
            <a:endParaRPr sz="9600">
              <a:solidFill>
                <a:schemeClr val="dk2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65" name="Google Shape;565;p58"/>
          <p:cNvSpPr txBox="1"/>
          <p:nvPr>
            <p:ph idx="1" type="subTitle"/>
          </p:nvPr>
        </p:nvSpPr>
        <p:spPr>
          <a:xfrm>
            <a:off x="419575" y="2682600"/>
            <a:ext cx="3716700" cy="7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Simple properties are </a:t>
            </a:r>
            <a:r>
              <a:rPr b="1" lang="en" sz="1400"/>
              <a:t>really</a:t>
            </a:r>
            <a:r>
              <a:rPr lang="en" sz="1400"/>
              <a:t> effective </a:t>
            </a:r>
            <a:br>
              <a:rPr lang="en" sz="1400"/>
            </a:br>
            <a:r>
              <a:rPr lang="en" sz="1400"/>
              <a:t>and </a:t>
            </a:r>
            <a:r>
              <a:rPr b="1" lang="en" sz="1400"/>
              <a:t>very </a:t>
            </a:r>
            <a:r>
              <a:rPr lang="en" sz="1400"/>
              <a:t>elegant. </a:t>
            </a:r>
            <a:br>
              <a:rPr lang="en" sz="1400"/>
            </a:b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66" name="Google Shape;566;p58"/>
          <p:cNvSpPr txBox="1"/>
          <p:nvPr>
            <p:ph idx="2" type="body"/>
          </p:nvPr>
        </p:nvSpPr>
        <p:spPr>
          <a:xfrm>
            <a:off x="419575" y="3120175"/>
            <a:ext cx="31884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Explore complexity in input generation (explore the input space).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of this as a thinking tool.</a:t>
            </a:r>
            <a:endParaRPr/>
          </a:p>
        </p:txBody>
      </p:sp>
      <p:cxnSp>
        <p:nvCxnSpPr>
          <p:cNvPr id="567" name="Google Shape;567;p58"/>
          <p:cNvCxnSpPr/>
          <p:nvPr/>
        </p:nvCxnSpPr>
        <p:spPr>
          <a:xfrm>
            <a:off x="413700" y="2463025"/>
            <a:ext cx="310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58"/>
          <p:cNvSpPr/>
          <p:nvPr>
            <p:ph idx="3" type="pic"/>
          </p:nvPr>
        </p:nvSpPr>
        <p:spPr>
          <a:xfrm>
            <a:off x="5024575" y="392775"/>
            <a:ext cx="3716700" cy="43515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9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4" name="Google Shape;574;p59"/>
          <p:cNvSpPr/>
          <p:nvPr>
            <p:ph idx="3" type="pic"/>
          </p:nvPr>
        </p:nvSpPr>
        <p:spPr>
          <a:xfrm>
            <a:off x="5024575" y="392775"/>
            <a:ext cx="3716700" cy="4351500"/>
          </a:xfrm>
          <a:prstGeom prst="roundRect">
            <a:avLst>
              <a:gd fmla="val 16667" name="adj"/>
            </a:avLst>
          </a:prstGeom>
        </p:spPr>
      </p:sp>
      <p:sp>
        <p:nvSpPr>
          <p:cNvPr id="575" name="Google Shape;575;p59"/>
          <p:cNvSpPr txBox="1"/>
          <p:nvPr>
            <p:ph type="title"/>
          </p:nvPr>
        </p:nvSpPr>
        <p:spPr>
          <a:xfrm>
            <a:off x="418100" y="1005625"/>
            <a:ext cx="34326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2"/>
                </a:solidFill>
                <a:latin typeface="Nunito Light"/>
                <a:ea typeface="Nunito Light"/>
                <a:cs typeface="Nunito Light"/>
                <a:sym typeface="Nunito Light"/>
              </a:rPr>
              <a:t>04.</a:t>
            </a:r>
            <a:endParaRPr sz="9600">
              <a:solidFill>
                <a:schemeClr val="lt2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76" name="Google Shape;576;p59"/>
          <p:cNvSpPr txBox="1"/>
          <p:nvPr>
            <p:ph idx="1" type="subTitle"/>
          </p:nvPr>
        </p:nvSpPr>
        <p:spPr>
          <a:xfrm>
            <a:off x="419575" y="2682600"/>
            <a:ext cx="37167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Property testing suites are effectively an </a:t>
            </a:r>
            <a:r>
              <a:rPr b="1" lang="en" sz="1400"/>
              <a:t>empirical specification</a:t>
            </a:r>
            <a:r>
              <a:rPr lang="en" sz="1400"/>
              <a:t> of your program’s behaviour.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77" name="Google Shape;577;p59"/>
          <p:cNvSpPr txBox="1"/>
          <p:nvPr>
            <p:ph idx="2" type="body"/>
          </p:nvPr>
        </p:nvSpPr>
        <p:spPr>
          <a:xfrm>
            <a:off x="419575" y="3120175"/>
            <a:ext cx="31884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r>
              <a:rPr lang="en"/>
              <a:t>If you don’t like it; time to fix it!</a:t>
            </a:r>
            <a:endParaRPr/>
          </a:p>
        </p:txBody>
      </p:sp>
      <p:cxnSp>
        <p:nvCxnSpPr>
          <p:cNvPr id="578" name="Google Shape;578;p59"/>
          <p:cNvCxnSpPr/>
          <p:nvPr/>
        </p:nvCxnSpPr>
        <p:spPr>
          <a:xfrm>
            <a:off x="413700" y="2463025"/>
            <a:ext cx="3107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60"/>
          <p:cNvSpPr txBox="1"/>
          <p:nvPr>
            <p:ph type="title"/>
          </p:nvPr>
        </p:nvSpPr>
        <p:spPr>
          <a:xfrm>
            <a:off x="418100" y="1005625"/>
            <a:ext cx="34326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rPr>
              <a:t>05.</a:t>
            </a:r>
            <a:endParaRPr sz="9600">
              <a:solidFill>
                <a:schemeClr val="dk2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85" name="Google Shape;585;p60"/>
          <p:cNvSpPr txBox="1"/>
          <p:nvPr>
            <p:ph idx="1" type="subTitle"/>
          </p:nvPr>
        </p:nvSpPr>
        <p:spPr>
          <a:xfrm>
            <a:off x="419575" y="2682600"/>
            <a:ext cx="37167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Your unit test is most likely a property test in disguise.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6" name="Google Shape;586;p60"/>
          <p:cNvSpPr txBox="1"/>
          <p:nvPr>
            <p:ph idx="2" type="body"/>
          </p:nvPr>
        </p:nvSpPr>
        <p:spPr>
          <a:xfrm>
            <a:off x="419575" y="3120175"/>
            <a:ext cx="31884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 it!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rewrite </a:t>
            </a:r>
            <a:r>
              <a:rPr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@parametrize</a:t>
            </a:r>
            <a:r>
              <a:rPr lang="en"/>
              <a:t> to a combination of </a:t>
            </a:r>
            <a:br>
              <a:rPr lang="en"/>
            </a:br>
            <a:r>
              <a:rPr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@given</a:t>
            </a:r>
            <a:r>
              <a:rPr lang="en"/>
              <a:t> &amp; </a:t>
            </a:r>
            <a:r>
              <a:rPr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@example</a:t>
            </a:r>
            <a:endParaRPr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7" name="Google Shape;587;p60"/>
          <p:cNvCxnSpPr/>
          <p:nvPr/>
        </p:nvCxnSpPr>
        <p:spPr>
          <a:xfrm>
            <a:off x="413700" y="2463025"/>
            <a:ext cx="310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60"/>
          <p:cNvSpPr/>
          <p:nvPr>
            <p:ph idx="3" type="pic"/>
          </p:nvPr>
        </p:nvSpPr>
        <p:spPr>
          <a:xfrm>
            <a:off x="5024575" y="392775"/>
            <a:ext cx="3716700" cy="43515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1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4" name="Google Shape;594;p61"/>
          <p:cNvSpPr/>
          <p:nvPr>
            <p:ph idx="3" type="pic"/>
          </p:nvPr>
        </p:nvSpPr>
        <p:spPr>
          <a:xfrm>
            <a:off x="5024575" y="392775"/>
            <a:ext cx="3716700" cy="4351500"/>
          </a:xfrm>
          <a:prstGeom prst="roundRect">
            <a:avLst>
              <a:gd fmla="val 16667" name="adj"/>
            </a:avLst>
          </a:prstGeom>
        </p:spPr>
      </p:sp>
      <p:sp>
        <p:nvSpPr>
          <p:cNvPr id="595" name="Google Shape;595;p61"/>
          <p:cNvSpPr txBox="1"/>
          <p:nvPr>
            <p:ph type="title"/>
          </p:nvPr>
        </p:nvSpPr>
        <p:spPr>
          <a:xfrm>
            <a:off x="418100" y="1005625"/>
            <a:ext cx="34326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2"/>
                </a:solidFill>
                <a:latin typeface="Nunito Light"/>
                <a:ea typeface="Nunito Light"/>
                <a:cs typeface="Nunito Light"/>
                <a:sym typeface="Nunito Light"/>
              </a:rPr>
              <a:t>06.</a:t>
            </a:r>
            <a:endParaRPr sz="9600">
              <a:solidFill>
                <a:schemeClr val="lt2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96" name="Google Shape;596;p61"/>
          <p:cNvSpPr txBox="1"/>
          <p:nvPr>
            <p:ph idx="1" type="subTitle"/>
          </p:nvPr>
        </p:nvSpPr>
        <p:spPr>
          <a:xfrm>
            <a:off x="419575" y="2682600"/>
            <a:ext cx="37167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When you find a bug, construct a property test to catch it!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97" name="Google Shape;597;p61"/>
          <p:cNvSpPr txBox="1"/>
          <p:nvPr>
            <p:ph idx="2" type="body"/>
          </p:nvPr>
        </p:nvSpPr>
        <p:spPr>
          <a:xfrm>
            <a:off x="419575" y="3120175"/>
            <a:ext cx="31884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But beware, property tests can lead to overconfidence.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don’t </a:t>
            </a:r>
            <a:r>
              <a:rPr lang="en"/>
              <a:t>replace other testing strategies!</a:t>
            </a:r>
            <a:endParaRPr/>
          </a:p>
        </p:txBody>
      </p:sp>
      <p:cxnSp>
        <p:nvCxnSpPr>
          <p:cNvPr id="598" name="Google Shape;598;p61"/>
          <p:cNvCxnSpPr/>
          <p:nvPr/>
        </p:nvCxnSpPr>
        <p:spPr>
          <a:xfrm>
            <a:off x="413700" y="2463025"/>
            <a:ext cx="3107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2"/>
          <p:cNvSpPr txBox="1"/>
          <p:nvPr>
            <p:ph type="title"/>
          </p:nvPr>
        </p:nvSpPr>
        <p:spPr>
          <a:xfrm>
            <a:off x="1170325" y="1801500"/>
            <a:ext cx="6803400" cy="8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04" name="Google Shape;604;p62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deepak@cherian.net</a:t>
            </a:r>
            <a:endParaRPr/>
          </a:p>
        </p:txBody>
      </p:sp>
      <p:sp>
        <p:nvSpPr>
          <p:cNvPr id="605" name="Google Shape;605;p62"/>
          <p:cNvSpPr txBox="1"/>
          <p:nvPr>
            <p:ph idx="12" type="sldNum"/>
          </p:nvPr>
        </p:nvSpPr>
        <p:spPr>
          <a:xfrm>
            <a:off x="8442909" y="471551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6" name="Google Shape;606;p62" title="Group 7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402" y="1012022"/>
            <a:ext cx="1933199" cy="3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arthmover">
  <a:themeElements>
    <a:clrScheme name="Simple Light">
      <a:dk1>
        <a:srgbClr val="F5F5F5"/>
      </a:dk1>
      <a:lt1>
        <a:srgbClr val="201F2C"/>
      </a:lt1>
      <a:dk2>
        <a:srgbClr val="B7E401"/>
      </a:dk2>
      <a:lt2>
        <a:srgbClr val="A653FF"/>
      </a:lt2>
      <a:accent1>
        <a:srgbClr val="FF6554"/>
      </a:accent1>
      <a:accent2>
        <a:srgbClr val="FF9D0D"/>
      </a:accent2>
      <a:accent3>
        <a:srgbClr val="30D495"/>
      </a:accent3>
      <a:accent4>
        <a:srgbClr val="5EC4F7"/>
      </a:accent4>
      <a:accent5>
        <a:srgbClr val="F981D1"/>
      </a:accent5>
      <a:accent6>
        <a:srgbClr val="6D0DDC"/>
      </a:accent6>
      <a:hlink>
        <a:srgbClr val="C396F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