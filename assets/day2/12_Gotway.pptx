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Poppi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11" Type="http://schemas.openxmlformats.org/officeDocument/2006/relationships/slide" Target="slides/slide7.xml"/><Relationship Id="rId22" Type="http://schemas.openxmlformats.org/officeDocument/2006/relationships/font" Target="fonts/Poppins-boldItalic.fntdata"/><Relationship Id="rId10" Type="http://schemas.openxmlformats.org/officeDocument/2006/relationships/slide" Target="slides/slide6.xml"/><Relationship Id="rId21" Type="http://schemas.openxmlformats.org/officeDocument/2006/relationships/font" Target="fonts/Poppins-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yi5ZRm5KvfQ&amp;t=1888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864b79402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Good afternoon. My name is John Halley Gotway. I’m a software engineer in the NCAR’s Research Applications Lab and also work for the Developmental Testbed Center.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I’d especially like to acknowledge my co-authors. Michelle Harrold leads the METplus project team, and she gave a great overview of the purpose and functionality of the METplus software. The rest of us are engineers who work on the METplus </a:t>
            </a:r>
            <a:r>
              <a:rPr lang="en-US"/>
              <a:t>software</a:t>
            </a:r>
            <a:r>
              <a:rPr lang="en-US"/>
              <a:t> components. And in particular, </a:t>
            </a:r>
            <a:r>
              <a:rPr lang="en-US"/>
              <a:t>I’d like to acknowledge George McCabe who’s really led the way on our teams adoption of GitHub actions.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I’ve been working on the Model Evaluation Tools, or MET, software since I joined NCAR in 2004. And in that time, I’ve learned a lot about community software, some aspects of which I’ll discuss today.</a:t>
            </a:r>
            <a:endParaRPr/>
          </a:p>
        </p:txBody>
      </p:sp>
      <p:sp>
        <p:nvSpPr>
          <p:cNvPr id="143" name="Google Shape;143;g39864b79402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864b79402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it comes to community software in general, folks are most excited about the </a:t>
            </a:r>
            <a:r>
              <a:rPr b="1" lang="en-US"/>
              <a:t>functionality</a:t>
            </a:r>
            <a:r>
              <a:rPr lang="en-US"/>
              <a:t> of that software and, in particular, </a:t>
            </a:r>
            <a:r>
              <a:rPr b="1" lang="en-US"/>
              <a:t>new features</a:t>
            </a:r>
            <a:r>
              <a:rPr lang="en-US"/>
              <a:t> that could be added. And usually proposals for new funding are heavily focused on adding those new features.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But there’s a whole lot to work required to do a great job developing and supporting community software. And I’ve listed many of those things here.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TALK THROUGH THE BULLETS </a:t>
            </a:r>
            <a:r>
              <a:rPr b="1" lang="en-US"/>
              <a:t>&lt;CLICK&gt;&lt;CLICK&gt;&lt;CLICK&gt;</a:t>
            </a:r>
            <a:endParaRPr b="1"/>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I’m sure this list is not exhaustive.</a:t>
            </a:r>
            <a:endParaRPr/>
          </a:p>
          <a:p>
            <a:pPr indent="0" lvl="0" marL="0" rtl="0" algn="l">
              <a:lnSpc>
                <a:spcPct val="100000"/>
              </a:lnSpc>
              <a:spcBef>
                <a:spcPts val="0"/>
              </a:spcBef>
              <a:spcAft>
                <a:spcPts val="0"/>
              </a:spcAft>
              <a:buSzPts val="1400"/>
              <a:buNone/>
            </a:pPr>
            <a:r>
              <a:rPr lang="en-US"/>
              <a:t>And I could spend this entire talk on any one of these bullets.</a:t>
            </a:r>
            <a:endParaRPr/>
          </a:p>
          <a:p>
            <a:pPr indent="0" lvl="0" marL="0" rtl="0" algn="l">
              <a:lnSpc>
                <a:spcPct val="100000"/>
              </a:lnSpc>
              <a:spcBef>
                <a:spcPts val="0"/>
              </a:spcBef>
              <a:spcAft>
                <a:spcPts val="0"/>
              </a:spcAft>
              <a:buSzPts val="1400"/>
              <a:buNone/>
            </a:pPr>
            <a:r>
              <a:rPr lang="en-US"/>
              <a:t>So while the funding is usually focused on new features, the challenge is in leveraging that funding to make progress in all of these areas.</a:t>
            </a:r>
            <a:endParaRPr/>
          </a:p>
          <a:p>
            <a:pPr indent="0" lvl="0" marL="0" rtl="0" algn="l">
              <a:lnSpc>
                <a:spcPct val="100000"/>
              </a:lnSpc>
              <a:spcBef>
                <a:spcPts val="0"/>
              </a:spcBef>
              <a:spcAft>
                <a:spcPts val="0"/>
              </a:spcAft>
              <a:buSzPts val="1400"/>
              <a:buNone/>
            </a:pPr>
            <a:r>
              <a:rPr lang="en-US"/>
              <a:t>And I’ll note that I really appreciate our USAF funding since they do prioritize improvements in code quality in particular.</a:t>
            </a:r>
            <a:endParaRPr/>
          </a:p>
        </p:txBody>
      </p:sp>
      <p:sp>
        <p:nvSpPr>
          <p:cNvPr id="151" name="Google Shape;151;g39864b79402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864b79402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Michelle already gave a great overview of the purpose and functionality of METplus. So I don’t need to spend any time on that.</a:t>
            </a:r>
            <a:endParaRPr/>
          </a:p>
          <a:p>
            <a:pPr indent="0" lvl="0" marL="0" rtl="0" algn="l">
              <a:lnSpc>
                <a:spcPct val="100000"/>
              </a:lnSpc>
              <a:spcBef>
                <a:spcPts val="0"/>
              </a:spcBef>
              <a:spcAft>
                <a:spcPts val="0"/>
              </a:spcAft>
              <a:buSzPts val="1400"/>
              <a:buNone/>
            </a:pPr>
            <a:r>
              <a:rPr lang="en-US"/>
              <a:t>Here, we see a flowchart showing the </a:t>
            </a:r>
            <a:r>
              <a:rPr lang="en-US"/>
              <a:t>software</a:t>
            </a:r>
            <a:r>
              <a:rPr lang="en-US"/>
              <a:t> components of the METplus system. And the little box for MET in there is where we started.</a:t>
            </a:r>
            <a:endParaRPr/>
          </a:p>
          <a:p>
            <a:pPr indent="0" lvl="0" marL="0" rtl="0" algn="l">
              <a:lnSpc>
                <a:spcPct val="100000"/>
              </a:lnSpc>
              <a:spcBef>
                <a:spcPts val="0"/>
              </a:spcBef>
              <a:spcAft>
                <a:spcPts val="0"/>
              </a:spcAft>
              <a:buSzPts val="1400"/>
              <a:buNone/>
            </a:pPr>
            <a:r>
              <a:rPr b="1" lang="en-US"/>
              <a:t>&lt;CLICK&gt;</a:t>
            </a:r>
            <a:endParaRPr b="1"/>
          </a:p>
          <a:p>
            <a:pPr indent="0" lvl="0" marL="0" rtl="0" algn="l">
              <a:lnSpc>
                <a:spcPct val="100000"/>
              </a:lnSpc>
              <a:spcBef>
                <a:spcPts val="0"/>
              </a:spcBef>
              <a:spcAft>
                <a:spcPts val="0"/>
              </a:spcAft>
              <a:buSzPts val="1400"/>
              <a:buNone/>
            </a:pPr>
            <a:r>
              <a:rPr lang="en-US"/>
              <a:t>MET is a </a:t>
            </a:r>
            <a:r>
              <a:rPr lang="en-US"/>
              <a:t>series</a:t>
            </a:r>
            <a:r>
              <a:rPr lang="en-US"/>
              <a:t> of </a:t>
            </a:r>
            <a:r>
              <a:rPr lang="en-US"/>
              <a:t>command line tools written mostly in C++, but with some FORTRAN and Python baked in. </a:t>
            </a:r>
            <a:r>
              <a:rPr lang="en-US"/>
              <a:t>This wire diagram illustrates the evolution of MET functionality through time, from the first version in 2008 to the most recent 12.2 version being </a:t>
            </a:r>
            <a:r>
              <a:rPr lang="en-US"/>
              <a:t>released this week. The gray boxes represent file I/O and the colored ovals represent the applications.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I’ve given plenty of presentations over the years about what each application does and how you can configure them and string them together to answer questions about your data. In fact, that’s really what each METplus use case does.</a:t>
            </a:r>
            <a:endParaRPr/>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But this animation illustrates that the number and functionality of these tools have grown significantly over the years.</a:t>
            </a:r>
            <a:endParaRPr b="1"/>
          </a:p>
        </p:txBody>
      </p:sp>
      <p:sp>
        <p:nvSpPr>
          <p:cNvPr id="160" name="Google Shape;160;g39864b79402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f5b4abe3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Just as the functionality of the software has grown, the tools we leverage to support it have evolved as well.</a:t>
            </a:r>
            <a:endParaRPr/>
          </a:p>
          <a:p>
            <a:pPr indent="0" lvl="0" marL="0" rtl="0" algn="l">
              <a:spcBef>
                <a:spcPts val="0"/>
              </a:spcBef>
              <a:spcAft>
                <a:spcPts val="0"/>
              </a:spcAft>
              <a:buClr>
                <a:schemeClr val="dk1"/>
              </a:buClr>
              <a:buSzPts val="1400"/>
              <a:buFont typeface="Arial"/>
              <a:buNone/>
            </a:pPr>
            <a:r>
              <a:rPr b="1" lang="en-US"/>
              <a:t>&lt;CLICK&gt;</a:t>
            </a:r>
            <a:endParaRPr b="1"/>
          </a:p>
          <a:p>
            <a:pPr indent="0" lvl="0" marL="0" rtl="0" algn="l">
              <a:spcBef>
                <a:spcPts val="0"/>
              </a:spcBef>
              <a:spcAft>
                <a:spcPts val="0"/>
              </a:spcAft>
              <a:buSzPts val="1100"/>
              <a:buNone/>
            </a:pPr>
            <a:r>
              <a:rPr lang="en-US">
                <a:latin typeface="Arial"/>
                <a:ea typeface="Arial"/>
                <a:cs typeface="Arial"/>
                <a:sym typeface="Arial"/>
              </a:rPr>
              <a:t>Version Control: cvs (2008) &gt; svn (2009) &gt; git (2019)</a:t>
            </a:r>
            <a:endParaRPr>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b="1" lang="en-US"/>
              <a:t>&lt;CLICK&gt;</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a:latin typeface="Arial"/>
                <a:ea typeface="Arial"/>
                <a:cs typeface="Arial"/>
                <a:sym typeface="Arial"/>
              </a:rPr>
              <a:t>Testing: started with shell scripts for local nightly build testing (v4.0 in 2012) &gt; migrated to GitHub actions (2019)</a:t>
            </a:r>
            <a:endParaRPr>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b="1" lang="en-US"/>
              <a:t>&lt;CLICK&gt;</a:t>
            </a:r>
            <a:endParaRPr>
              <a:latin typeface="Arial"/>
              <a:ea typeface="Arial"/>
              <a:cs typeface="Arial"/>
              <a:sym typeface="Arial"/>
            </a:endParaRPr>
          </a:p>
          <a:p>
            <a:pPr indent="0" lvl="0" marL="0" rtl="0" algn="l">
              <a:spcBef>
                <a:spcPts val="0"/>
              </a:spcBef>
              <a:spcAft>
                <a:spcPts val="0"/>
              </a:spcAft>
              <a:buSzPts val="1100"/>
              <a:buNone/>
            </a:pPr>
            <a:r>
              <a:rPr lang="en-US">
                <a:latin typeface="Arial"/>
                <a:ea typeface="Arial"/>
                <a:cs typeface="Arial"/>
                <a:sym typeface="Arial"/>
              </a:rPr>
              <a:t>Project Management: Jira (&lt;2019) &gt; GitHub Projects (2019) and we’ve refined our use significantly since</a:t>
            </a:r>
            <a:endParaRPr>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b="1" lang="en-US"/>
              <a:t>&lt;CLICK&gt;</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a:latin typeface="Arial"/>
                <a:ea typeface="Arial"/>
                <a:cs typeface="Arial"/>
                <a:sym typeface="Arial"/>
              </a:rPr>
              <a:t>Docs: Word &gt; Lyx based on LaTeX (v5.1 in 2015) &gt; RTD (v9.1 in 2020), Zenodo for DOI’s (v10.1 in 2022)</a:t>
            </a:r>
            <a:endParaRPr>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b="1" lang="en-US"/>
              <a:t>&lt;CLICK&gt;</a:t>
            </a:r>
            <a:endParaRPr>
              <a:latin typeface="Arial"/>
              <a:ea typeface="Arial"/>
              <a:cs typeface="Arial"/>
              <a:sym typeface="Arial"/>
            </a:endParaRPr>
          </a:p>
          <a:p>
            <a:pPr indent="0" lvl="0" marL="0" rtl="0" algn="l">
              <a:spcBef>
                <a:spcPts val="0"/>
              </a:spcBef>
              <a:spcAft>
                <a:spcPts val="0"/>
              </a:spcAft>
              <a:buSzPts val="1100"/>
              <a:buNone/>
            </a:pPr>
            <a:r>
              <a:rPr lang="en-US">
                <a:latin typeface="Arial"/>
                <a:ea typeface="Arial"/>
                <a:cs typeface="Arial"/>
                <a:sym typeface="Arial"/>
              </a:rPr>
              <a:t>Scan: Fortify (v8.1.1 in 2019) &gt; was replaced by SonarQube (2021) &gt; added Grype to scan for CVEs (2025)</a:t>
            </a:r>
            <a:endParaRPr>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b="1" lang="en-US"/>
              <a:t>&lt;CLICK&gt;</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a:latin typeface="Arial"/>
                <a:ea typeface="Arial"/>
                <a:cs typeface="Arial"/>
                <a:sym typeface="Arial"/>
              </a:rPr>
              <a:t>Code Distribution: Docker (v8.0 in 2018) &gt; added Conda (2025)</a:t>
            </a:r>
            <a:endParaRPr>
              <a:latin typeface="Arial"/>
              <a:ea typeface="Arial"/>
              <a:cs typeface="Arial"/>
              <a:sym typeface="Arial"/>
            </a:endParaRPr>
          </a:p>
          <a:p>
            <a:pPr indent="0" lvl="0" marL="0" rtl="0" algn="l">
              <a:spcBef>
                <a:spcPts val="0"/>
              </a:spcBef>
              <a:spcAft>
                <a:spcPts val="0"/>
              </a:spcAft>
              <a:buSzPts val="1100"/>
              <a:buNone/>
            </a:pPr>
            <a:r>
              <a:t/>
            </a:r>
            <a:endParaRPr>
              <a:latin typeface="Arial"/>
              <a:ea typeface="Arial"/>
              <a:cs typeface="Arial"/>
              <a:sym typeface="Arial"/>
            </a:endParaRPr>
          </a:p>
          <a:p>
            <a:pPr indent="0" lvl="0" marL="0" rtl="0" algn="l">
              <a:spcBef>
                <a:spcPts val="0"/>
              </a:spcBef>
              <a:spcAft>
                <a:spcPts val="0"/>
              </a:spcAft>
              <a:buSzPts val="1100"/>
              <a:buNone/>
            </a:pPr>
            <a:r>
              <a:rPr lang="en-US">
                <a:latin typeface="Arial"/>
                <a:ea typeface="Arial"/>
                <a:cs typeface="Arial"/>
                <a:sym typeface="Arial"/>
              </a:rPr>
              <a:t>Not shown here, but in terms of user support:</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Started with email</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Quickly began using an internal ticketing system named “RT” in conjunction with the UCAR Mailman</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In 2021, migrated over to using GitHub discussions</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a:latin typeface="Arial"/>
                <a:ea typeface="Arial"/>
                <a:cs typeface="Arial"/>
                <a:sym typeface="Arial"/>
              </a:rPr>
              <a:t>The real benefit is making previously answered questions fully public and searchable.</a:t>
            </a:r>
            <a:endParaRPr sz="18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8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8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8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71" name="Google Shape;171;g39f5b4abe3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864b79402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2019, one upside of working fully remotely is that it prompted our team to adopt all things GitHub.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However, the Developmental Testbed Center is an organization sponsored by USAF, NCAR, and NOAA. So rather than hosting our code repositories in one of those GitHub organizations, we created a new one for the DTC.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It houses a total of 42 repositories, many used by METplus, plus those for other DTC activities.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So we have the top-level umbrella METplus repository here which houses all the use-case examples that Michelle described.</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METbaseimage is a small repository that provides Docker images in which the METplus components are built, tested, and distributed.</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One base image provides the build environment and dependent libraries for MET, and then METplus is layered on top of that.</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Another base image provides the build environment and dependencies for METviewer, including the other METplus-Analysis components.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And separately, the METexpress display system only partially depends on the METplus-Analysis repositories.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The DTCenter organization also includes 7 repositories for re-usable GitHub actions. George McCabe has created these, and I’ll talk more about them later. Rather than reimplementing the same functionality in multiple repositories, we store each custom action in its own repository and then reference it in the GitHub actions workflows from multiple places.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Lastly, I’ll note that the DTCenter qualifying for non-profit status gets us a lot of benefits we otherwise would not enjoy.</a:t>
            </a:r>
            <a:endParaRPr/>
          </a:p>
          <a:p>
            <a:pPr indent="0" lvl="0" marL="0" rtl="0" algn="l">
              <a:spcBef>
                <a:spcPts val="0"/>
              </a:spcBef>
              <a:spcAft>
                <a:spcPts val="0"/>
              </a:spcAft>
              <a:buSzPts val="1400"/>
              <a:buNone/>
            </a:pPr>
            <a:r>
              <a:rPr lang="en-US"/>
              <a:t>Our free access to GitHub teams and actions saves us nearly $10K per year.</a:t>
            </a:r>
            <a:endParaRPr/>
          </a:p>
          <a:p>
            <a:pPr indent="0" lvl="0" marL="0" rtl="0" algn="l">
              <a:spcBef>
                <a:spcPts val="0"/>
              </a:spcBef>
              <a:spcAft>
                <a:spcPts val="0"/>
              </a:spcAft>
              <a:buSzPts val="1400"/>
              <a:buNone/>
            </a:pPr>
            <a:r>
              <a:rPr lang="en-US"/>
              <a:t>Being part of the Docker Sponsored Open Source program is a benefit of about $2K per year.</a:t>
            </a:r>
            <a:endParaRPr/>
          </a:p>
          <a:p>
            <a:pPr indent="0" lvl="0" marL="0" rtl="0" algn="l">
              <a:spcBef>
                <a:spcPts val="0"/>
              </a:spcBef>
              <a:spcAft>
                <a:spcPts val="0"/>
              </a:spcAft>
              <a:buSzPts val="1400"/>
              <a:buNone/>
            </a:pPr>
            <a:r>
              <a:rPr lang="en-US"/>
              <a:t>And our free use of Slack Pro is another $2K per year.</a:t>
            </a:r>
            <a:endParaRPr/>
          </a:p>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I see these tools as essential to our workflows anc communication. They are certainly worth the $14K/year we’d otherwise be paying.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17" name="Google Shape;217;g39864b79402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f5b4abe30_0_7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Our transition to Read-The-Docs in 2019 was significant. </a:t>
            </a:r>
            <a:r>
              <a:rPr lang="en-US"/>
              <a:t>Here we see the doc directory in the METplus repository.</a:t>
            </a:r>
            <a:endParaRPr/>
          </a:p>
          <a:p>
            <a:pPr indent="0" lvl="0" marL="0" rtl="0" algn="l">
              <a:lnSpc>
                <a:spcPct val="100000"/>
              </a:lnSpc>
              <a:spcBef>
                <a:spcPts val="0"/>
              </a:spcBef>
              <a:spcAft>
                <a:spcPts val="0"/>
              </a:spcAft>
              <a:buClr>
                <a:srgbClr val="000000"/>
              </a:buClr>
              <a:buSzPts val="1400"/>
              <a:buFont typeface="Arial"/>
              <a:buNone/>
            </a:pPr>
            <a:r>
              <a:rPr lang="en-US"/>
              <a:t>This enables the docs to live right next to the code, which dramatically improves the accuracy of the docs.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Clr>
                <a:schemeClr val="dk1"/>
              </a:buClr>
              <a:buSzPts val="1400"/>
              <a:buFont typeface="Arial"/>
              <a:buNone/>
            </a:pPr>
            <a:r>
              <a:rPr lang="en-US"/>
              <a:t>In fact, our Pull Request template includes this standard question for the reviewer to ensure that the docs have really been updated for these changes, if needed.</a:t>
            </a:r>
            <a:endParaRPr/>
          </a:p>
          <a:p>
            <a:pPr indent="0" lvl="0" marL="0" rtl="0" algn="l">
              <a:spcBef>
                <a:spcPts val="0"/>
              </a:spcBef>
              <a:spcAft>
                <a:spcPts val="0"/>
              </a:spcAft>
              <a:buClr>
                <a:schemeClr val="dk1"/>
              </a:buClr>
              <a:buSzPts val="1400"/>
              <a:buFont typeface="Arial"/>
              <a:buNone/>
            </a:pPr>
            <a:r>
              <a:rPr b="1" lang="en-US"/>
              <a:t>&lt;CLICK&gt;</a:t>
            </a:r>
            <a:endParaRPr/>
          </a:p>
          <a:p>
            <a:pPr indent="0" lvl="0" marL="0" rtl="0" algn="l">
              <a:lnSpc>
                <a:spcPct val="100000"/>
              </a:lnSpc>
              <a:spcBef>
                <a:spcPts val="0"/>
              </a:spcBef>
              <a:spcAft>
                <a:spcPts val="0"/>
              </a:spcAft>
              <a:buSzPts val="1400"/>
              <a:buNone/>
            </a:pPr>
            <a:r>
              <a:rPr lang="en-US"/>
              <a:t>These docs from the METplus repository are combined with docs from all the other METplus repositories and served up through a single landing page.</a:t>
            </a:r>
            <a:endParaRPr/>
          </a:p>
          <a:p>
            <a:pPr indent="0" lvl="0" marL="0" rtl="0" algn="l">
              <a:lnSpc>
                <a:spcPct val="100000"/>
              </a:lnSpc>
              <a:spcBef>
                <a:spcPts val="0"/>
              </a:spcBef>
              <a:spcAft>
                <a:spcPts val="0"/>
              </a:spcAft>
              <a:buSzPts val="1400"/>
              <a:buNone/>
            </a:pPr>
            <a:r>
              <a:rPr lang="en-US"/>
              <a:t>This is a change that Julie Prestopnik handled last year. Collecting all the docs in one spot makes this much easier for the user.</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But I’d actually like to highlight the “Release Guide” whose content is used by developers, not users.</a:t>
            </a:r>
            <a:endParaRPr/>
          </a:p>
          <a:p>
            <a:pPr indent="0" lvl="0" marL="0" rtl="0" algn="l">
              <a:spcBef>
                <a:spcPts val="0"/>
              </a:spcBef>
              <a:spcAft>
                <a:spcPts val="0"/>
              </a:spcAft>
              <a:buSzPts val="1400"/>
              <a:buNone/>
            </a:pPr>
            <a:r>
              <a:rPr lang="en-US"/>
              <a:t>It starts by defining the different types of releases we create, ones for development, official releases, and then bugfixes.</a:t>
            </a:r>
            <a:endParaRPr/>
          </a:p>
          <a:p>
            <a:pPr indent="0" lvl="0" marL="0" rtl="0" algn="l">
              <a:spcBef>
                <a:spcPts val="0"/>
              </a:spcBef>
              <a:spcAft>
                <a:spcPts val="0"/>
              </a:spcAft>
              <a:buSzPts val="1400"/>
              <a:buNone/>
            </a:pPr>
            <a:r>
              <a:rPr lang="en-US"/>
              <a:t>And for each, we document the release steps. At first I was skeptical, thinking this isn’t really needed, but I’m now a believer. If you want to make something repeatable, WRITE IT DOWN.</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For example, we’re cutting an official MET release this week, and I’ll follow these instructions in section 3.1 to do so. It makes the results so much more repeatable and also make its realistic for us to backfill for each other.</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I’ll also point out that we do NOT just have the same content duplicated. Instead, we store details about each step in the “release_steps” directory and then include them in the correct order. In this list, the first 4 steps are common to all the repositories, but the 5th step about updating the version number, contains specific instructions that only apply to the MET repository.</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en-US"/>
              <a:t>So even when it feels over the top and pedantic, I’d recommend erring on the side of taking the time to write down your procedures. That’s how you get reproducible results.</a:t>
            </a:r>
            <a:endParaRPr/>
          </a:p>
          <a:p>
            <a:pPr indent="0" lvl="0" marL="0" rtl="0" algn="l">
              <a:spcBef>
                <a:spcPts val="0"/>
              </a:spcBef>
              <a:spcAft>
                <a:spcPts val="0"/>
              </a:spcAft>
              <a:buClr>
                <a:schemeClr val="dk1"/>
              </a:buClr>
              <a:buSzPts val="1400"/>
              <a:buFont typeface="Arial"/>
              <a:buNone/>
            </a:pPr>
            <a:r>
              <a:t/>
            </a:r>
            <a:endParaRPr/>
          </a:p>
        </p:txBody>
      </p:sp>
      <p:sp>
        <p:nvSpPr>
          <p:cNvPr id="247" name="Google Shape;247;g39f5b4abe30_0_7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f5b4abe30_0_7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I’d like to spend my remaining time </a:t>
            </a:r>
            <a:r>
              <a:rPr lang="en-US"/>
              <a:t>discussing GitHub actions, whose use has been a significant investment for us but has provided huge dividends.</a:t>
            </a:r>
            <a:endParaRPr/>
          </a:p>
          <a:p>
            <a:pPr indent="0" lvl="0" marL="0" rtl="0" algn="l">
              <a:lnSpc>
                <a:spcPct val="100000"/>
              </a:lnSpc>
              <a:spcBef>
                <a:spcPts val="0"/>
              </a:spcBef>
              <a:spcAft>
                <a:spcPts val="0"/>
              </a:spcAft>
              <a:buSzPts val="1400"/>
              <a:buNone/>
            </a:pPr>
            <a:r>
              <a:rPr lang="en-US"/>
              <a:t>Here you see the number of workflows in each METplus component repositories.</a:t>
            </a:r>
            <a:endParaRPr/>
          </a:p>
          <a:p>
            <a:pPr indent="0" lvl="0" marL="0" rtl="0" algn="l">
              <a:spcBef>
                <a:spcPts val="0"/>
              </a:spcBef>
              <a:spcAft>
                <a:spcPts val="0"/>
              </a:spcAft>
              <a:buSzPts val="1400"/>
              <a:buNone/>
            </a:pPr>
            <a:r>
              <a:rPr b="1" lang="en-US"/>
              <a:t>&lt;CLICK&gt;</a:t>
            </a:r>
            <a:endParaRPr/>
          </a:p>
          <a:p>
            <a:pPr indent="0" lvl="0" marL="0" rtl="0" algn="l">
              <a:spcBef>
                <a:spcPts val="0"/>
              </a:spcBef>
              <a:spcAft>
                <a:spcPts val="0"/>
              </a:spcAft>
              <a:buClr>
                <a:schemeClr val="dk1"/>
              </a:buClr>
              <a:buSzPts val="1400"/>
              <a:buFont typeface="Arial"/>
              <a:buNone/>
            </a:pPr>
            <a:r>
              <a:rPr lang="en-US"/>
              <a:t>In each repository, workflows are housed in the standard “.github/workflows” location. </a:t>
            </a:r>
            <a:endParaRPr/>
          </a:p>
          <a:p>
            <a:pPr indent="0" lvl="0" marL="0" rtl="0" algn="l">
              <a:lnSpc>
                <a:spcPct val="100000"/>
              </a:lnSpc>
              <a:spcBef>
                <a:spcPts val="0"/>
              </a:spcBef>
              <a:spcAft>
                <a:spcPts val="0"/>
              </a:spcAft>
              <a:buSzPts val="1400"/>
              <a:buNone/>
            </a:pPr>
            <a:r>
              <a:rPr lang="en-US"/>
              <a:t>And each workflow is defined by a YAML file. Here we see the 8 workflows defined in the MET repository.</a:t>
            </a:r>
            <a:endParaRPr/>
          </a:p>
          <a:p>
            <a:pPr indent="0" lvl="0" marL="0" rtl="0" algn="l">
              <a:lnSpc>
                <a:spcPct val="100000"/>
              </a:lnSpc>
              <a:spcBef>
                <a:spcPts val="0"/>
              </a:spcBef>
              <a:spcAft>
                <a:spcPts val="0"/>
              </a:spcAft>
              <a:buSzPts val="1400"/>
              <a:buNone/>
            </a:pPr>
            <a:r>
              <a:rPr lang="en-US"/>
              <a:t>And I want to give another huge shout out to George McCabe, who’s been instrumental in defining consistent functionality.</a:t>
            </a:r>
            <a:endParaRPr/>
          </a:p>
          <a:p>
            <a:pPr indent="0" lvl="0" marL="0" rtl="0" algn="l">
              <a:lnSpc>
                <a:spcPct val="100000"/>
              </a:lnSpc>
              <a:spcBef>
                <a:spcPts val="0"/>
              </a:spcBef>
              <a:spcAft>
                <a:spcPts val="0"/>
              </a:spcAft>
              <a:buSzPts val="1400"/>
              <a:buNone/>
            </a:pPr>
            <a:r>
              <a:rPr lang="en-US"/>
              <a:t>I won’t give a primer on how to define GitHub actions workflows, or even a comprehensive description of the ones we use, but I will highlight a few of them.</a:t>
            </a:r>
            <a:endParaRPr/>
          </a:p>
          <a:p>
            <a:pPr indent="0" lvl="0" marL="0" rtl="0" algn="l">
              <a:spcBef>
                <a:spcPts val="0"/>
              </a:spcBef>
              <a:spcAft>
                <a:spcPts val="0"/>
              </a:spcAft>
              <a:buClr>
                <a:schemeClr val="dk1"/>
              </a:buClr>
              <a:buSzPts val="1400"/>
              <a:buFont typeface="Arial"/>
              <a:buNone/>
            </a:pPr>
            <a:r>
              <a:rPr b="1" lang="en-US"/>
              <a:t>&lt;CLICK&gt;</a:t>
            </a:r>
            <a:endParaRPr/>
          </a:p>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t/>
            </a:r>
            <a:endParaRPr/>
          </a:p>
        </p:txBody>
      </p:sp>
      <p:sp>
        <p:nvSpPr>
          <p:cNvPr id="262" name="Google Shape;262;g39f5b4abe30_0_7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f5b4abe30_0_7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I’ll note that our team had a requirement from the Air Force to add md5 checksums to software releases so that they verify the file they’re downloading is genuine and has not been tampered with. This is one of the requirements from the STIGs… which is short for Security Technical Implementation Guides.</a:t>
            </a:r>
            <a:endParaRPr/>
          </a:p>
          <a:p>
            <a:pPr indent="0" lvl="0" marL="0" rtl="0" algn="l">
              <a:lnSpc>
                <a:spcPct val="100000"/>
              </a:lnSpc>
              <a:spcBef>
                <a:spcPts val="0"/>
              </a:spcBef>
              <a:spcAft>
                <a:spcPts val="0"/>
              </a:spcAft>
              <a:buSzPts val="1400"/>
              <a:buNone/>
            </a:pPr>
            <a:r>
              <a:rPr lang="en-US"/>
              <a:t>Here, we see the MET version 12.1.0 release created on July 30th.</a:t>
            </a:r>
            <a:endParaRPr/>
          </a:p>
          <a:p>
            <a:pPr indent="0" lvl="0" marL="0" rtl="0" algn="l">
              <a:lnSpc>
                <a:spcPct val="100000"/>
              </a:lnSpc>
              <a:spcBef>
                <a:spcPts val="0"/>
              </a:spcBef>
              <a:spcAft>
                <a:spcPts val="0"/>
              </a:spcAft>
              <a:buSzPts val="1400"/>
              <a:buNone/>
            </a:pPr>
            <a:r>
              <a:rPr lang="en-US"/>
              <a:t>And I’ll note that it was George who cut that release. And I’ll bet he had the confidence to do because the steps were so clearly defined in our release guide.</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If you expand the release assets button, you’ll find these 4 files. The Source Code, in both .zip and .tar.gz format, and automatically added by GitHub, but the checksum files are not.</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These were added by the release-checksum.yml workflow, which is very simple. You see that the triggering event is when a release is published. Then it just runs the version 2 of this custom action.</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And here’s the contents of that metplus-action-release-checksum repository. A Dockerfile defines a very lightweight environment in which the commands are run. While there’s now a simpler way to accomplish this in GitHub actions that avoids the use of a Docker container, this original implementation still works fine.</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And ultimately the entrypoint.sh shell script is run, and around line 42 it generates the checksum files and later on, adds them as release assets.</a:t>
            </a:r>
            <a:endParaRPr/>
          </a:p>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The punchline is that rather than one of the developers needing to take action every time we create a release, we just let this automated workflow run, and we get consistent and reproducible results.</a:t>
            </a:r>
            <a:endParaRPr/>
          </a:p>
        </p:txBody>
      </p:sp>
      <p:sp>
        <p:nvSpPr>
          <p:cNvPr id="273" name="Google Shape;273;g39f5b4abe30_0_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9ffe9b0056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Let me discuss the documentation workflow next. Note that this is NOT what drives Read-The-Docs. Instead, RTD is integrated directly with our repositories and the docs are built and </a:t>
            </a:r>
            <a:r>
              <a:rPr lang="en-US"/>
              <a:t>rendered for each new branch, pull request, or release that gets created.</a:t>
            </a:r>
            <a:endParaRPr/>
          </a:p>
          <a:p>
            <a:pPr indent="0" lvl="0" marL="0" rtl="0" algn="l">
              <a:lnSpc>
                <a:spcPct val="100000"/>
              </a:lnSpc>
              <a:spcBef>
                <a:spcPts val="0"/>
              </a:spcBef>
              <a:spcAft>
                <a:spcPts val="0"/>
              </a:spcAft>
              <a:buSzPts val="1400"/>
              <a:buNone/>
            </a:pPr>
            <a:r>
              <a:rPr lang="en-US"/>
              <a:t>This workflow just runs a Python package called Sphinx to build the docs locally, check for any warning or error messages, and fail if any are present.</a:t>
            </a:r>
            <a:endParaRPr/>
          </a:p>
          <a:p>
            <a:pPr indent="0" lvl="0" marL="0" rtl="0" algn="l">
              <a:lnSpc>
                <a:spcPct val="100000"/>
              </a:lnSpc>
              <a:spcBef>
                <a:spcPts val="0"/>
              </a:spcBef>
              <a:spcAft>
                <a:spcPts val="0"/>
              </a:spcAft>
              <a:buSzPts val="1400"/>
              <a:buNone/>
            </a:pPr>
            <a:r>
              <a:rPr lang="en-US"/>
              <a:t>While the syntax for Restructured Text isn’t difficult, it’s pretty easy to trigger warnings. We want to know as soon as we introduce problems in the docs.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Make note of all the triggering logic for this workflow.</a:t>
            </a:r>
            <a:endParaRPr/>
          </a:p>
          <a:p>
            <a:pPr indent="0" lvl="0" marL="0" rtl="0" algn="l">
              <a:spcBef>
                <a:spcPts val="0"/>
              </a:spcBef>
              <a:spcAft>
                <a:spcPts val="0"/>
              </a:spcAft>
              <a:buSzPts val="1400"/>
              <a:buNone/>
            </a:pPr>
            <a:r>
              <a:rPr lang="en-US"/>
              <a:t>It runs any time changes are pushed to branches that match these naming conventions.</a:t>
            </a:r>
            <a:endParaRPr/>
          </a:p>
          <a:p>
            <a:pPr indent="0" lvl="0" marL="0" rtl="0" algn="l">
              <a:spcBef>
                <a:spcPts val="0"/>
              </a:spcBef>
              <a:spcAft>
                <a:spcPts val="0"/>
              </a:spcAft>
              <a:buSzPts val="1400"/>
              <a:buNone/>
            </a:pPr>
            <a:r>
              <a:rPr lang="en-US"/>
              <a:t>And it’s also triggered by new or updated pull requests.</a:t>
            </a:r>
            <a:endParaRPr/>
          </a:p>
          <a:p>
            <a:pPr indent="0" lvl="0" marL="0" rtl="0" algn="l">
              <a:spcBef>
                <a:spcPts val="0"/>
              </a:spcBef>
              <a:spcAft>
                <a:spcPts val="0"/>
              </a:spcAft>
              <a:buSzPts val="1400"/>
              <a:buNone/>
            </a:pPr>
            <a:r>
              <a:rPr lang="en-US"/>
              <a:t>But only if changes occur within the “docs” sub-directory.</a:t>
            </a:r>
            <a:endParaRPr/>
          </a:p>
          <a:p>
            <a:pPr indent="0" lvl="0" marL="0" rtl="0" algn="l">
              <a:spcBef>
                <a:spcPts val="0"/>
              </a:spcBef>
              <a:spcAft>
                <a:spcPts val="0"/>
              </a:spcAft>
              <a:buSzPts val="1400"/>
              <a:buNone/>
            </a:pPr>
            <a:r>
              <a:rPr lang="en-US"/>
              <a:t>And lastly, we see “workflow_dispatch”, which means that a manual trigger is supported.</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On the actions tab of the repository, you’ll find a list of workflows from the default branch of that repository. Here I’ve selected the Documentation workflow and used the “Run workflow” option to manually trigger a build of the docs for the main_v12.2 branch.</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That workflow runs on one of the GitHub machines for about a minute.</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And this green checkmark means that the workflow returned good status.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This job produces a documentation artifact. It’s a tar file that contains the rendered HTML for the documentation. Since we use RTD, we almost never use this documentation artifact, but it’s always there if you need it.</a:t>
            </a:r>
            <a:endParaRPr/>
          </a:p>
          <a:p>
            <a:pPr indent="0" lvl="0" marL="0" rtl="0" algn="l">
              <a:spcBef>
                <a:spcPts val="0"/>
              </a:spcBef>
              <a:spcAft>
                <a:spcPts val="0"/>
              </a:spcAft>
              <a:buClr>
                <a:schemeClr val="dk1"/>
              </a:buClr>
              <a:buSzPts val="1400"/>
              <a:buFont typeface="Arial"/>
              <a:buNone/>
            </a:pPr>
            <a:r>
              <a:t/>
            </a:r>
            <a:endParaRPr/>
          </a:p>
        </p:txBody>
      </p:sp>
      <p:sp>
        <p:nvSpPr>
          <p:cNvPr id="290" name="Google Shape;290;g39ffe9b0056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9f5b4abe30_0_7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testing workflows can get rather complex, but are really the cornerstone of ensuring reliable results from the METplus software. They have caught many bugs and integration issues prior to the code being released, which has saved many, many hours of </a:t>
            </a:r>
            <a:r>
              <a:rPr lang="en-US"/>
              <a:t>headaches and debugging down the line.</a:t>
            </a:r>
            <a:endParaRPr/>
          </a:p>
          <a:p>
            <a:pPr indent="0" lvl="0" marL="0" rtl="0" algn="l">
              <a:lnSpc>
                <a:spcPct val="100000"/>
              </a:lnSpc>
              <a:spcBef>
                <a:spcPts val="0"/>
              </a:spcBef>
              <a:spcAft>
                <a:spcPts val="0"/>
              </a:spcAft>
              <a:buSzPts val="1400"/>
              <a:buNone/>
            </a:pPr>
            <a:r>
              <a:rPr lang="en-US"/>
              <a:t>I’ll note that George McCabe gave a very detailed overview of the METplus testing workflow at the 2022 NCAR SEA Conference (</a:t>
            </a:r>
            <a:r>
              <a:rPr lang="en-US" sz="1100" u="sng">
                <a:solidFill>
                  <a:srgbClr val="1155CC"/>
                </a:solidFill>
                <a:highlight>
                  <a:srgbClr val="FFFFFF"/>
                </a:highlight>
                <a:latin typeface="Arial"/>
                <a:ea typeface="Arial"/>
                <a:cs typeface="Arial"/>
                <a:sym typeface="Arial"/>
                <a:hlinkClick r:id="rId2">
                  <a:extLst>
                    <a:ext uri="{A12FA001-AC4F-418D-AE19-62706E023703}">
                      <ahyp:hlinkClr val="tx"/>
                    </a:ext>
                  </a:extLst>
                </a:hlinkClick>
              </a:rPr>
              <a:t>https://www.youtube.com/watch?v=yi5ZRm5KvfQ&amp;t=1888s</a:t>
            </a:r>
            <a:r>
              <a:rPr lang="en-US"/>
              <a:t>).</a:t>
            </a:r>
            <a:endParaRPr/>
          </a:p>
          <a:p>
            <a:pPr indent="0" lvl="0" marL="0" rtl="0" algn="l">
              <a:lnSpc>
                <a:spcPct val="100000"/>
              </a:lnSpc>
              <a:spcBef>
                <a:spcPts val="0"/>
              </a:spcBef>
              <a:spcAft>
                <a:spcPts val="0"/>
              </a:spcAft>
              <a:buSzPts val="1400"/>
              <a:buNone/>
            </a:pPr>
            <a:r>
              <a:rPr lang="en-US"/>
              <a:t>Rather than stepping through the hundreds of lines of the YAML file which defines the MET testing workflow, let me show you some possible outcomes.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When you click on a Workflow run, GitHub serves up this wire diagram of jobs which comprise that workflow.</a:t>
            </a:r>
            <a:endParaRPr/>
          </a:p>
          <a:p>
            <a:pPr indent="0" lvl="0" marL="0" rtl="0" algn="l">
              <a:spcBef>
                <a:spcPts val="0"/>
              </a:spcBef>
              <a:spcAft>
                <a:spcPts val="0"/>
              </a:spcAft>
              <a:buSzPts val="1400"/>
              <a:buNone/>
            </a:pPr>
            <a:r>
              <a:rPr lang="en-US"/>
              <a:t>So this workflow compiles the MET code and optionally runs a bunch of a tests and compares the output against a truth dataset.</a:t>
            </a:r>
            <a:endParaRPr/>
          </a:p>
          <a:p>
            <a:pPr indent="0" lvl="0" marL="0" rtl="0" algn="l">
              <a:spcBef>
                <a:spcPts val="0"/>
              </a:spcBef>
              <a:spcAft>
                <a:spcPts val="0"/>
              </a:spcAft>
              <a:buSzPts val="1400"/>
              <a:buNone/>
            </a:pPr>
            <a:r>
              <a:rPr lang="en-US"/>
              <a:t>In this first run for a push to a branch, it’s only checking that the code compiles, and all the other jobs are skipped.</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In this second run, the code is compiled, all the tests run, and no differences are found when compared against a truth dataset.</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In this third run, the code is compiled, all the test run, and differences are found. Now these diffs may be expected or not. It’s the job of GitHub to tell me if there’s any diffs. It’s my job as the developer to determine whether those diffs are expected based on my changes to the code.</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In this fourth run, some of the tests fail, and from my perspective, that’s always bad.</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Here’s the list of jobs that failed. And I, as the developer need to go figure out why and fix the problem.</a:t>
            </a:r>
            <a:endParaRPr/>
          </a:p>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There’s a whole lot of other details we could talk about, but in practice, this is how I use this workflow.</a:t>
            </a:r>
            <a:endParaRPr/>
          </a:p>
        </p:txBody>
      </p:sp>
      <p:sp>
        <p:nvSpPr>
          <p:cNvPr id="305" name="Google Shape;305;g39f5b4abe30_0_7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ffe9b0056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METplus consists of multiple </a:t>
            </a:r>
            <a:r>
              <a:rPr lang="en-US"/>
              <a:t>software</a:t>
            </a:r>
            <a:r>
              <a:rPr lang="en-US"/>
              <a:t> components. The regression testing in any given component makes sure that new changes don’t break existing functionality.</a:t>
            </a:r>
            <a:endParaRPr/>
          </a:p>
          <a:p>
            <a:pPr indent="0" lvl="0" marL="0" rtl="0" algn="l">
              <a:lnSpc>
                <a:spcPct val="100000"/>
              </a:lnSpc>
              <a:spcBef>
                <a:spcPts val="0"/>
              </a:spcBef>
              <a:spcAft>
                <a:spcPts val="0"/>
              </a:spcAft>
              <a:buSzPts val="1400"/>
              <a:buNone/>
            </a:pPr>
            <a:r>
              <a:rPr lang="en-US"/>
              <a:t>But it’s certainly possible for changes in one component to have unintended consequences on others.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This workflow is triggered by changes to the develop branch or any branch named main_vX.Y, although doc-only changes are ignored.</a:t>
            </a:r>
            <a:endParaRPr/>
          </a:p>
          <a:p>
            <a:pPr indent="0" lvl="0" marL="0" rtl="0" algn="l">
              <a:spcBef>
                <a:spcPts val="0"/>
              </a:spcBef>
              <a:spcAft>
                <a:spcPts val="0"/>
              </a:spcAft>
              <a:buSzPts val="1400"/>
              <a:buNone/>
            </a:pPr>
            <a:r>
              <a:rPr lang="en-US"/>
              <a:t>The workflow builds a MET docker image and pushes the result up to DockerHub.</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Then it calls a custom action to trigger METplus to run it’s testing workflow using the updated version of the component.</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Buried down in the entrypoint script for that custom repository, you’ll find these lines, where the METplus testing workflow is triggered using the “gh” command line interface.</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This METplus GHA testing workflow usually takes about 45 minutes to complete, but run times vary based on resource availability. All of the METplus use cases are split into 69 different groups. This is run by METplus-bot account. All of the use cases completed successfully and no differences were flagged.</a:t>
            </a:r>
            <a:endParaRPr/>
          </a:p>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If you’re thinking that this is a whole lot of testing, I fully agree. And it has been incredibly useful in finding bugs early and preventing us from having to debug them later. Erroring on the side of robust and thorough testing builds confidence in users.</a:t>
            </a:r>
            <a:endParaRPr/>
          </a:p>
        </p:txBody>
      </p:sp>
      <p:sp>
        <p:nvSpPr>
          <p:cNvPr id="325" name="Google Shape;325;g39ffe9b0056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f5b4abe30_0_7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distributes our software via DockerHub. We use DockerHub </a:t>
            </a:r>
            <a:r>
              <a:rPr lang="en-US"/>
              <a:t>repositories</a:t>
            </a:r>
            <a:r>
              <a:rPr lang="en-US"/>
              <a:t> for both published official releases and our development images. In general, the DockerHub repos ending with “-dev” are for development, and those without are for public </a:t>
            </a:r>
            <a:r>
              <a:rPr lang="en-US"/>
              <a:t>releases</a:t>
            </a:r>
            <a:r>
              <a:rPr lang="en-US"/>
              <a:t>.</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Here we see the METplus version 6.1.0 tag. Notice that this release was created about 3 months ago, and yet this image was last pushed up to DockerHub 2 days ago.</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Compare that to the METplus version 5.1.0 tag. That release was created over 2 years ago and the image was last pushed 2 years ago.</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In the last few months, our team has learned a lot about vulnerabilities in Docker images. When images are created, the version of the OS and dependent libraries are frozen. And often, as time passes, security vulnerabilities are identified in those packages.</a:t>
            </a:r>
            <a:endParaRPr/>
          </a:p>
          <a:p>
            <a:pPr indent="0" lvl="0" marL="0" rtl="0" algn="l">
              <a:spcBef>
                <a:spcPts val="0"/>
              </a:spcBef>
              <a:spcAft>
                <a:spcPts val="0"/>
              </a:spcAft>
              <a:buSzPts val="1400"/>
              <a:buNone/>
            </a:pPr>
            <a:r>
              <a:rPr lang="en-US"/>
              <a:t>These counts, listed next to each image, are the result of Docker Scout, which automatically scans images for vulnerabilities. And time passes more of them are likely to be identified and the counts can creep up.</a:t>
            </a:r>
            <a:endParaRPr/>
          </a:p>
          <a:p>
            <a:pPr indent="0" lvl="0" marL="0" rtl="0" algn="l">
              <a:spcBef>
                <a:spcPts val="0"/>
              </a:spcBef>
              <a:spcAft>
                <a:spcPts val="0"/>
              </a:spcAft>
              <a:buSzPts val="1400"/>
              <a:buNone/>
            </a:pPr>
            <a:r>
              <a:rPr b="1" lang="en-US"/>
              <a:t>&lt;CLICK&gt;</a:t>
            </a:r>
            <a:endParaRPr/>
          </a:p>
          <a:p>
            <a:pPr indent="0" lvl="0" marL="0" rtl="0" algn="l">
              <a:spcBef>
                <a:spcPts val="0"/>
              </a:spcBef>
              <a:spcAft>
                <a:spcPts val="0"/>
              </a:spcAft>
              <a:buSzPts val="1400"/>
              <a:buNone/>
            </a:pPr>
            <a:r>
              <a:rPr lang="en-US"/>
              <a:t>This Create Release Docker Images workflow is run via a Cron schedule. Here, we see the METbaseimage workflow since that’s where we have the most control over package versions.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METbaseimage images are rebuilt weekly at 00:30 UTC. The MET images are built 3 hours later. And the METplus images are built 3 hours after that.</a:t>
            </a:r>
            <a:endParaRPr/>
          </a:p>
          <a:p>
            <a:pPr indent="0" lvl="0" marL="0" rtl="0" algn="l">
              <a:spcBef>
                <a:spcPts val="0"/>
              </a:spcBef>
              <a:spcAft>
                <a:spcPts val="0"/>
              </a:spcAft>
              <a:buClr>
                <a:schemeClr val="dk1"/>
              </a:buClr>
              <a:buSzPts val="1400"/>
              <a:buFont typeface="Arial"/>
              <a:buNone/>
            </a:pPr>
            <a:r>
              <a:t/>
            </a:r>
            <a:endParaRPr/>
          </a:p>
        </p:txBody>
      </p:sp>
      <p:sp>
        <p:nvSpPr>
          <p:cNvPr id="338" name="Google Shape;338;g39f5b4abe30_0_7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9f5b4abe30_0_7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CVE stands for “Common Vulnerabilities and Exposures”. The USAF prioritizes running secure containers in the cloud.</a:t>
            </a:r>
            <a:endParaRPr/>
          </a:p>
          <a:p>
            <a:pPr indent="0" lvl="0" marL="0" rtl="0" algn="l">
              <a:lnSpc>
                <a:spcPct val="100000"/>
              </a:lnSpc>
              <a:spcBef>
                <a:spcPts val="0"/>
              </a:spcBef>
              <a:spcAft>
                <a:spcPts val="0"/>
              </a:spcAft>
              <a:buSzPts val="1400"/>
              <a:buNone/>
            </a:pPr>
            <a:r>
              <a:rPr lang="en-US"/>
              <a:t>In the last few months, they’ve directed us to address all Critical and High CVEs from our images.</a:t>
            </a:r>
            <a:endParaRPr/>
          </a:p>
          <a:p>
            <a:pPr indent="0" lvl="0" marL="0" rtl="0" algn="l">
              <a:lnSpc>
                <a:spcPct val="100000"/>
              </a:lnSpc>
              <a:spcBef>
                <a:spcPts val="0"/>
              </a:spcBef>
              <a:spcAft>
                <a:spcPts val="0"/>
              </a:spcAft>
              <a:buSzPts val="1400"/>
              <a:buNone/>
            </a:pPr>
            <a:r>
              <a:rPr lang="en-US"/>
              <a:t>Docker Scout provides an assessment of CVEs, but we’ve found some variability in scan results.</a:t>
            </a:r>
            <a:endParaRPr/>
          </a:p>
          <a:p>
            <a:pPr indent="0" lvl="0" marL="0" rtl="0" algn="l">
              <a:lnSpc>
                <a:spcPct val="100000"/>
              </a:lnSpc>
              <a:spcBef>
                <a:spcPts val="0"/>
              </a:spcBef>
              <a:spcAft>
                <a:spcPts val="0"/>
              </a:spcAft>
              <a:buSzPts val="1400"/>
              <a:buNone/>
            </a:pPr>
            <a:r>
              <a:rPr lang="en-US"/>
              <a:t>Different tools pull CVEs from different databases. We did incorporate a </a:t>
            </a:r>
            <a:r>
              <a:rPr lang="en-US"/>
              <a:t>free tool named Grype into a relatively new GitHub actions workflow.</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You’ll notice that this calls a custom action as well, and in that action, you’ll find this simple call to grype to scan a named Docker image.</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Here’s a scan from a recent weekly run of METviewer. You’ll notice that we’ve scanning the latest bugfix versions 6.0 and 6.1.</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And we’ve configured this scan to fail on criticals, but succeed on highs.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Here we see that 6.0.3 passed, but did have 41 highs.</a:t>
            </a:r>
            <a:endParaRPr/>
          </a:p>
          <a:p>
            <a:pPr indent="0" lvl="0" marL="0" rtl="0" algn="l">
              <a:spcBef>
                <a:spcPts val="0"/>
              </a:spcBef>
              <a:spcAft>
                <a:spcPts val="0"/>
              </a:spcAft>
              <a:buSzPts val="1400"/>
              <a:buNone/>
            </a:pPr>
            <a:r>
              <a:rPr b="1" lang="en-US"/>
              <a:t>&lt;CLICK&gt;</a:t>
            </a:r>
            <a:endParaRPr b="1"/>
          </a:p>
          <a:p>
            <a:pPr indent="0" lvl="0" marL="0" rtl="0" algn="l">
              <a:spcBef>
                <a:spcPts val="0"/>
              </a:spcBef>
              <a:spcAft>
                <a:spcPts val="0"/>
              </a:spcAft>
              <a:buSzPts val="1400"/>
              <a:buNone/>
            </a:pPr>
            <a:r>
              <a:rPr lang="en-US"/>
              <a:t>Although version 6.1.0 failed with 5 criticals present.</a:t>
            </a:r>
            <a:endParaRPr/>
          </a:p>
          <a:p>
            <a:pPr indent="0" lvl="0" marL="0" rtl="0" algn="l">
              <a:spcBef>
                <a:spcPts val="0"/>
              </a:spcBef>
              <a:spcAft>
                <a:spcPts val="0"/>
              </a:spcAft>
              <a:buSzPts val="1400"/>
              <a:buNone/>
            </a:pPr>
            <a:r>
              <a:rPr lang="en-US"/>
              <a:t>We actually do have fixes ready for these CVEs and will patch them shortly. But this demonstrates the functionality of this workflow well.</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400"/>
              <a:buFont typeface="Arial"/>
              <a:buNone/>
            </a:pPr>
            <a:r>
              <a:rPr lang="en-US"/>
              <a:t>Since these are run weekly, we can be notify when new CVEs are flagged that require our attention.</a:t>
            </a:r>
            <a:endParaRPr/>
          </a:p>
        </p:txBody>
      </p:sp>
      <p:sp>
        <p:nvSpPr>
          <p:cNvPr id="352" name="Google Shape;352;g39f5b4abe30_0_7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 name="Google Shape;3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dtcenter.org/" TargetMode="Externa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hyperlink" Target="https://dtcenter.org/" TargetMode="Externa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dtcenter.org/" TargetMode="External"/><Relationship Id="rId3" Type="http://schemas.openxmlformats.org/officeDocument/2006/relationships/image" Target="../media/image3.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p:cSld name="Title Slide Blue">
    <p:bg>
      <p:bgPr>
        <a:solidFill>
          <a:srgbClr val="0066B3"/>
        </a:solidFill>
      </p:bgPr>
    </p:bg>
    <p:spTree>
      <p:nvGrpSpPr>
        <p:cNvPr id="13" name="Shape 13"/>
        <p:cNvGrpSpPr/>
        <p:nvPr/>
      </p:nvGrpSpPr>
      <p:grpSpPr>
        <a:xfrm>
          <a:off x="0" y="0"/>
          <a:ext cx="0" cy="0"/>
          <a:chOff x="0" y="0"/>
          <a:chExt cx="0" cy="0"/>
        </a:xfrm>
      </p:grpSpPr>
      <p:sp>
        <p:nvSpPr>
          <p:cNvPr id="14" name="Google Shape;14;p2"/>
          <p:cNvSpPr txBox="1"/>
          <p:nvPr>
            <p:ph idx="1" type="subTitle"/>
          </p:nvPr>
        </p:nvSpPr>
        <p:spPr>
          <a:xfrm>
            <a:off x="621793" y="3880537"/>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lt1"/>
              </a:buClr>
              <a:buSzPts val="2400"/>
              <a:buFont typeface="Arial"/>
              <a:buNone/>
              <a:defRPr b="0" i="0" sz="2400">
                <a:solidFill>
                  <a:schemeClr val="lt1"/>
                </a:solidFill>
                <a:latin typeface="Arial"/>
                <a:ea typeface="Arial"/>
                <a:cs typeface="Arial"/>
                <a:sym typeface="Arial"/>
              </a:defRPr>
            </a:lvl1pPr>
            <a:lvl2pPr lvl="1" algn="ctr">
              <a:lnSpc>
                <a:spcPct val="90000"/>
              </a:lnSpc>
              <a:spcBef>
                <a:spcPts val="500"/>
              </a:spcBef>
              <a:spcAft>
                <a:spcPts val="0"/>
              </a:spcAft>
              <a:buClr>
                <a:srgbClr val="0066B3"/>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5" name="Google Shape;15;p2"/>
          <p:cNvPicPr preferRelativeResize="0"/>
          <p:nvPr/>
        </p:nvPicPr>
        <p:blipFill rotWithShape="1">
          <a:blip r:embed="rId2">
            <a:alphaModFix amt="10000"/>
          </a:blip>
          <a:srcRect b="0" l="-15" r="11412" t="15663"/>
          <a:stretch/>
        </p:blipFill>
        <p:spPr>
          <a:xfrm>
            <a:off x="7991857" y="0"/>
            <a:ext cx="4200144" cy="3568464"/>
          </a:xfrm>
          <a:prstGeom prst="rect">
            <a:avLst/>
          </a:prstGeom>
          <a:noFill/>
          <a:ln>
            <a:noFill/>
          </a:ln>
          <a:effectLst>
            <a:outerShdw blurRad="50800" rotWithShape="0" algn="ctr" dir="5400000" dist="50800">
              <a:srgbClr val="000000">
                <a:alpha val="0"/>
              </a:srgbClr>
            </a:outerShdw>
          </a:effectLst>
        </p:spPr>
      </p:pic>
      <p:cxnSp>
        <p:nvCxnSpPr>
          <p:cNvPr id="16" name="Google Shape;16;p2"/>
          <p:cNvCxnSpPr/>
          <p:nvPr/>
        </p:nvCxnSpPr>
        <p:spPr>
          <a:xfrm>
            <a:off x="621792" y="3651466"/>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17" name="Google Shape;17;p2">
            <a:hlinkClick r:id="rId3"/>
          </p:cNvPr>
          <p:cNvPicPr preferRelativeResize="0"/>
          <p:nvPr/>
        </p:nvPicPr>
        <p:blipFill rotWithShape="1">
          <a:blip r:embed="rId4">
            <a:alphaModFix/>
          </a:blip>
          <a:srcRect b="0" l="0" r="0" t="0"/>
          <a:stretch/>
        </p:blipFill>
        <p:spPr>
          <a:xfrm>
            <a:off x="8884609" y="6214772"/>
            <a:ext cx="2889170" cy="198276"/>
          </a:xfrm>
          <a:prstGeom prst="rect">
            <a:avLst/>
          </a:prstGeom>
          <a:noFill/>
          <a:ln>
            <a:noFill/>
          </a:ln>
        </p:spPr>
      </p:pic>
      <p:pic>
        <p:nvPicPr>
          <p:cNvPr id="18" name="Google Shape;18;p2"/>
          <p:cNvPicPr preferRelativeResize="0"/>
          <p:nvPr/>
        </p:nvPicPr>
        <p:blipFill rotWithShape="1">
          <a:blip r:embed="rId2">
            <a:alphaModFix/>
          </a:blip>
          <a:srcRect b="0" l="0" r="0" t="0"/>
          <a:stretch/>
        </p:blipFill>
        <p:spPr>
          <a:xfrm>
            <a:off x="7992555" y="5959763"/>
            <a:ext cx="793552" cy="708294"/>
          </a:xfrm>
          <a:prstGeom prst="rect">
            <a:avLst/>
          </a:prstGeom>
          <a:noFill/>
          <a:ln>
            <a:noFill/>
          </a:ln>
        </p:spPr>
      </p:pic>
      <p:sp>
        <p:nvSpPr>
          <p:cNvPr id="19" name="Google Shape;19;p2"/>
          <p:cNvSpPr txBox="1"/>
          <p:nvPr>
            <p:ph type="title"/>
          </p:nvPr>
        </p:nvSpPr>
        <p:spPr>
          <a:xfrm>
            <a:off x="621793" y="1631384"/>
            <a:ext cx="7370700" cy="1899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2" type="subTitle"/>
          </p:nvPr>
        </p:nvSpPr>
        <p:spPr>
          <a:xfrm>
            <a:off x="621818" y="4372350"/>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lt1"/>
              </a:buClr>
              <a:buSzPts val="2400"/>
              <a:buFont typeface="Arial"/>
              <a:buNone/>
              <a:defRPr b="0" i="0" sz="2400">
                <a:solidFill>
                  <a:schemeClr val="lt1"/>
                </a:solidFill>
                <a:latin typeface="Arial"/>
                <a:ea typeface="Arial"/>
                <a:cs typeface="Arial"/>
                <a:sym typeface="Arial"/>
              </a:defRPr>
            </a:lvl1pPr>
            <a:lvl2pPr lvl="1" algn="ctr">
              <a:lnSpc>
                <a:spcPct val="90000"/>
              </a:lnSpc>
              <a:spcBef>
                <a:spcPts val="500"/>
              </a:spcBef>
              <a:spcAft>
                <a:spcPts val="0"/>
              </a:spcAft>
              <a:buClr>
                <a:srgbClr val="0066B3"/>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2"/>
          <p:cNvSpPr txBox="1"/>
          <p:nvPr>
            <p:ph idx="3" type="subTitle"/>
          </p:nvPr>
        </p:nvSpPr>
        <p:spPr>
          <a:xfrm>
            <a:off x="621118" y="4874487"/>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lt1"/>
              </a:buClr>
              <a:buSzPts val="2400"/>
              <a:buFont typeface="Arial"/>
              <a:buNone/>
              <a:defRPr b="0" i="0" sz="2400">
                <a:solidFill>
                  <a:schemeClr val="lt1"/>
                </a:solidFill>
                <a:latin typeface="Arial"/>
                <a:ea typeface="Arial"/>
                <a:cs typeface="Arial"/>
                <a:sym typeface="Arial"/>
              </a:defRPr>
            </a:lvl1pPr>
            <a:lvl2pPr lvl="1" algn="ctr">
              <a:lnSpc>
                <a:spcPct val="90000"/>
              </a:lnSpc>
              <a:spcBef>
                <a:spcPts val="500"/>
              </a:spcBef>
              <a:spcAft>
                <a:spcPts val="0"/>
              </a:spcAft>
              <a:buClr>
                <a:srgbClr val="0066B3"/>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p:cSld name="Title Slide White">
    <p:bg>
      <p:bgPr>
        <a:solidFill>
          <a:schemeClr val="lt1"/>
        </a:solidFill>
      </p:bgPr>
    </p:bg>
    <p:spTree>
      <p:nvGrpSpPr>
        <p:cNvPr id="22" name="Shape 22"/>
        <p:cNvGrpSpPr/>
        <p:nvPr/>
      </p:nvGrpSpPr>
      <p:grpSpPr>
        <a:xfrm>
          <a:off x="0" y="0"/>
          <a:ext cx="0" cy="0"/>
          <a:chOff x="0" y="0"/>
          <a:chExt cx="0" cy="0"/>
        </a:xfrm>
      </p:grpSpPr>
      <p:pic>
        <p:nvPicPr>
          <p:cNvPr id="23" name="Google Shape;23;p3"/>
          <p:cNvPicPr preferRelativeResize="0"/>
          <p:nvPr/>
        </p:nvPicPr>
        <p:blipFill rotWithShape="1">
          <a:blip r:embed="rId2">
            <a:alphaModFix/>
          </a:blip>
          <a:srcRect b="0" l="0" r="11412" t="15663"/>
          <a:stretch/>
        </p:blipFill>
        <p:spPr>
          <a:xfrm>
            <a:off x="7992558" y="0"/>
            <a:ext cx="4199444" cy="3568464"/>
          </a:xfrm>
          <a:prstGeom prst="rect">
            <a:avLst/>
          </a:prstGeom>
          <a:noFill/>
          <a:ln>
            <a:noFill/>
          </a:ln>
          <a:effectLst>
            <a:outerShdw blurRad="50800" rotWithShape="0" algn="ctr" dir="5400000" dist="50800">
              <a:srgbClr val="000000">
                <a:alpha val="0"/>
              </a:srgbClr>
            </a:outerShdw>
          </a:effectLst>
        </p:spPr>
      </p:pic>
      <p:cxnSp>
        <p:nvCxnSpPr>
          <p:cNvPr id="24" name="Google Shape;24;p3"/>
          <p:cNvCxnSpPr/>
          <p:nvPr/>
        </p:nvCxnSpPr>
        <p:spPr>
          <a:xfrm>
            <a:off x="621791" y="3651466"/>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25" name="Google Shape;25;p3">
            <a:hlinkClick r:id="rId3"/>
          </p:cNvPr>
          <p:cNvPicPr preferRelativeResize="0"/>
          <p:nvPr/>
        </p:nvPicPr>
        <p:blipFill rotWithShape="1">
          <a:blip r:embed="rId4">
            <a:alphaModFix/>
          </a:blip>
          <a:srcRect b="0" l="0" r="0" t="0"/>
          <a:stretch/>
        </p:blipFill>
        <p:spPr>
          <a:xfrm>
            <a:off x="8884613" y="6214772"/>
            <a:ext cx="2889165" cy="198276"/>
          </a:xfrm>
          <a:prstGeom prst="rect">
            <a:avLst/>
          </a:prstGeom>
          <a:noFill/>
          <a:ln>
            <a:noFill/>
          </a:ln>
        </p:spPr>
      </p:pic>
      <p:pic>
        <p:nvPicPr>
          <p:cNvPr id="26" name="Google Shape;26;p3"/>
          <p:cNvPicPr preferRelativeResize="0"/>
          <p:nvPr/>
        </p:nvPicPr>
        <p:blipFill rotWithShape="1">
          <a:blip r:embed="rId2">
            <a:alphaModFix/>
          </a:blip>
          <a:srcRect b="0" l="0" r="0" t="0"/>
          <a:stretch/>
        </p:blipFill>
        <p:spPr>
          <a:xfrm>
            <a:off x="7992557" y="5959763"/>
            <a:ext cx="793551" cy="708294"/>
          </a:xfrm>
          <a:prstGeom prst="rect">
            <a:avLst/>
          </a:prstGeom>
          <a:noFill/>
          <a:ln>
            <a:noFill/>
          </a:ln>
        </p:spPr>
      </p:pic>
      <p:sp>
        <p:nvSpPr>
          <p:cNvPr id="27" name="Google Shape;27;p3"/>
          <p:cNvSpPr txBox="1"/>
          <p:nvPr>
            <p:ph type="title"/>
          </p:nvPr>
        </p:nvSpPr>
        <p:spPr>
          <a:xfrm>
            <a:off x="621793" y="1631384"/>
            <a:ext cx="7370700" cy="1899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6000"/>
              <a:buFont typeface="Arial"/>
              <a:buNone/>
              <a:defRPr sz="6000">
                <a:solidFill>
                  <a:srgbClr val="0066B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 type="subTitle"/>
          </p:nvPr>
        </p:nvSpPr>
        <p:spPr>
          <a:xfrm>
            <a:off x="621793" y="3880537"/>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dk2"/>
              </a:buClr>
              <a:buSzPts val="2400"/>
              <a:buFont typeface="Arial"/>
              <a:buNone/>
              <a:defRPr b="0" i="0" sz="240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
        <p:nvSpPr>
          <p:cNvPr id="29" name="Google Shape;29;p3"/>
          <p:cNvSpPr txBox="1"/>
          <p:nvPr>
            <p:ph idx="2" type="subTitle"/>
          </p:nvPr>
        </p:nvSpPr>
        <p:spPr>
          <a:xfrm>
            <a:off x="621818" y="4372350"/>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accent5"/>
              </a:buClr>
              <a:buSzPts val="2400"/>
              <a:buFont typeface="Arial"/>
              <a:buNone/>
              <a:defRPr b="0" i="0" sz="2400">
                <a:solidFill>
                  <a:schemeClr val="accent5"/>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
        <p:nvSpPr>
          <p:cNvPr id="30" name="Google Shape;30;p3"/>
          <p:cNvSpPr txBox="1"/>
          <p:nvPr>
            <p:ph idx="3" type="subTitle"/>
          </p:nvPr>
        </p:nvSpPr>
        <p:spPr>
          <a:xfrm>
            <a:off x="621118" y="4874487"/>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dk2"/>
              </a:buClr>
              <a:buSzPts val="2400"/>
              <a:buFont typeface="Arial"/>
              <a:buNone/>
              <a:defRPr b="0" i="0" sz="240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op Photo">
  <p:cSld name="Title Slide Top Photo">
    <p:bg>
      <p:bgPr>
        <a:solidFill>
          <a:schemeClr val="lt1"/>
        </a:solidFill>
      </p:bgPr>
    </p:bg>
    <p:spTree>
      <p:nvGrpSpPr>
        <p:cNvPr id="31" name="Shape 31"/>
        <p:cNvGrpSpPr/>
        <p:nvPr/>
      </p:nvGrpSpPr>
      <p:grpSpPr>
        <a:xfrm>
          <a:off x="0" y="0"/>
          <a:ext cx="0" cy="0"/>
          <a:chOff x="0" y="0"/>
          <a:chExt cx="0" cy="0"/>
        </a:xfrm>
      </p:grpSpPr>
      <p:sp>
        <p:nvSpPr>
          <p:cNvPr id="32" name="Google Shape;32;p4"/>
          <p:cNvSpPr txBox="1"/>
          <p:nvPr>
            <p:ph idx="1" type="subTitle"/>
          </p:nvPr>
        </p:nvSpPr>
        <p:spPr>
          <a:xfrm>
            <a:off x="621792" y="4523325"/>
            <a:ext cx="109239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rgbClr val="0066B3"/>
              </a:buClr>
              <a:buSzPts val="2400"/>
              <a:buFont typeface="Arial"/>
              <a:buNone/>
              <a:defRPr b="0" i="0" sz="2400">
                <a:solidFill>
                  <a:srgbClr val="0066B3"/>
                </a:solidFill>
                <a:latin typeface="Arial"/>
                <a:ea typeface="Arial"/>
                <a:cs typeface="Arial"/>
                <a:sym typeface="Arial"/>
              </a:defRPr>
            </a:lvl1pPr>
            <a:lvl2pPr lvl="1" algn="ctr">
              <a:lnSpc>
                <a:spcPct val="90000"/>
              </a:lnSpc>
              <a:spcBef>
                <a:spcPts val="500"/>
              </a:spcBef>
              <a:spcAft>
                <a:spcPts val="0"/>
              </a:spcAft>
              <a:buClr>
                <a:srgbClr val="0066B3"/>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33" name="Google Shape;33;p4"/>
          <p:cNvCxnSpPr/>
          <p:nvPr/>
        </p:nvCxnSpPr>
        <p:spPr>
          <a:xfrm>
            <a:off x="621792" y="4416346"/>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34" name="Google Shape;34;p4">
            <a:hlinkClick r:id="rId2"/>
          </p:cNvPr>
          <p:cNvPicPr preferRelativeResize="0"/>
          <p:nvPr/>
        </p:nvPicPr>
        <p:blipFill rotWithShape="1">
          <a:blip r:embed="rId3">
            <a:alphaModFix/>
          </a:blip>
          <a:srcRect b="0" l="0" r="0" t="0"/>
          <a:stretch/>
        </p:blipFill>
        <p:spPr>
          <a:xfrm>
            <a:off x="8884613" y="6214772"/>
            <a:ext cx="2889165" cy="198276"/>
          </a:xfrm>
          <a:prstGeom prst="rect">
            <a:avLst/>
          </a:prstGeom>
          <a:noFill/>
          <a:ln>
            <a:noFill/>
          </a:ln>
        </p:spPr>
      </p:pic>
      <p:pic>
        <p:nvPicPr>
          <p:cNvPr id="35" name="Google Shape;35;p4"/>
          <p:cNvPicPr preferRelativeResize="0"/>
          <p:nvPr/>
        </p:nvPicPr>
        <p:blipFill rotWithShape="1">
          <a:blip r:embed="rId4">
            <a:alphaModFix/>
          </a:blip>
          <a:srcRect b="0" l="0" r="0" t="0"/>
          <a:stretch/>
        </p:blipFill>
        <p:spPr>
          <a:xfrm>
            <a:off x="7992557" y="5959763"/>
            <a:ext cx="793551" cy="708294"/>
          </a:xfrm>
          <a:prstGeom prst="rect">
            <a:avLst/>
          </a:prstGeom>
          <a:noFill/>
          <a:ln>
            <a:noFill/>
          </a:ln>
        </p:spPr>
      </p:pic>
      <p:sp>
        <p:nvSpPr>
          <p:cNvPr id="36" name="Google Shape;36;p4"/>
          <p:cNvSpPr txBox="1"/>
          <p:nvPr>
            <p:ph type="title"/>
          </p:nvPr>
        </p:nvSpPr>
        <p:spPr>
          <a:xfrm>
            <a:off x="621794" y="3256318"/>
            <a:ext cx="10923900" cy="10923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6000"/>
              <a:buFont typeface="Arial"/>
              <a:buNone/>
              <a:defRPr sz="6000">
                <a:solidFill>
                  <a:srgbClr val="0066B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
          <p:cNvSpPr/>
          <p:nvPr>
            <p:ph idx="2" type="pic"/>
          </p:nvPr>
        </p:nvSpPr>
        <p:spPr>
          <a:xfrm>
            <a:off x="0" y="0"/>
            <a:ext cx="12192000" cy="2883000"/>
          </a:xfrm>
          <a:prstGeom prst="rect">
            <a:avLst/>
          </a:prstGeom>
          <a:noFill/>
          <a:ln>
            <a:noFill/>
          </a:ln>
        </p:spPr>
      </p:sp>
      <p:sp>
        <p:nvSpPr>
          <p:cNvPr id="38" name="Google Shape;38;p4"/>
          <p:cNvSpPr txBox="1"/>
          <p:nvPr>
            <p:ph idx="3" type="subTitle"/>
          </p:nvPr>
        </p:nvSpPr>
        <p:spPr>
          <a:xfrm>
            <a:off x="622493" y="5015150"/>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accent5"/>
              </a:buClr>
              <a:buSzPts val="2400"/>
              <a:buFont typeface="Arial"/>
              <a:buNone/>
              <a:defRPr b="0" i="0" sz="2400">
                <a:solidFill>
                  <a:schemeClr val="accent5"/>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
        <p:nvSpPr>
          <p:cNvPr id="39" name="Google Shape;39;p4"/>
          <p:cNvSpPr txBox="1"/>
          <p:nvPr>
            <p:ph idx="4" type="subTitle"/>
          </p:nvPr>
        </p:nvSpPr>
        <p:spPr>
          <a:xfrm>
            <a:off x="621793" y="5517287"/>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dk2"/>
              </a:buClr>
              <a:buSzPts val="2400"/>
              <a:buFont typeface="Arial"/>
              <a:buNone/>
              <a:defRPr b="0" i="0" sz="240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Authors Slide after Titles Slide">
  <p:cSld name="Co-Authors Slide after Titles Slide">
    <p:spTree>
      <p:nvGrpSpPr>
        <p:cNvPr id="40" name="Shape 40"/>
        <p:cNvGrpSpPr/>
        <p:nvPr/>
      </p:nvGrpSpPr>
      <p:grpSpPr>
        <a:xfrm>
          <a:off x="0" y="0"/>
          <a:ext cx="0" cy="0"/>
          <a:chOff x="0" y="0"/>
          <a:chExt cx="0" cy="0"/>
        </a:xfrm>
      </p:grpSpPr>
      <p:sp>
        <p:nvSpPr>
          <p:cNvPr id="41" name="Google Shape;41;p5"/>
          <p:cNvSpPr txBox="1"/>
          <p:nvPr>
            <p:ph type="title"/>
          </p:nvPr>
        </p:nvSpPr>
        <p:spPr>
          <a:xfrm>
            <a:off x="621793" y="457202"/>
            <a:ext cx="10899600" cy="442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rgbClr val="0066B3"/>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
          <p:cNvSpPr txBox="1"/>
          <p:nvPr>
            <p:ph idx="1" type="body"/>
          </p:nvPr>
        </p:nvSpPr>
        <p:spPr>
          <a:xfrm>
            <a:off x="621792" y="1602787"/>
            <a:ext cx="5397900" cy="446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Font typeface="Arial"/>
              <a:buNone/>
              <a:defRPr sz="1600"/>
            </a:lvl1pPr>
            <a:lvl2pPr indent="-228600" lvl="1" marL="914400" algn="l">
              <a:lnSpc>
                <a:spcPct val="90000"/>
              </a:lnSpc>
              <a:spcBef>
                <a:spcPts val="500"/>
              </a:spcBef>
              <a:spcAft>
                <a:spcPts val="0"/>
              </a:spcAft>
              <a:buClr>
                <a:srgbClr val="0066B3"/>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cxnSp>
        <p:nvCxnSpPr>
          <p:cNvPr id="43" name="Google Shape;43;p5"/>
          <p:cNvCxnSpPr/>
          <p:nvPr/>
        </p:nvCxnSpPr>
        <p:spPr>
          <a:xfrm>
            <a:off x="621792" y="1412134"/>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44" name="Google Shape;44;p5"/>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
        <p:nvSpPr>
          <p:cNvPr id="45" name="Google Shape;45;p5"/>
          <p:cNvSpPr txBox="1"/>
          <p:nvPr>
            <p:ph idx="2" type="body"/>
          </p:nvPr>
        </p:nvSpPr>
        <p:spPr>
          <a:xfrm>
            <a:off x="6123429" y="1602787"/>
            <a:ext cx="5397900" cy="446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Font typeface="Arial"/>
              <a:buNone/>
              <a:defRPr sz="1600"/>
            </a:lvl1pPr>
            <a:lvl2pPr indent="-228600" lvl="1" marL="914400" algn="l">
              <a:lnSpc>
                <a:spcPct val="90000"/>
              </a:lnSpc>
              <a:spcBef>
                <a:spcPts val="500"/>
              </a:spcBef>
              <a:spcAft>
                <a:spcPts val="0"/>
              </a:spcAft>
              <a:buClr>
                <a:srgbClr val="0066B3"/>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6" name="Google Shape;46;p5"/>
          <p:cNvSpPr txBox="1"/>
          <p:nvPr>
            <p:ph idx="3" type="subTitle"/>
          </p:nvPr>
        </p:nvSpPr>
        <p:spPr>
          <a:xfrm>
            <a:off x="621793" y="984675"/>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accent5"/>
              </a:buClr>
              <a:buSzPts val="2400"/>
              <a:buFont typeface="Arial"/>
              <a:buNone/>
              <a:defRPr b="0" i="0" sz="2400">
                <a:solidFill>
                  <a:schemeClr val="accent5"/>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47" name="Shape 47"/>
        <p:cNvGrpSpPr/>
        <p:nvPr/>
      </p:nvGrpSpPr>
      <p:grpSpPr>
        <a:xfrm>
          <a:off x="0" y="0"/>
          <a:ext cx="0" cy="0"/>
          <a:chOff x="0" y="0"/>
          <a:chExt cx="0" cy="0"/>
        </a:xfrm>
      </p:grpSpPr>
      <p:sp>
        <p:nvSpPr>
          <p:cNvPr id="48" name="Google Shape;48;p6"/>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
          <p:cNvSpPr txBox="1"/>
          <p:nvPr>
            <p:ph idx="1" type="body"/>
          </p:nvPr>
        </p:nvSpPr>
        <p:spPr>
          <a:xfrm>
            <a:off x="621792" y="1260391"/>
            <a:ext cx="10899600" cy="4806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rgbClr val="0066B3"/>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51" name="Google Shape;51;p6"/>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wo Columns" type="twoObj">
  <p:cSld name="TWO_OBJECTS">
    <p:spTree>
      <p:nvGrpSpPr>
        <p:cNvPr id="52" name="Shape 52"/>
        <p:cNvGrpSpPr/>
        <p:nvPr/>
      </p:nvGrpSpPr>
      <p:grpSpPr>
        <a:xfrm>
          <a:off x="0" y="0"/>
          <a:ext cx="0" cy="0"/>
          <a:chOff x="0" y="0"/>
          <a:chExt cx="0" cy="0"/>
        </a:xfrm>
      </p:grpSpPr>
      <p:sp>
        <p:nvSpPr>
          <p:cNvPr id="53" name="Google Shape;53;p7"/>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 type="body"/>
          </p:nvPr>
        </p:nvSpPr>
        <p:spPr>
          <a:xfrm>
            <a:off x="621792" y="1250156"/>
            <a:ext cx="5397900" cy="4926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2400"/>
              <a:buFont typeface="Arial"/>
              <a:buNone/>
              <a:defRPr sz="2400"/>
            </a:lvl1pPr>
            <a:lvl2pPr indent="-368300" lvl="1" marL="914400" algn="l">
              <a:lnSpc>
                <a:spcPct val="90000"/>
              </a:lnSpc>
              <a:spcBef>
                <a:spcPts val="500"/>
              </a:spcBef>
              <a:spcAft>
                <a:spcPts val="0"/>
              </a:spcAft>
              <a:buClr>
                <a:srgbClr val="0066B3"/>
              </a:buClr>
              <a:buSzPts val="2200"/>
              <a:buChar char="•"/>
              <a:defRPr sz="2200">
                <a:solidFill>
                  <a:srgbClr val="0066B3"/>
                </a:solidFill>
              </a:defRPr>
            </a:lvl2pPr>
            <a:lvl3pPr indent="-355600" lvl="2" marL="1371600" algn="l">
              <a:lnSpc>
                <a:spcPct val="90000"/>
              </a:lnSpc>
              <a:spcBef>
                <a:spcPts val="500"/>
              </a:spcBef>
              <a:spcAft>
                <a:spcPts val="0"/>
              </a:spcAft>
              <a:buClr>
                <a:schemeClr val="dk1"/>
              </a:buClr>
              <a:buSzPts val="2000"/>
              <a:buChar char="•"/>
              <a:defRPr sz="2000"/>
            </a:lvl3pPr>
            <a:lvl4pPr indent="-342900" lvl="3" marL="1828800" algn="l">
              <a:lnSpc>
                <a:spcPct val="90000"/>
              </a:lnSpc>
              <a:spcBef>
                <a:spcPts val="500"/>
              </a:spcBef>
              <a:spcAft>
                <a:spcPts val="0"/>
              </a:spcAft>
              <a:buClr>
                <a:schemeClr val="dk1"/>
              </a:buClr>
              <a:buSzPts val="1800"/>
              <a:buChar char="•"/>
              <a:defRPr sz="18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7"/>
          <p:cNvSpPr txBox="1"/>
          <p:nvPr>
            <p:ph idx="2" type="body"/>
          </p:nvPr>
        </p:nvSpPr>
        <p:spPr>
          <a:xfrm>
            <a:off x="6172200" y="1250156"/>
            <a:ext cx="5349300" cy="4926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2400"/>
              <a:buFont typeface="Arial"/>
              <a:buNone/>
              <a:defRPr sz="2400"/>
            </a:lvl1pPr>
            <a:lvl2pPr indent="-368300" lvl="1" marL="914400" algn="l">
              <a:lnSpc>
                <a:spcPct val="90000"/>
              </a:lnSpc>
              <a:spcBef>
                <a:spcPts val="500"/>
              </a:spcBef>
              <a:spcAft>
                <a:spcPts val="0"/>
              </a:spcAft>
              <a:buClr>
                <a:srgbClr val="0066B3"/>
              </a:buClr>
              <a:buSzPts val="2200"/>
              <a:buChar char="•"/>
              <a:defRPr sz="2200">
                <a:solidFill>
                  <a:srgbClr val="0066B3"/>
                </a:solidFill>
              </a:defRPr>
            </a:lvl2pPr>
            <a:lvl3pPr indent="-355600" lvl="2" marL="1371600" algn="l">
              <a:lnSpc>
                <a:spcPct val="90000"/>
              </a:lnSpc>
              <a:spcBef>
                <a:spcPts val="500"/>
              </a:spcBef>
              <a:spcAft>
                <a:spcPts val="0"/>
              </a:spcAft>
              <a:buClr>
                <a:schemeClr val="dk1"/>
              </a:buClr>
              <a:buSzPts val="2000"/>
              <a:buChar char="•"/>
              <a:defRPr sz="2000"/>
            </a:lvl3pPr>
            <a:lvl4pPr indent="-342900" lvl="3" marL="1828800" algn="l">
              <a:lnSpc>
                <a:spcPct val="90000"/>
              </a:lnSpc>
              <a:spcBef>
                <a:spcPts val="500"/>
              </a:spcBef>
              <a:spcAft>
                <a:spcPts val="0"/>
              </a:spcAft>
              <a:buClr>
                <a:schemeClr val="dk1"/>
              </a:buClr>
              <a:buSzPts val="1800"/>
              <a:buChar char="•"/>
              <a:defRPr sz="18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7"/>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7"/>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Blue" type="secHead">
  <p:cSld name="SECTION_HEADER">
    <p:bg>
      <p:bgPr>
        <a:solidFill>
          <a:srgbClr val="0066B3"/>
        </a:solidFill>
      </p:bgPr>
    </p:bg>
    <p:spTree>
      <p:nvGrpSpPr>
        <p:cNvPr id="58" name="Shape 58"/>
        <p:cNvGrpSpPr/>
        <p:nvPr/>
      </p:nvGrpSpPr>
      <p:grpSpPr>
        <a:xfrm>
          <a:off x="0" y="0"/>
          <a:ext cx="0" cy="0"/>
          <a:chOff x="0" y="0"/>
          <a:chExt cx="0" cy="0"/>
        </a:xfrm>
      </p:grpSpPr>
      <p:sp>
        <p:nvSpPr>
          <p:cNvPr id="59" name="Google Shape;59;p8"/>
          <p:cNvSpPr txBox="1"/>
          <p:nvPr>
            <p:ph type="title"/>
          </p:nvPr>
        </p:nvSpPr>
        <p:spPr>
          <a:xfrm>
            <a:off x="621792" y="1709740"/>
            <a:ext cx="10899600" cy="285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61" name="Google Shape;61;p8"/>
          <p:cNvPicPr preferRelativeResize="0"/>
          <p:nvPr/>
        </p:nvPicPr>
        <p:blipFill rotWithShape="1">
          <a:blip r:embed="rId2">
            <a:alphaModFix/>
          </a:blip>
          <a:srcRect b="0" l="0" r="0" t="0"/>
          <a:stretch/>
        </p:blipFill>
        <p:spPr>
          <a:xfrm>
            <a:off x="90583" y="6349150"/>
            <a:ext cx="484186" cy="432166"/>
          </a:xfrm>
          <a:prstGeom prst="rect">
            <a:avLst/>
          </a:prstGeom>
          <a:noFill/>
          <a:ln>
            <a:noFill/>
          </a:ln>
        </p:spPr>
      </p:pic>
      <p:cxnSp>
        <p:nvCxnSpPr>
          <p:cNvPr id="62" name="Google Shape;62;p8"/>
          <p:cNvCxnSpPr/>
          <p:nvPr/>
        </p:nvCxnSpPr>
        <p:spPr>
          <a:xfrm>
            <a:off x="621792" y="3651466"/>
            <a:ext cx="2743500" cy="0"/>
          </a:xfrm>
          <a:prstGeom prst="straightConnector1">
            <a:avLst/>
          </a:prstGeom>
          <a:noFill/>
          <a:ln cap="flat" cmpd="sng" w="50800">
            <a:solidFill>
              <a:srgbClr val="E2C720"/>
            </a:solidFill>
            <a:prstDash val="solid"/>
            <a:miter lim="800000"/>
            <a:headEnd len="sm" w="sm" type="none"/>
            <a:tailEnd len="sm" w="sm" type="none"/>
          </a:ln>
        </p:spPr>
      </p:cxnSp>
      <p:sp>
        <p:nvSpPr>
          <p:cNvPr id="63" name="Google Shape;63;p8"/>
          <p:cNvSpPr txBox="1"/>
          <p:nvPr>
            <p:ph idx="1" type="subTitle"/>
          </p:nvPr>
        </p:nvSpPr>
        <p:spPr>
          <a:xfrm>
            <a:off x="621793" y="4562487"/>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lt1"/>
              </a:buClr>
              <a:buSzPts val="2400"/>
              <a:buFont typeface="Arial"/>
              <a:buNone/>
              <a:defRPr b="0" i="0" sz="2400">
                <a:solidFill>
                  <a:schemeClr val="lt1"/>
                </a:solidFill>
                <a:latin typeface="Arial"/>
                <a:ea typeface="Arial"/>
                <a:cs typeface="Arial"/>
                <a:sym typeface="Arial"/>
              </a:defRPr>
            </a:lvl1pPr>
            <a:lvl2pPr lvl="1" algn="ctr">
              <a:lnSpc>
                <a:spcPct val="90000"/>
              </a:lnSpc>
              <a:spcBef>
                <a:spcPts val="500"/>
              </a:spcBef>
              <a:spcAft>
                <a:spcPts val="0"/>
              </a:spcAft>
              <a:buClr>
                <a:srgbClr val="0066B3"/>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White">
  <p:cSld name="Divider Slide White">
    <p:bg>
      <p:bgPr>
        <a:solidFill>
          <a:schemeClr val="lt1"/>
        </a:solidFill>
      </p:bgPr>
    </p:bg>
    <p:spTree>
      <p:nvGrpSpPr>
        <p:cNvPr id="64" name="Shape 64"/>
        <p:cNvGrpSpPr/>
        <p:nvPr/>
      </p:nvGrpSpPr>
      <p:grpSpPr>
        <a:xfrm>
          <a:off x="0" y="0"/>
          <a:ext cx="0" cy="0"/>
          <a:chOff x="0" y="0"/>
          <a:chExt cx="0" cy="0"/>
        </a:xfrm>
      </p:grpSpPr>
      <p:sp>
        <p:nvSpPr>
          <p:cNvPr id="65" name="Google Shape;65;p9"/>
          <p:cNvSpPr txBox="1"/>
          <p:nvPr>
            <p:ph type="title"/>
          </p:nvPr>
        </p:nvSpPr>
        <p:spPr>
          <a:xfrm>
            <a:off x="621792" y="1709740"/>
            <a:ext cx="10899600" cy="285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6000"/>
              <a:buFont typeface="Arial"/>
              <a:buNone/>
              <a:defRPr sz="6000">
                <a:solidFill>
                  <a:srgbClr val="0066B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67" name="Google Shape;67;p9"/>
          <p:cNvCxnSpPr/>
          <p:nvPr/>
        </p:nvCxnSpPr>
        <p:spPr>
          <a:xfrm>
            <a:off x="621792" y="3651466"/>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68" name="Google Shape;68;p9"/>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
        <p:nvSpPr>
          <p:cNvPr id="69" name="Google Shape;69;p9"/>
          <p:cNvSpPr txBox="1"/>
          <p:nvPr>
            <p:ph idx="1" type="subTitle"/>
          </p:nvPr>
        </p:nvSpPr>
        <p:spPr>
          <a:xfrm>
            <a:off x="621793" y="4562487"/>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accent5"/>
              </a:buClr>
              <a:buSzPts val="2400"/>
              <a:buFont typeface="Arial"/>
              <a:buNone/>
              <a:defRPr b="0" i="0" sz="2400">
                <a:solidFill>
                  <a:schemeClr val="accent5"/>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Subtitle">
  <p:cSld name="Title Content Subtitle">
    <p:spTree>
      <p:nvGrpSpPr>
        <p:cNvPr id="70" name="Shape 70"/>
        <p:cNvGrpSpPr/>
        <p:nvPr/>
      </p:nvGrpSpPr>
      <p:grpSpPr>
        <a:xfrm>
          <a:off x="0" y="0"/>
          <a:ext cx="0" cy="0"/>
          <a:chOff x="0" y="0"/>
          <a:chExt cx="0" cy="0"/>
        </a:xfrm>
      </p:grpSpPr>
      <p:sp>
        <p:nvSpPr>
          <p:cNvPr id="71" name="Google Shape;71;p10"/>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
          <p:cNvSpPr txBox="1"/>
          <p:nvPr>
            <p:ph idx="1" type="body"/>
          </p:nvPr>
        </p:nvSpPr>
        <p:spPr>
          <a:xfrm>
            <a:off x="621792" y="1621633"/>
            <a:ext cx="10899600" cy="4445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2400"/>
              <a:buFont typeface="Arial"/>
              <a:buNone/>
              <a:defRPr sz="2400"/>
            </a:lvl1pPr>
            <a:lvl2pPr indent="-355600" lvl="1" marL="914400" algn="l">
              <a:lnSpc>
                <a:spcPct val="90000"/>
              </a:lnSpc>
              <a:spcBef>
                <a:spcPts val="500"/>
              </a:spcBef>
              <a:spcAft>
                <a:spcPts val="0"/>
              </a:spcAft>
              <a:buClr>
                <a:schemeClr val="dk1"/>
              </a:buClr>
              <a:buSzPts val="2000"/>
              <a:buChar char="•"/>
              <a:defRPr sz="2000">
                <a:solidFill>
                  <a:schemeClr val="dk1"/>
                </a:solidFill>
              </a:defRPr>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0"/>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74" name="Google Shape;74;p10"/>
          <p:cNvCxnSpPr/>
          <p:nvPr/>
        </p:nvCxnSpPr>
        <p:spPr>
          <a:xfrm>
            <a:off x="621792" y="1412134"/>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75" name="Google Shape;75;p10"/>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
        <p:nvSpPr>
          <p:cNvPr id="76" name="Google Shape;76;p10"/>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accent5"/>
              </a:buClr>
              <a:buSzPts val="2400"/>
              <a:buFont typeface="Arial"/>
              <a:buNone/>
              <a:defRPr b="0" i="0" sz="2400">
                <a:solidFill>
                  <a:schemeClr val="accent5"/>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Subtitle Two Columns">
  <p:cSld name="Title Content Subtitle Two Columns">
    <p:spTree>
      <p:nvGrpSpPr>
        <p:cNvPr id="77" name="Shape 77"/>
        <p:cNvGrpSpPr/>
        <p:nvPr/>
      </p:nvGrpSpPr>
      <p:grpSpPr>
        <a:xfrm>
          <a:off x="0" y="0"/>
          <a:ext cx="0" cy="0"/>
          <a:chOff x="0" y="0"/>
          <a:chExt cx="0" cy="0"/>
        </a:xfrm>
      </p:grpSpPr>
      <p:sp>
        <p:nvSpPr>
          <p:cNvPr id="78" name="Google Shape;78;p11"/>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11"/>
          <p:cNvSpPr txBox="1"/>
          <p:nvPr>
            <p:ph idx="1" type="body"/>
          </p:nvPr>
        </p:nvSpPr>
        <p:spPr>
          <a:xfrm>
            <a:off x="621792" y="1621633"/>
            <a:ext cx="5397900" cy="4445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2400"/>
              <a:buFont typeface="Arial"/>
              <a:buNone/>
              <a:defRPr sz="2400"/>
            </a:lvl1pPr>
            <a:lvl2pPr indent="-368300" lvl="1" marL="914400" algn="l">
              <a:lnSpc>
                <a:spcPct val="90000"/>
              </a:lnSpc>
              <a:spcBef>
                <a:spcPts val="500"/>
              </a:spcBef>
              <a:spcAft>
                <a:spcPts val="0"/>
              </a:spcAft>
              <a:buClr>
                <a:schemeClr val="dk1"/>
              </a:buClr>
              <a:buSzPts val="2200"/>
              <a:buChar char="•"/>
              <a:defRPr sz="2200">
                <a:solidFill>
                  <a:schemeClr val="dk1"/>
                </a:solidFill>
              </a:defRPr>
            </a:lvl2pPr>
            <a:lvl3pPr indent="-355600" lvl="2" marL="1371600" algn="l">
              <a:lnSpc>
                <a:spcPct val="90000"/>
              </a:lnSpc>
              <a:spcBef>
                <a:spcPts val="500"/>
              </a:spcBef>
              <a:spcAft>
                <a:spcPts val="0"/>
              </a:spcAft>
              <a:buClr>
                <a:schemeClr val="dk1"/>
              </a:buClr>
              <a:buSzPts val="2000"/>
              <a:buChar char="•"/>
              <a:defRPr sz="2000"/>
            </a:lvl3pPr>
            <a:lvl4pPr indent="-342900" lvl="3" marL="1828800" algn="l">
              <a:lnSpc>
                <a:spcPct val="90000"/>
              </a:lnSpc>
              <a:spcBef>
                <a:spcPts val="500"/>
              </a:spcBef>
              <a:spcAft>
                <a:spcPts val="0"/>
              </a:spcAft>
              <a:buClr>
                <a:schemeClr val="dk1"/>
              </a:buClr>
              <a:buSzPts val="1800"/>
              <a:buChar char="•"/>
              <a:defRPr sz="18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1"/>
          <p:cNvSpPr txBox="1"/>
          <p:nvPr>
            <p:ph idx="2" type="body"/>
          </p:nvPr>
        </p:nvSpPr>
        <p:spPr>
          <a:xfrm>
            <a:off x="6172200" y="1621633"/>
            <a:ext cx="5349300" cy="4445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2400"/>
              <a:buFont typeface="Arial"/>
              <a:buNone/>
              <a:defRPr sz="2400"/>
            </a:lvl1pPr>
            <a:lvl2pPr indent="-368300" lvl="1" marL="914400" algn="l">
              <a:lnSpc>
                <a:spcPct val="90000"/>
              </a:lnSpc>
              <a:spcBef>
                <a:spcPts val="500"/>
              </a:spcBef>
              <a:spcAft>
                <a:spcPts val="0"/>
              </a:spcAft>
              <a:buClr>
                <a:schemeClr val="dk1"/>
              </a:buClr>
              <a:buSzPts val="2200"/>
              <a:buChar char="•"/>
              <a:defRPr sz="2200">
                <a:solidFill>
                  <a:schemeClr val="dk1"/>
                </a:solidFill>
              </a:defRPr>
            </a:lvl2pPr>
            <a:lvl3pPr indent="-355600" lvl="2" marL="1371600" algn="l">
              <a:lnSpc>
                <a:spcPct val="90000"/>
              </a:lnSpc>
              <a:spcBef>
                <a:spcPts val="500"/>
              </a:spcBef>
              <a:spcAft>
                <a:spcPts val="0"/>
              </a:spcAft>
              <a:buClr>
                <a:schemeClr val="dk1"/>
              </a:buClr>
              <a:buSzPts val="2000"/>
              <a:buChar char="•"/>
              <a:defRPr sz="2000"/>
            </a:lvl3pPr>
            <a:lvl4pPr indent="-342900" lvl="3" marL="1828800" algn="l">
              <a:lnSpc>
                <a:spcPct val="90000"/>
              </a:lnSpc>
              <a:spcBef>
                <a:spcPts val="500"/>
              </a:spcBef>
              <a:spcAft>
                <a:spcPts val="0"/>
              </a:spcAft>
              <a:buClr>
                <a:schemeClr val="dk1"/>
              </a:buClr>
              <a:buSzPts val="1800"/>
              <a:buChar char="•"/>
              <a:defRPr sz="18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82" name="Google Shape;82;p11"/>
          <p:cNvCxnSpPr/>
          <p:nvPr/>
        </p:nvCxnSpPr>
        <p:spPr>
          <a:xfrm>
            <a:off x="621792" y="1412134"/>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83" name="Google Shape;83;p11"/>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
        <p:nvSpPr>
          <p:cNvPr id="84" name="Google Shape;84;p11"/>
          <p:cNvSpPr txBox="1"/>
          <p:nvPr>
            <p:ph idx="3" type="subTitle"/>
          </p:nvPr>
        </p:nvSpPr>
        <p:spPr>
          <a:xfrm>
            <a:off x="621793" y="978412"/>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accent5"/>
              </a:buClr>
              <a:buSzPts val="2400"/>
              <a:buFont typeface="Arial"/>
              <a:buNone/>
              <a:defRPr b="0" i="0" sz="2400">
                <a:solidFill>
                  <a:schemeClr val="accent5"/>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lue" type="titleOnly">
  <p:cSld name="TITLE_ONLY">
    <p:bg>
      <p:bgPr>
        <a:solidFill>
          <a:srgbClr val="0066B3"/>
        </a:solidFill>
      </p:bgPr>
    </p:bg>
    <p:spTree>
      <p:nvGrpSpPr>
        <p:cNvPr id="85" name="Shape 85"/>
        <p:cNvGrpSpPr/>
        <p:nvPr/>
      </p:nvGrpSpPr>
      <p:grpSpPr>
        <a:xfrm>
          <a:off x="0" y="0"/>
          <a:ext cx="0" cy="0"/>
          <a:chOff x="0" y="0"/>
          <a:chExt cx="0" cy="0"/>
        </a:xfrm>
      </p:grpSpPr>
      <p:sp>
        <p:nvSpPr>
          <p:cNvPr id="86" name="Google Shape;86;p12"/>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88" name="Google Shape;88;p12"/>
          <p:cNvPicPr preferRelativeResize="0"/>
          <p:nvPr/>
        </p:nvPicPr>
        <p:blipFill rotWithShape="1">
          <a:blip r:embed="rId2">
            <a:alphaModFix/>
          </a:blip>
          <a:srcRect b="0" l="0" r="0" t="0"/>
          <a:stretch/>
        </p:blipFill>
        <p:spPr>
          <a:xfrm>
            <a:off x="90583" y="6349150"/>
            <a:ext cx="484186" cy="4321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hite">
  <p:cSld name="Title Only White">
    <p:spTree>
      <p:nvGrpSpPr>
        <p:cNvPr id="89" name="Shape 89"/>
        <p:cNvGrpSpPr/>
        <p:nvPr/>
      </p:nvGrpSpPr>
      <p:grpSpPr>
        <a:xfrm>
          <a:off x="0" y="0"/>
          <a:ext cx="0" cy="0"/>
          <a:chOff x="0" y="0"/>
          <a:chExt cx="0" cy="0"/>
        </a:xfrm>
      </p:grpSpPr>
      <p:sp>
        <p:nvSpPr>
          <p:cNvPr id="90" name="Google Shape;90;p13"/>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066B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3"/>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3"/>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14"/>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5" name="Google Shape;95;p14"/>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Columns Picture">
  <p:cSld name="Content Two Columns Picture">
    <p:spTree>
      <p:nvGrpSpPr>
        <p:cNvPr id="96" name="Shape 96"/>
        <p:cNvGrpSpPr/>
        <p:nvPr/>
      </p:nvGrpSpPr>
      <p:grpSpPr>
        <a:xfrm>
          <a:off x="0" y="0"/>
          <a:ext cx="0" cy="0"/>
          <a:chOff x="0" y="0"/>
          <a:chExt cx="0" cy="0"/>
        </a:xfrm>
      </p:grpSpPr>
      <p:sp>
        <p:nvSpPr>
          <p:cNvPr id="97" name="Google Shape;97;p15"/>
          <p:cNvSpPr txBox="1"/>
          <p:nvPr>
            <p:ph type="title"/>
          </p:nvPr>
        </p:nvSpPr>
        <p:spPr>
          <a:xfrm>
            <a:off x="621792" y="457202"/>
            <a:ext cx="5474100" cy="442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rgbClr val="0066B3"/>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5"/>
          <p:cNvSpPr txBox="1"/>
          <p:nvPr>
            <p:ph idx="1" type="body"/>
          </p:nvPr>
        </p:nvSpPr>
        <p:spPr>
          <a:xfrm>
            <a:off x="621792" y="987425"/>
            <a:ext cx="5474100" cy="5091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2400"/>
              <a:buFont typeface="Arial"/>
              <a:buNone/>
              <a:defRPr sz="2400"/>
            </a:lvl1pPr>
            <a:lvl2pPr indent="-228600" lvl="1" marL="914400" algn="l">
              <a:lnSpc>
                <a:spcPct val="90000"/>
              </a:lnSpc>
              <a:spcBef>
                <a:spcPts val="500"/>
              </a:spcBef>
              <a:spcAft>
                <a:spcPts val="0"/>
              </a:spcAft>
              <a:buClr>
                <a:srgbClr val="0066B3"/>
              </a:buClr>
              <a:buSzPts val="2200"/>
              <a:buNone/>
              <a:defRPr sz="2200"/>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99" name="Google Shape;99;p15"/>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00" name="Google Shape;100;p15"/>
          <p:cNvSpPr/>
          <p:nvPr>
            <p:ph idx="2" type="pic"/>
          </p:nvPr>
        </p:nvSpPr>
        <p:spPr>
          <a:xfrm>
            <a:off x="6096000" y="0"/>
            <a:ext cx="6096000" cy="6858000"/>
          </a:xfrm>
          <a:prstGeom prst="rect">
            <a:avLst/>
          </a:prstGeom>
          <a:noFill/>
          <a:ln>
            <a:noFill/>
          </a:ln>
        </p:spPr>
      </p:sp>
      <p:pic>
        <p:nvPicPr>
          <p:cNvPr id="101" name="Google Shape;101;p15"/>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ubtitle Two Columns Picture">
  <p:cSld name="Content Subtitle Two Columns Picture">
    <p:spTree>
      <p:nvGrpSpPr>
        <p:cNvPr id="102" name="Shape 102"/>
        <p:cNvGrpSpPr/>
        <p:nvPr/>
      </p:nvGrpSpPr>
      <p:grpSpPr>
        <a:xfrm>
          <a:off x="0" y="0"/>
          <a:ext cx="0" cy="0"/>
          <a:chOff x="0" y="0"/>
          <a:chExt cx="0" cy="0"/>
        </a:xfrm>
      </p:grpSpPr>
      <p:sp>
        <p:nvSpPr>
          <p:cNvPr id="103" name="Google Shape;103;p16"/>
          <p:cNvSpPr/>
          <p:nvPr>
            <p:ph idx="2" type="pic"/>
          </p:nvPr>
        </p:nvSpPr>
        <p:spPr>
          <a:xfrm>
            <a:off x="6096000" y="0"/>
            <a:ext cx="6096000" cy="6858000"/>
          </a:xfrm>
          <a:prstGeom prst="rect">
            <a:avLst/>
          </a:prstGeom>
          <a:noFill/>
          <a:ln>
            <a:noFill/>
          </a:ln>
        </p:spPr>
      </p:sp>
      <p:sp>
        <p:nvSpPr>
          <p:cNvPr id="104" name="Google Shape;104;p16"/>
          <p:cNvSpPr txBox="1"/>
          <p:nvPr>
            <p:ph type="title"/>
          </p:nvPr>
        </p:nvSpPr>
        <p:spPr>
          <a:xfrm>
            <a:off x="621792" y="457202"/>
            <a:ext cx="5474100" cy="442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rgbClr val="0066B3"/>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6"/>
          <p:cNvSpPr txBox="1"/>
          <p:nvPr>
            <p:ph idx="1" type="body"/>
          </p:nvPr>
        </p:nvSpPr>
        <p:spPr>
          <a:xfrm>
            <a:off x="621792" y="1602787"/>
            <a:ext cx="5474100" cy="446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2400"/>
              <a:buFont typeface="Arial"/>
              <a:buNone/>
              <a:defRPr sz="2400"/>
            </a:lvl1pPr>
            <a:lvl2pPr indent="-228600" lvl="1" marL="914400" algn="l">
              <a:lnSpc>
                <a:spcPct val="90000"/>
              </a:lnSpc>
              <a:spcBef>
                <a:spcPts val="500"/>
              </a:spcBef>
              <a:spcAft>
                <a:spcPts val="0"/>
              </a:spcAft>
              <a:buClr>
                <a:srgbClr val="0066B3"/>
              </a:buClr>
              <a:buSzPts val="2200"/>
              <a:buNone/>
              <a:defRPr sz="2200"/>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6" name="Google Shape;106;p16"/>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07" name="Google Shape;107;p16"/>
          <p:cNvCxnSpPr/>
          <p:nvPr/>
        </p:nvCxnSpPr>
        <p:spPr>
          <a:xfrm>
            <a:off x="621792" y="1412134"/>
            <a:ext cx="2743500" cy="0"/>
          </a:xfrm>
          <a:prstGeom prst="straightConnector1">
            <a:avLst/>
          </a:prstGeom>
          <a:noFill/>
          <a:ln cap="flat" cmpd="sng" w="50800">
            <a:solidFill>
              <a:srgbClr val="E2C720"/>
            </a:solidFill>
            <a:prstDash val="solid"/>
            <a:miter lim="800000"/>
            <a:headEnd len="sm" w="sm" type="none"/>
            <a:tailEnd len="sm" w="sm" type="none"/>
          </a:ln>
        </p:spPr>
      </p:cxnSp>
      <p:pic>
        <p:nvPicPr>
          <p:cNvPr id="108" name="Google Shape;108;p16"/>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
        <p:nvSpPr>
          <p:cNvPr id="109" name="Google Shape;109;p16"/>
          <p:cNvSpPr txBox="1"/>
          <p:nvPr>
            <p:ph idx="3" type="subTitle"/>
          </p:nvPr>
        </p:nvSpPr>
        <p:spPr>
          <a:xfrm>
            <a:off x="621793" y="978412"/>
            <a:ext cx="7370700" cy="342900"/>
          </a:xfrm>
          <a:prstGeom prst="rect">
            <a:avLst/>
          </a:prstGeom>
          <a:noFill/>
          <a:ln>
            <a:noFill/>
          </a:ln>
        </p:spPr>
        <p:txBody>
          <a:bodyPr anchorCtr="0" anchor="t" bIns="0" lIns="0" spcFirstLastPara="1" rIns="0" wrap="square" tIns="0">
            <a:noAutofit/>
          </a:bodyPr>
          <a:lstStyle>
            <a:lvl1pPr lvl="0" algn="l">
              <a:lnSpc>
                <a:spcPct val="90000"/>
              </a:lnSpc>
              <a:spcBef>
                <a:spcPts val="1000"/>
              </a:spcBef>
              <a:spcAft>
                <a:spcPts val="0"/>
              </a:spcAft>
              <a:buClr>
                <a:schemeClr val="accent5"/>
              </a:buClr>
              <a:buSzPts val="2400"/>
              <a:buFont typeface="Arial"/>
              <a:buNone/>
              <a:defRPr b="0" i="0" sz="2400">
                <a:solidFill>
                  <a:schemeClr val="accent5"/>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solidFill>
                  <a:schemeClr val="dk2"/>
                </a:solidFill>
              </a:defRPr>
            </a:lvl2pPr>
            <a:lvl3pPr lvl="2" algn="ctr">
              <a:lnSpc>
                <a:spcPct val="90000"/>
              </a:lnSpc>
              <a:spcBef>
                <a:spcPts val="500"/>
              </a:spcBef>
              <a:spcAft>
                <a:spcPts val="0"/>
              </a:spcAft>
              <a:buClr>
                <a:schemeClr val="dk2"/>
              </a:buClr>
              <a:buSzPts val="1800"/>
              <a:buNone/>
              <a:defRPr sz="1800">
                <a:solidFill>
                  <a:schemeClr val="dk2"/>
                </a:solidFill>
              </a:defRPr>
            </a:lvl3pPr>
            <a:lvl4pPr lvl="3" algn="ctr">
              <a:lnSpc>
                <a:spcPct val="90000"/>
              </a:lnSpc>
              <a:spcBef>
                <a:spcPts val="500"/>
              </a:spcBef>
              <a:spcAft>
                <a:spcPts val="0"/>
              </a:spcAft>
              <a:buClr>
                <a:schemeClr val="dk2"/>
              </a:buClr>
              <a:buSzPts val="1600"/>
              <a:buNone/>
              <a:defRPr sz="1600">
                <a:solidFill>
                  <a:schemeClr val="dk2"/>
                </a:solidFill>
              </a:defRPr>
            </a:lvl4pPr>
            <a:lvl5pPr lvl="4" algn="ctr">
              <a:lnSpc>
                <a:spcPct val="90000"/>
              </a:lnSpc>
              <a:spcBef>
                <a:spcPts val="500"/>
              </a:spcBef>
              <a:spcAft>
                <a:spcPts val="0"/>
              </a:spcAft>
              <a:buClr>
                <a:schemeClr val="dk2"/>
              </a:buClr>
              <a:buSzPts val="1600"/>
              <a:buNone/>
              <a:defRPr sz="1600">
                <a:solidFill>
                  <a:schemeClr val="dk2"/>
                </a:solidFill>
              </a:defRPr>
            </a:lvl5pPr>
            <a:lvl6pPr lvl="5" algn="ctr">
              <a:lnSpc>
                <a:spcPct val="90000"/>
              </a:lnSpc>
              <a:spcBef>
                <a:spcPts val="500"/>
              </a:spcBef>
              <a:spcAft>
                <a:spcPts val="0"/>
              </a:spcAft>
              <a:buClr>
                <a:schemeClr val="dk2"/>
              </a:buClr>
              <a:buSzPts val="1600"/>
              <a:buNone/>
              <a:defRPr sz="1600">
                <a:solidFill>
                  <a:schemeClr val="dk2"/>
                </a:solidFill>
              </a:defRPr>
            </a:lvl6pPr>
            <a:lvl7pPr lvl="6" algn="ctr">
              <a:lnSpc>
                <a:spcPct val="90000"/>
              </a:lnSpc>
              <a:spcBef>
                <a:spcPts val="500"/>
              </a:spcBef>
              <a:spcAft>
                <a:spcPts val="0"/>
              </a:spcAft>
              <a:buClr>
                <a:schemeClr val="dk2"/>
              </a:buClr>
              <a:buSzPts val="1600"/>
              <a:buNone/>
              <a:defRPr sz="1600">
                <a:solidFill>
                  <a:schemeClr val="dk2"/>
                </a:solidFill>
              </a:defRPr>
            </a:lvl7pPr>
            <a:lvl8pPr lvl="7" algn="ctr">
              <a:lnSpc>
                <a:spcPct val="90000"/>
              </a:lnSpc>
              <a:spcBef>
                <a:spcPts val="500"/>
              </a:spcBef>
              <a:spcAft>
                <a:spcPts val="0"/>
              </a:spcAft>
              <a:buClr>
                <a:schemeClr val="dk2"/>
              </a:buClr>
              <a:buSzPts val="1600"/>
              <a:buNone/>
              <a:defRPr sz="1600">
                <a:solidFill>
                  <a:schemeClr val="dk2"/>
                </a:solidFill>
              </a:defRPr>
            </a:lvl8pPr>
            <a:lvl9pPr lvl="8" algn="ctr">
              <a:lnSpc>
                <a:spcPct val="90000"/>
              </a:lnSpc>
              <a:spcBef>
                <a:spcPts val="50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Columns Blue Block Chart">
  <p:cSld name="Content Two Columns Blue Block Chart">
    <p:spTree>
      <p:nvGrpSpPr>
        <p:cNvPr id="110" name="Shape 110"/>
        <p:cNvGrpSpPr/>
        <p:nvPr/>
      </p:nvGrpSpPr>
      <p:grpSpPr>
        <a:xfrm>
          <a:off x="0" y="0"/>
          <a:ext cx="0" cy="0"/>
          <a:chOff x="0" y="0"/>
          <a:chExt cx="0" cy="0"/>
        </a:xfrm>
      </p:grpSpPr>
      <p:sp>
        <p:nvSpPr>
          <p:cNvPr id="111" name="Google Shape;111;p17"/>
          <p:cNvSpPr/>
          <p:nvPr/>
        </p:nvSpPr>
        <p:spPr>
          <a:xfrm>
            <a:off x="6096000" y="0"/>
            <a:ext cx="6096000" cy="6858000"/>
          </a:xfrm>
          <a:prstGeom prst="rect">
            <a:avLst/>
          </a:prstGeom>
          <a:solidFill>
            <a:schemeClr val="accent1"/>
          </a:solidFill>
          <a:ln cap="flat" cmpd="sng" w="12700">
            <a:solidFill>
              <a:srgbClr val="004A8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 name="Google Shape;112;p17"/>
          <p:cNvSpPr txBox="1"/>
          <p:nvPr>
            <p:ph idx="1" type="body"/>
          </p:nvPr>
        </p:nvSpPr>
        <p:spPr>
          <a:xfrm>
            <a:off x="6406896" y="987425"/>
            <a:ext cx="5474100" cy="5091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lt1"/>
              </a:buClr>
              <a:buSzPts val="2400"/>
              <a:buFont typeface="Arial"/>
              <a:buNone/>
              <a:defRPr sz="2400">
                <a:solidFill>
                  <a:schemeClr val="lt1"/>
                </a:solidFill>
              </a:defRPr>
            </a:lvl1pPr>
            <a:lvl2pPr indent="-228600" lvl="1" marL="914400" algn="l">
              <a:lnSpc>
                <a:spcPct val="90000"/>
              </a:lnSpc>
              <a:spcBef>
                <a:spcPts val="500"/>
              </a:spcBef>
              <a:spcAft>
                <a:spcPts val="0"/>
              </a:spcAft>
              <a:buClr>
                <a:schemeClr val="lt1"/>
              </a:buClr>
              <a:buSzPts val="2200"/>
              <a:buNone/>
              <a:defRPr sz="2200">
                <a:solidFill>
                  <a:schemeClr val="lt1"/>
                </a:solidFill>
              </a:defRPr>
            </a:lvl2pPr>
            <a:lvl3pPr indent="-228600" lvl="2" marL="1371600" algn="l">
              <a:lnSpc>
                <a:spcPct val="90000"/>
              </a:lnSpc>
              <a:spcBef>
                <a:spcPts val="500"/>
              </a:spcBef>
              <a:spcAft>
                <a:spcPts val="0"/>
              </a:spcAft>
              <a:buClr>
                <a:schemeClr val="lt1"/>
              </a:buClr>
              <a:buSzPts val="2000"/>
              <a:buNone/>
              <a:defRPr>
                <a:solidFill>
                  <a:schemeClr val="lt1"/>
                </a:solidFill>
              </a:defRPr>
            </a:lvl3pPr>
            <a:lvl4pPr indent="-228600" lvl="3" marL="1828800" algn="l">
              <a:lnSpc>
                <a:spcPct val="90000"/>
              </a:lnSpc>
              <a:spcBef>
                <a:spcPts val="500"/>
              </a:spcBef>
              <a:spcAft>
                <a:spcPts val="0"/>
              </a:spcAft>
              <a:buClr>
                <a:schemeClr val="lt1"/>
              </a:buClr>
              <a:buSzPts val="1800"/>
              <a:buNone/>
              <a:defRPr>
                <a:solidFill>
                  <a:schemeClr val="lt1"/>
                </a:solidFill>
              </a:defRPr>
            </a:lvl4pPr>
            <a:lvl5pPr indent="-228600" lvl="4" marL="2286000" algn="l">
              <a:lnSpc>
                <a:spcPct val="90000"/>
              </a:lnSpc>
              <a:spcBef>
                <a:spcPts val="500"/>
              </a:spcBef>
              <a:spcAft>
                <a:spcPts val="0"/>
              </a:spcAft>
              <a:buClr>
                <a:schemeClr val="lt1"/>
              </a:buClr>
              <a:buSzPts val="1800"/>
              <a:buNone/>
              <a:defRPr>
                <a:solidFill>
                  <a:schemeClr val="lt1"/>
                </a:solidFill>
              </a:defRPr>
            </a:lvl5pPr>
            <a:lvl6pPr indent="-228600" lvl="5" marL="2743200" algn="l">
              <a:lnSpc>
                <a:spcPct val="90000"/>
              </a:lnSpc>
              <a:spcBef>
                <a:spcPts val="500"/>
              </a:spcBef>
              <a:spcAft>
                <a:spcPts val="0"/>
              </a:spcAft>
              <a:buClr>
                <a:schemeClr val="lt1"/>
              </a:buClr>
              <a:buSzPts val="1800"/>
              <a:buNone/>
              <a:defRPr>
                <a:solidFill>
                  <a:schemeClr val="lt1"/>
                </a:solidFill>
              </a:defRPr>
            </a:lvl6pPr>
            <a:lvl7pPr indent="-228600" lvl="6" marL="3200400" algn="l">
              <a:lnSpc>
                <a:spcPct val="90000"/>
              </a:lnSpc>
              <a:spcBef>
                <a:spcPts val="500"/>
              </a:spcBef>
              <a:spcAft>
                <a:spcPts val="0"/>
              </a:spcAft>
              <a:buClr>
                <a:schemeClr val="lt1"/>
              </a:buClr>
              <a:buSzPts val="1800"/>
              <a:buNone/>
              <a:defRPr>
                <a:solidFill>
                  <a:schemeClr val="lt1"/>
                </a:solidFill>
              </a:defRPr>
            </a:lvl7pPr>
            <a:lvl8pPr indent="-228600" lvl="7" marL="3657600" algn="l">
              <a:lnSpc>
                <a:spcPct val="90000"/>
              </a:lnSpc>
              <a:spcBef>
                <a:spcPts val="500"/>
              </a:spcBef>
              <a:spcAft>
                <a:spcPts val="0"/>
              </a:spcAft>
              <a:buClr>
                <a:schemeClr val="lt1"/>
              </a:buClr>
              <a:buSzPts val="1800"/>
              <a:buNone/>
              <a:defRPr>
                <a:solidFill>
                  <a:schemeClr val="lt1"/>
                </a:solidFill>
              </a:defRPr>
            </a:lvl8pPr>
            <a:lvl9pPr indent="-228600" lvl="8" marL="4114800" algn="l">
              <a:lnSpc>
                <a:spcPct val="90000"/>
              </a:lnSpc>
              <a:spcBef>
                <a:spcPts val="500"/>
              </a:spcBef>
              <a:spcAft>
                <a:spcPts val="0"/>
              </a:spcAft>
              <a:buClr>
                <a:schemeClr val="lt1"/>
              </a:buClr>
              <a:buSzPts val="1800"/>
              <a:buNone/>
              <a:defRPr>
                <a:solidFill>
                  <a:schemeClr val="lt1"/>
                </a:solidFill>
              </a:defRPr>
            </a:lvl9pPr>
          </a:lstStyle>
          <a:p/>
        </p:txBody>
      </p:sp>
      <p:sp>
        <p:nvSpPr>
          <p:cNvPr id="113" name="Google Shape;113;p17"/>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17"/>
          <p:cNvSpPr txBox="1"/>
          <p:nvPr>
            <p:ph type="title"/>
          </p:nvPr>
        </p:nvSpPr>
        <p:spPr>
          <a:xfrm>
            <a:off x="310896" y="457202"/>
            <a:ext cx="5474100" cy="442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rgbClr val="0066B3"/>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15" name="Google Shape;115;p17"/>
          <p:cNvPicPr preferRelativeResize="0"/>
          <p:nvPr/>
        </p:nvPicPr>
        <p:blipFill rotWithShape="1">
          <a:blip r:embed="rId2">
            <a:alphaModFix/>
          </a:blip>
          <a:srcRect b="0" l="0" r="0" t="0"/>
          <a:stretch/>
        </p:blipFill>
        <p:spPr>
          <a:xfrm>
            <a:off x="90584" y="6349151"/>
            <a:ext cx="484186" cy="432167"/>
          </a:xfrm>
          <a:prstGeom prst="rect">
            <a:avLst/>
          </a:prstGeom>
          <a:noFill/>
          <a:ln>
            <a:noFill/>
          </a:ln>
        </p:spPr>
      </p:pic>
      <p:sp>
        <p:nvSpPr>
          <p:cNvPr id="116" name="Google Shape;116;p17"/>
          <p:cNvSpPr/>
          <p:nvPr>
            <p:ph idx="2" type="pic"/>
          </p:nvPr>
        </p:nvSpPr>
        <p:spPr>
          <a:xfrm>
            <a:off x="311150" y="987375"/>
            <a:ext cx="5474100" cy="46491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Columns Blue Block Picture">
  <p:cSld name="Content Two Columns Blue Block Picture">
    <p:spTree>
      <p:nvGrpSpPr>
        <p:cNvPr id="117" name="Shape 117"/>
        <p:cNvGrpSpPr/>
        <p:nvPr/>
      </p:nvGrpSpPr>
      <p:grpSpPr>
        <a:xfrm>
          <a:off x="0" y="0"/>
          <a:ext cx="0" cy="0"/>
          <a:chOff x="0" y="0"/>
          <a:chExt cx="0" cy="0"/>
        </a:xfrm>
      </p:grpSpPr>
      <p:sp>
        <p:nvSpPr>
          <p:cNvPr id="118" name="Google Shape;118;p18"/>
          <p:cNvSpPr/>
          <p:nvPr/>
        </p:nvSpPr>
        <p:spPr>
          <a:xfrm>
            <a:off x="0" y="0"/>
            <a:ext cx="6096000" cy="6858000"/>
          </a:xfrm>
          <a:prstGeom prst="rect">
            <a:avLst/>
          </a:prstGeom>
          <a:solidFill>
            <a:schemeClr val="accent1"/>
          </a:solidFill>
          <a:ln cap="flat" cmpd="sng" w="12700">
            <a:solidFill>
              <a:srgbClr val="004A8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 name="Google Shape;119;p18"/>
          <p:cNvSpPr txBox="1"/>
          <p:nvPr>
            <p:ph idx="1" type="body"/>
          </p:nvPr>
        </p:nvSpPr>
        <p:spPr>
          <a:xfrm>
            <a:off x="310896" y="987425"/>
            <a:ext cx="5474100" cy="5091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lt1"/>
              </a:buClr>
              <a:buSzPts val="2400"/>
              <a:buFont typeface="Arial"/>
              <a:buNone/>
              <a:defRPr sz="2400">
                <a:solidFill>
                  <a:schemeClr val="lt1"/>
                </a:solidFill>
              </a:defRPr>
            </a:lvl1pPr>
            <a:lvl2pPr indent="-228600" lvl="1" marL="914400" algn="l">
              <a:lnSpc>
                <a:spcPct val="90000"/>
              </a:lnSpc>
              <a:spcBef>
                <a:spcPts val="500"/>
              </a:spcBef>
              <a:spcAft>
                <a:spcPts val="0"/>
              </a:spcAft>
              <a:buClr>
                <a:schemeClr val="lt1"/>
              </a:buClr>
              <a:buSzPts val="2200"/>
              <a:buNone/>
              <a:defRPr sz="2200">
                <a:solidFill>
                  <a:schemeClr val="lt1"/>
                </a:solidFill>
              </a:defRPr>
            </a:lvl2pPr>
            <a:lvl3pPr indent="-228600" lvl="2" marL="1371600" algn="l">
              <a:lnSpc>
                <a:spcPct val="90000"/>
              </a:lnSpc>
              <a:spcBef>
                <a:spcPts val="500"/>
              </a:spcBef>
              <a:spcAft>
                <a:spcPts val="0"/>
              </a:spcAft>
              <a:buClr>
                <a:schemeClr val="lt1"/>
              </a:buClr>
              <a:buSzPts val="2000"/>
              <a:buNone/>
              <a:defRPr>
                <a:solidFill>
                  <a:schemeClr val="lt1"/>
                </a:solidFill>
              </a:defRPr>
            </a:lvl3pPr>
            <a:lvl4pPr indent="-228600" lvl="3" marL="1828800" algn="l">
              <a:lnSpc>
                <a:spcPct val="90000"/>
              </a:lnSpc>
              <a:spcBef>
                <a:spcPts val="500"/>
              </a:spcBef>
              <a:spcAft>
                <a:spcPts val="0"/>
              </a:spcAft>
              <a:buClr>
                <a:schemeClr val="lt1"/>
              </a:buClr>
              <a:buSzPts val="1800"/>
              <a:buNone/>
              <a:defRPr>
                <a:solidFill>
                  <a:schemeClr val="lt1"/>
                </a:solidFill>
              </a:defRPr>
            </a:lvl4pPr>
            <a:lvl5pPr indent="-228600" lvl="4" marL="2286000" algn="l">
              <a:lnSpc>
                <a:spcPct val="90000"/>
              </a:lnSpc>
              <a:spcBef>
                <a:spcPts val="500"/>
              </a:spcBef>
              <a:spcAft>
                <a:spcPts val="0"/>
              </a:spcAft>
              <a:buClr>
                <a:schemeClr val="lt1"/>
              </a:buClr>
              <a:buSzPts val="1800"/>
              <a:buNone/>
              <a:defRPr>
                <a:solidFill>
                  <a:schemeClr val="lt1"/>
                </a:solidFill>
              </a:defRPr>
            </a:lvl5pPr>
            <a:lvl6pPr indent="-228600" lvl="5" marL="2743200" algn="l">
              <a:lnSpc>
                <a:spcPct val="90000"/>
              </a:lnSpc>
              <a:spcBef>
                <a:spcPts val="500"/>
              </a:spcBef>
              <a:spcAft>
                <a:spcPts val="0"/>
              </a:spcAft>
              <a:buClr>
                <a:schemeClr val="lt1"/>
              </a:buClr>
              <a:buSzPts val="1800"/>
              <a:buNone/>
              <a:defRPr>
                <a:solidFill>
                  <a:schemeClr val="lt1"/>
                </a:solidFill>
              </a:defRPr>
            </a:lvl6pPr>
            <a:lvl7pPr indent="-228600" lvl="6" marL="3200400" algn="l">
              <a:lnSpc>
                <a:spcPct val="90000"/>
              </a:lnSpc>
              <a:spcBef>
                <a:spcPts val="500"/>
              </a:spcBef>
              <a:spcAft>
                <a:spcPts val="0"/>
              </a:spcAft>
              <a:buClr>
                <a:schemeClr val="lt1"/>
              </a:buClr>
              <a:buSzPts val="1800"/>
              <a:buNone/>
              <a:defRPr>
                <a:solidFill>
                  <a:schemeClr val="lt1"/>
                </a:solidFill>
              </a:defRPr>
            </a:lvl7pPr>
            <a:lvl8pPr indent="-228600" lvl="7" marL="3657600" algn="l">
              <a:lnSpc>
                <a:spcPct val="90000"/>
              </a:lnSpc>
              <a:spcBef>
                <a:spcPts val="500"/>
              </a:spcBef>
              <a:spcAft>
                <a:spcPts val="0"/>
              </a:spcAft>
              <a:buClr>
                <a:schemeClr val="lt1"/>
              </a:buClr>
              <a:buSzPts val="1800"/>
              <a:buNone/>
              <a:defRPr>
                <a:solidFill>
                  <a:schemeClr val="lt1"/>
                </a:solidFill>
              </a:defRPr>
            </a:lvl8pPr>
            <a:lvl9pPr indent="-228600" lvl="8" marL="4114800" algn="l">
              <a:lnSpc>
                <a:spcPct val="90000"/>
              </a:lnSpc>
              <a:spcBef>
                <a:spcPts val="500"/>
              </a:spcBef>
              <a:spcAft>
                <a:spcPts val="0"/>
              </a:spcAft>
              <a:buClr>
                <a:schemeClr val="lt1"/>
              </a:buClr>
              <a:buSzPts val="1800"/>
              <a:buNone/>
              <a:defRPr>
                <a:solidFill>
                  <a:schemeClr val="lt1"/>
                </a:solidFill>
              </a:defRPr>
            </a:lvl9pPr>
          </a:lstStyle>
          <a:p/>
        </p:txBody>
      </p:sp>
      <p:sp>
        <p:nvSpPr>
          <p:cNvPr id="120" name="Google Shape;120;p18"/>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18"/>
          <p:cNvSpPr/>
          <p:nvPr>
            <p:ph idx="2" type="pic"/>
          </p:nvPr>
        </p:nvSpPr>
        <p:spPr>
          <a:xfrm>
            <a:off x="6096000" y="0"/>
            <a:ext cx="6096000" cy="6858000"/>
          </a:xfrm>
          <a:prstGeom prst="rect">
            <a:avLst/>
          </a:prstGeom>
          <a:noFill/>
          <a:ln>
            <a:noFill/>
          </a:ln>
        </p:spPr>
      </p:sp>
      <p:pic>
        <p:nvPicPr>
          <p:cNvPr id="122" name="Google Shape;122;p18"/>
          <p:cNvPicPr preferRelativeResize="0"/>
          <p:nvPr/>
        </p:nvPicPr>
        <p:blipFill rotWithShape="1">
          <a:blip r:embed="rId2">
            <a:alphaModFix/>
          </a:blip>
          <a:srcRect b="0" l="0" r="0" t="0"/>
          <a:stretch/>
        </p:blipFill>
        <p:spPr>
          <a:xfrm>
            <a:off x="90583" y="6349150"/>
            <a:ext cx="484186" cy="43216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Pull quote">
    <p:bg>
      <p:bgPr>
        <a:solidFill>
          <a:srgbClr val="0066B3"/>
        </a:solidFill>
      </p:bgPr>
    </p:bg>
    <p:spTree>
      <p:nvGrpSpPr>
        <p:cNvPr id="123" name="Shape 123"/>
        <p:cNvGrpSpPr/>
        <p:nvPr/>
      </p:nvGrpSpPr>
      <p:grpSpPr>
        <a:xfrm>
          <a:off x="0" y="0"/>
          <a:ext cx="0" cy="0"/>
          <a:chOff x="0" y="0"/>
          <a:chExt cx="0" cy="0"/>
        </a:xfrm>
      </p:grpSpPr>
      <p:sp>
        <p:nvSpPr>
          <p:cNvPr id="124" name="Google Shape;124;p19"/>
          <p:cNvSpPr txBox="1"/>
          <p:nvPr>
            <p:ph type="title"/>
          </p:nvPr>
        </p:nvSpPr>
        <p:spPr>
          <a:xfrm>
            <a:off x="2076996" y="1570957"/>
            <a:ext cx="8037900" cy="285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9"/>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26" name="Google Shape;126;p19"/>
          <p:cNvCxnSpPr/>
          <p:nvPr/>
        </p:nvCxnSpPr>
        <p:spPr>
          <a:xfrm>
            <a:off x="2076995" y="4905303"/>
            <a:ext cx="8037900" cy="0"/>
          </a:xfrm>
          <a:prstGeom prst="straightConnector1">
            <a:avLst/>
          </a:prstGeom>
          <a:noFill/>
          <a:ln cap="flat" cmpd="sng" w="50800">
            <a:solidFill>
              <a:srgbClr val="E2C720"/>
            </a:solidFill>
            <a:prstDash val="solid"/>
            <a:miter lim="800000"/>
            <a:headEnd len="sm" w="sm" type="none"/>
            <a:tailEnd len="sm" w="sm" type="none"/>
          </a:ln>
        </p:spPr>
      </p:cxnSp>
      <p:pic>
        <p:nvPicPr>
          <p:cNvPr id="127" name="Google Shape;127;p19"/>
          <p:cNvPicPr preferRelativeResize="0"/>
          <p:nvPr/>
        </p:nvPicPr>
        <p:blipFill rotWithShape="1">
          <a:blip r:embed="rId2">
            <a:alphaModFix/>
          </a:blip>
          <a:srcRect b="0" l="0" r="0" t="0"/>
          <a:stretch/>
        </p:blipFill>
        <p:spPr>
          <a:xfrm>
            <a:off x="90583" y="6349150"/>
            <a:ext cx="484186" cy="432166"/>
          </a:xfrm>
          <a:prstGeom prst="rect">
            <a:avLst/>
          </a:prstGeom>
          <a:noFill/>
          <a:ln>
            <a:noFill/>
          </a:ln>
        </p:spPr>
      </p:pic>
      <p:sp>
        <p:nvSpPr>
          <p:cNvPr id="128" name="Google Shape;128;p19"/>
          <p:cNvSpPr txBox="1"/>
          <p:nvPr/>
        </p:nvSpPr>
        <p:spPr>
          <a:xfrm>
            <a:off x="1971125" y="1570950"/>
            <a:ext cx="1182600" cy="14115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1000"/>
              </a:spcBef>
              <a:spcAft>
                <a:spcPts val="0"/>
              </a:spcAft>
              <a:buClr>
                <a:srgbClr val="000000"/>
              </a:buClr>
              <a:buSzPts val="20000"/>
              <a:buFont typeface="Arial"/>
              <a:buNone/>
            </a:pPr>
            <a:r>
              <a:rPr b="0" i="0" lang="en-US" sz="20000" u="none" cap="none" strike="noStrike">
                <a:solidFill>
                  <a:schemeClr val="accent3"/>
                </a:solidFill>
                <a:latin typeface="Arial"/>
                <a:ea typeface="Arial"/>
                <a:cs typeface="Arial"/>
                <a:sym typeface="Arial"/>
              </a:rPr>
              <a:t>“</a:t>
            </a:r>
            <a:endParaRPr b="0" i="0" sz="20000" u="none" cap="none" strike="noStrike">
              <a:solidFill>
                <a:schemeClr val="accent3"/>
              </a:solidFill>
              <a:latin typeface="Arial"/>
              <a:ea typeface="Arial"/>
              <a:cs typeface="Arial"/>
              <a:sym typeface="Arial"/>
            </a:endParaRPr>
          </a:p>
        </p:txBody>
      </p:sp>
      <p:sp>
        <p:nvSpPr>
          <p:cNvPr id="129" name="Google Shape;129;p19"/>
          <p:cNvSpPr txBox="1"/>
          <p:nvPr>
            <p:ph idx="2" type="title"/>
          </p:nvPr>
        </p:nvSpPr>
        <p:spPr>
          <a:xfrm>
            <a:off x="2077050" y="4393200"/>
            <a:ext cx="8037900" cy="512100"/>
          </a:xfrm>
          <a:prstGeom prst="rect">
            <a:avLst/>
          </a:prstGeom>
          <a:noFill/>
          <a:ln>
            <a:noFill/>
          </a:ln>
        </p:spPr>
        <p:txBody>
          <a:bodyPr anchorCtr="0" anchor="ctr" bIns="0" lIns="0" spcFirstLastPara="1" rIns="0" wrap="square" tIns="0">
            <a:noAutofit/>
          </a:bodyPr>
          <a:lstStyle>
            <a:lvl1pPr lvl="0" algn="r">
              <a:lnSpc>
                <a:spcPct val="90000"/>
              </a:lnSpc>
              <a:spcBef>
                <a:spcPts val="0"/>
              </a:spcBef>
              <a:spcAft>
                <a:spcPts val="0"/>
              </a:spcAft>
              <a:buClr>
                <a:schemeClr val="lt1"/>
              </a:buClr>
              <a:buSzPts val="2400"/>
              <a:buFont typeface="Arial"/>
              <a:buNone/>
              <a:defRPr sz="2400">
                <a:solidFill>
                  <a:schemeClr val="lt1"/>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Slide Summary">
  <p:cSld name="Final Slide Summary">
    <p:bg>
      <p:bgPr>
        <a:solidFill>
          <a:schemeClr val="lt1"/>
        </a:solidFill>
      </p:bgPr>
    </p:bg>
    <p:spTree>
      <p:nvGrpSpPr>
        <p:cNvPr id="130" name="Shape 130"/>
        <p:cNvGrpSpPr/>
        <p:nvPr/>
      </p:nvGrpSpPr>
      <p:grpSpPr>
        <a:xfrm>
          <a:off x="0" y="0"/>
          <a:ext cx="0" cy="0"/>
          <a:chOff x="0" y="0"/>
          <a:chExt cx="0" cy="0"/>
        </a:xfrm>
      </p:grpSpPr>
      <p:sp>
        <p:nvSpPr>
          <p:cNvPr id="131" name="Google Shape;131;p20"/>
          <p:cNvSpPr/>
          <p:nvPr/>
        </p:nvSpPr>
        <p:spPr>
          <a:xfrm>
            <a:off x="0" y="0"/>
            <a:ext cx="12192000" cy="5104500"/>
          </a:xfrm>
          <a:prstGeom prst="rect">
            <a:avLst/>
          </a:prstGeom>
          <a:solidFill>
            <a:schemeClr val="accent1"/>
          </a:solidFill>
          <a:ln cap="flat" cmpd="sng" w="12700">
            <a:solidFill>
              <a:srgbClr val="004A8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 name="Google Shape;132;p20"/>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20"/>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34" name="Google Shape;134;p20"/>
          <p:cNvPicPr preferRelativeResize="0"/>
          <p:nvPr/>
        </p:nvPicPr>
        <p:blipFill rotWithShape="1">
          <a:blip r:embed="rId2">
            <a:alphaModFix/>
          </a:blip>
          <a:srcRect b="0" l="0" r="0" t="0"/>
          <a:stretch/>
        </p:blipFill>
        <p:spPr>
          <a:xfrm>
            <a:off x="621793" y="6282108"/>
            <a:ext cx="484186" cy="432166"/>
          </a:xfrm>
          <a:prstGeom prst="rect">
            <a:avLst/>
          </a:prstGeom>
          <a:noFill/>
          <a:ln>
            <a:noFill/>
          </a:ln>
        </p:spPr>
      </p:pic>
      <p:sp>
        <p:nvSpPr>
          <p:cNvPr id="135" name="Google Shape;135;p20"/>
          <p:cNvSpPr txBox="1"/>
          <p:nvPr>
            <p:ph idx="1" type="subTitle"/>
          </p:nvPr>
        </p:nvSpPr>
        <p:spPr>
          <a:xfrm>
            <a:off x="621664" y="5295158"/>
            <a:ext cx="10899900" cy="342900"/>
          </a:xfrm>
          <a:prstGeom prst="rect">
            <a:avLst/>
          </a:prstGeom>
          <a:noFill/>
          <a:ln>
            <a:noFill/>
          </a:ln>
        </p:spPr>
        <p:txBody>
          <a:bodyPr anchorCtr="0" anchor="t" bIns="0" lIns="0" spcFirstLastPara="1" rIns="0" wrap="square" tIns="0">
            <a:noAutofit/>
          </a:bodyPr>
          <a:lstStyle>
            <a:lvl1pPr lvl="0" algn="r">
              <a:lnSpc>
                <a:spcPct val="90000"/>
              </a:lnSpc>
              <a:spcBef>
                <a:spcPts val="1000"/>
              </a:spcBef>
              <a:spcAft>
                <a:spcPts val="0"/>
              </a:spcAft>
              <a:buClr>
                <a:schemeClr val="dk1"/>
              </a:buClr>
              <a:buSzPts val="2400"/>
              <a:buFont typeface="Arial"/>
              <a:buNone/>
              <a:defRPr b="0" i="0" sz="2400" u="none">
                <a:solidFill>
                  <a:schemeClr val="dk1"/>
                </a:solidFill>
                <a:latin typeface="Arial"/>
                <a:ea typeface="Arial"/>
                <a:cs typeface="Arial"/>
                <a:sym typeface="Arial"/>
              </a:defRPr>
            </a:lvl1pPr>
            <a:lvl2pPr lvl="1" algn="ctr">
              <a:lnSpc>
                <a:spcPct val="90000"/>
              </a:lnSpc>
              <a:spcBef>
                <a:spcPts val="500"/>
              </a:spcBef>
              <a:spcAft>
                <a:spcPts val="0"/>
              </a:spcAft>
              <a:buClr>
                <a:srgbClr val="0066B3"/>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136" name="Google Shape;136;p20"/>
          <p:cNvCxnSpPr/>
          <p:nvPr/>
        </p:nvCxnSpPr>
        <p:spPr>
          <a:xfrm>
            <a:off x="8778240" y="5193557"/>
            <a:ext cx="2743500" cy="0"/>
          </a:xfrm>
          <a:prstGeom prst="straightConnector1">
            <a:avLst/>
          </a:prstGeom>
          <a:noFill/>
          <a:ln cap="flat" cmpd="sng" w="50800">
            <a:solidFill>
              <a:srgbClr val="E2C720"/>
            </a:solidFill>
            <a:prstDash val="solid"/>
            <a:miter lim="800000"/>
            <a:headEnd len="sm" w="sm" type="none"/>
            <a:tailEnd len="sm" w="sm" type="none"/>
          </a:ln>
        </p:spPr>
      </p:cxnSp>
      <p:sp>
        <p:nvSpPr>
          <p:cNvPr id="137" name="Google Shape;137;p20"/>
          <p:cNvSpPr txBox="1"/>
          <p:nvPr>
            <p:ph idx="2" type="body"/>
          </p:nvPr>
        </p:nvSpPr>
        <p:spPr>
          <a:xfrm>
            <a:off x="621792" y="1249501"/>
            <a:ext cx="10899600" cy="3738900"/>
          </a:xfrm>
          <a:prstGeom prst="rect">
            <a:avLst/>
          </a:prstGeom>
          <a:noFill/>
          <a:ln>
            <a:noFill/>
          </a:ln>
        </p:spPr>
        <p:txBody>
          <a:bodyPr anchorCtr="0" anchor="t" bIns="0" lIns="0" spcFirstLastPara="1" rIns="0" wrap="square" tIns="0">
            <a:noAutofit/>
          </a:bodyPr>
          <a:lstStyle>
            <a:lvl1pPr indent="-381000" lvl="0" marL="457200" algn="l">
              <a:lnSpc>
                <a:spcPct val="90000"/>
              </a:lnSpc>
              <a:spcBef>
                <a:spcPts val="1000"/>
              </a:spcBef>
              <a:spcAft>
                <a:spcPts val="0"/>
              </a:spcAft>
              <a:buClr>
                <a:schemeClr val="lt1"/>
              </a:buClr>
              <a:buSzPts val="2400"/>
              <a:buFont typeface="Arial"/>
              <a:buChar char="•"/>
              <a:defRPr sz="2400">
                <a:solidFill>
                  <a:schemeClr val="lt1"/>
                </a:solidFill>
              </a:defRPr>
            </a:lvl1pPr>
            <a:lvl2pPr indent="-355600" lvl="1" marL="914400" algn="l">
              <a:lnSpc>
                <a:spcPct val="90000"/>
              </a:lnSpc>
              <a:spcBef>
                <a:spcPts val="500"/>
              </a:spcBef>
              <a:spcAft>
                <a:spcPts val="0"/>
              </a:spcAft>
              <a:buClr>
                <a:schemeClr val="lt1"/>
              </a:buClr>
              <a:buSzPts val="2000"/>
              <a:buFont typeface="Arial"/>
              <a:buChar char="•"/>
              <a:defRPr sz="2000">
                <a:solidFill>
                  <a:schemeClr val="lt1"/>
                </a:solidFill>
              </a:defRPr>
            </a:lvl2pPr>
            <a:lvl3pPr indent="-342900" lvl="2" marL="1371600" algn="l">
              <a:lnSpc>
                <a:spcPct val="90000"/>
              </a:lnSpc>
              <a:spcBef>
                <a:spcPts val="500"/>
              </a:spcBef>
              <a:spcAft>
                <a:spcPts val="0"/>
              </a:spcAft>
              <a:buClr>
                <a:schemeClr val="lt1"/>
              </a:buClr>
              <a:buSzPts val="1800"/>
              <a:buFont typeface="Arial"/>
              <a:buChar char="•"/>
              <a:defRPr sz="1800">
                <a:solidFill>
                  <a:schemeClr val="lt1"/>
                </a:solidFill>
              </a:defRPr>
            </a:lvl3pPr>
            <a:lvl4pPr indent="-330200" lvl="3" marL="1828800" algn="l">
              <a:lnSpc>
                <a:spcPct val="90000"/>
              </a:lnSpc>
              <a:spcBef>
                <a:spcPts val="500"/>
              </a:spcBef>
              <a:spcAft>
                <a:spcPts val="0"/>
              </a:spcAft>
              <a:buClr>
                <a:schemeClr val="lt1"/>
              </a:buClr>
              <a:buSzPts val="1600"/>
              <a:buFont typeface="Arial"/>
              <a:buChar char="•"/>
              <a:defRPr sz="1600">
                <a:solidFill>
                  <a:schemeClr val="lt1"/>
                </a:solidFill>
              </a:defRPr>
            </a:lvl4pPr>
            <a:lvl5pPr indent="-317500" lvl="4" marL="2286000" algn="l">
              <a:lnSpc>
                <a:spcPct val="90000"/>
              </a:lnSpc>
              <a:spcBef>
                <a:spcPts val="500"/>
              </a:spcBef>
              <a:spcAft>
                <a:spcPts val="0"/>
              </a:spcAft>
              <a:buClr>
                <a:schemeClr val="lt1"/>
              </a:buClr>
              <a:buSzPts val="1400"/>
              <a:buFont typeface="Arial"/>
              <a:buChar char="•"/>
              <a:defRPr sz="1400">
                <a:solidFill>
                  <a:schemeClr val="lt1"/>
                </a:solidFill>
              </a:defRPr>
            </a:lvl5pPr>
            <a:lvl6pPr indent="-342900" lvl="5" marL="2743200" algn="l">
              <a:lnSpc>
                <a:spcPct val="90000"/>
              </a:lnSpc>
              <a:spcBef>
                <a:spcPts val="500"/>
              </a:spcBef>
              <a:spcAft>
                <a:spcPts val="0"/>
              </a:spcAft>
              <a:buClr>
                <a:schemeClr val="lt1"/>
              </a:buClr>
              <a:buSzPts val="1800"/>
              <a:buChar char="•"/>
              <a:defRPr>
                <a:solidFill>
                  <a:schemeClr val="lt1"/>
                </a:solidFill>
              </a:defRPr>
            </a:lvl6pPr>
            <a:lvl7pPr indent="-342900" lvl="6" marL="3200400" algn="l">
              <a:lnSpc>
                <a:spcPct val="90000"/>
              </a:lnSpc>
              <a:spcBef>
                <a:spcPts val="500"/>
              </a:spcBef>
              <a:spcAft>
                <a:spcPts val="0"/>
              </a:spcAft>
              <a:buClr>
                <a:schemeClr val="lt1"/>
              </a:buClr>
              <a:buSzPts val="1800"/>
              <a:buChar char="•"/>
              <a:defRPr>
                <a:solidFill>
                  <a:schemeClr val="lt1"/>
                </a:solidFill>
              </a:defRPr>
            </a:lvl7pPr>
            <a:lvl8pPr indent="-342900" lvl="7" marL="3657600" algn="l">
              <a:lnSpc>
                <a:spcPct val="90000"/>
              </a:lnSpc>
              <a:spcBef>
                <a:spcPts val="500"/>
              </a:spcBef>
              <a:spcAft>
                <a:spcPts val="0"/>
              </a:spcAft>
              <a:buClr>
                <a:schemeClr val="lt1"/>
              </a:buClr>
              <a:buSzPts val="1800"/>
              <a:buChar char="•"/>
              <a:defRPr>
                <a:solidFill>
                  <a:schemeClr val="lt1"/>
                </a:solidFill>
              </a:defRPr>
            </a:lvl8pPr>
            <a:lvl9pPr indent="-342900" lvl="8" marL="4114800" algn="l">
              <a:lnSpc>
                <a:spcPct val="90000"/>
              </a:lnSpc>
              <a:spcBef>
                <a:spcPts val="500"/>
              </a:spcBef>
              <a:spcAft>
                <a:spcPts val="0"/>
              </a:spcAft>
              <a:buClr>
                <a:schemeClr val="lt1"/>
              </a:buClr>
              <a:buSzPts val="1800"/>
              <a:buChar char="•"/>
              <a:defRPr>
                <a:solidFill>
                  <a:schemeClr val="lt1"/>
                </a:solidFill>
              </a:defRPr>
            </a:lvl9pPr>
          </a:lstStyle>
          <a:p/>
        </p:txBody>
      </p:sp>
      <p:pic>
        <p:nvPicPr>
          <p:cNvPr id="138" name="Google Shape;138;p20"/>
          <p:cNvPicPr preferRelativeResize="0"/>
          <p:nvPr/>
        </p:nvPicPr>
        <p:blipFill rotWithShape="1">
          <a:blip r:embed="rId3">
            <a:alphaModFix/>
          </a:blip>
          <a:srcRect b="0" l="0" r="0" t="0"/>
          <a:stretch/>
        </p:blipFill>
        <p:spPr>
          <a:xfrm>
            <a:off x="90584" y="6349151"/>
            <a:ext cx="484186" cy="432167"/>
          </a:xfrm>
          <a:prstGeom prst="rect">
            <a:avLst/>
          </a:prstGeom>
          <a:noFill/>
          <a:ln>
            <a:noFill/>
          </a:ln>
        </p:spPr>
      </p:pic>
      <p:sp>
        <p:nvSpPr>
          <p:cNvPr id="139" name="Google Shape;139;p20"/>
          <p:cNvSpPr txBox="1"/>
          <p:nvPr>
            <p:ph idx="3" type="subTitle"/>
          </p:nvPr>
        </p:nvSpPr>
        <p:spPr>
          <a:xfrm>
            <a:off x="4151043" y="5708912"/>
            <a:ext cx="7370700" cy="342900"/>
          </a:xfrm>
          <a:prstGeom prst="rect">
            <a:avLst/>
          </a:prstGeom>
          <a:noFill/>
          <a:ln>
            <a:noFill/>
          </a:ln>
        </p:spPr>
        <p:txBody>
          <a:bodyPr anchorCtr="0" anchor="t" bIns="0" lIns="0" spcFirstLastPara="1" rIns="0" wrap="square" tIns="0">
            <a:noAutofit/>
          </a:bodyPr>
          <a:lstStyle>
            <a:lvl1pPr lvl="0" algn="r">
              <a:lnSpc>
                <a:spcPct val="90000"/>
              </a:lnSpc>
              <a:spcBef>
                <a:spcPts val="1000"/>
              </a:spcBef>
              <a:spcAft>
                <a:spcPts val="0"/>
              </a:spcAft>
              <a:buClr>
                <a:schemeClr val="accent5"/>
              </a:buClr>
              <a:buSzPts val="1800"/>
              <a:buFont typeface="Arial"/>
              <a:buNone/>
              <a:defRPr b="0" i="0" sz="1800">
                <a:solidFill>
                  <a:schemeClr val="accent5"/>
                </a:solidFill>
                <a:latin typeface="Arial"/>
                <a:ea typeface="Arial"/>
                <a:cs typeface="Arial"/>
                <a:sym typeface="Arial"/>
              </a:defRPr>
            </a:lvl1pPr>
            <a:lvl2pPr lvl="1" algn="r">
              <a:lnSpc>
                <a:spcPct val="90000"/>
              </a:lnSpc>
              <a:spcBef>
                <a:spcPts val="500"/>
              </a:spcBef>
              <a:spcAft>
                <a:spcPts val="0"/>
              </a:spcAft>
              <a:buClr>
                <a:schemeClr val="dk2"/>
              </a:buClr>
              <a:buSzPts val="1400"/>
              <a:buNone/>
              <a:defRPr sz="1400">
                <a:solidFill>
                  <a:schemeClr val="dk2"/>
                </a:solidFill>
              </a:defRPr>
            </a:lvl2pPr>
            <a:lvl3pPr lvl="2" algn="r">
              <a:lnSpc>
                <a:spcPct val="90000"/>
              </a:lnSpc>
              <a:spcBef>
                <a:spcPts val="500"/>
              </a:spcBef>
              <a:spcAft>
                <a:spcPts val="0"/>
              </a:spcAft>
              <a:buClr>
                <a:schemeClr val="dk2"/>
              </a:buClr>
              <a:buSzPts val="1200"/>
              <a:buNone/>
              <a:defRPr sz="1200">
                <a:solidFill>
                  <a:schemeClr val="dk2"/>
                </a:solidFill>
              </a:defRPr>
            </a:lvl3pPr>
            <a:lvl4pPr lvl="3" algn="r">
              <a:lnSpc>
                <a:spcPct val="90000"/>
              </a:lnSpc>
              <a:spcBef>
                <a:spcPts val="500"/>
              </a:spcBef>
              <a:spcAft>
                <a:spcPts val="0"/>
              </a:spcAft>
              <a:buClr>
                <a:schemeClr val="dk2"/>
              </a:buClr>
              <a:buSzPts val="1000"/>
              <a:buNone/>
              <a:defRPr sz="1000">
                <a:solidFill>
                  <a:schemeClr val="dk2"/>
                </a:solidFill>
              </a:defRPr>
            </a:lvl4pPr>
            <a:lvl5pPr lvl="4" algn="r">
              <a:lnSpc>
                <a:spcPct val="90000"/>
              </a:lnSpc>
              <a:spcBef>
                <a:spcPts val="500"/>
              </a:spcBef>
              <a:spcAft>
                <a:spcPts val="0"/>
              </a:spcAft>
              <a:buClr>
                <a:schemeClr val="dk2"/>
              </a:buClr>
              <a:buSzPts val="1000"/>
              <a:buNone/>
              <a:defRPr sz="1000">
                <a:solidFill>
                  <a:schemeClr val="dk2"/>
                </a:solidFill>
              </a:defRPr>
            </a:lvl5pPr>
            <a:lvl6pPr lvl="5" algn="r">
              <a:lnSpc>
                <a:spcPct val="90000"/>
              </a:lnSpc>
              <a:spcBef>
                <a:spcPts val="500"/>
              </a:spcBef>
              <a:spcAft>
                <a:spcPts val="0"/>
              </a:spcAft>
              <a:buClr>
                <a:schemeClr val="dk2"/>
              </a:buClr>
              <a:buSzPts val="1000"/>
              <a:buNone/>
              <a:defRPr sz="1000">
                <a:solidFill>
                  <a:schemeClr val="dk2"/>
                </a:solidFill>
              </a:defRPr>
            </a:lvl6pPr>
            <a:lvl7pPr lvl="6" algn="r">
              <a:lnSpc>
                <a:spcPct val="90000"/>
              </a:lnSpc>
              <a:spcBef>
                <a:spcPts val="500"/>
              </a:spcBef>
              <a:spcAft>
                <a:spcPts val="0"/>
              </a:spcAft>
              <a:buClr>
                <a:schemeClr val="dk2"/>
              </a:buClr>
              <a:buSzPts val="1000"/>
              <a:buNone/>
              <a:defRPr sz="1000">
                <a:solidFill>
                  <a:schemeClr val="dk2"/>
                </a:solidFill>
              </a:defRPr>
            </a:lvl7pPr>
            <a:lvl8pPr lvl="7" algn="r">
              <a:lnSpc>
                <a:spcPct val="90000"/>
              </a:lnSpc>
              <a:spcBef>
                <a:spcPts val="500"/>
              </a:spcBef>
              <a:spcAft>
                <a:spcPts val="0"/>
              </a:spcAft>
              <a:buClr>
                <a:schemeClr val="dk2"/>
              </a:buClr>
              <a:buSzPts val="1000"/>
              <a:buNone/>
              <a:defRPr sz="1000">
                <a:solidFill>
                  <a:schemeClr val="dk2"/>
                </a:solidFill>
              </a:defRPr>
            </a:lvl8pPr>
            <a:lvl9pPr lvl="8" algn="r">
              <a:lnSpc>
                <a:spcPct val="90000"/>
              </a:lnSpc>
              <a:spcBef>
                <a:spcPts val="500"/>
              </a:spcBef>
              <a:spcAft>
                <a:spcPts val="0"/>
              </a:spcAft>
              <a:buClr>
                <a:schemeClr val="dk2"/>
              </a:buClr>
              <a:buSzPts val="1000"/>
              <a:buNone/>
              <a:defRPr sz="1000">
                <a:solidFill>
                  <a:schemeClr val="dk2"/>
                </a:solidFill>
              </a:defRPr>
            </a:lvl9pPr>
          </a:lstStyle>
          <a:p/>
        </p:txBody>
      </p:sp>
      <p:sp>
        <p:nvSpPr>
          <p:cNvPr id="140" name="Google Shape;140;p20"/>
          <p:cNvSpPr txBox="1"/>
          <p:nvPr>
            <p:ph idx="4" type="subTitle"/>
          </p:nvPr>
        </p:nvSpPr>
        <p:spPr>
          <a:xfrm>
            <a:off x="4151043" y="6041137"/>
            <a:ext cx="7370700" cy="342900"/>
          </a:xfrm>
          <a:prstGeom prst="rect">
            <a:avLst/>
          </a:prstGeom>
          <a:noFill/>
          <a:ln>
            <a:noFill/>
          </a:ln>
        </p:spPr>
        <p:txBody>
          <a:bodyPr anchorCtr="0" anchor="t" bIns="0" lIns="0" spcFirstLastPara="1" rIns="0" wrap="square" tIns="0">
            <a:noAutofit/>
          </a:bodyPr>
          <a:lstStyle>
            <a:lvl1pPr lvl="0" algn="r">
              <a:lnSpc>
                <a:spcPct val="90000"/>
              </a:lnSpc>
              <a:spcBef>
                <a:spcPts val="1000"/>
              </a:spcBef>
              <a:spcAft>
                <a:spcPts val="0"/>
              </a:spcAft>
              <a:buSzPts val="1800"/>
              <a:buFont typeface="Arial"/>
              <a:buNone/>
              <a:defRPr b="0" i="0" sz="1800">
                <a:latin typeface="Arial"/>
                <a:ea typeface="Arial"/>
                <a:cs typeface="Arial"/>
                <a:sym typeface="Arial"/>
              </a:defRPr>
            </a:lvl1pPr>
            <a:lvl2pPr lvl="1" algn="r">
              <a:lnSpc>
                <a:spcPct val="90000"/>
              </a:lnSpc>
              <a:spcBef>
                <a:spcPts val="500"/>
              </a:spcBef>
              <a:spcAft>
                <a:spcPts val="0"/>
              </a:spcAft>
              <a:buClr>
                <a:schemeClr val="dk1"/>
              </a:buClr>
              <a:buSzPts val="1400"/>
              <a:buNone/>
              <a:defRPr sz="1400">
                <a:solidFill>
                  <a:schemeClr val="dk1"/>
                </a:solidFill>
              </a:defRPr>
            </a:lvl2pPr>
            <a:lvl3pPr lvl="2" algn="r">
              <a:lnSpc>
                <a:spcPct val="90000"/>
              </a:lnSpc>
              <a:spcBef>
                <a:spcPts val="500"/>
              </a:spcBef>
              <a:spcAft>
                <a:spcPts val="0"/>
              </a:spcAft>
              <a:buSzPts val="1200"/>
              <a:buNone/>
              <a:defRPr sz="1200"/>
            </a:lvl3pPr>
            <a:lvl4pPr lvl="3" algn="r">
              <a:lnSpc>
                <a:spcPct val="90000"/>
              </a:lnSpc>
              <a:spcBef>
                <a:spcPts val="500"/>
              </a:spcBef>
              <a:spcAft>
                <a:spcPts val="0"/>
              </a:spcAft>
              <a:buSzPts val="1000"/>
              <a:buNone/>
              <a:defRPr sz="1000"/>
            </a:lvl4pPr>
            <a:lvl5pPr lvl="4" algn="r">
              <a:lnSpc>
                <a:spcPct val="90000"/>
              </a:lnSpc>
              <a:spcBef>
                <a:spcPts val="500"/>
              </a:spcBef>
              <a:spcAft>
                <a:spcPts val="0"/>
              </a:spcAft>
              <a:buSzPts val="1000"/>
              <a:buNone/>
              <a:defRPr sz="1000"/>
            </a:lvl5pPr>
            <a:lvl6pPr lvl="5" algn="r">
              <a:lnSpc>
                <a:spcPct val="90000"/>
              </a:lnSpc>
              <a:spcBef>
                <a:spcPts val="500"/>
              </a:spcBef>
              <a:spcAft>
                <a:spcPts val="0"/>
              </a:spcAft>
              <a:buSzPts val="1000"/>
              <a:buNone/>
              <a:defRPr sz="1000"/>
            </a:lvl6pPr>
            <a:lvl7pPr lvl="6" algn="r">
              <a:lnSpc>
                <a:spcPct val="90000"/>
              </a:lnSpc>
              <a:spcBef>
                <a:spcPts val="500"/>
              </a:spcBef>
              <a:spcAft>
                <a:spcPts val="0"/>
              </a:spcAft>
              <a:buSzPts val="1000"/>
              <a:buNone/>
              <a:defRPr sz="1000"/>
            </a:lvl7pPr>
            <a:lvl8pPr lvl="7" algn="r">
              <a:lnSpc>
                <a:spcPct val="90000"/>
              </a:lnSpc>
              <a:spcBef>
                <a:spcPts val="500"/>
              </a:spcBef>
              <a:spcAft>
                <a:spcPts val="0"/>
              </a:spcAft>
              <a:buSzPts val="1000"/>
              <a:buNone/>
              <a:defRPr sz="1000"/>
            </a:lvl8pPr>
            <a:lvl9pPr lvl="8" algn="r">
              <a:lnSpc>
                <a:spcPct val="90000"/>
              </a:lnSpc>
              <a:spcBef>
                <a:spcPts val="500"/>
              </a:spcBef>
              <a:spcAft>
                <a:spcPts val="0"/>
              </a:spcAft>
              <a:buSzPts val="1000"/>
              <a:buNone/>
              <a:defRPr sz="1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rgbClr val="0066B3"/>
              </a:buClr>
              <a:buSzPts val="3600"/>
              <a:buFont typeface="Arial"/>
              <a:buNone/>
              <a:defRPr b="0" i="0" sz="3600" u="none" cap="none" strike="noStrike">
                <a:solidFill>
                  <a:srgbClr val="0066B3"/>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621792" y="1260391"/>
            <a:ext cx="10899600" cy="48069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rgbClr val="0066B3"/>
              </a:buClr>
              <a:buSzPts val="2400"/>
              <a:buFont typeface="Arial"/>
              <a:buChar char="•"/>
              <a:defRPr b="0" i="0" sz="2400" u="none" cap="none" strike="noStrike">
                <a:solidFill>
                  <a:srgbClr val="0066B3"/>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21.gif"/></Relationships>
</file>

<file path=ppt/slides/_rels/slide4.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9.png"/><Relationship Id="rId13" Type="http://schemas.openxmlformats.org/officeDocument/2006/relationships/image" Target="../media/image10.png"/><Relationship Id="rId12" Type="http://schemas.openxmlformats.org/officeDocument/2006/relationships/image" Target="../media/image18.png"/><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3.png"/><Relationship Id="rId9" Type="http://schemas.openxmlformats.org/officeDocument/2006/relationships/image" Target="../media/image16.png"/><Relationship Id="rId15" Type="http://schemas.openxmlformats.org/officeDocument/2006/relationships/image" Target="../media/image20.png"/><Relationship Id="rId14" Type="http://schemas.openxmlformats.org/officeDocument/2006/relationships/image" Target="../media/image9.png"/><Relationship Id="rId17" Type="http://schemas.openxmlformats.org/officeDocument/2006/relationships/image" Target="../media/image17.png"/><Relationship Id="rId16" Type="http://schemas.openxmlformats.org/officeDocument/2006/relationships/image" Target="../media/image34.png"/><Relationship Id="rId5" Type="http://schemas.openxmlformats.org/officeDocument/2006/relationships/image" Target="../media/image15.png"/><Relationship Id="rId6" Type="http://schemas.openxmlformats.org/officeDocument/2006/relationships/image" Target="../media/image11.png"/><Relationship Id="rId18"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24.png"/></Relationships>
</file>

<file path=ppt/slides/_rels/slide5.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27.png"/><Relationship Id="rId13" Type="http://schemas.openxmlformats.org/officeDocument/2006/relationships/image" Target="../media/image36.png"/><Relationship Id="rId12" Type="http://schemas.openxmlformats.org/officeDocument/2006/relationships/image" Target="../media/image33.png"/><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35.png"/><Relationship Id="rId9" Type="http://schemas.openxmlformats.org/officeDocument/2006/relationships/image" Target="../media/image32.png"/><Relationship Id="rId5" Type="http://schemas.openxmlformats.org/officeDocument/2006/relationships/image" Target="../media/image39.png"/><Relationship Id="rId6" Type="http://schemas.openxmlformats.org/officeDocument/2006/relationships/image" Target="../media/image26.png"/><Relationship Id="rId7" Type="http://schemas.openxmlformats.org/officeDocument/2006/relationships/image" Target="../media/image28.png"/><Relationship Id="rId8"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43.png"/><Relationship Id="rId4" Type="http://schemas.openxmlformats.org/officeDocument/2006/relationships/image" Target="../media/image30.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55.png"/><Relationship Id="rId8" Type="http://schemas.openxmlformats.org/officeDocument/2006/relationships/image" Target="../media/image4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4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41.png"/><Relationship Id="rId4" Type="http://schemas.openxmlformats.org/officeDocument/2006/relationships/image" Target="../media/image45.png"/><Relationship Id="rId5" Type="http://schemas.openxmlformats.org/officeDocument/2006/relationships/image" Target="../media/image58.png"/><Relationship Id="rId6" Type="http://schemas.openxmlformats.org/officeDocument/2006/relationships/image" Target="../media/image51.png"/><Relationship Id="rId7" Type="http://schemas.openxmlformats.org/officeDocument/2006/relationships/image" Target="../media/image4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52.png"/><Relationship Id="rId4" Type="http://schemas.openxmlformats.org/officeDocument/2006/relationships/image" Target="../media/image57.png"/><Relationship Id="rId5" Type="http://schemas.openxmlformats.org/officeDocument/2006/relationships/image" Target="../media/image60.png"/><Relationship Id="rId6" Type="http://schemas.openxmlformats.org/officeDocument/2006/relationships/image" Target="../media/image47.png"/><Relationship Id="rId7"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9.png"/><Relationship Id="rId4" Type="http://schemas.openxmlformats.org/officeDocument/2006/relationships/image" Target="../media/image44.png"/><Relationship Id="rId5" Type="http://schemas.openxmlformats.org/officeDocument/2006/relationships/image" Target="../media/image46.png"/><Relationship Id="rId6" Type="http://schemas.openxmlformats.org/officeDocument/2006/relationships/image" Target="../media/image53.png"/><Relationship Id="rId7"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61.png"/><Relationship Id="rId4" Type="http://schemas.openxmlformats.org/officeDocument/2006/relationships/image" Target="../media/image56.png"/><Relationship Id="rId5" Type="http://schemas.openxmlformats.org/officeDocument/2006/relationships/image" Target="../media/image70.png"/><Relationship Id="rId6"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63.png"/><Relationship Id="rId4" Type="http://schemas.openxmlformats.org/officeDocument/2006/relationships/image" Target="../media/image35.png"/><Relationship Id="rId5" Type="http://schemas.openxmlformats.org/officeDocument/2006/relationships/image" Target="../media/image71.png"/><Relationship Id="rId6" Type="http://schemas.openxmlformats.org/officeDocument/2006/relationships/image" Target="../media/image66.png"/><Relationship Id="rId7" Type="http://schemas.openxmlformats.org/officeDocument/2006/relationships/image" Target="../media/image7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59.png"/><Relationship Id="rId4" Type="http://schemas.openxmlformats.org/officeDocument/2006/relationships/image" Target="../media/image62.png"/><Relationship Id="rId9" Type="http://schemas.openxmlformats.org/officeDocument/2006/relationships/image" Target="../media/image65.png"/><Relationship Id="rId5" Type="http://schemas.openxmlformats.org/officeDocument/2006/relationships/image" Target="../media/image67.png"/><Relationship Id="rId6" Type="http://schemas.openxmlformats.org/officeDocument/2006/relationships/image" Target="../media/image34.png"/><Relationship Id="rId7" Type="http://schemas.openxmlformats.org/officeDocument/2006/relationships/image" Target="../media/image69.png"/><Relationship Id="rId8" Type="http://schemas.openxmlformats.org/officeDocument/2006/relationships/image" Target="../media/image6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nvSpPr>
        <p:spPr>
          <a:xfrm>
            <a:off x="618750" y="4006500"/>
            <a:ext cx="6985200" cy="135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300">
                <a:solidFill>
                  <a:schemeClr val="dk1"/>
                </a:solidFill>
                <a:latin typeface="Poppins"/>
                <a:ea typeface="Poppins"/>
                <a:cs typeface="Poppins"/>
                <a:sym typeface="Poppins"/>
              </a:rPr>
              <a:t>John Halley Gotway*</a:t>
            </a:r>
            <a:r>
              <a:rPr lang="en-US" sz="2300">
                <a:solidFill>
                  <a:schemeClr val="dk1"/>
                </a:solidFill>
                <a:latin typeface="Poppins"/>
                <a:ea typeface="Poppins"/>
                <a:cs typeface="Poppins"/>
                <a:sym typeface="Poppins"/>
              </a:rPr>
              <a:t>, George McCabe, </a:t>
            </a:r>
            <a:r>
              <a:rPr lang="en-US" sz="2300">
                <a:solidFill>
                  <a:schemeClr val="dk1"/>
                </a:solidFill>
                <a:latin typeface="Poppins"/>
                <a:ea typeface="Poppins"/>
                <a:cs typeface="Poppins"/>
                <a:sym typeface="Poppins"/>
              </a:rPr>
              <a:t>Michelle Harrold,</a:t>
            </a:r>
            <a:r>
              <a:rPr b="1" lang="en-US" sz="2300">
                <a:solidFill>
                  <a:schemeClr val="dk1"/>
                </a:solidFill>
                <a:latin typeface="Poppins"/>
                <a:ea typeface="Poppins"/>
                <a:cs typeface="Poppins"/>
                <a:sym typeface="Poppins"/>
              </a:rPr>
              <a:t> </a:t>
            </a:r>
            <a:r>
              <a:rPr lang="en-US" sz="2300">
                <a:solidFill>
                  <a:schemeClr val="dk1"/>
                </a:solidFill>
                <a:latin typeface="Poppins"/>
                <a:ea typeface="Poppins"/>
                <a:cs typeface="Poppins"/>
                <a:sym typeface="Poppins"/>
              </a:rPr>
              <a:t>Minna Win-Gildenmeister, Julie Prestopnik, Howard Soh</a:t>
            </a:r>
            <a:endParaRPr sz="2300">
              <a:solidFill>
                <a:schemeClr val="dk1"/>
              </a:solidFill>
              <a:latin typeface="Poppins"/>
              <a:ea typeface="Poppins"/>
              <a:cs typeface="Poppins"/>
              <a:sym typeface="Poppins"/>
            </a:endParaRPr>
          </a:p>
        </p:txBody>
      </p:sp>
      <p:sp>
        <p:nvSpPr>
          <p:cNvPr id="146" name="Google Shape;146;p21"/>
          <p:cNvSpPr txBox="1"/>
          <p:nvPr/>
        </p:nvSpPr>
        <p:spPr>
          <a:xfrm>
            <a:off x="716393" y="5984211"/>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None/>
            </a:pPr>
            <a:r>
              <a:rPr lang="en-US" sz="2200">
                <a:solidFill>
                  <a:schemeClr val="dk1"/>
                </a:solidFill>
                <a:latin typeface="Poppins"/>
                <a:ea typeface="Poppins"/>
                <a:cs typeface="Poppins"/>
                <a:sym typeface="Poppins"/>
              </a:rPr>
              <a:t>6 November 2025 | *johnhg@ucar.edu</a:t>
            </a:r>
            <a:endParaRPr sz="2200">
              <a:solidFill>
                <a:schemeClr val="dk1"/>
              </a:solidFill>
              <a:latin typeface="Poppins"/>
              <a:ea typeface="Poppins"/>
              <a:cs typeface="Poppins"/>
              <a:sym typeface="Poppins"/>
            </a:endParaRPr>
          </a:p>
        </p:txBody>
      </p:sp>
      <p:pic>
        <p:nvPicPr>
          <p:cNvPr id="147" name="Google Shape;147;p21"/>
          <p:cNvPicPr preferRelativeResize="0"/>
          <p:nvPr/>
        </p:nvPicPr>
        <p:blipFill rotWithShape="1">
          <a:blip r:embed="rId3">
            <a:alphaModFix/>
          </a:blip>
          <a:srcRect b="0" l="0" r="0" t="0"/>
          <a:stretch/>
        </p:blipFill>
        <p:spPr>
          <a:xfrm>
            <a:off x="7504750" y="3828258"/>
            <a:ext cx="4476451" cy="1744992"/>
          </a:xfrm>
          <a:prstGeom prst="rect">
            <a:avLst/>
          </a:prstGeom>
          <a:noFill/>
          <a:ln>
            <a:noFill/>
          </a:ln>
        </p:spPr>
      </p:pic>
      <p:sp>
        <p:nvSpPr>
          <p:cNvPr id="148" name="Google Shape;148;p21"/>
          <p:cNvSpPr txBox="1"/>
          <p:nvPr/>
        </p:nvSpPr>
        <p:spPr>
          <a:xfrm>
            <a:off x="618750" y="800100"/>
            <a:ext cx="7096800" cy="261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300"/>
              </a:spcAft>
              <a:buClr>
                <a:schemeClr val="dk1"/>
              </a:buClr>
              <a:buSzPts val="1100"/>
              <a:buFont typeface="Arial"/>
              <a:buNone/>
            </a:pPr>
            <a:r>
              <a:rPr b="1" lang="en-US" sz="3300">
                <a:solidFill>
                  <a:srgbClr val="0066B3"/>
                </a:solidFill>
              </a:rPr>
              <a:t>METplus: Continuous integration with GitHub Actions for reproducible results and reduced software vulnerabilities</a:t>
            </a:r>
            <a:endParaRPr b="1" sz="8800">
              <a:solidFill>
                <a:srgbClr val="0066B3"/>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2"/>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Community Software Considerations</a:t>
            </a:r>
            <a:endParaRPr/>
          </a:p>
        </p:txBody>
      </p:sp>
      <p:sp>
        <p:nvSpPr>
          <p:cNvPr id="154" name="Google Shape;154;p22"/>
          <p:cNvSpPr txBox="1"/>
          <p:nvPr>
            <p:ph idx="1" type="body"/>
          </p:nvPr>
        </p:nvSpPr>
        <p:spPr>
          <a:xfrm>
            <a:off x="858050" y="2038350"/>
            <a:ext cx="10427100" cy="4361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t/>
            </a:r>
            <a:endParaRPr/>
          </a:p>
          <a:p>
            <a:pPr indent="-381000" lvl="0" marL="457200" rtl="0" algn="l">
              <a:lnSpc>
                <a:spcPct val="90000"/>
              </a:lnSpc>
              <a:spcBef>
                <a:spcPts val="0"/>
              </a:spcBef>
              <a:spcAft>
                <a:spcPts val="0"/>
              </a:spcAft>
              <a:buSzPts val="2400"/>
              <a:buAutoNum type="arabicPeriod"/>
            </a:pPr>
            <a:r>
              <a:rPr lang="en-US"/>
              <a:t>Version control (cvs, svn, git)</a:t>
            </a:r>
            <a:endParaRPr/>
          </a:p>
          <a:p>
            <a:pPr indent="-381000" lvl="0" marL="457200" rtl="0" algn="l">
              <a:lnSpc>
                <a:spcPct val="90000"/>
              </a:lnSpc>
              <a:spcBef>
                <a:spcPts val="0"/>
              </a:spcBef>
              <a:spcAft>
                <a:spcPts val="0"/>
              </a:spcAft>
              <a:buSzPts val="2400"/>
              <a:buAutoNum type="arabicPeriod"/>
            </a:pPr>
            <a:r>
              <a:rPr lang="en-US"/>
              <a:t>Continuous integration (regression testing and test coverage)</a:t>
            </a:r>
            <a:endParaRPr/>
          </a:p>
          <a:p>
            <a:pPr indent="-381000" lvl="0" marL="457200" rtl="0" algn="l">
              <a:lnSpc>
                <a:spcPct val="90000"/>
              </a:lnSpc>
              <a:spcBef>
                <a:spcPts val="0"/>
              </a:spcBef>
              <a:spcAft>
                <a:spcPts val="0"/>
              </a:spcAft>
              <a:buSzPts val="2400"/>
              <a:buAutoNum type="arabicPeriod"/>
            </a:pPr>
            <a:r>
              <a:rPr lang="en-US"/>
              <a:t>Continuous deployment (containers, conda)</a:t>
            </a:r>
            <a:endParaRPr/>
          </a:p>
          <a:p>
            <a:pPr indent="-381000" lvl="0" marL="457200" rtl="0" algn="l">
              <a:lnSpc>
                <a:spcPct val="90000"/>
              </a:lnSpc>
              <a:spcBef>
                <a:spcPts val="0"/>
              </a:spcBef>
              <a:spcAft>
                <a:spcPts val="0"/>
              </a:spcAft>
              <a:buSzPts val="2400"/>
              <a:buAutoNum type="arabicPeriod"/>
            </a:pPr>
            <a:r>
              <a:rPr lang="en-US"/>
              <a:t>Code quality (Fortify, SonarQube static code analysis and optimization)</a:t>
            </a:r>
            <a:endParaRPr/>
          </a:p>
          <a:p>
            <a:pPr indent="-381000" lvl="0" marL="457200" rtl="0" algn="l">
              <a:lnSpc>
                <a:spcPct val="90000"/>
              </a:lnSpc>
              <a:spcBef>
                <a:spcPts val="0"/>
              </a:spcBef>
              <a:spcAft>
                <a:spcPts val="0"/>
              </a:spcAft>
              <a:buSzPts val="2400"/>
              <a:buAutoNum type="arabicPeriod"/>
            </a:pPr>
            <a:r>
              <a:rPr lang="en-US"/>
              <a:t>Security scanning (CVEs and STIGs)</a:t>
            </a:r>
            <a:endParaRPr/>
          </a:p>
          <a:p>
            <a:pPr indent="-381000" lvl="0" marL="457200" rtl="0" algn="l">
              <a:spcBef>
                <a:spcPts val="0"/>
              </a:spcBef>
              <a:spcAft>
                <a:spcPts val="0"/>
              </a:spcAft>
              <a:buSzPts val="2400"/>
              <a:buAutoNum type="arabicPeriod"/>
            </a:pPr>
            <a:r>
              <a:rPr lang="en-US"/>
              <a:t>Development and release workflows (new features and bugfixes)</a:t>
            </a:r>
            <a:endParaRPr/>
          </a:p>
          <a:p>
            <a:pPr indent="-381000" lvl="0" marL="457200" rtl="0" algn="l">
              <a:spcBef>
                <a:spcPts val="0"/>
              </a:spcBef>
              <a:spcAft>
                <a:spcPts val="0"/>
              </a:spcAft>
              <a:buSzPts val="2400"/>
              <a:buAutoNum type="arabicPeriod"/>
            </a:pPr>
            <a:r>
              <a:rPr lang="en-US"/>
              <a:t>Internal communication (email, meetings, Slack)</a:t>
            </a:r>
            <a:endParaRPr/>
          </a:p>
          <a:p>
            <a:pPr indent="-381000" lvl="0" marL="457200" rtl="0" algn="l">
              <a:lnSpc>
                <a:spcPct val="90000"/>
              </a:lnSpc>
              <a:spcBef>
                <a:spcPts val="0"/>
              </a:spcBef>
              <a:spcAft>
                <a:spcPts val="0"/>
              </a:spcAft>
              <a:buSzPts val="2400"/>
              <a:buAutoNum type="arabicPeriod"/>
            </a:pPr>
            <a:r>
              <a:rPr lang="en-US"/>
              <a:t>Project management (Jira, GitHub issues, PRs, and projects)</a:t>
            </a:r>
            <a:endParaRPr/>
          </a:p>
          <a:p>
            <a:pPr indent="-381000" lvl="0" marL="457200" rtl="0" algn="l">
              <a:spcBef>
                <a:spcPts val="0"/>
              </a:spcBef>
              <a:spcAft>
                <a:spcPts val="0"/>
              </a:spcAft>
              <a:buSzPts val="2400"/>
              <a:buAutoNum type="arabicPeriod"/>
            </a:pPr>
            <a:r>
              <a:rPr lang="en-US"/>
              <a:t>Documentation (Users, Contributors, and Developers, DOIs)</a:t>
            </a:r>
            <a:endParaRPr/>
          </a:p>
          <a:p>
            <a:pPr indent="-381000" lvl="0" marL="457200" rtl="0" algn="l">
              <a:lnSpc>
                <a:spcPct val="90000"/>
              </a:lnSpc>
              <a:spcBef>
                <a:spcPts val="0"/>
              </a:spcBef>
              <a:spcAft>
                <a:spcPts val="0"/>
              </a:spcAft>
              <a:buSzPts val="2400"/>
              <a:buAutoNum type="arabicPeriod"/>
            </a:pPr>
            <a:r>
              <a:rPr lang="en-US"/>
              <a:t>User training (online tutorial, pre-recorded videos, live sessions)</a:t>
            </a:r>
            <a:endParaRPr/>
          </a:p>
          <a:p>
            <a:pPr indent="-381000" lvl="0" marL="457200" rtl="0" algn="l">
              <a:lnSpc>
                <a:spcPct val="90000"/>
              </a:lnSpc>
              <a:spcBef>
                <a:spcPts val="0"/>
              </a:spcBef>
              <a:spcAft>
                <a:spcPts val="0"/>
              </a:spcAft>
              <a:buSzPts val="2400"/>
              <a:buAutoNum type="arabicPeriod"/>
            </a:pPr>
            <a:r>
              <a:rPr lang="en-US"/>
              <a:t>User support for sponsors and community (email, GitHub discussions) </a:t>
            </a:r>
            <a:endParaRPr/>
          </a:p>
          <a:p>
            <a:pPr indent="-381000" lvl="0" marL="457200" rtl="0" algn="l">
              <a:lnSpc>
                <a:spcPct val="90000"/>
              </a:lnSpc>
              <a:spcBef>
                <a:spcPts val="0"/>
              </a:spcBef>
              <a:spcAft>
                <a:spcPts val="0"/>
              </a:spcAft>
              <a:buSzPts val="2400"/>
              <a:buAutoNum type="arabicPeriod"/>
            </a:pPr>
            <a:r>
              <a:rPr lang="en-US"/>
              <a:t>User outreach and marketing (proposals, presentations, social media)</a:t>
            </a:r>
            <a:endParaRPr/>
          </a:p>
        </p:txBody>
      </p:sp>
      <p:sp>
        <p:nvSpPr>
          <p:cNvPr id="155" name="Google Shape;155;p22"/>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56" name="Google Shape;156;p22"/>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more than new features</a:t>
            </a:r>
            <a:endParaRPr/>
          </a:p>
        </p:txBody>
      </p:sp>
      <p:sp>
        <p:nvSpPr>
          <p:cNvPr id="157" name="Google Shape;157;p22"/>
          <p:cNvSpPr txBox="1"/>
          <p:nvPr>
            <p:ph idx="1" type="body"/>
          </p:nvPr>
        </p:nvSpPr>
        <p:spPr>
          <a:xfrm>
            <a:off x="621800" y="1621621"/>
            <a:ext cx="10899600" cy="563700"/>
          </a:xfrm>
          <a:prstGeom prst="rect">
            <a:avLst/>
          </a:prstGeom>
          <a:noFill/>
          <a:ln>
            <a:noFill/>
          </a:ln>
        </p:spPr>
        <p:txBody>
          <a:bodyPr anchorCtr="0" anchor="t" bIns="0" lIns="0" spcFirstLastPara="1" rIns="0" wrap="square" tIns="0">
            <a:noAutofit/>
          </a:bodyPr>
          <a:lstStyle/>
          <a:p>
            <a:pPr indent="-419100" lvl="0" marL="457200" rtl="0" algn="l">
              <a:lnSpc>
                <a:spcPct val="90000"/>
              </a:lnSpc>
              <a:spcBef>
                <a:spcPts val="0"/>
              </a:spcBef>
              <a:spcAft>
                <a:spcPts val="0"/>
              </a:spcAft>
              <a:buSzPts val="3000"/>
              <a:buChar char="●"/>
            </a:pPr>
            <a:r>
              <a:rPr lang="en-US" sz="3000">
                <a:highlight>
                  <a:schemeClr val="lt1"/>
                </a:highlight>
              </a:rPr>
              <a:t>Funding for f</a:t>
            </a:r>
            <a:r>
              <a:rPr lang="en-US" sz="3000">
                <a:highlight>
                  <a:schemeClr val="lt1"/>
                </a:highlight>
              </a:rPr>
              <a:t>unctionality and </a:t>
            </a:r>
            <a:r>
              <a:rPr b="1" lang="en-US" sz="3000">
                <a:solidFill>
                  <a:srgbClr val="0066B3"/>
                </a:solidFill>
                <a:highlight>
                  <a:schemeClr val="lt1"/>
                </a:highlight>
              </a:rPr>
              <a:t>New Features</a:t>
            </a:r>
            <a:endParaRPr b="1" sz="3000">
              <a:solidFill>
                <a:srgbClr val="0066B3"/>
              </a:solidFill>
              <a:highlight>
                <a:schemeClr val="lt1"/>
              </a:highlight>
            </a:endParaRPr>
          </a:p>
          <a:p>
            <a:pPr indent="0" lvl="0" marL="0" rtl="0" algn="l">
              <a:lnSpc>
                <a:spcPct val="90000"/>
              </a:lnSpc>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Functionality through Time</a:t>
            </a:r>
            <a:endParaRPr/>
          </a:p>
        </p:txBody>
      </p:sp>
      <p:sp>
        <p:nvSpPr>
          <p:cNvPr id="163" name="Google Shape;163;p23"/>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64" name="Google Shape;164;p23"/>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growth and expansion</a:t>
            </a:r>
            <a:endParaRPr/>
          </a:p>
        </p:txBody>
      </p:sp>
      <p:pic>
        <p:nvPicPr>
          <p:cNvPr id="165" name="Google Shape;165;p23" title="met_diagram_illus_2025_06.png"/>
          <p:cNvPicPr preferRelativeResize="0"/>
          <p:nvPr/>
        </p:nvPicPr>
        <p:blipFill>
          <a:blip r:embed="rId3">
            <a:alphaModFix/>
          </a:blip>
          <a:stretch>
            <a:fillRect/>
          </a:stretch>
        </p:blipFill>
        <p:spPr>
          <a:xfrm>
            <a:off x="621796" y="2665548"/>
            <a:ext cx="3245926" cy="3169850"/>
          </a:xfrm>
          <a:prstGeom prst="rect">
            <a:avLst/>
          </a:prstGeom>
          <a:noFill/>
          <a:ln>
            <a:noFill/>
          </a:ln>
        </p:spPr>
      </p:pic>
      <p:pic>
        <p:nvPicPr>
          <p:cNvPr id="166" name="Google Shape;166;p23" title="MET_flowchart_anim.gif"/>
          <p:cNvPicPr preferRelativeResize="0"/>
          <p:nvPr/>
        </p:nvPicPr>
        <p:blipFill>
          <a:blip r:embed="rId4">
            <a:alphaModFix/>
          </a:blip>
          <a:stretch>
            <a:fillRect/>
          </a:stretch>
        </p:blipFill>
        <p:spPr>
          <a:xfrm>
            <a:off x="4886352" y="1244750"/>
            <a:ext cx="6635038" cy="4976249"/>
          </a:xfrm>
          <a:prstGeom prst="rect">
            <a:avLst/>
          </a:prstGeom>
          <a:noFill/>
          <a:ln>
            <a:noFill/>
          </a:ln>
        </p:spPr>
      </p:pic>
      <p:cxnSp>
        <p:nvCxnSpPr>
          <p:cNvPr id="167" name="Google Shape;167;p23"/>
          <p:cNvCxnSpPr>
            <a:stCxn id="168" idx="3"/>
            <a:endCxn id="166" idx="1"/>
          </p:cNvCxnSpPr>
          <p:nvPr/>
        </p:nvCxnSpPr>
        <p:spPr>
          <a:xfrm flipH="1" rot="10800000">
            <a:off x="1755834" y="3732765"/>
            <a:ext cx="3130500" cy="32400"/>
          </a:xfrm>
          <a:prstGeom prst="straightConnector1">
            <a:avLst/>
          </a:prstGeom>
          <a:noFill/>
          <a:ln cap="flat" cmpd="sng" w="38100">
            <a:solidFill>
              <a:schemeClr val="dk2"/>
            </a:solidFill>
            <a:prstDash val="solid"/>
            <a:round/>
            <a:headEnd len="med" w="med" type="none"/>
            <a:tailEnd len="med" w="med" type="triangle"/>
          </a:ln>
        </p:spPr>
      </p:cxnSp>
      <p:sp>
        <p:nvSpPr>
          <p:cNvPr id="168" name="Google Shape;168;p23"/>
          <p:cNvSpPr/>
          <p:nvPr/>
        </p:nvSpPr>
        <p:spPr>
          <a:xfrm>
            <a:off x="937434" y="3480165"/>
            <a:ext cx="818400" cy="5700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cxnSp>
        <p:nvCxnSpPr>
          <p:cNvPr id="173" name="Google Shape;173;p24"/>
          <p:cNvCxnSpPr/>
          <p:nvPr/>
        </p:nvCxnSpPr>
        <p:spPr>
          <a:xfrm>
            <a:off x="255446" y="6105573"/>
            <a:ext cx="11679000" cy="0"/>
          </a:xfrm>
          <a:prstGeom prst="straightConnector1">
            <a:avLst/>
          </a:prstGeom>
          <a:noFill/>
          <a:ln cap="flat" cmpd="sng" w="9525">
            <a:solidFill>
              <a:schemeClr val="dk2"/>
            </a:solidFill>
            <a:prstDash val="solid"/>
            <a:round/>
            <a:headEnd len="med" w="med" type="none"/>
            <a:tailEnd len="med" w="med" type="none"/>
          </a:ln>
        </p:spPr>
      </p:cxnSp>
      <p:grpSp>
        <p:nvGrpSpPr>
          <p:cNvPr id="174" name="Google Shape;174;p24"/>
          <p:cNvGrpSpPr/>
          <p:nvPr/>
        </p:nvGrpSpPr>
        <p:grpSpPr>
          <a:xfrm>
            <a:off x="141694" y="5498583"/>
            <a:ext cx="11901155" cy="596291"/>
            <a:chOff x="141694" y="5498583"/>
            <a:chExt cx="11901155" cy="596291"/>
          </a:xfrm>
        </p:grpSpPr>
        <p:pic>
          <p:nvPicPr>
            <p:cNvPr id="175" name="Google Shape;175;p24"/>
            <p:cNvPicPr preferRelativeResize="0"/>
            <p:nvPr/>
          </p:nvPicPr>
          <p:blipFill rotWithShape="1">
            <a:blip r:embed="rId3">
              <a:alphaModFix/>
            </a:blip>
            <a:srcRect b="36575" l="10213" r="8729" t="36867"/>
            <a:stretch/>
          </p:blipFill>
          <p:spPr>
            <a:xfrm>
              <a:off x="5476125" y="5607043"/>
              <a:ext cx="2212901" cy="484100"/>
            </a:xfrm>
            <a:prstGeom prst="rect">
              <a:avLst/>
            </a:prstGeom>
            <a:noFill/>
            <a:ln>
              <a:noFill/>
            </a:ln>
          </p:spPr>
        </p:pic>
        <p:pic>
          <p:nvPicPr>
            <p:cNvPr id="176" name="Google Shape;176;p24"/>
            <p:cNvPicPr preferRelativeResize="0"/>
            <p:nvPr/>
          </p:nvPicPr>
          <p:blipFill rotWithShape="1">
            <a:blip r:embed="rId4">
              <a:alphaModFix/>
            </a:blip>
            <a:srcRect b="27057" l="9598" r="9808" t="25580"/>
            <a:stretch/>
          </p:blipFill>
          <p:spPr>
            <a:xfrm>
              <a:off x="9991971" y="5610774"/>
              <a:ext cx="2050878" cy="484100"/>
            </a:xfrm>
            <a:prstGeom prst="rect">
              <a:avLst/>
            </a:prstGeom>
            <a:noFill/>
            <a:ln>
              <a:noFill/>
            </a:ln>
          </p:spPr>
        </p:pic>
        <p:sp>
          <p:nvSpPr>
            <p:cNvPr id="177" name="Google Shape;177;p24"/>
            <p:cNvSpPr txBox="1"/>
            <p:nvPr/>
          </p:nvSpPr>
          <p:spPr>
            <a:xfrm>
              <a:off x="141694" y="5498583"/>
              <a:ext cx="1500000" cy="540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chemeClr val="dk2"/>
                  </a:solidFill>
                  <a:highlight>
                    <a:schemeClr val="lt1"/>
                  </a:highlight>
                </a:rPr>
                <a:t>DIST</a:t>
              </a:r>
              <a:endParaRPr b="1" sz="3300">
                <a:solidFill>
                  <a:schemeClr val="dk2"/>
                </a:solidFill>
                <a:highlight>
                  <a:schemeClr val="lt1"/>
                </a:highlight>
              </a:endParaRPr>
            </a:p>
          </p:txBody>
        </p:sp>
      </p:grpSp>
      <p:cxnSp>
        <p:nvCxnSpPr>
          <p:cNvPr id="178" name="Google Shape;178;p24"/>
          <p:cNvCxnSpPr/>
          <p:nvPr/>
        </p:nvCxnSpPr>
        <p:spPr>
          <a:xfrm>
            <a:off x="268698" y="5594260"/>
            <a:ext cx="11679000" cy="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24"/>
          <p:cNvCxnSpPr/>
          <p:nvPr/>
        </p:nvCxnSpPr>
        <p:spPr>
          <a:xfrm>
            <a:off x="258305" y="5028559"/>
            <a:ext cx="11679000" cy="0"/>
          </a:xfrm>
          <a:prstGeom prst="straightConnector1">
            <a:avLst/>
          </a:prstGeom>
          <a:noFill/>
          <a:ln cap="flat" cmpd="sng" w="9525">
            <a:solidFill>
              <a:schemeClr val="dk2"/>
            </a:solidFill>
            <a:prstDash val="solid"/>
            <a:round/>
            <a:headEnd len="med" w="med" type="none"/>
            <a:tailEnd len="med" w="med" type="none"/>
          </a:ln>
        </p:spPr>
      </p:cxnSp>
      <p:grpSp>
        <p:nvGrpSpPr>
          <p:cNvPr id="180" name="Google Shape;180;p24"/>
          <p:cNvGrpSpPr/>
          <p:nvPr/>
        </p:nvGrpSpPr>
        <p:grpSpPr>
          <a:xfrm>
            <a:off x="134050" y="4392518"/>
            <a:ext cx="11789258" cy="776574"/>
            <a:chOff x="134050" y="4392518"/>
            <a:chExt cx="11789258" cy="776574"/>
          </a:xfrm>
        </p:grpSpPr>
        <p:pic>
          <p:nvPicPr>
            <p:cNvPr id="181" name="Google Shape;181;p24"/>
            <p:cNvPicPr preferRelativeResize="0"/>
            <p:nvPr/>
          </p:nvPicPr>
          <p:blipFill rotWithShape="1">
            <a:blip r:embed="rId5">
              <a:alphaModFix/>
            </a:blip>
            <a:srcRect b="6352" l="10533" r="11152" t="6751"/>
            <a:stretch/>
          </p:blipFill>
          <p:spPr>
            <a:xfrm>
              <a:off x="7141473" y="4525635"/>
              <a:ext cx="836751" cy="487461"/>
            </a:xfrm>
            <a:prstGeom prst="rect">
              <a:avLst/>
            </a:prstGeom>
            <a:noFill/>
            <a:ln>
              <a:noFill/>
            </a:ln>
          </p:spPr>
        </p:pic>
        <p:grpSp>
          <p:nvGrpSpPr>
            <p:cNvPr id="182" name="Google Shape;182;p24"/>
            <p:cNvGrpSpPr/>
            <p:nvPr/>
          </p:nvGrpSpPr>
          <p:grpSpPr>
            <a:xfrm>
              <a:off x="134050" y="4392518"/>
              <a:ext cx="11789258" cy="776574"/>
              <a:chOff x="134050" y="4392518"/>
              <a:chExt cx="11789258" cy="776574"/>
            </a:xfrm>
          </p:grpSpPr>
          <p:sp>
            <p:nvSpPr>
              <p:cNvPr id="183" name="Google Shape;183;p24"/>
              <p:cNvSpPr txBox="1"/>
              <p:nvPr/>
            </p:nvSpPr>
            <p:spPr>
              <a:xfrm>
                <a:off x="134050" y="4428897"/>
                <a:ext cx="1500000" cy="540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chemeClr val="dk2"/>
                    </a:solidFill>
                    <a:highlight>
                      <a:schemeClr val="lt1"/>
                    </a:highlight>
                  </a:rPr>
                  <a:t>DOC</a:t>
                </a:r>
                <a:endParaRPr b="1" sz="3300">
                  <a:solidFill>
                    <a:schemeClr val="dk2"/>
                  </a:solidFill>
                  <a:highlight>
                    <a:schemeClr val="lt1"/>
                  </a:highlight>
                </a:endParaRPr>
              </a:p>
            </p:txBody>
          </p:sp>
          <p:cxnSp>
            <p:nvCxnSpPr>
              <p:cNvPr id="184" name="Google Shape;184;p24"/>
              <p:cNvCxnSpPr/>
              <p:nvPr/>
            </p:nvCxnSpPr>
            <p:spPr>
              <a:xfrm>
                <a:off x="244308" y="4501754"/>
                <a:ext cx="11679000" cy="0"/>
              </a:xfrm>
              <a:prstGeom prst="straightConnector1">
                <a:avLst/>
              </a:prstGeom>
              <a:noFill/>
              <a:ln cap="flat" cmpd="sng" w="9525">
                <a:solidFill>
                  <a:schemeClr val="dk2"/>
                </a:solidFill>
                <a:prstDash val="solid"/>
                <a:round/>
                <a:headEnd len="med" w="med" type="none"/>
                <a:tailEnd len="med" w="med" type="none"/>
              </a:ln>
            </p:spPr>
          </p:cxnSp>
          <p:pic>
            <p:nvPicPr>
              <p:cNvPr id="185" name="Google Shape;185;p24"/>
              <p:cNvPicPr preferRelativeResize="0"/>
              <p:nvPr/>
            </p:nvPicPr>
            <p:blipFill rotWithShape="1">
              <a:blip r:embed="rId6">
                <a:alphaModFix/>
              </a:blip>
              <a:srcRect b="0" l="18591" r="16359" t="0"/>
              <a:stretch/>
            </p:blipFill>
            <p:spPr>
              <a:xfrm>
                <a:off x="1220635" y="4392518"/>
                <a:ext cx="836728" cy="718425"/>
              </a:xfrm>
              <a:prstGeom prst="rect">
                <a:avLst/>
              </a:prstGeom>
              <a:noFill/>
              <a:ln>
                <a:noFill/>
              </a:ln>
            </p:spPr>
          </p:pic>
          <p:pic>
            <p:nvPicPr>
              <p:cNvPr id="186" name="Google Shape;186;p24"/>
              <p:cNvPicPr preferRelativeResize="0"/>
              <p:nvPr/>
            </p:nvPicPr>
            <p:blipFill rotWithShape="1">
              <a:blip r:embed="rId7">
                <a:alphaModFix/>
              </a:blip>
              <a:srcRect b="23189" l="0" r="0" t="23130"/>
              <a:stretch/>
            </p:blipFill>
            <p:spPr>
              <a:xfrm>
                <a:off x="3845885" y="4501942"/>
                <a:ext cx="1242850" cy="667150"/>
              </a:xfrm>
              <a:prstGeom prst="rect">
                <a:avLst/>
              </a:prstGeom>
              <a:noFill/>
              <a:ln>
                <a:noFill/>
              </a:ln>
            </p:spPr>
          </p:pic>
          <p:pic>
            <p:nvPicPr>
              <p:cNvPr id="187" name="Google Shape;187;p24"/>
              <p:cNvPicPr preferRelativeResize="0"/>
              <p:nvPr/>
            </p:nvPicPr>
            <p:blipFill rotWithShape="1">
              <a:blip r:embed="rId8">
                <a:alphaModFix/>
              </a:blip>
              <a:srcRect b="22952" l="15770" r="16662" t="16212"/>
              <a:stretch/>
            </p:blipFill>
            <p:spPr>
              <a:xfrm>
                <a:off x="9061267" y="4523773"/>
                <a:ext cx="1353680" cy="487475"/>
              </a:xfrm>
              <a:prstGeom prst="rect">
                <a:avLst/>
              </a:prstGeom>
              <a:noFill/>
              <a:ln>
                <a:noFill/>
              </a:ln>
            </p:spPr>
          </p:pic>
        </p:grpSp>
      </p:grpSp>
      <p:cxnSp>
        <p:nvCxnSpPr>
          <p:cNvPr id="188" name="Google Shape;188;p24"/>
          <p:cNvCxnSpPr/>
          <p:nvPr/>
        </p:nvCxnSpPr>
        <p:spPr>
          <a:xfrm>
            <a:off x="256493" y="2738860"/>
            <a:ext cx="11679000" cy="0"/>
          </a:xfrm>
          <a:prstGeom prst="straightConnector1">
            <a:avLst/>
          </a:prstGeom>
          <a:noFill/>
          <a:ln cap="flat" cmpd="sng" w="9525">
            <a:solidFill>
              <a:schemeClr val="dk2"/>
            </a:solidFill>
            <a:prstDash val="solid"/>
            <a:round/>
            <a:headEnd len="med" w="med" type="none"/>
            <a:tailEnd len="med" w="med" type="none"/>
          </a:ln>
        </p:spPr>
      </p:cxnSp>
      <p:cxnSp>
        <p:nvCxnSpPr>
          <p:cNvPr id="189" name="Google Shape;189;p24"/>
          <p:cNvCxnSpPr/>
          <p:nvPr/>
        </p:nvCxnSpPr>
        <p:spPr>
          <a:xfrm>
            <a:off x="246100" y="2173159"/>
            <a:ext cx="11679000" cy="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24"/>
          <p:cNvCxnSpPr/>
          <p:nvPr/>
        </p:nvCxnSpPr>
        <p:spPr>
          <a:xfrm>
            <a:off x="232103" y="1646354"/>
            <a:ext cx="11679000" cy="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24"/>
          <p:cNvCxnSpPr/>
          <p:nvPr/>
        </p:nvCxnSpPr>
        <p:spPr>
          <a:xfrm>
            <a:off x="243241" y="3250173"/>
            <a:ext cx="11679000" cy="0"/>
          </a:xfrm>
          <a:prstGeom prst="straightConnector1">
            <a:avLst/>
          </a:prstGeom>
          <a:noFill/>
          <a:ln cap="flat" cmpd="sng" w="9525">
            <a:solidFill>
              <a:schemeClr val="dk2"/>
            </a:solidFill>
            <a:prstDash val="solid"/>
            <a:round/>
            <a:headEnd len="med" w="med" type="none"/>
            <a:tailEnd len="med" w="med" type="none"/>
          </a:ln>
        </p:spPr>
      </p:cxnSp>
      <p:sp>
        <p:nvSpPr>
          <p:cNvPr id="192" name="Google Shape;192;p24"/>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Support Tools through Time</a:t>
            </a:r>
            <a:endParaRPr/>
          </a:p>
        </p:txBody>
      </p:sp>
      <p:sp>
        <p:nvSpPr>
          <p:cNvPr id="193" name="Google Shape;193;p24"/>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94" name="Google Shape;194;p24"/>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evolution</a:t>
            </a:r>
            <a:endParaRPr/>
          </a:p>
        </p:txBody>
      </p:sp>
      <p:sp>
        <p:nvSpPr>
          <p:cNvPr id="195" name="Google Shape;195;p24"/>
          <p:cNvSpPr/>
          <p:nvPr/>
        </p:nvSpPr>
        <p:spPr>
          <a:xfrm>
            <a:off x="308943" y="3278329"/>
            <a:ext cx="11679000" cy="1143900"/>
          </a:xfrm>
          <a:prstGeom prst="rightArrow">
            <a:avLst>
              <a:gd fmla="val 50000" name="adj1"/>
              <a:gd fmla="val 50000" name="adj2"/>
            </a:avLst>
          </a:prstGeom>
          <a:gradFill>
            <a:gsLst>
              <a:gs pos="0">
                <a:schemeClr val="accent4"/>
              </a:gs>
              <a:gs pos="50000">
                <a:srgbClr val="D4DCEA"/>
              </a:gs>
              <a:gs pos="100000">
                <a:srgbClr val="C9DAF8"/>
              </a:gs>
            </a:gsLst>
            <a:lin ang="10800025"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rPr b="1" lang="en-US" sz="2800">
                <a:solidFill>
                  <a:srgbClr val="0066B3"/>
                </a:solidFill>
              </a:rPr>
              <a:t>  </a:t>
            </a:r>
            <a:r>
              <a:rPr b="1" lang="en-US" sz="2800">
                <a:solidFill>
                  <a:srgbClr val="0066B3"/>
                </a:solidFill>
              </a:rPr>
              <a:t>2010					2015						2020						2025</a:t>
            </a:r>
            <a:endParaRPr b="1" sz="2800">
              <a:solidFill>
                <a:srgbClr val="0066B3"/>
              </a:solidFill>
            </a:endParaRPr>
          </a:p>
        </p:txBody>
      </p:sp>
      <p:grpSp>
        <p:nvGrpSpPr>
          <p:cNvPr id="196" name="Google Shape;196;p24"/>
          <p:cNvGrpSpPr/>
          <p:nvPr/>
        </p:nvGrpSpPr>
        <p:grpSpPr>
          <a:xfrm>
            <a:off x="272647" y="1448219"/>
            <a:ext cx="11760878" cy="932475"/>
            <a:chOff x="272647" y="1448219"/>
            <a:chExt cx="11760878" cy="932475"/>
          </a:xfrm>
        </p:grpSpPr>
        <p:sp>
          <p:nvSpPr>
            <p:cNvPr id="197" name="Google Shape;197;p24"/>
            <p:cNvSpPr txBox="1"/>
            <p:nvPr/>
          </p:nvSpPr>
          <p:spPr>
            <a:xfrm>
              <a:off x="10533525" y="1568832"/>
              <a:ext cx="1500000" cy="540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r">
                <a:spcBef>
                  <a:spcPts val="0"/>
                </a:spcBef>
                <a:spcAft>
                  <a:spcPts val="0"/>
                </a:spcAft>
                <a:buNone/>
              </a:pPr>
              <a:r>
                <a:rPr b="1" lang="en-US" sz="3300">
                  <a:solidFill>
                    <a:schemeClr val="dk2"/>
                  </a:solidFill>
                  <a:highlight>
                    <a:schemeClr val="lt1"/>
                  </a:highlight>
                </a:rPr>
                <a:t>VCS</a:t>
              </a:r>
              <a:endParaRPr b="1" sz="3300">
                <a:solidFill>
                  <a:schemeClr val="dk2"/>
                </a:solidFill>
                <a:highlight>
                  <a:schemeClr val="lt1"/>
                </a:highlight>
              </a:endParaRPr>
            </a:p>
            <a:p>
              <a:pPr indent="0" lvl="0" marL="0" rtl="0" algn="r">
                <a:spcBef>
                  <a:spcPts val="0"/>
                </a:spcBef>
                <a:spcAft>
                  <a:spcPts val="0"/>
                </a:spcAft>
                <a:buNone/>
              </a:pPr>
              <a:br>
                <a:rPr b="1" lang="en-US" sz="3300">
                  <a:solidFill>
                    <a:schemeClr val="dk2"/>
                  </a:solidFill>
                  <a:highlight>
                    <a:schemeClr val="lt1"/>
                  </a:highlight>
                </a:rPr>
              </a:br>
              <a:endParaRPr b="1" sz="3300">
                <a:solidFill>
                  <a:schemeClr val="dk2"/>
                </a:solidFill>
                <a:highlight>
                  <a:schemeClr val="lt1"/>
                </a:highlight>
              </a:endParaRPr>
            </a:p>
          </p:txBody>
        </p:sp>
        <p:pic>
          <p:nvPicPr>
            <p:cNvPr id="198" name="Google Shape;198;p24"/>
            <p:cNvPicPr preferRelativeResize="0"/>
            <p:nvPr/>
          </p:nvPicPr>
          <p:blipFill rotWithShape="1">
            <a:blip r:embed="rId9">
              <a:alphaModFix/>
            </a:blip>
            <a:srcRect b="24688" l="0" r="0" t="28516"/>
            <a:stretch/>
          </p:blipFill>
          <p:spPr>
            <a:xfrm>
              <a:off x="5885926" y="1686518"/>
              <a:ext cx="1044486" cy="457676"/>
            </a:xfrm>
            <a:prstGeom prst="rect">
              <a:avLst/>
            </a:prstGeom>
            <a:noFill/>
            <a:ln>
              <a:noFill/>
            </a:ln>
          </p:spPr>
        </p:pic>
        <p:pic>
          <p:nvPicPr>
            <p:cNvPr id="199" name="Google Shape;199;p24"/>
            <p:cNvPicPr preferRelativeResize="0"/>
            <p:nvPr/>
          </p:nvPicPr>
          <p:blipFill rotWithShape="1">
            <a:blip r:embed="rId10">
              <a:alphaModFix/>
            </a:blip>
            <a:srcRect b="15373" l="30131" r="36107" t="6744"/>
            <a:stretch/>
          </p:blipFill>
          <p:spPr>
            <a:xfrm>
              <a:off x="272647" y="1448219"/>
              <a:ext cx="718653" cy="932475"/>
            </a:xfrm>
            <a:prstGeom prst="rect">
              <a:avLst/>
            </a:prstGeom>
            <a:noFill/>
            <a:ln>
              <a:noFill/>
            </a:ln>
          </p:spPr>
        </p:pic>
        <p:pic>
          <p:nvPicPr>
            <p:cNvPr id="200" name="Google Shape;200;p24"/>
            <p:cNvPicPr preferRelativeResize="0"/>
            <p:nvPr/>
          </p:nvPicPr>
          <p:blipFill>
            <a:blip r:embed="rId11">
              <a:alphaModFix/>
            </a:blip>
            <a:stretch>
              <a:fillRect/>
            </a:stretch>
          </p:blipFill>
          <p:spPr>
            <a:xfrm>
              <a:off x="1258925" y="1568201"/>
              <a:ext cx="836750" cy="722519"/>
            </a:xfrm>
            <a:prstGeom prst="rect">
              <a:avLst/>
            </a:prstGeom>
            <a:noFill/>
            <a:ln>
              <a:noFill/>
            </a:ln>
          </p:spPr>
        </p:pic>
      </p:grpSp>
      <p:grpSp>
        <p:nvGrpSpPr>
          <p:cNvPr id="201" name="Google Shape;201;p24"/>
          <p:cNvGrpSpPr/>
          <p:nvPr/>
        </p:nvGrpSpPr>
        <p:grpSpPr>
          <a:xfrm>
            <a:off x="2375140" y="2111572"/>
            <a:ext cx="9658385" cy="681900"/>
            <a:chOff x="2375140" y="2111572"/>
            <a:chExt cx="9658385" cy="681900"/>
          </a:xfrm>
        </p:grpSpPr>
        <p:pic>
          <p:nvPicPr>
            <p:cNvPr id="202" name="Google Shape;202;p24"/>
            <p:cNvPicPr preferRelativeResize="0"/>
            <p:nvPr/>
          </p:nvPicPr>
          <p:blipFill rotWithShape="1">
            <a:blip r:embed="rId12">
              <a:alphaModFix/>
            </a:blip>
            <a:srcRect b="30525" l="0" r="0" t="27737"/>
            <a:stretch/>
          </p:blipFill>
          <p:spPr>
            <a:xfrm>
              <a:off x="2375140" y="2203296"/>
              <a:ext cx="1226960" cy="512100"/>
            </a:xfrm>
            <a:prstGeom prst="rect">
              <a:avLst/>
            </a:prstGeom>
            <a:noFill/>
            <a:ln>
              <a:noFill/>
            </a:ln>
          </p:spPr>
        </p:pic>
        <p:pic>
          <p:nvPicPr>
            <p:cNvPr id="203" name="Google Shape;203;p24"/>
            <p:cNvPicPr preferRelativeResize="0"/>
            <p:nvPr/>
          </p:nvPicPr>
          <p:blipFill>
            <a:blip r:embed="rId13">
              <a:alphaModFix/>
            </a:blip>
            <a:stretch>
              <a:fillRect/>
            </a:stretch>
          </p:blipFill>
          <p:spPr>
            <a:xfrm>
              <a:off x="7202900" y="2111572"/>
              <a:ext cx="681900" cy="681900"/>
            </a:xfrm>
            <a:prstGeom prst="rect">
              <a:avLst/>
            </a:prstGeom>
            <a:noFill/>
            <a:ln>
              <a:noFill/>
            </a:ln>
          </p:spPr>
        </p:pic>
        <p:sp>
          <p:nvSpPr>
            <p:cNvPr id="204" name="Google Shape;204;p24"/>
            <p:cNvSpPr txBox="1"/>
            <p:nvPr/>
          </p:nvSpPr>
          <p:spPr>
            <a:xfrm>
              <a:off x="10533525" y="2118824"/>
              <a:ext cx="1500000" cy="540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r">
                <a:spcBef>
                  <a:spcPts val="0"/>
                </a:spcBef>
                <a:spcAft>
                  <a:spcPts val="0"/>
                </a:spcAft>
                <a:buNone/>
              </a:pPr>
              <a:r>
                <a:rPr b="1" lang="en-US" sz="3300">
                  <a:solidFill>
                    <a:schemeClr val="dk2"/>
                  </a:solidFill>
                  <a:highlight>
                    <a:schemeClr val="lt1"/>
                  </a:highlight>
                </a:rPr>
                <a:t>TEST</a:t>
              </a:r>
              <a:endParaRPr b="1" sz="3300">
                <a:solidFill>
                  <a:schemeClr val="dk2"/>
                </a:solidFill>
                <a:highlight>
                  <a:schemeClr val="lt1"/>
                </a:highlight>
              </a:endParaRPr>
            </a:p>
            <a:p>
              <a:pPr indent="0" lvl="0" marL="0" rtl="0" algn="r">
                <a:spcBef>
                  <a:spcPts val="0"/>
                </a:spcBef>
                <a:spcAft>
                  <a:spcPts val="0"/>
                </a:spcAft>
                <a:buNone/>
              </a:pPr>
              <a:br>
                <a:rPr b="1" lang="en-US" sz="3300">
                  <a:solidFill>
                    <a:schemeClr val="dk2"/>
                  </a:solidFill>
                  <a:highlight>
                    <a:schemeClr val="lt1"/>
                  </a:highlight>
                </a:rPr>
              </a:br>
              <a:endParaRPr b="1" sz="3300">
                <a:solidFill>
                  <a:schemeClr val="dk2"/>
                </a:solidFill>
                <a:highlight>
                  <a:schemeClr val="lt1"/>
                </a:highlight>
              </a:endParaRPr>
            </a:p>
          </p:txBody>
        </p:sp>
      </p:grpSp>
      <p:grpSp>
        <p:nvGrpSpPr>
          <p:cNvPr id="205" name="Google Shape;205;p24"/>
          <p:cNvGrpSpPr/>
          <p:nvPr/>
        </p:nvGrpSpPr>
        <p:grpSpPr>
          <a:xfrm>
            <a:off x="3458611" y="2649423"/>
            <a:ext cx="8573233" cy="681903"/>
            <a:chOff x="3458611" y="2649423"/>
            <a:chExt cx="8573233" cy="681903"/>
          </a:xfrm>
        </p:grpSpPr>
        <p:pic>
          <p:nvPicPr>
            <p:cNvPr id="206" name="Google Shape;206;p24"/>
            <p:cNvPicPr preferRelativeResize="0"/>
            <p:nvPr/>
          </p:nvPicPr>
          <p:blipFill rotWithShape="1">
            <a:blip r:embed="rId14">
              <a:alphaModFix/>
            </a:blip>
            <a:srcRect b="28909" l="0" r="0" t="27334"/>
            <a:stretch/>
          </p:blipFill>
          <p:spPr>
            <a:xfrm>
              <a:off x="3458611" y="2657916"/>
              <a:ext cx="1500025" cy="656385"/>
            </a:xfrm>
            <a:prstGeom prst="rect">
              <a:avLst/>
            </a:prstGeom>
            <a:noFill/>
            <a:ln>
              <a:noFill/>
            </a:ln>
            <a:effectLst>
              <a:outerShdw blurRad="57150" rotWithShape="0" algn="bl" dir="5400000" dist="19050">
                <a:srgbClr val="000000">
                  <a:alpha val="50000"/>
                </a:srgbClr>
              </a:outerShdw>
            </a:effectLst>
          </p:spPr>
        </p:pic>
        <p:pic>
          <p:nvPicPr>
            <p:cNvPr id="207" name="Google Shape;207;p24"/>
            <p:cNvPicPr preferRelativeResize="0"/>
            <p:nvPr/>
          </p:nvPicPr>
          <p:blipFill rotWithShape="1">
            <a:blip r:embed="rId15">
              <a:alphaModFix/>
            </a:blip>
            <a:srcRect b="0" l="18155" r="18804" t="0"/>
            <a:stretch/>
          </p:blipFill>
          <p:spPr>
            <a:xfrm>
              <a:off x="6305686" y="2674951"/>
              <a:ext cx="735657" cy="656375"/>
            </a:xfrm>
            <a:prstGeom prst="rect">
              <a:avLst/>
            </a:prstGeom>
            <a:noFill/>
            <a:ln>
              <a:noFill/>
            </a:ln>
          </p:spPr>
        </p:pic>
        <p:sp>
          <p:nvSpPr>
            <p:cNvPr id="208" name="Google Shape;208;p24"/>
            <p:cNvSpPr txBox="1"/>
            <p:nvPr/>
          </p:nvSpPr>
          <p:spPr>
            <a:xfrm>
              <a:off x="10531844" y="2649423"/>
              <a:ext cx="1500000" cy="540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r">
                <a:spcBef>
                  <a:spcPts val="0"/>
                </a:spcBef>
                <a:spcAft>
                  <a:spcPts val="0"/>
                </a:spcAft>
                <a:buNone/>
              </a:pPr>
              <a:r>
                <a:rPr b="1" lang="en-US" sz="3300">
                  <a:solidFill>
                    <a:schemeClr val="dk2"/>
                  </a:solidFill>
                  <a:highlight>
                    <a:schemeClr val="lt1"/>
                  </a:highlight>
                </a:rPr>
                <a:t>PROJ</a:t>
              </a:r>
              <a:endParaRPr b="1" sz="3300">
                <a:solidFill>
                  <a:schemeClr val="dk2"/>
                </a:solidFill>
                <a:highlight>
                  <a:schemeClr val="lt1"/>
                </a:highlight>
              </a:endParaRPr>
            </a:p>
            <a:p>
              <a:pPr indent="0" lvl="0" marL="0" rtl="0" algn="r">
                <a:spcBef>
                  <a:spcPts val="0"/>
                </a:spcBef>
                <a:spcAft>
                  <a:spcPts val="0"/>
                </a:spcAft>
                <a:buNone/>
              </a:pPr>
              <a:br>
                <a:rPr b="1" lang="en-US" sz="3300">
                  <a:solidFill>
                    <a:schemeClr val="dk2"/>
                  </a:solidFill>
                  <a:highlight>
                    <a:schemeClr val="lt1"/>
                  </a:highlight>
                </a:rPr>
              </a:br>
              <a:endParaRPr b="1" sz="3300">
                <a:solidFill>
                  <a:schemeClr val="dk2"/>
                </a:solidFill>
                <a:highlight>
                  <a:schemeClr val="lt1"/>
                </a:highlight>
              </a:endParaRPr>
            </a:p>
          </p:txBody>
        </p:sp>
      </p:grpSp>
      <p:grpSp>
        <p:nvGrpSpPr>
          <p:cNvPr id="209" name="Google Shape;209;p24"/>
          <p:cNvGrpSpPr/>
          <p:nvPr/>
        </p:nvGrpSpPr>
        <p:grpSpPr>
          <a:xfrm>
            <a:off x="142132" y="4970956"/>
            <a:ext cx="10840317" cy="669543"/>
            <a:chOff x="142132" y="4970956"/>
            <a:chExt cx="10840317" cy="669543"/>
          </a:xfrm>
        </p:grpSpPr>
        <p:pic>
          <p:nvPicPr>
            <p:cNvPr id="210" name="Google Shape;210;p24"/>
            <p:cNvPicPr preferRelativeResize="0"/>
            <p:nvPr/>
          </p:nvPicPr>
          <p:blipFill rotWithShape="1">
            <a:blip r:embed="rId16">
              <a:alphaModFix/>
            </a:blip>
            <a:srcRect b="5250" l="35860" r="35806" t="6065"/>
            <a:stretch/>
          </p:blipFill>
          <p:spPr>
            <a:xfrm>
              <a:off x="10606953" y="5013776"/>
              <a:ext cx="375496" cy="596300"/>
            </a:xfrm>
            <a:prstGeom prst="rect">
              <a:avLst/>
            </a:prstGeom>
            <a:noFill/>
            <a:ln>
              <a:noFill/>
            </a:ln>
          </p:spPr>
        </p:pic>
        <p:grpSp>
          <p:nvGrpSpPr>
            <p:cNvPr id="211" name="Google Shape;211;p24"/>
            <p:cNvGrpSpPr/>
            <p:nvPr/>
          </p:nvGrpSpPr>
          <p:grpSpPr>
            <a:xfrm>
              <a:off x="142132" y="4970956"/>
              <a:ext cx="9914218" cy="669543"/>
              <a:chOff x="142132" y="4970956"/>
              <a:chExt cx="9914218" cy="669543"/>
            </a:xfrm>
          </p:grpSpPr>
          <p:pic>
            <p:nvPicPr>
              <p:cNvPr id="212" name="Google Shape;212;p24"/>
              <p:cNvPicPr preferRelativeResize="0"/>
              <p:nvPr/>
            </p:nvPicPr>
            <p:blipFill>
              <a:blip r:embed="rId17">
                <a:alphaModFix/>
              </a:blip>
              <a:stretch>
                <a:fillRect/>
              </a:stretch>
            </p:blipFill>
            <p:spPr>
              <a:xfrm>
                <a:off x="5803717" y="5065897"/>
                <a:ext cx="1072574" cy="540300"/>
              </a:xfrm>
              <a:prstGeom prst="rect">
                <a:avLst/>
              </a:prstGeom>
              <a:noFill/>
              <a:ln>
                <a:noFill/>
              </a:ln>
            </p:spPr>
          </p:pic>
          <p:pic>
            <p:nvPicPr>
              <p:cNvPr id="213" name="Google Shape;213;p24"/>
              <p:cNvPicPr preferRelativeResize="0"/>
              <p:nvPr/>
            </p:nvPicPr>
            <p:blipFill>
              <a:blip r:embed="rId18">
                <a:alphaModFix/>
              </a:blip>
              <a:stretch>
                <a:fillRect/>
              </a:stretch>
            </p:blipFill>
            <p:spPr>
              <a:xfrm>
                <a:off x="7743127" y="5032724"/>
                <a:ext cx="2313222" cy="607775"/>
              </a:xfrm>
              <a:prstGeom prst="rect">
                <a:avLst/>
              </a:prstGeom>
              <a:noFill/>
              <a:ln>
                <a:noFill/>
              </a:ln>
            </p:spPr>
          </p:pic>
          <p:sp>
            <p:nvSpPr>
              <p:cNvPr id="214" name="Google Shape;214;p24"/>
              <p:cNvSpPr txBox="1"/>
              <p:nvPr/>
            </p:nvSpPr>
            <p:spPr>
              <a:xfrm>
                <a:off x="142132" y="4970956"/>
                <a:ext cx="1500000" cy="540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chemeClr val="dk2"/>
                    </a:solidFill>
                    <a:highlight>
                      <a:schemeClr val="lt1"/>
                    </a:highlight>
                  </a:rPr>
                  <a:t>SCAN</a:t>
                </a:r>
                <a:endParaRPr b="1" sz="3300">
                  <a:solidFill>
                    <a:schemeClr val="dk2"/>
                  </a:solidFill>
                  <a:highlight>
                    <a:schemeClr val="lt1"/>
                  </a:highlight>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grpSp>
        <p:nvGrpSpPr>
          <p:cNvPr id="219" name="Google Shape;219;p25"/>
          <p:cNvGrpSpPr/>
          <p:nvPr/>
        </p:nvGrpSpPr>
        <p:grpSpPr>
          <a:xfrm>
            <a:off x="7746332" y="239525"/>
            <a:ext cx="4184700" cy="4401600"/>
            <a:chOff x="7746332" y="239525"/>
            <a:chExt cx="4184700" cy="4401600"/>
          </a:xfrm>
        </p:grpSpPr>
        <p:sp>
          <p:nvSpPr>
            <p:cNvPr id="220" name="Google Shape;220;p25"/>
            <p:cNvSpPr txBox="1"/>
            <p:nvPr/>
          </p:nvSpPr>
          <p:spPr>
            <a:xfrm>
              <a:off x="7746332" y="239525"/>
              <a:ext cx="4184700" cy="4401600"/>
            </a:xfrm>
            <a:prstGeom prst="rect">
              <a:avLst/>
            </a:prstGeom>
            <a:solidFill>
              <a:srgbClr val="F3F3F3"/>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rPr>
                <a:t>Nonprofit Status</a:t>
              </a:r>
              <a:endParaRPr sz="2800">
                <a:solidFill>
                  <a:schemeClr val="dk1"/>
                </a:solidFill>
              </a:endParaRPr>
            </a:p>
            <a:p>
              <a:pPr indent="0" lvl="0" marL="0" rtl="0" algn="l">
                <a:spcBef>
                  <a:spcPts val="0"/>
                </a:spcBef>
                <a:spcAft>
                  <a:spcPts val="0"/>
                </a:spcAft>
                <a:buNone/>
              </a:pPr>
              <a:r>
                <a:t/>
              </a:r>
              <a:endParaRPr sz="2800">
                <a:solidFill>
                  <a:schemeClr val="dk1"/>
                </a:solidFill>
              </a:endParaRPr>
            </a:p>
            <a:p>
              <a:pPr indent="0" lvl="0" marL="0" rtl="0" algn="l">
                <a:spcBef>
                  <a:spcPts val="0"/>
                </a:spcBef>
                <a:spcAft>
                  <a:spcPts val="0"/>
                </a:spcAft>
                <a:buNone/>
              </a:pPr>
              <a:r>
                <a:rPr lang="en-US" sz="2400">
                  <a:solidFill>
                    <a:schemeClr val="dk1"/>
                  </a:solidFill>
                </a:rPr>
                <a:t>GitHub Teams</a:t>
              </a:r>
              <a:endParaRPr sz="2400">
                <a:solidFill>
                  <a:schemeClr val="dk1"/>
                </a:solidFill>
              </a:endParaRPr>
            </a:p>
            <a:p>
              <a:pPr indent="-381000" lvl="0" marL="457200" rtl="0" algn="l">
                <a:spcBef>
                  <a:spcPts val="0"/>
                </a:spcBef>
                <a:spcAft>
                  <a:spcPts val="0"/>
                </a:spcAft>
                <a:buClr>
                  <a:schemeClr val="dk1"/>
                </a:buClr>
                <a:buSzPts val="2400"/>
                <a:buChar char="●"/>
              </a:pPr>
              <a:r>
                <a:rPr lang="en-US" sz="2400">
                  <a:solidFill>
                    <a:schemeClr val="dk1"/>
                  </a:solidFill>
                </a:rPr>
                <a:t>77 users ($3.7K)</a:t>
              </a:r>
              <a:endParaRPr sz="2400">
                <a:solidFill>
                  <a:schemeClr val="dk1"/>
                </a:solidFill>
              </a:endParaRPr>
            </a:p>
            <a:p>
              <a:pPr indent="-381000" lvl="0" marL="457200" rtl="0" algn="l">
                <a:spcBef>
                  <a:spcPts val="0"/>
                </a:spcBef>
                <a:spcAft>
                  <a:spcPts val="0"/>
                </a:spcAft>
                <a:buClr>
                  <a:schemeClr val="dk1"/>
                </a:buClr>
                <a:buSzPts val="2400"/>
                <a:buChar char="●"/>
              </a:pPr>
              <a:r>
                <a:rPr lang="en-US" sz="2400">
                  <a:solidFill>
                    <a:schemeClr val="dk1"/>
                  </a:solidFill>
                </a:rPr>
                <a:t>Actions ($6K)</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US" sz="2400">
                  <a:solidFill>
                    <a:schemeClr val="dk1"/>
                  </a:solidFill>
                </a:rPr>
                <a:t>Docker Hub DSOS</a:t>
              </a:r>
              <a:endParaRPr sz="2400">
                <a:solidFill>
                  <a:schemeClr val="dk1"/>
                </a:solidFill>
              </a:endParaRPr>
            </a:p>
            <a:p>
              <a:pPr indent="-381000" lvl="0" marL="457200" rtl="0" algn="l">
                <a:spcBef>
                  <a:spcPts val="0"/>
                </a:spcBef>
                <a:spcAft>
                  <a:spcPts val="0"/>
                </a:spcAft>
                <a:buClr>
                  <a:schemeClr val="dk1"/>
                </a:buClr>
                <a:buSzPts val="2400"/>
                <a:buChar char="●"/>
              </a:pPr>
              <a:r>
                <a:rPr lang="en-US" sz="2400">
                  <a:solidFill>
                    <a:schemeClr val="dk1"/>
                  </a:solidFill>
                </a:rPr>
                <a:t>10 users ($2K)</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US" sz="2400">
                  <a:solidFill>
                    <a:schemeClr val="dk1"/>
                  </a:solidFill>
                </a:rPr>
                <a:t>Slack Pro</a:t>
              </a:r>
              <a:endParaRPr sz="2400">
                <a:solidFill>
                  <a:schemeClr val="dk1"/>
                </a:solidFill>
              </a:endParaRPr>
            </a:p>
            <a:p>
              <a:pPr indent="-381000" lvl="0" marL="457200" rtl="0" algn="l">
                <a:spcBef>
                  <a:spcPts val="0"/>
                </a:spcBef>
                <a:spcAft>
                  <a:spcPts val="0"/>
                </a:spcAft>
                <a:buClr>
                  <a:schemeClr val="dk1"/>
                </a:buClr>
                <a:buSzPts val="2400"/>
                <a:buChar char="●"/>
              </a:pPr>
              <a:r>
                <a:rPr lang="en-US" sz="2400">
                  <a:solidFill>
                    <a:schemeClr val="dk1"/>
                  </a:solidFill>
                </a:rPr>
                <a:t>23 Users ($2K)</a:t>
              </a:r>
              <a:endParaRPr sz="2400">
                <a:solidFill>
                  <a:schemeClr val="dk1"/>
                </a:solidFill>
              </a:endParaRPr>
            </a:p>
          </p:txBody>
        </p:sp>
        <p:pic>
          <p:nvPicPr>
            <p:cNvPr id="221" name="Google Shape;221;p25"/>
            <p:cNvPicPr preferRelativeResize="0"/>
            <p:nvPr/>
          </p:nvPicPr>
          <p:blipFill rotWithShape="1">
            <a:blip r:embed="rId3">
              <a:alphaModFix/>
            </a:blip>
            <a:srcRect b="0" l="18155" r="18804" t="0"/>
            <a:stretch/>
          </p:blipFill>
          <p:spPr>
            <a:xfrm>
              <a:off x="10741453" y="1263014"/>
              <a:ext cx="890875" cy="885848"/>
            </a:xfrm>
            <a:prstGeom prst="rect">
              <a:avLst/>
            </a:prstGeom>
            <a:noFill/>
            <a:ln>
              <a:noFill/>
            </a:ln>
          </p:spPr>
        </p:pic>
        <p:pic>
          <p:nvPicPr>
            <p:cNvPr id="222" name="Google Shape;222;p25" title="Screenshot 2025-11-03 at 1.35.44 PM.png"/>
            <p:cNvPicPr preferRelativeResize="0"/>
            <p:nvPr/>
          </p:nvPicPr>
          <p:blipFill>
            <a:blip r:embed="rId4">
              <a:alphaModFix/>
            </a:blip>
            <a:stretch>
              <a:fillRect/>
            </a:stretch>
          </p:blipFill>
          <p:spPr>
            <a:xfrm>
              <a:off x="10551426" y="2643325"/>
              <a:ext cx="1270900" cy="794900"/>
            </a:xfrm>
            <a:prstGeom prst="rect">
              <a:avLst/>
            </a:prstGeom>
            <a:noFill/>
            <a:ln>
              <a:noFill/>
            </a:ln>
          </p:spPr>
        </p:pic>
        <p:pic>
          <p:nvPicPr>
            <p:cNvPr id="223" name="Google Shape;223;p25"/>
            <p:cNvPicPr preferRelativeResize="0"/>
            <p:nvPr/>
          </p:nvPicPr>
          <p:blipFill rotWithShape="1">
            <a:blip r:embed="rId5">
              <a:alphaModFix/>
            </a:blip>
            <a:srcRect b="16163" l="25709" r="24839" t="13621"/>
            <a:stretch/>
          </p:blipFill>
          <p:spPr>
            <a:xfrm>
              <a:off x="10741474" y="3640629"/>
              <a:ext cx="890875" cy="938042"/>
            </a:xfrm>
            <a:prstGeom prst="rect">
              <a:avLst/>
            </a:prstGeom>
            <a:noFill/>
            <a:ln>
              <a:noFill/>
            </a:ln>
          </p:spPr>
        </p:pic>
      </p:grpSp>
      <p:grpSp>
        <p:nvGrpSpPr>
          <p:cNvPr id="224" name="Google Shape;224;p25"/>
          <p:cNvGrpSpPr/>
          <p:nvPr/>
        </p:nvGrpSpPr>
        <p:grpSpPr>
          <a:xfrm>
            <a:off x="3902413" y="3005376"/>
            <a:ext cx="3214293" cy="2789700"/>
            <a:chOff x="3902413" y="3005376"/>
            <a:chExt cx="3214293" cy="2789700"/>
          </a:xfrm>
        </p:grpSpPr>
        <p:sp>
          <p:nvSpPr>
            <p:cNvPr id="225" name="Google Shape;225;p25"/>
            <p:cNvSpPr/>
            <p:nvPr/>
          </p:nvSpPr>
          <p:spPr>
            <a:xfrm rot="-2899803">
              <a:off x="3904158" y="3799832"/>
              <a:ext cx="2665910" cy="1200788"/>
            </a:xfrm>
            <a:prstGeom prst="rightArrow">
              <a:avLst>
                <a:gd fmla="val 50000" name="adj1"/>
                <a:gd fmla="val 50000" name="adj2"/>
              </a:avLst>
            </a:prstGeom>
            <a:gradFill>
              <a:gsLst>
                <a:gs pos="0">
                  <a:schemeClr val="accent4"/>
                </a:gs>
                <a:gs pos="50000">
                  <a:srgbClr val="D4DCEA"/>
                </a:gs>
                <a:gs pos="100000">
                  <a:srgbClr val="C9DAF8"/>
                </a:gs>
              </a:gsLst>
              <a:lin ang="10800025"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2800">
                <a:solidFill>
                  <a:srgbClr val="0066B3"/>
                </a:solidFill>
              </a:endParaRPr>
            </a:p>
          </p:txBody>
        </p:sp>
        <p:pic>
          <p:nvPicPr>
            <p:cNvPr id="226" name="Google Shape;226;p25"/>
            <p:cNvPicPr preferRelativeResize="0"/>
            <p:nvPr/>
          </p:nvPicPr>
          <p:blipFill>
            <a:blip r:embed="rId6">
              <a:alphaModFix/>
            </a:blip>
            <a:stretch>
              <a:fillRect/>
            </a:stretch>
          </p:blipFill>
          <p:spPr>
            <a:xfrm>
              <a:off x="4949410" y="3444948"/>
              <a:ext cx="2167296" cy="622250"/>
            </a:xfrm>
            <a:prstGeom prst="rect">
              <a:avLst/>
            </a:prstGeom>
            <a:noFill/>
            <a:ln>
              <a:noFill/>
            </a:ln>
          </p:spPr>
        </p:pic>
      </p:grpSp>
      <p:sp>
        <p:nvSpPr>
          <p:cNvPr id="227" name="Google Shape;227;p25"/>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DTCenter GitHub Organization</a:t>
            </a:r>
            <a:endParaRPr/>
          </a:p>
        </p:txBody>
      </p:sp>
      <p:sp>
        <p:nvSpPr>
          <p:cNvPr id="228" name="Google Shape;228;p25"/>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29" name="Google Shape;229;p25"/>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repository </a:t>
            </a:r>
            <a:r>
              <a:rPr lang="en-US"/>
              <a:t>hierarchy</a:t>
            </a:r>
            <a:endParaRPr/>
          </a:p>
        </p:txBody>
      </p:sp>
      <p:pic>
        <p:nvPicPr>
          <p:cNvPr id="230" name="Google Shape;230;p25"/>
          <p:cNvPicPr preferRelativeResize="0"/>
          <p:nvPr/>
        </p:nvPicPr>
        <p:blipFill>
          <a:blip r:embed="rId7">
            <a:alphaModFix/>
          </a:blip>
          <a:stretch>
            <a:fillRect/>
          </a:stretch>
        </p:blipFill>
        <p:spPr>
          <a:xfrm>
            <a:off x="642652" y="1605801"/>
            <a:ext cx="5555963" cy="2164900"/>
          </a:xfrm>
          <a:prstGeom prst="rect">
            <a:avLst/>
          </a:prstGeom>
          <a:noFill/>
          <a:ln>
            <a:noFill/>
          </a:ln>
        </p:spPr>
      </p:pic>
      <p:grpSp>
        <p:nvGrpSpPr>
          <p:cNvPr id="231" name="Google Shape;231;p25"/>
          <p:cNvGrpSpPr/>
          <p:nvPr/>
        </p:nvGrpSpPr>
        <p:grpSpPr>
          <a:xfrm>
            <a:off x="355750" y="3350875"/>
            <a:ext cx="1866550" cy="2666100"/>
            <a:chOff x="355750" y="3350875"/>
            <a:chExt cx="1866550" cy="2666100"/>
          </a:xfrm>
        </p:grpSpPr>
        <p:sp>
          <p:nvSpPr>
            <p:cNvPr id="232" name="Google Shape;232;p25"/>
            <p:cNvSpPr/>
            <p:nvPr/>
          </p:nvSpPr>
          <p:spPr>
            <a:xfrm rot="-5400000">
              <a:off x="24826" y="4083475"/>
              <a:ext cx="2666100" cy="1200900"/>
            </a:xfrm>
            <a:prstGeom prst="rightArrow">
              <a:avLst>
                <a:gd fmla="val 50000" name="adj1"/>
                <a:gd fmla="val 50000" name="adj2"/>
              </a:avLst>
            </a:prstGeom>
            <a:gradFill>
              <a:gsLst>
                <a:gs pos="0">
                  <a:schemeClr val="accent4"/>
                </a:gs>
                <a:gs pos="50000">
                  <a:srgbClr val="D4DCEA"/>
                </a:gs>
                <a:gs pos="100000">
                  <a:srgbClr val="C9DAF8"/>
                </a:gs>
              </a:gsLst>
              <a:lin ang="10800025"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2800">
                <a:solidFill>
                  <a:srgbClr val="0066B3"/>
                </a:solidFill>
              </a:endParaRPr>
            </a:p>
          </p:txBody>
        </p:sp>
        <p:pic>
          <p:nvPicPr>
            <p:cNvPr id="233" name="Google Shape;233;p25"/>
            <p:cNvPicPr preferRelativeResize="0"/>
            <p:nvPr/>
          </p:nvPicPr>
          <p:blipFill>
            <a:blip r:embed="rId8">
              <a:alphaModFix/>
            </a:blip>
            <a:stretch>
              <a:fillRect/>
            </a:stretch>
          </p:blipFill>
          <p:spPr>
            <a:xfrm>
              <a:off x="355750" y="4297816"/>
              <a:ext cx="1866550" cy="701549"/>
            </a:xfrm>
            <a:prstGeom prst="rect">
              <a:avLst/>
            </a:prstGeom>
            <a:noFill/>
            <a:ln>
              <a:noFill/>
            </a:ln>
          </p:spPr>
        </p:pic>
      </p:grpSp>
      <p:grpSp>
        <p:nvGrpSpPr>
          <p:cNvPr id="234" name="Google Shape;234;p25"/>
          <p:cNvGrpSpPr/>
          <p:nvPr/>
        </p:nvGrpSpPr>
        <p:grpSpPr>
          <a:xfrm>
            <a:off x="2468735" y="3350863"/>
            <a:ext cx="2116724" cy="2666100"/>
            <a:chOff x="2468735" y="3350863"/>
            <a:chExt cx="2116724" cy="2666100"/>
          </a:xfrm>
        </p:grpSpPr>
        <p:sp>
          <p:nvSpPr>
            <p:cNvPr id="235" name="Google Shape;235;p25"/>
            <p:cNvSpPr/>
            <p:nvPr/>
          </p:nvSpPr>
          <p:spPr>
            <a:xfrm rot="-5400000">
              <a:off x="1736135" y="4083463"/>
              <a:ext cx="2666100" cy="1200900"/>
            </a:xfrm>
            <a:prstGeom prst="rightArrow">
              <a:avLst>
                <a:gd fmla="val 50000" name="adj1"/>
                <a:gd fmla="val 50000" name="adj2"/>
              </a:avLst>
            </a:prstGeom>
            <a:gradFill>
              <a:gsLst>
                <a:gs pos="0">
                  <a:schemeClr val="accent4"/>
                </a:gs>
                <a:gs pos="50000">
                  <a:srgbClr val="D4DCEA"/>
                </a:gs>
                <a:gs pos="100000">
                  <a:srgbClr val="C9DAF8"/>
                </a:gs>
              </a:gsLst>
              <a:lin ang="10800025"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2800">
                <a:solidFill>
                  <a:srgbClr val="0066B3"/>
                </a:solidFill>
              </a:endParaRPr>
            </a:p>
          </p:txBody>
        </p:sp>
        <p:pic>
          <p:nvPicPr>
            <p:cNvPr id="236" name="Google Shape;236;p25"/>
            <p:cNvPicPr preferRelativeResize="0"/>
            <p:nvPr/>
          </p:nvPicPr>
          <p:blipFill>
            <a:blip r:embed="rId9">
              <a:alphaModFix/>
            </a:blip>
            <a:stretch>
              <a:fillRect/>
            </a:stretch>
          </p:blipFill>
          <p:spPr>
            <a:xfrm>
              <a:off x="2916280" y="4228966"/>
              <a:ext cx="1654252" cy="521805"/>
            </a:xfrm>
            <a:prstGeom prst="rect">
              <a:avLst/>
            </a:prstGeom>
            <a:noFill/>
            <a:ln>
              <a:noFill/>
            </a:ln>
          </p:spPr>
        </p:pic>
        <p:pic>
          <p:nvPicPr>
            <p:cNvPr id="237" name="Google Shape;237;p25"/>
            <p:cNvPicPr preferRelativeResize="0"/>
            <p:nvPr/>
          </p:nvPicPr>
          <p:blipFill>
            <a:blip r:embed="rId10">
              <a:alphaModFix/>
            </a:blip>
            <a:stretch>
              <a:fillRect/>
            </a:stretch>
          </p:blipFill>
          <p:spPr>
            <a:xfrm>
              <a:off x="2916293" y="4712108"/>
              <a:ext cx="1654236" cy="512099"/>
            </a:xfrm>
            <a:prstGeom prst="rect">
              <a:avLst/>
            </a:prstGeom>
            <a:noFill/>
            <a:ln>
              <a:noFill/>
            </a:ln>
          </p:spPr>
        </p:pic>
        <p:pic>
          <p:nvPicPr>
            <p:cNvPr id="238" name="Google Shape;238;p25"/>
            <p:cNvPicPr preferRelativeResize="0"/>
            <p:nvPr/>
          </p:nvPicPr>
          <p:blipFill>
            <a:blip r:embed="rId11">
              <a:alphaModFix/>
            </a:blip>
            <a:stretch>
              <a:fillRect/>
            </a:stretch>
          </p:blipFill>
          <p:spPr>
            <a:xfrm>
              <a:off x="2916281" y="5224185"/>
              <a:ext cx="1654252" cy="525036"/>
            </a:xfrm>
            <a:prstGeom prst="rect">
              <a:avLst/>
            </a:prstGeom>
            <a:noFill/>
            <a:ln>
              <a:noFill/>
            </a:ln>
          </p:spPr>
        </p:pic>
        <p:pic>
          <p:nvPicPr>
            <p:cNvPr id="239" name="Google Shape;239;p25"/>
            <p:cNvPicPr preferRelativeResize="0"/>
            <p:nvPr/>
          </p:nvPicPr>
          <p:blipFill>
            <a:blip r:embed="rId12">
              <a:alphaModFix/>
            </a:blip>
            <a:stretch>
              <a:fillRect/>
            </a:stretch>
          </p:blipFill>
          <p:spPr>
            <a:xfrm>
              <a:off x="2503166" y="3444952"/>
              <a:ext cx="2082294" cy="622249"/>
            </a:xfrm>
            <a:prstGeom prst="rect">
              <a:avLst/>
            </a:prstGeom>
            <a:noFill/>
            <a:ln>
              <a:noFill/>
            </a:ln>
          </p:spPr>
        </p:pic>
      </p:grpSp>
      <p:sp>
        <p:nvSpPr>
          <p:cNvPr id="240" name="Google Shape;240;p25"/>
          <p:cNvSpPr txBox="1"/>
          <p:nvPr/>
        </p:nvSpPr>
        <p:spPr>
          <a:xfrm>
            <a:off x="6198625" y="4641126"/>
            <a:ext cx="5846700" cy="19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Calibri"/>
                <a:ea typeface="Calibri"/>
                <a:cs typeface="Calibri"/>
                <a:sym typeface="Calibri"/>
              </a:rPr>
              <a:t>metplus-action-...</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b="1" lang="en-US" sz="2400">
                <a:solidFill>
                  <a:schemeClr val="dk1"/>
                </a:solidFill>
                <a:latin typeface="Calibri"/>
                <a:ea typeface="Calibri"/>
                <a:cs typeface="Calibri"/>
                <a:sym typeface="Calibri"/>
              </a:rPr>
              <a:t>	scan-docker-images, free-disk-space,</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b="1" lang="en-US" sz="2400">
                <a:solidFill>
                  <a:schemeClr val="dk1"/>
                </a:solidFill>
                <a:latin typeface="Calibri"/>
                <a:ea typeface="Calibri"/>
                <a:cs typeface="Calibri"/>
                <a:sym typeface="Calibri"/>
              </a:rPr>
              <a:t>	data-update, trigger-use-case,</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b="1" lang="en-US" sz="2400">
                <a:solidFill>
                  <a:schemeClr val="dk1"/>
                </a:solidFill>
                <a:latin typeface="Calibri"/>
                <a:ea typeface="Calibri"/>
                <a:cs typeface="Calibri"/>
                <a:sym typeface="Calibri"/>
              </a:rPr>
              <a:t>	release-checksum, sonarqube,</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b="1" lang="en-US" sz="2400">
                <a:solidFill>
                  <a:schemeClr val="dk1"/>
                </a:solidFill>
                <a:latin typeface="Calibri"/>
                <a:ea typeface="Calibri"/>
                <a:cs typeface="Calibri"/>
                <a:sym typeface="Calibri"/>
              </a:rPr>
              <a:t>	build-documentation</a:t>
            </a:r>
            <a:endParaRPr b="1" sz="2400">
              <a:solidFill>
                <a:schemeClr val="dk1"/>
              </a:solidFill>
              <a:latin typeface="Calibri"/>
              <a:ea typeface="Calibri"/>
              <a:cs typeface="Calibri"/>
              <a:sym typeface="Calibri"/>
            </a:endParaRPr>
          </a:p>
        </p:txBody>
      </p:sp>
      <p:grpSp>
        <p:nvGrpSpPr>
          <p:cNvPr id="241" name="Google Shape;241;p25"/>
          <p:cNvGrpSpPr/>
          <p:nvPr/>
        </p:nvGrpSpPr>
        <p:grpSpPr>
          <a:xfrm>
            <a:off x="-199611" y="5904089"/>
            <a:ext cx="7240500" cy="953700"/>
            <a:chOff x="-199611" y="5904089"/>
            <a:chExt cx="7240500" cy="953700"/>
          </a:xfrm>
        </p:grpSpPr>
        <p:sp>
          <p:nvSpPr>
            <p:cNvPr id="242" name="Google Shape;242;p25"/>
            <p:cNvSpPr txBox="1"/>
            <p:nvPr/>
          </p:nvSpPr>
          <p:spPr>
            <a:xfrm>
              <a:off x="-199611" y="5904089"/>
              <a:ext cx="7240500" cy="9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800">
                  <a:solidFill>
                    <a:schemeClr val="dk1"/>
                  </a:solidFill>
                  <a:latin typeface="Calibri"/>
                  <a:ea typeface="Calibri"/>
                  <a:cs typeface="Calibri"/>
                  <a:sym typeface="Calibri"/>
                </a:rPr>
                <a:t>METbaseimage</a:t>
              </a:r>
              <a:endParaRPr b="1" sz="3800">
                <a:solidFill>
                  <a:schemeClr val="dk1"/>
                </a:solidFill>
                <a:latin typeface="Calibri"/>
                <a:ea typeface="Calibri"/>
                <a:cs typeface="Calibri"/>
                <a:sym typeface="Calibri"/>
              </a:endParaRPr>
            </a:p>
          </p:txBody>
        </p:sp>
        <p:pic>
          <p:nvPicPr>
            <p:cNvPr id="243" name="Google Shape;243;p25"/>
            <p:cNvPicPr preferRelativeResize="0"/>
            <p:nvPr/>
          </p:nvPicPr>
          <p:blipFill rotWithShape="1">
            <a:blip r:embed="rId13">
              <a:alphaModFix/>
            </a:blip>
            <a:srcRect b="16557" l="0" r="0" t="15108"/>
            <a:stretch/>
          </p:blipFill>
          <p:spPr>
            <a:xfrm>
              <a:off x="1062527" y="6055350"/>
              <a:ext cx="768315" cy="525050"/>
            </a:xfrm>
            <a:prstGeom prst="rect">
              <a:avLst/>
            </a:prstGeom>
            <a:noFill/>
            <a:ln>
              <a:noFill/>
            </a:ln>
          </p:spPr>
        </p:pic>
        <p:pic>
          <p:nvPicPr>
            <p:cNvPr id="244" name="Google Shape;244;p25"/>
            <p:cNvPicPr preferRelativeResize="0"/>
            <p:nvPr/>
          </p:nvPicPr>
          <p:blipFill rotWithShape="1">
            <a:blip r:embed="rId13">
              <a:alphaModFix/>
            </a:blip>
            <a:srcRect b="16557" l="0" r="0" t="15108"/>
            <a:stretch/>
          </p:blipFill>
          <p:spPr>
            <a:xfrm>
              <a:off x="5030190" y="6055350"/>
              <a:ext cx="768315" cy="5250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6"/>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METplus Release Guide (RTD)</a:t>
            </a:r>
            <a:endParaRPr/>
          </a:p>
        </p:txBody>
      </p:sp>
      <p:sp>
        <p:nvSpPr>
          <p:cNvPr id="250" name="Google Shape;250;p26"/>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51" name="Google Shape;251;p26"/>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metplus.rtfd.io</a:t>
            </a:r>
            <a:endParaRPr/>
          </a:p>
        </p:txBody>
      </p:sp>
      <p:pic>
        <p:nvPicPr>
          <p:cNvPr id="252" name="Google Shape;252;p26" title="Screenshot 2025-11-03 at 2.09.14 PM.png"/>
          <p:cNvPicPr preferRelativeResize="0"/>
          <p:nvPr/>
        </p:nvPicPr>
        <p:blipFill rotWithShape="1">
          <a:blip r:embed="rId3">
            <a:alphaModFix/>
          </a:blip>
          <a:srcRect b="0" l="0" r="62976" t="40518"/>
          <a:stretch/>
        </p:blipFill>
        <p:spPr>
          <a:xfrm>
            <a:off x="7533075" y="2387790"/>
            <a:ext cx="2743201" cy="3317297"/>
          </a:xfrm>
          <a:prstGeom prst="rect">
            <a:avLst/>
          </a:prstGeom>
          <a:noFill/>
          <a:ln>
            <a:noFill/>
          </a:ln>
        </p:spPr>
      </p:pic>
      <p:pic>
        <p:nvPicPr>
          <p:cNvPr id="253" name="Google Shape;253;p26" title="Screenshot 2025-11-03 at 2.10.56 PM.png"/>
          <p:cNvPicPr preferRelativeResize="0"/>
          <p:nvPr/>
        </p:nvPicPr>
        <p:blipFill>
          <a:blip r:embed="rId4">
            <a:alphaModFix/>
          </a:blip>
          <a:stretch>
            <a:fillRect/>
          </a:stretch>
        </p:blipFill>
        <p:spPr>
          <a:xfrm>
            <a:off x="1319598" y="5813526"/>
            <a:ext cx="8956676" cy="900875"/>
          </a:xfrm>
          <a:prstGeom prst="rect">
            <a:avLst/>
          </a:prstGeom>
          <a:noFill/>
          <a:ln>
            <a:noFill/>
          </a:ln>
          <a:effectLst>
            <a:outerShdw blurRad="57150" rotWithShape="0" algn="bl" dir="5400000" dist="19050">
              <a:srgbClr val="000000">
                <a:alpha val="50000"/>
              </a:srgbClr>
            </a:outerShdw>
          </a:effectLst>
        </p:spPr>
      </p:pic>
      <p:grpSp>
        <p:nvGrpSpPr>
          <p:cNvPr id="254" name="Google Shape;254;p26"/>
          <p:cNvGrpSpPr/>
          <p:nvPr/>
        </p:nvGrpSpPr>
        <p:grpSpPr>
          <a:xfrm>
            <a:off x="8585850" y="0"/>
            <a:ext cx="3606149" cy="6858000"/>
            <a:chOff x="8585850" y="0"/>
            <a:chExt cx="3606149" cy="6858000"/>
          </a:xfrm>
        </p:grpSpPr>
        <p:pic>
          <p:nvPicPr>
            <p:cNvPr id="255" name="Google Shape;255;p26" title="Screenshot 2025-11-03 at 2.14.30 PM.png"/>
            <p:cNvPicPr preferRelativeResize="0"/>
            <p:nvPr/>
          </p:nvPicPr>
          <p:blipFill>
            <a:blip r:embed="rId5">
              <a:alphaModFix/>
            </a:blip>
            <a:stretch>
              <a:fillRect/>
            </a:stretch>
          </p:blipFill>
          <p:spPr>
            <a:xfrm>
              <a:off x="10436351" y="0"/>
              <a:ext cx="1755648" cy="6858000"/>
            </a:xfrm>
            <a:prstGeom prst="rect">
              <a:avLst/>
            </a:prstGeom>
            <a:noFill/>
            <a:ln>
              <a:noFill/>
            </a:ln>
          </p:spPr>
        </p:pic>
        <p:sp>
          <p:nvSpPr>
            <p:cNvPr id="256" name="Google Shape;256;p26"/>
            <p:cNvSpPr/>
            <p:nvPr/>
          </p:nvSpPr>
          <p:spPr>
            <a:xfrm>
              <a:off x="8585850" y="2471525"/>
              <a:ext cx="1937700" cy="512100"/>
            </a:xfrm>
            <a:prstGeom prst="rightArrow">
              <a:avLst>
                <a:gd fmla="val 50000" name="adj1"/>
                <a:gd fmla="val 50000" name="adj2"/>
              </a:avLst>
            </a:prstGeom>
            <a:gradFill>
              <a:gsLst>
                <a:gs pos="0">
                  <a:schemeClr val="accent4"/>
                </a:gs>
                <a:gs pos="50000">
                  <a:srgbClr val="D4DCEA"/>
                </a:gs>
                <a:gs pos="100000">
                  <a:srgbClr val="C9DAF8"/>
                </a:gs>
              </a:gsLst>
              <a:lin ang="10800025"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b="1" sz="2800">
                <a:solidFill>
                  <a:srgbClr val="0066B3"/>
                </a:solidFill>
              </a:endParaRPr>
            </a:p>
          </p:txBody>
        </p:sp>
      </p:grpSp>
      <p:pic>
        <p:nvPicPr>
          <p:cNvPr id="257" name="Google Shape;257;p26" title="Screenshot 2025-11-03 at 2.22.19 PM.png"/>
          <p:cNvPicPr preferRelativeResize="0"/>
          <p:nvPr/>
        </p:nvPicPr>
        <p:blipFill>
          <a:blip r:embed="rId6">
            <a:alphaModFix/>
          </a:blip>
          <a:stretch>
            <a:fillRect/>
          </a:stretch>
        </p:blipFill>
        <p:spPr>
          <a:xfrm>
            <a:off x="172107" y="1532833"/>
            <a:ext cx="2479390" cy="4187415"/>
          </a:xfrm>
          <a:prstGeom prst="rect">
            <a:avLst/>
          </a:prstGeom>
          <a:noFill/>
          <a:ln cap="flat" cmpd="sng" w="9525">
            <a:solidFill>
              <a:schemeClr val="dk1"/>
            </a:solidFill>
            <a:prstDash val="solid"/>
            <a:round/>
            <a:headEnd len="sm" w="sm" type="none"/>
            <a:tailEnd len="sm" w="sm" type="none"/>
          </a:ln>
        </p:spPr>
      </p:pic>
      <p:pic>
        <p:nvPicPr>
          <p:cNvPr id="258" name="Google Shape;258;p26" title="Screenshot 2025-11-03 at 2.26.45 PM.png"/>
          <p:cNvPicPr preferRelativeResize="0"/>
          <p:nvPr/>
        </p:nvPicPr>
        <p:blipFill>
          <a:blip r:embed="rId7">
            <a:alphaModFix/>
          </a:blip>
          <a:stretch>
            <a:fillRect/>
          </a:stretch>
        </p:blipFill>
        <p:spPr>
          <a:xfrm>
            <a:off x="2803897" y="1532837"/>
            <a:ext cx="4576777" cy="3163481"/>
          </a:xfrm>
          <a:prstGeom prst="rect">
            <a:avLst/>
          </a:prstGeom>
          <a:noFill/>
          <a:ln cap="flat" cmpd="sng" w="9525">
            <a:solidFill>
              <a:schemeClr val="dk1"/>
            </a:solidFill>
            <a:prstDash val="solid"/>
            <a:round/>
            <a:headEnd len="sm" w="sm" type="none"/>
            <a:tailEnd len="sm" w="sm" type="none"/>
          </a:ln>
        </p:spPr>
      </p:pic>
      <p:pic>
        <p:nvPicPr>
          <p:cNvPr id="259" name="Google Shape;259;p26" title="Screenshot 2025-11-03 at 2.32.03 PM.png"/>
          <p:cNvPicPr preferRelativeResize="0"/>
          <p:nvPr/>
        </p:nvPicPr>
        <p:blipFill>
          <a:blip r:embed="rId8">
            <a:alphaModFix/>
          </a:blip>
          <a:stretch>
            <a:fillRect/>
          </a:stretch>
        </p:blipFill>
        <p:spPr>
          <a:xfrm>
            <a:off x="3409300" y="3988650"/>
            <a:ext cx="4123774" cy="1716450"/>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GitHub Actions Overview</a:t>
            </a:r>
            <a:endParaRPr/>
          </a:p>
        </p:txBody>
      </p:sp>
      <p:sp>
        <p:nvSpPr>
          <p:cNvPr id="265" name="Google Shape;265;p27"/>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66" name="Google Shape;266;p27"/>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workflow automation</a:t>
            </a:r>
            <a:endParaRPr/>
          </a:p>
        </p:txBody>
      </p:sp>
      <p:sp>
        <p:nvSpPr>
          <p:cNvPr id="267" name="Google Shape;267;p27"/>
          <p:cNvSpPr txBox="1"/>
          <p:nvPr>
            <p:ph idx="1" type="body"/>
          </p:nvPr>
        </p:nvSpPr>
        <p:spPr>
          <a:xfrm>
            <a:off x="1157581" y="1621625"/>
            <a:ext cx="6212400" cy="4980300"/>
          </a:xfrm>
          <a:prstGeom prst="rect">
            <a:avLst/>
          </a:prstGeom>
          <a:noFill/>
          <a:ln>
            <a:noFill/>
          </a:ln>
        </p:spPr>
        <p:txBody>
          <a:bodyPr anchorCtr="0" anchor="t" bIns="0" lIns="0" spcFirstLastPara="1" rIns="0" wrap="square" tIns="0">
            <a:noAutofit/>
          </a:bodyPr>
          <a:lstStyle/>
          <a:p>
            <a:pPr indent="-482600" lvl="0" marL="457200" rtl="0" algn="l">
              <a:lnSpc>
                <a:spcPct val="90000"/>
              </a:lnSpc>
              <a:spcBef>
                <a:spcPts val="0"/>
              </a:spcBef>
              <a:spcAft>
                <a:spcPts val="0"/>
              </a:spcAft>
              <a:buSzPts val="4000"/>
              <a:buChar char="●"/>
            </a:pPr>
            <a:r>
              <a:rPr lang="en-US" sz="4000"/>
              <a:t>METplus (9)</a:t>
            </a:r>
            <a:endParaRPr sz="4000"/>
          </a:p>
          <a:p>
            <a:pPr indent="-482600" lvl="0" marL="457200" rtl="0" algn="l">
              <a:lnSpc>
                <a:spcPct val="90000"/>
              </a:lnSpc>
              <a:spcBef>
                <a:spcPts val="0"/>
              </a:spcBef>
              <a:spcAft>
                <a:spcPts val="0"/>
              </a:spcAft>
              <a:buSzPts val="4000"/>
              <a:buChar char="●"/>
            </a:pPr>
            <a:r>
              <a:rPr lang="en-US" sz="4000"/>
              <a:t>MET (8)</a:t>
            </a:r>
            <a:endParaRPr sz="4000"/>
          </a:p>
          <a:p>
            <a:pPr indent="-482600" lvl="0" marL="457200" rtl="0" algn="l">
              <a:lnSpc>
                <a:spcPct val="90000"/>
              </a:lnSpc>
              <a:spcBef>
                <a:spcPts val="0"/>
              </a:spcBef>
              <a:spcAft>
                <a:spcPts val="0"/>
              </a:spcAft>
              <a:buSzPts val="4000"/>
              <a:buChar char="●"/>
            </a:pPr>
            <a:r>
              <a:rPr lang="en-US" sz="4000"/>
              <a:t>METexpress (9)</a:t>
            </a:r>
            <a:endParaRPr sz="4000"/>
          </a:p>
          <a:p>
            <a:pPr indent="-482600" lvl="0" marL="457200" rtl="0" algn="l">
              <a:lnSpc>
                <a:spcPct val="90000"/>
              </a:lnSpc>
              <a:spcBef>
                <a:spcPts val="0"/>
              </a:spcBef>
              <a:spcAft>
                <a:spcPts val="0"/>
              </a:spcAft>
              <a:buSzPts val="4000"/>
              <a:buChar char="●"/>
            </a:pPr>
            <a:r>
              <a:rPr lang="en-US" sz="4000"/>
              <a:t>METviewer (7)</a:t>
            </a:r>
            <a:endParaRPr sz="4000"/>
          </a:p>
          <a:p>
            <a:pPr indent="-482600" lvl="0" marL="457200" rtl="0" algn="l">
              <a:lnSpc>
                <a:spcPct val="90000"/>
              </a:lnSpc>
              <a:spcBef>
                <a:spcPts val="0"/>
              </a:spcBef>
              <a:spcAft>
                <a:spcPts val="0"/>
              </a:spcAft>
              <a:buSzPts val="4000"/>
              <a:buChar char="●"/>
            </a:pPr>
            <a:r>
              <a:rPr lang="en-US" sz="4000"/>
              <a:t>METplotpy (6)</a:t>
            </a:r>
            <a:endParaRPr sz="4000"/>
          </a:p>
          <a:p>
            <a:pPr indent="-482600" lvl="0" marL="457200" rtl="0" algn="l">
              <a:lnSpc>
                <a:spcPct val="90000"/>
              </a:lnSpc>
              <a:spcBef>
                <a:spcPts val="0"/>
              </a:spcBef>
              <a:spcAft>
                <a:spcPts val="0"/>
              </a:spcAft>
              <a:buSzPts val="4000"/>
              <a:buChar char="●"/>
            </a:pPr>
            <a:r>
              <a:rPr lang="en-US" sz="4000"/>
              <a:t>METcalcpy (8)</a:t>
            </a:r>
            <a:endParaRPr sz="4000"/>
          </a:p>
          <a:p>
            <a:pPr indent="-482600" lvl="0" marL="457200" rtl="0" algn="l">
              <a:lnSpc>
                <a:spcPct val="90000"/>
              </a:lnSpc>
              <a:spcBef>
                <a:spcPts val="0"/>
              </a:spcBef>
              <a:spcAft>
                <a:spcPts val="0"/>
              </a:spcAft>
              <a:buSzPts val="4000"/>
              <a:buChar char="●"/>
            </a:pPr>
            <a:r>
              <a:rPr lang="en-US" sz="4000"/>
              <a:t>METdataio (9)</a:t>
            </a:r>
            <a:endParaRPr sz="4000"/>
          </a:p>
          <a:p>
            <a:pPr indent="-482600" lvl="0" marL="457200" rtl="0" algn="l">
              <a:lnSpc>
                <a:spcPct val="90000"/>
              </a:lnSpc>
              <a:spcBef>
                <a:spcPts val="0"/>
              </a:spcBef>
              <a:spcAft>
                <a:spcPts val="0"/>
              </a:spcAft>
              <a:buSzPts val="4000"/>
              <a:buChar char="●"/>
            </a:pPr>
            <a:r>
              <a:rPr lang="en-US" sz="4000"/>
              <a:t>METbaseimage (3)</a:t>
            </a:r>
            <a:endParaRPr sz="4000"/>
          </a:p>
        </p:txBody>
      </p:sp>
      <p:grpSp>
        <p:nvGrpSpPr>
          <p:cNvPr id="268" name="Google Shape;268;p27"/>
          <p:cNvGrpSpPr/>
          <p:nvPr/>
        </p:nvGrpSpPr>
        <p:grpSpPr>
          <a:xfrm>
            <a:off x="3611570" y="0"/>
            <a:ext cx="8560727" cy="6858000"/>
            <a:chOff x="3611570" y="0"/>
            <a:chExt cx="8560727" cy="6858000"/>
          </a:xfrm>
        </p:grpSpPr>
        <p:pic>
          <p:nvPicPr>
            <p:cNvPr id="269" name="Google Shape;269;p27" title="Screenshot 2025-11-03 at 2.42.38 PM.png"/>
            <p:cNvPicPr preferRelativeResize="0"/>
            <p:nvPr/>
          </p:nvPicPr>
          <p:blipFill>
            <a:blip r:embed="rId3">
              <a:alphaModFix/>
            </a:blip>
            <a:stretch>
              <a:fillRect/>
            </a:stretch>
          </p:blipFill>
          <p:spPr>
            <a:xfrm>
              <a:off x="6834040" y="0"/>
              <a:ext cx="5338257" cy="6858000"/>
            </a:xfrm>
            <a:prstGeom prst="rect">
              <a:avLst/>
            </a:prstGeom>
            <a:noFill/>
            <a:ln>
              <a:noFill/>
            </a:ln>
          </p:spPr>
        </p:pic>
        <p:sp>
          <p:nvSpPr>
            <p:cNvPr id="270" name="Google Shape;270;p27"/>
            <p:cNvSpPr/>
            <p:nvPr/>
          </p:nvSpPr>
          <p:spPr>
            <a:xfrm>
              <a:off x="3611570" y="2196326"/>
              <a:ext cx="3063600" cy="512100"/>
            </a:xfrm>
            <a:prstGeom prst="rightArrow">
              <a:avLst>
                <a:gd fmla="val 50000" name="adj1"/>
                <a:gd fmla="val 50000" name="adj2"/>
              </a:avLst>
            </a:prstGeom>
            <a:gradFill>
              <a:gsLst>
                <a:gs pos="0">
                  <a:schemeClr val="accent4"/>
                </a:gs>
                <a:gs pos="50000">
                  <a:srgbClr val="D4DCEA"/>
                </a:gs>
                <a:gs pos="100000">
                  <a:srgbClr val="C9DAF8"/>
                </a:gs>
              </a:gsLst>
              <a:lin ang="10800025"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b="1" sz="2800">
                <a:solidFill>
                  <a:srgbClr val="0066B3"/>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GHA: Release Checksums</a:t>
            </a:r>
            <a:endParaRPr/>
          </a:p>
        </p:txBody>
      </p:sp>
      <p:sp>
        <p:nvSpPr>
          <p:cNvPr id="276" name="Google Shape;276;p28"/>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77" name="Google Shape;277;p28"/>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add md5 checksums</a:t>
            </a:r>
            <a:endParaRPr/>
          </a:p>
        </p:txBody>
      </p:sp>
      <p:pic>
        <p:nvPicPr>
          <p:cNvPr id="278" name="Google Shape;278;p28" title="Screenshot 2025-11-03 at 3.25.00 PM.png"/>
          <p:cNvPicPr preferRelativeResize="0"/>
          <p:nvPr/>
        </p:nvPicPr>
        <p:blipFill>
          <a:blip r:embed="rId3">
            <a:alphaModFix/>
          </a:blip>
          <a:stretch>
            <a:fillRect/>
          </a:stretch>
        </p:blipFill>
        <p:spPr>
          <a:xfrm>
            <a:off x="216776" y="1538085"/>
            <a:ext cx="6223001" cy="2035750"/>
          </a:xfrm>
          <a:prstGeom prst="rect">
            <a:avLst/>
          </a:prstGeom>
          <a:noFill/>
          <a:ln>
            <a:noFill/>
          </a:ln>
        </p:spPr>
      </p:pic>
      <p:pic>
        <p:nvPicPr>
          <p:cNvPr id="279" name="Google Shape;279;p28" title="Screenshot 2025-11-03 at 3.28.35 PM.png"/>
          <p:cNvPicPr preferRelativeResize="0"/>
          <p:nvPr/>
        </p:nvPicPr>
        <p:blipFill>
          <a:blip r:embed="rId4">
            <a:alphaModFix/>
          </a:blip>
          <a:stretch>
            <a:fillRect/>
          </a:stretch>
        </p:blipFill>
        <p:spPr>
          <a:xfrm>
            <a:off x="1420417" y="2785531"/>
            <a:ext cx="3498940" cy="2035750"/>
          </a:xfrm>
          <a:prstGeom prst="rect">
            <a:avLst/>
          </a:prstGeom>
          <a:noFill/>
          <a:ln>
            <a:noFill/>
          </a:ln>
        </p:spPr>
      </p:pic>
      <p:pic>
        <p:nvPicPr>
          <p:cNvPr id="280" name="Google Shape;280;p28" title="Screenshot 2025-11-03 at 3.34.18 PM.png"/>
          <p:cNvPicPr preferRelativeResize="0"/>
          <p:nvPr/>
        </p:nvPicPr>
        <p:blipFill>
          <a:blip r:embed="rId5">
            <a:alphaModFix/>
          </a:blip>
          <a:stretch>
            <a:fillRect/>
          </a:stretch>
        </p:blipFill>
        <p:spPr>
          <a:xfrm>
            <a:off x="6675376" y="3922058"/>
            <a:ext cx="5252199" cy="2817699"/>
          </a:xfrm>
          <a:prstGeom prst="rect">
            <a:avLst/>
          </a:prstGeom>
          <a:noFill/>
          <a:ln cap="flat" cmpd="sng" w="9525">
            <a:solidFill>
              <a:schemeClr val="dk1"/>
            </a:solidFill>
            <a:prstDash val="solid"/>
            <a:round/>
            <a:headEnd len="sm" w="sm" type="none"/>
            <a:tailEnd len="sm" w="sm" type="none"/>
          </a:ln>
        </p:spPr>
      </p:pic>
      <p:grpSp>
        <p:nvGrpSpPr>
          <p:cNvPr id="281" name="Google Shape;281;p28"/>
          <p:cNvGrpSpPr/>
          <p:nvPr/>
        </p:nvGrpSpPr>
        <p:grpSpPr>
          <a:xfrm>
            <a:off x="6480015" y="183546"/>
            <a:ext cx="5447560" cy="3738501"/>
            <a:chOff x="6480015" y="183546"/>
            <a:chExt cx="5447560" cy="3738501"/>
          </a:xfrm>
        </p:grpSpPr>
        <p:pic>
          <p:nvPicPr>
            <p:cNvPr id="282" name="Google Shape;282;p28" title="Screenshot 2025-11-03 at 3.31.11 PM.png"/>
            <p:cNvPicPr preferRelativeResize="0"/>
            <p:nvPr/>
          </p:nvPicPr>
          <p:blipFill>
            <a:blip r:embed="rId6">
              <a:alphaModFix/>
            </a:blip>
            <a:stretch>
              <a:fillRect/>
            </a:stretch>
          </p:blipFill>
          <p:spPr>
            <a:xfrm>
              <a:off x="6480015" y="700096"/>
              <a:ext cx="5447424" cy="3221952"/>
            </a:xfrm>
            <a:prstGeom prst="rect">
              <a:avLst/>
            </a:prstGeom>
            <a:noFill/>
            <a:ln cap="flat" cmpd="sng" w="9525">
              <a:solidFill>
                <a:schemeClr val="dk1"/>
              </a:solidFill>
              <a:prstDash val="solid"/>
              <a:round/>
              <a:headEnd len="sm" w="sm" type="none"/>
              <a:tailEnd len="sm" w="sm" type="none"/>
            </a:ln>
          </p:spPr>
        </p:pic>
        <p:sp>
          <p:nvSpPr>
            <p:cNvPr id="283" name="Google Shape;283;p28"/>
            <p:cNvSpPr txBox="1"/>
            <p:nvPr/>
          </p:nvSpPr>
          <p:spPr>
            <a:xfrm>
              <a:off x="6480175" y="183546"/>
              <a:ext cx="5447400" cy="5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rPr>
                <a:t>release-checksum.yml</a:t>
              </a:r>
              <a:endParaRPr sz="2800">
                <a:solidFill>
                  <a:schemeClr val="dk1"/>
                </a:solidFill>
              </a:endParaRPr>
            </a:p>
          </p:txBody>
        </p:sp>
      </p:grpSp>
      <p:grpSp>
        <p:nvGrpSpPr>
          <p:cNvPr id="284" name="Google Shape;284;p28"/>
          <p:cNvGrpSpPr/>
          <p:nvPr/>
        </p:nvGrpSpPr>
        <p:grpSpPr>
          <a:xfrm>
            <a:off x="1014825" y="5114325"/>
            <a:ext cx="6008046" cy="1600075"/>
            <a:chOff x="1014825" y="5114325"/>
            <a:chExt cx="6008046" cy="1600075"/>
          </a:xfrm>
        </p:grpSpPr>
        <p:pic>
          <p:nvPicPr>
            <p:cNvPr id="285" name="Google Shape;285;p28" title="Screenshot 2025-11-03 at 3.35.57 PM.png"/>
            <p:cNvPicPr preferRelativeResize="0"/>
            <p:nvPr/>
          </p:nvPicPr>
          <p:blipFill>
            <a:blip r:embed="rId7">
              <a:alphaModFix/>
            </a:blip>
            <a:stretch>
              <a:fillRect/>
            </a:stretch>
          </p:blipFill>
          <p:spPr>
            <a:xfrm>
              <a:off x="1014825" y="5114325"/>
              <a:ext cx="4897250" cy="1600075"/>
            </a:xfrm>
            <a:prstGeom prst="rect">
              <a:avLst/>
            </a:prstGeom>
            <a:noFill/>
            <a:ln>
              <a:noFill/>
            </a:ln>
          </p:spPr>
        </p:pic>
        <p:sp>
          <p:nvSpPr>
            <p:cNvPr id="286" name="Google Shape;286;p28"/>
            <p:cNvSpPr/>
            <p:nvPr/>
          </p:nvSpPr>
          <p:spPr>
            <a:xfrm rot="-8948122">
              <a:off x="5730524" y="5863189"/>
              <a:ext cx="1249095" cy="513674"/>
            </a:xfrm>
            <a:prstGeom prst="rightArrow">
              <a:avLst>
                <a:gd fmla="val 35890" name="adj1"/>
                <a:gd fmla="val 50000" name="adj2"/>
              </a:avLst>
            </a:prstGeom>
            <a:gradFill>
              <a:gsLst>
                <a:gs pos="0">
                  <a:schemeClr val="accent4"/>
                </a:gs>
                <a:gs pos="50000">
                  <a:srgbClr val="D4DCEA"/>
                </a:gs>
                <a:gs pos="100000">
                  <a:srgbClr val="C9DAF8"/>
                </a:gs>
              </a:gsLst>
              <a:lin ang="10800025"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b="1" sz="2800">
                <a:solidFill>
                  <a:srgbClr val="0066B3"/>
                </a:solidFill>
              </a:endParaRPr>
            </a:p>
          </p:txBody>
        </p:sp>
      </p:grpSp>
      <p:sp>
        <p:nvSpPr>
          <p:cNvPr id="287" name="Google Shape;287;p28"/>
          <p:cNvSpPr/>
          <p:nvPr/>
        </p:nvSpPr>
        <p:spPr>
          <a:xfrm>
            <a:off x="7111451" y="1408907"/>
            <a:ext cx="1666800" cy="739800"/>
          </a:xfrm>
          <a:prstGeom prst="roundRect">
            <a:avLst>
              <a:gd fmla="val 16667" name="adj"/>
            </a:avLst>
          </a:prstGeom>
          <a:noFill/>
          <a:ln cap="flat" cmpd="sng" w="76200">
            <a:solidFill>
              <a:srgbClr val="E2C7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29" title="Screenshot 2025-11-03 at 4.07.24 PM.png"/>
          <p:cNvPicPr preferRelativeResize="0"/>
          <p:nvPr/>
        </p:nvPicPr>
        <p:blipFill>
          <a:blip r:embed="rId3">
            <a:alphaModFix/>
          </a:blip>
          <a:stretch>
            <a:fillRect/>
          </a:stretch>
        </p:blipFill>
        <p:spPr>
          <a:xfrm>
            <a:off x="225438" y="5681574"/>
            <a:ext cx="5923040" cy="555550"/>
          </a:xfrm>
          <a:prstGeom prst="rect">
            <a:avLst/>
          </a:prstGeom>
          <a:noFill/>
          <a:ln>
            <a:noFill/>
          </a:ln>
        </p:spPr>
      </p:pic>
      <p:sp>
        <p:nvSpPr>
          <p:cNvPr id="293" name="Google Shape;293;p29"/>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GHA: Documentation</a:t>
            </a:r>
            <a:endParaRPr/>
          </a:p>
        </p:txBody>
      </p:sp>
      <p:sp>
        <p:nvSpPr>
          <p:cNvPr id="294" name="Google Shape;294;p29"/>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95" name="Google Shape;295;p29"/>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check for warnings</a:t>
            </a:r>
            <a:endParaRPr/>
          </a:p>
        </p:txBody>
      </p:sp>
      <p:grpSp>
        <p:nvGrpSpPr>
          <p:cNvPr id="296" name="Google Shape;296;p29"/>
          <p:cNvGrpSpPr/>
          <p:nvPr/>
        </p:nvGrpSpPr>
        <p:grpSpPr>
          <a:xfrm>
            <a:off x="6183738" y="163700"/>
            <a:ext cx="5802121" cy="5744000"/>
            <a:chOff x="6302813" y="183550"/>
            <a:chExt cx="5802121" cy="5744000"/>
          </a:xfrm>
        </p:grpSpPr>
        <p:pic>
          <p:nvPicPr>
            <p:cNvPr id="297" name="Google Shape;297;p29" title="Screenshot 2025-11-03 at 3.50.03 PM.png"/>
            <p:cNvPicPr preferRelativeResize="0"/>
            <p:nvPr/>
          </p:nvPicPr>
          <p:blipFill>
            <a:blip r:embed="rId4">
              <a:alphaModFix/>
            </a:blip>
            <a:stretch>
              <a:fillRect/>
            </a:stretch>
          </p:blipFill>
          <p:spPr>
            <a:xfrm>
              <a:off x="6302813" y="695662"/>
              <a:ext cx="5802121" cy="5231888"/>
            </a:xfrm>
            <a:prstGeom prst="rect">
              <a:avLst/>
            </a:prstGeom>
            <a:noFill/>
            <a:ln cap="flat" cmpd="sng" w="9525">
              <a:solidFill>
                <a:schemeClr val="dk1"/>
              </a:solidFill>
              <a:prstDash val="solid"/>
              <a:round/>
              <a:headEnd len="sm" w="sm" type="none"/>
              <a:tailEnd len="sm" w="sm" type="none"/>
            </a:ln>
          </p:spPr>
        </p:pic>
        <p:sp>
          <p:nvSpPr>
            <p:cNvPr id="298" name="Google Shape;298;p29"/>
            <p:cNvSpPr txBox="1"/>
            <p:nvPr/>
          </p:nvSpPr>
          <p:spPr>
            <a:xfrm>
              <a:off x="6302825" y="183550"/>
              <a:ext cx="5802000" cy="5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rPr>
                <a:t>documentation</a:t>
              </a:r>
              <a:r>
                <a:rPr lang="en-US" sz="2800">
                  <a:solidFill>
                    <a:schemeClr val="dk1"/>
                  </a:solidFill>
                </a:rPr>
                <a:t>.yml</a:t>
              </a:r>
              <a:endParaRPr sz="2800">
                <a:solidFill>
                  <a:schemeClr val="dk1"/>
                </a:solidFill>
              </a:endParaRPr>
            </a:p>
          </p:txBody>
        </p:sp>
      </p:grpSp>
      <p:sp>
        <p:nvSpPr>
          <p:cNvPr id="299" name="Google Shape;299;p29"/>
          <p:cNvSpPr/>
          <p:nvPr/>
        </p:nvSpPr>
        <p:spPr>
          <a:xfrm>
            <a:off x="7051924" y="1321297"/>
            <a:ext cx="2314200" cy="3600000"/>
          </a:xfrm>
          <a:prstGeom prst="roundRect">
            <a:avLst>
              <a:gd fmla="val 16667" name="adj"/>
            </a:avLst>
          </a:prstGeom>
          <a:noFill/>
          <a:ln cap="flat" cmpd="sng" w="76200">
            <a:solidFill>
              <a:srgbClr val="E2C7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0" name="Google Shape;300;p29" title="Screenshot 2025-11-03 at 4.01.41 PM.png"/>
          <p:cNvPicPr preferRelativeResize="0"/>
          <p:nvPr/>
        </p:nvPicPr>
        <p:blipFill>
          <a:blip r:embed="rId5">
            <a:alphaModFix/>
          </a:blip>
          <a:stretch>
            <a:fillRect/>
          </a:stretch>
        </p:blipFill>
        <p:spPr>
          <a:xfrm>
            <a:off x="265113" y="1575112"/>
            <a:ext cx="5878938" cy="3512093"/>
          </a:xfrm>
          <a:prstGeom prst="rect">
            <a:avLst/>
          </a:prstGeom>
          <a:noFill/>
          <a:ln>
            <a:noFill/>
          </a:ln>
        </p:spPr>
      </p:pic>
      <p:pic>
        <p:nvPicPr>
          <p:cNvPr id="301" name="Google Shape;301;p29" title="Screenshot 2025-11-03 at 4.03.58 PM.png"/>
          <p:cNvPicPr preferRelativeResize="0"/>
          <p:nvPr/>
        </p:nvPicPr>
        <p:blipFill>
          <a:blip r:embed="rId6">
            <a:alphaModFix/>
          </a:blip>
          <a:stretch>
            <a:fillRect/>
          </a:stretch>
        </p:blipFill>
        <p:spPr>
          <a:xfrm>
            <a:off x="225444" y="5106607"/>
            <a:ext cx="5878950" cy="555555"/>
          </a:xfrm>
          <a:prstGeom prst="rect">
            <a:avLst/>
          </a:prstGeom>
          <a:noFill/>
          <a:ln>
            <a:noFill/>
          </a:ln>
        </p:spPr>
      </p:pic>
      <p:pic>
        <p:nvPicPr>
          <p:cNvPr id="302" name="Google Shape;302;p29" title="Screenshot 2025-11-03 at 4.12.12 PM.png"/>
          <p:cNvPicPr preferRelativeResize="0"/>
          <p:nvPr/>
        </p:nvPicPr>
        <p:blipFill>
          <a:blip r:embed="rId7">
            <a:alphaModFix/>
          </a:blip>
          <a:stretch>
            <a:fillRect/>
          </a:stretch>
        </p:blipFill>
        <p:spPr>
          <a:xfrm>
            <a:off x="4345775" y="5106600"/>
            <a:ext cx="6567761" cy="1751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0"/>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GHA: Testing Workflow</a:t>
            </a:r>
            <a:endParaRPr/>
          </a:p>
        </p:txBody>
      </p:sp>
      <p:sp>
        <p:nvSpPr>
          <p:cNvPr id="308" name="Google Shape;308;p30"/>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09" name="Google Shape;309;p30"/>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regression testing</a:t>
            </a:r>
            <a:endParaRPr/>
          </a:p>
        </p:txBody>
      </p:sp>
      <p:grpSp>
        <p:nvGrpSpPr>
          <p:cNvPr id="310" name="Google Shape;310;p30"/>
          <p:cNvGrpSpPr/>
          <p:nvPr/>
        </p:nvGrpSpPr>
        <p:grpSpPr>
          <a:xfrm>
            <a:off x="0" y="1695430"/>
            <a:ext cx="12192000" cy="3339703"/>
            <a:chOff x="0" y="1477148"/>
            <a:chExt cx="12192000" cy="3339703"/>
          </a:xfrm>
        </p:grpSpPr>
        <p:pic>
          <p:nvPicPr>
            <p:cNvPr id="311" name="Google Shape;311;p30" title="Screenshot 2025-11-03 at 4.25.09 PM.png"/>
            <p:cNvPicPr preferRelativeResize="0"/>
            <p:nvPr/>
          </p:nvPicPr>
          <p:blipFill>
            <a:blip r:embed="rId3">
              <a:alphaModFix/>
            </a:blip>
            <a:stretch>
              <a:fillRect/>
            </a:stretch>
          </p:blipFill>
          <p:spPr>
            <a:xfrm>
              <a:off x="0" y="1477148"/>
              <a:ext cx="12192000" cy="3339703"/>
            </a:xfrm>
            <a:prstGeom prst="rect">
              <a:avLst/>
            </a:prstGeom>
            <a:noFill/>
            <a:ln cap="flat" cmpd="sng" w="9525">
              <a:solidFill>
                <a:schemeClr val="dk1"/>
              </a:solidFill>
              <a:prstDash val="solid"/>
              <a:round/>
              <a:headEnd len="sm" w="sm" type="none"/>
              <a:tailEnd len="sm" w="sm" type="none"/>
            </a:ln>
          </p:spPr>
        </p:pic>
        <p:sp>
          <p:nvSpPr>
            <p:cNvPr id="312" name="Google Shape;312;p30"/>
            <p:cNvSpPr txBox="1"/>
            <p:nvPr/>
          </p:nvSpPr>
          <p:spPr>
            <a:xfrm>
              <a:off x="7004850" y="1477150"/>
              <a:ext cx="5187000" cy="512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2800">
                  <a:solidFill>
                    <a:schemeClr val="dk1"/>
                  </a:solidFill>
                </a:rPr>
                <a:t>Code Compiles</a:t>
              </a:r>
              <a:endParaRPr sz="2800">
                <a:solidFill>
                  <a:schemeClr val="dk1"/>
                </a:solidFill>
              </a:endParaRPr>
            </a:p>
          </p:txBody>
        </p:sp>
      </p:grpSp>
      <p:grpSp>
        <p:nvGrpSpPr>
          <p:cNvPr id="313" name="Google Shape;313;p30"/>
          <p:cNvGrpSpPr/>
          <p:nvPr/>
        </p:nvGrpSpPr>
        <p:grpSpPr>
          <a:xfrm>
            <a:off x="0" y="2324097"/>
            <a:ext cx="12192000" cy="3369469"/>
            <a:chOff x="0" y="2740816"/>
            <a:chExt cx="12192000" cy="3369469"/>
          </a:xfrm>
        </p:grpSpPr>
        <p:pic>
          <p:nvPicPr>
            <p:cNvPr id="314" name="Google Shape;314;p30" title="Screenshot 2025-11-03 at 4.25.45 PM.png"/>
            <p:cNvPicPr preferRelativeResize="0"/>
            <p:nvPr/>
          </p:nvPicPr>
          <p:blipFill>
            <a:blip r:embed="rId4">
              <a:alphaModFix/>
            </a:blip>
            <a:stretch>
              <a:fillRect/>
            </a:stretch>
          </p:blipFill>
          <p:spPr>
            <a:xfrm>
              <a:off x="0" y="2740816"/>
              <a:ext cx="12192000" cy="3369469"/>
            </a:xfrm>
            <a:prstGeom prst="rect">
              <a:avLst/>
            </a:prstGeom>
            <a:noFill/>
            <a:ln cap="flat" cmpd="sng" w="9525">
              <a:solidFill>
                <a:schemeClr val="dk1"/>
              </a:solidFill>
              <a:prstDash val="solid"/>
              <a:round/>
              <a:headEnd len="sm" w="sm" type="none"/>
              <a:tailEnd len="sm" w="sm" type="none"/>
            </a:ln>
          </p:spPr>
        </p:pic>
        <p:sp>
          <p:nvSpPr>
            <p:cNvPr id="315" name="Google Shape;315;p30"/>
            <p:cNvSpPr txBox="1"/>
            <p:nvPr/>
          </p:nvSpPr>
          <p:spPr>
            <a:xfrm>
              <a:off x="7005000" y="2740825"/>
              <a:ext cx="5187000" cy="512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2800">
                  <a:solidFill>
                    <a:schemeClr val="dk1"/>
                  </a:solidFill>
                </a:rPr>
                <a:t>Tests Run, No Diffs</a:t>
              </a:r>
              <a:endParaRPr sz="2800">
                <a:solidFill>
                  <a:schemeClr val="dk1"/>
                </a:solidFill>
              </a:endParaRPr>
            </a:p>
          </p:txBody>
        </p:sp>
      </p:grpSp>
      <p:grpSp>
        <p:nvGrpSpPr>
          <p:cNvPr id="316" name="Google Shape;316;p30"/>
          <p:cNvGrpSpPr/>
          <p:nvPr/>
        </p:nvGrpSpPr>
        <p:grpSpPr>
          <a:xfrm>
            <a:off x="0" y="2945788"/>
            <a:ext cx="12192000" cy="3196845"/>
            <a:chOff x="0" y="2767194"/>
            <a:chExt cx="12192000" cy="3196845"/>
          </a:xfrm>
        </p:grpSpPr>
        <p:pic>
          <p:nvPicPr>
            <p:cNvPr id="317" name="Google Shape;317;p30" title="Screenshot 2025-11-03 at 4.31.59 PM.png"/>
            <p:cNvPicPr preferRelativeResize="0"/>
            <p:nvPr/>
          </p:nvPicPr>
          <p:blipFill>
            <a:blip r:embed="rId5">
              <a:alphaModFix/>
            </a:blip>
            <a:stretch>
              <a:fillRect/>
            </a:stretch>
          </p:blipFill>
          <p:spPr>
            <a:xfrm>
              <a:off x="0" y="2767211"/>
              <a:ext cx="12192000" cy="3196828"/>
            </a:xfrm>
            <a:prstGeom prst="rect">
              <a:avLst/>
            </a:prstGeom>
            <a:noFill/>
            <a:ln cap="flat" cmpd="sng" w="9525">
              <a:solidFill>
                <a:schemeClr val="dk1"/>
              </a:solidFill>
              <a:prstDash val="solid"/>
              <a:round/>
              <a:headEnd len="sm" w="sm" type="none"/>
              <a:tailEnd len="sm" w="sm" type="none"/>
            </a:ln>
          </p:spPr>
        </p:pic>
        <p:sp>
          <p:nvSpPr>
            <p:cNvPr id="318" name="Google Shape;318;p30"/>
            <p:cNvSpPr txBox="1"/>
            <p:nvPr/>
          </p:nvSpPr>
          <p:spPr>
            <a:xfrm>
              <a:off x="7005000" y="2767194"/>
              <a:ext cx="5187000" cy="512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2800">
                  <a:solidFill>
                    <a:schemeClr val="dk1"/>
                  </a:solidFill>
                </a:rPr>
                <a:t>Tests Run, Diffs Found</a:t>
              </a:r>
              <a:endParaRPr sz="2800">
                <a:solidFill>
                  <a:schemeClr val="dk1"/>
                </a:solidFill>
              </a:endParaRPr>
            </a:p>
          </p:txBody>
        </p:sp>
      </p:grpSp>
      <p:grpSp>
        <p:nvGrpSpPr>
          <p:cNvPr id="319" name="Google Shape;319;p30"/>
          <p:cNvGrpSpPr/>
          <p:nvPr/>
        </p:nvGrpSpPr>
        <p:grpSpPr>
          <a:xfrm>
            <a:off x="-4556" y="3529181"/>
            <a:ext cx="12196556" cy="3229594"/>
            <a:chOff x="-4556" y="3648244"/>
            <a:chExt cx="12196556" cy="3229594"/>
          </a:xfrm>
        </p:grpSpPr>
        <p:pic>
          <p:nvPicPr>
            <p:cNvPr id="320" name="Google Shape;320;p30" title="Screenshot 2025-11-03 at 4.34.14 PM.png"/>
            <p:cNvPicPr preferRelativeResize="0"/>
            <p:nvPr/>
          </p:nvPicPr>
          <p:blipFill>
            <a:blip r:embed="rId6">
              <a:alphaModFix/>
            </a:blip>
            <a:stretch>
              <a:fillRect/>
            </a:stretch>
          </p:blipFill>
          <p:spPr>
            <a:xfrm>
              <a:off x="-4556" y="3663150"/>
              <a:ext cx="12192000" cy="3214688"/>
            </a:xfrm>
            <a:prstGeom prst="rect">
              <a:avLst/>
            </a:prstGeom>
            <a:noFill/>
            <a:ln cap="flat" cmpd="sng" w="9525">
              <a:solidFill>
                <a:schemeClr val="dk1"/>
              </a:solidFill>
              <a:prstDash val="solid"/>
              <a:round/>
              <a:headEnd len="sm" w="sm" type="none"/>
              <a:tailEnd len="sm" w="sm" type="none"/>
            </a:ln>
          </p:spPr>
        </p:pic>
        <p:sp>
          <p:nvSpPr>
            <p:cNvPr id="321" name="Google Shape;321;p30"/>
            <p:cNvSpPr txBox="1"/>
            <p:nvPr/>
          </p:nvSpPr>
          <p:spPr>
            <a:xfrm>
              <a:off x="7005000" y="3648244"/>
              <a:ext cx="5187000" cy="512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2800">
                  <a:solidFill>
                    <a:schemeClr val="dk1"/>
                  </a:solidFill>
                </a:rPr>
                <a:t>Tests Failed</a:t>
              </a:r>
              <a:endParaRPr sz="2800">
                <a:solidFill>
                  <a:schemeClr val="dk1"/>
                </a:solidFill>
              </a:endParaRPr>
            </a:p>
          </p:txBody>
        </p:sp>
      </p:grpSp>
      <p:pic>
        <p:nvPicPr>
          <p:cNvPr id="322" name="Google Shape;322;p30" title="Screenshot 2025-11-03 at 4.37.02 PM.png"/>
          <p:cNvPicPr preferRelativeResize="0"/>
          <p:nvPr/>
        </p:nvPicPr>
        <p:blipFill>
          <a:blip r:embed="rId7">
            <a:alphaModFix/>
          </a:blip>
          <a:stretch>
            <a:fillRect/>
          </a:stretch>
        </p:blipFill>
        <p:spPr>
          <a:xfrm>
            <a:off x="5189795" y="5634835"/>
            <a:ext cx="7002205" cy="1119250"/>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1"/>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GHA: Trigger METplus</a:t>
            </a:r>
            <a:endParaRPr/>
          </a:p>
        </p:txBody>
      </p:sp>
      <p:sp>
        <p:nvSpPr>
          <p:cNvPr id="328" name="Google Shape;328;p31"/>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29" name="Google Shape;329;p31"/>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integration testing</a:t>
            </a:r>
            <a:endParaRPr/>
          </a:p>
        </p:txBody>
      </p:sp>
      <p:pic>
        <p:nvPicPr>
          <p:cNvPr id="330" name="Google Shape;330;p31" title="Screenshot 2025-11-03 at 7.11.09 PM.png"/>
          <p:cNvPicPr preferRelativeResize="0"/>
          <p:nvPr/>
        </p:nvPicPr>
        <p:blipFill rotWithShape="1">
          <a:blip r:embed="rId3">
            <a:alphaModFix/>
          </a:blip>
          <a:srcRect b="0" l="0" r="32623" t="0"/>
          <a:stretch/>
        </p:blipFill>
        <p:spPr>
          <a:xfrm>
            <a:off x="6658425" y="535800"/>
            <a:ext cx="5533578" cy="4385500"/>
          </a:xfrm>
          <a:prstGeom prst="rect">
            <a:avLst/>
          </a:prstGeom>
          <a:noFill/>
          <a:ln cap="flat" cmpd="sng" w="9525">
            <a:solidFill>
              <a:schemeClr val="dk1"/>
            </a:solidFill>
            <a:prstDash val="solid"/>
            <a:round/>
            <a:headEnd len="sm" w="sm" type="none"/>
            <a:tailEnd len="sm" w="sm" type="none"/>
          </a:ln>
        </p:spPr>
      </p:pic>
      <p:sp>
        <p:nvSpPr>
          <p:cNvPr id="331" name="Google Shape;331;p31"/>
          <p:cNvSpPr txBox="1"/>
          <p:nvPr/>
        </p:nvSpPr>
        <p:spPr>
          <a:xfrm>
            <a:off x="6658525" y="23700"/>
            <a:ext cx="5533500" cy="5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1F2328"/>
                </a:solidFill>
                <a:highlight>
                  <a:srgbClr val="FFFFFF"/>
                </a:highlight>
              </a:rPr>
              <a:t>build_docker_and_trigger_metplus.yml</a:t>
            </a:r>
            <a:endParaRPr b="1" sz="2000">
              <a:solidFill>
                <a:schemeClr val="dk1"/>
              </a:solidFill>
            </a:endParaRPr>
          </a:p>
        </p:txBody>
      </p:sp>
      <p:sp>
        <p:nvSpPr>
          <p:cNvPr id="332" name="Google Shape;332;p31"/>
          <p:cNvSpPr/>
          <p:nvPr/>
        </p:nvSpPr>
        <p:spPr>
          <a:xfrm>
            <a:off x="7441400" y="1321300"/>
            <a:ext cx="2619300" cy="1556100"/>
          </a:xfrm>
          <a:prstGeom prst="roundRect">
            <a:avLst>
              <a:gd fmla="val 16667" name="adj"/>
            </a:avLst>
          </a:prstGeom>
          <a:noFill/>
          <a:ln cap="flat" cmpd="sng" w="76200">
            <a:solidFill>
              <a:srgbClr val="E2C7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3" name="Google Shape;333;p31" title="Screenshot 2025-11-03 at 7.18.44 PM.png"/>
          <p:cNvPicPr preferRelativeResize="0"/>
          <p:nvPr/>
        </p:nvPicPr>
        <p:blipFill rotWithShape="1">
          <a:blip r:embed="rId4">
            <a:alphaModFix/>
          </a:blip>
          <a:srcRect b="0" l="1636" r="5899" t="0"/>
          <a:stretch/>
        </p:blipFill>
        <p:spPr>
          <a:xfrm>
            <a:off x="6658525" y="4925275"/>
            <a:ext cx="5533499" cy="1932725"/>
          </a:xfrm>
          <a:prstGeom prst="rect">
            <a:avLst/>
          </a:prstGeom>
          <a:noFill/>
          <a:ln cap="flat" cmpd="sng" w="9525">
            <a:solidFill>
              <a:schemeClr val="dk1"/>
            </a:solidFill>
            <a:prstDash val="solid"/>
            <a:round/>
            <a:headEnd len="sm" w="sm" type="none"/>
            <a:tailEnd len="sm" w="sm" type="none"/>
          </a:ln>
        </p:spPr>
      </p:pic>
      <p:pic>
        <p:nvPicPr>
          <p:cNvPr id="334" name="Google Shape;334;p31" title="Screenshot 2025-11-03 at 7.23.17 PM.png"/>
          <p:cNvPicPr preferRelativeResize="0"/>
          <p:nvPr/>
        </p:nvPicPr>
        <p:blipFill rotWithShape="1">
          <a:blip r:embed="rId5">
            <a:alphaModFix/>
          </a:blip>
          <a:srcRect b="9321" l="0" r="46126" t="0"/>
          <a:stretch/>
        </p:blipFill>
        <p:spPr>
          <a:xfrm>
            <a:off x="0" y="1612800"/>
            <a:ext cx="6568273" cy="973100"/>
          </a:xfrm>
          <a:prstGeom prst="rect">
            <a:avLst/>
          </a:prstGeom>
          <a:noFill/>
          <a:ln>
            <a:noFill/>
          </a:ln>
        </p:spPr>
      </p:pic>
      <p:pic>
        <p:nvPicPr>
          <p:cNvPr id="335" name="Google Shape;335;p31" title="Screenshot 2025-11-03 at 7.28.34 PM.png"/>
          <p:cNvPicPr preferRelativeResize="0"/>
          <p:nvPr/>
        </p:nvPicPr>
        <p:blipFill rotWithShape="1">
          <a:blip r:embed="rId6">
            <a:alphaModFix/>
          </a:blip>
          <a:srcRect b="0" l="0" r="17817" t="0"/>
          <a:stretch/>
        </p:blipFill>
        <p:spPr>
          <a:xfrm>
            <a:off x="0" y="2698625"/>
            <a:ext cx="6568274" cy="360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2"/>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GHA: Release Docker Images</a:t>
            </a:r>
            <a:endParaRPr/>
          </a:p>
        </p:txBody>
      </p:sp>
      <p:sp>
        <p:nvSpPr>
          <p:cNvPr id="341" name="Google Shape;341;p32"/>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42" name="Google Shape;342;p32"/>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rebuild images weekly</a:t>
            </a:r>
            <a:endParaRPr/>
          </a:p>
        </p:txBody>
      </p:sp>
      <p:pic>
        <p:nvPicPr>
          <p:cNvPr id="343" name="Google Shape;343;p32" title="Screenshot 2025-11-03 at 7.44.39 PM.png"/>
          <p:cNvPicPr preferRelativeResize="0"/>
          <p:nvPr/>
        </p:nvPicPr>
        <p:blipFill>
          <a:blip r:embed="rId3">
            <a:alphaModFix/>
          </a:blip>
          <a:stretch>
            <a:fillRect/>
          </a:stretch>
        </p:blipFill>
        <p:spPr>
          <a:xfrm>
            <a:off x="6977131" y="1735237"/>
            <a:ext cx="5204694" cy="1983162"/>
          </a:xfrm>
          <a:prstGeom prst="rect">
            <a:avLst/>
          </a:prstGeom>
          <a:noFill/>
          <a:ln>
            <a:noFill/>
          </a:ln>
        </p:spPr>
      </p:pic>
      <p:pic>
        <p:nvPicPr>
          <p:cNvPr id="344" name="Google Shape;344;p32" title="Screenshot 2025-11-03 at 1.35.44 PM.png"/>
          <p:cNvPicPr preferRelativeResize="0"/>
          <p:nvPr/>
        </p:nvPicPr>
        <p:blipFill rotWithShape="1">
          <a:blip r:embed="rId4">
            <a:alphaModFix/>
          </a:blip>
          <a:srcRect b="19233" l="0" r="0" t="19998"/>
          <a:stretch/>
        </p:blipFill>
        <p:spPr>
          <a:xfrm>
            <a:off x="8039375" y="564475"/>
            <a:ext cx="3080200" cy="1170775"/>
          </a:xfrm>
          <a:prstGeom prst="rect">
            <a:avLst/>
          </a:prstGeom>
          <a:noFill/>
          <a:ln>
            <a:noFill/>
          </a:ln>
        </p:spPr>
      </p:pic>
      <p:pic>
        <p:nvPicPr>
          <p:cNvPr id="345" name="Google Shape;345;p32" title="Screenshot 2025-11-03 at 8.26.48 PM.png"/>
          <p:cNvPicPr preferRelativeResize="0"/>
          <p:nvPr/>
        </p:nvPicPr>
        <p:blipFill>
          <a:blip r:embed="rId5">
            <a:alphaModFix/>
          </a:blip>
          <a:stretch>
            <a:fillRect/>
          </a:stretch>
        </p:blipFill>
        <p:spPr>
          <a:xfrm>
            <a:off x="7319900" y="5098627"/>
            <a:ext cx="4872101" cy="1759374"/>
          </a:xfrm>
          <a:prstGeom prst="rect">
            <a:avLst/>
          </a:prstGeom>
          <a:noFill/>
          <a:ln>
            <a:noFill/>
          </a:ln>
        </p:spPr>
      </p:pic>
      <p:pic>
        <p:nvPicPr>
          <p:cNvPr id="346" name="Google Shape;346;p32" title="Screenshot 2025-11-03 at 8.24.43 PM.png"/>
          <p:cNvPicPr preferRelativeResize="0"/>
          <p:nvPr/>
        </p:nvPicPr>
        <p:blipFill>
          <a:blip r:embed="rId6">
            <a:alphaModFix/>
          </a:blip>
          <a:stretch>
            <a:fillRect/>
          </a:stretch>
        </p:blipFill>
        <p:spPr>
          <a:xfrm>
            <a:off x="7319899" y="3658857"/>
            <a:ext cx="4872101" cy="1645425"/>
          </a:xfrm>
          <a:prstGeom prst="rect">
            <a:avLst/>
          </a:prstGeom>
          <a:noFill/>
          <a:ln>
            <a:noFill/>
          </a:ln>
        </p:spPr>
      </p:pic>
      <p:pic>
        <p:nvPicPr>
          <p:cNvPr id="347" name="Google Shape;347;p32" title="Screenshot 2025-11-03 at 8.38.40 PM.png"/>
          <p:cNvPicPr preferRelativeResize="0"/>
          <p:nvPr/>
        </p:nvPicPr>
        <p:blipFill>
          <a:blip r:embed="rId7">
            <a:alphaModFix/>
          </a:blip>
          <a:stretch>
            <a:fillRect/>
          </a:stretch>
        </p:blipFill>
        <p:spPr>
          <a:xfrm>
            <a:off x="241300" y="1697162"/>
            <a:ext cx="6672329" cy="4575001"/>
          </a:xfrm>
          <a:prstGeom prst="rect">
            <a:avLst/>
          </a:prstGeom>
          <a:noFill/>
          <a:ln cap="flat" cmpd="sng" w="9525">
            <a:solidFill>
              <a:schemeClr val="dk1"/>
            </a:solidFill>
            <a:prstDash val="solid"/>
            <a:round/>
            <a:headEnd len="sm" w="sm" type="none"/>
            <a:tailEnd len="sm" w="sm" type="none"/>
          </a:ln>
        </p:spPr>
      </p:pic>
      <p:sp>
        <p:nvSpPr>
          <p:cNvPr id="348" name="Google Shape;348;p32"/>
          <p:cNvSpPr/>
          <p:nvPr/>
        </p:nvSpPr>
        <p:spPr>
          <a:xfrm>
            <a:off x="863100" y="5760075"/>
            <a:ext cx="1905600" cy="512100"/>
          </a:xfrm>
          <a:prstGeom prst="roundRect">
            <a:avLst>
              <a:gd fmla="val 16667" name="adj"/>
            </a:avLst>
          </a:prstGeom>
          <a:noFill/>
          <a:ln cap="flat" cmpd="sng" w="76200">
            <a:solidFill>
              <a:srgbClr val="E2C7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32"/>
          <p:cNvSpPr txBox="1"/>
          <p:nvPr/>
        </p:nvSpPr>
        <p:spPr>
          <a:xfrm>
            <a:off x="3332225" y="1697150"/>
            <a:ext cx="3581400" cy="1983300"/>
          </a:xfrm>
          <a:prstGeom prst="rect">
            <a:avLst/>
          </a:prstGeom>
          <a:solidFill>
            <a:srgbClr val="F3F3F3"/>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chemeClr val="dk1"/>
                </a:solidFill>
              </a:rPr>
              <a:t>Rebuild Supported</a:t>
            </a:r>
            <a:br>
              <a:rPr lang="en-US" sz="2000">
                <a:solidFill>
                  <a:schemeClr val="dk1"/>
                </a:solidFill>
              </a:rPr>
            </a:br>
            <a:r>
              <a:rPr lang="en-US" sz="2000">
                <a:solidFill>
                  <a:schemeClr val="dk1"/>
                </a:solidFill>
              </a:rPr>
              <a:t>Versions Weekly</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rPr lang="en-US" sz="2000">
                <a:solidFill>
                  <a:schemeClr val="dk1"/>
                </a:solidFill>
              </a:rPr>
              <a:t>METbaseimage		@ 00:30</a:t>
            </a:r>
            <a:endParaRPr sz="2000">
              <a:solidFill>
                <a:schemeClr val="dk1"/>
              </a:solidFill>
            </a:endParaRPr>
          </a:p>
          <a:p>
            <a:pPr indent="0" lvl="0" marL="0" rtl="0" algn="l">
              <a:spcBef>
                <a:spcPts val="0"/>
              </a:spcBef>
              <a:spcAft>
                <a:spcPts val="0"/>
              </a:spcAft>
              <a:buNone/>
            </a:pPr>
            <a:r>
              <a:rPr lang="en-US" sz="2000">
                <a:solidFill>
                  <a:schemeClr val="dk1"/>
                </a:solidFill>
              </a:rPr>
              <a:t>MET + METviewer	@ 03:30</a:t>
            </a:r>
            <a:endParaRPr sz="2000">
              <a:solidFill>
                <a:schemeClr val="dk1"/>
              </a:solidFill>
            </a:endParaRPr>
          </a:p>
          <a:p>
            <a:pPr indent="0" lvl="0" marL="0" rtl="0" algn="l">
              <a:spcBef>
                <a:spcPts val="0"/>
              </a:spcBef>
              <a:spcAft>
                <a:spcPts val="0"/>
              </a:spcAft>
              <a:buNone/>
            </a:pPr>
            <a:r>
              <a:rPr lang="en-US" sz="2000">
                <a:solidFill>
                  <a:schemeClr val="dk1"/>
                </a:solidFill>
              </a:rPr>
              <a:t>METplus			@ 06:30</a:t>
            </a:r>
            <a:endParaRPr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3"/>
          <p:cNvSpPr txBox="1"/>
          <p:nvPr>
            <p:ph type="title"/>
          </p:nvPr>
        </p:nvSpPr>
        <p:spPr>
          <a:xfrm>
            <a:off x="621792" y="466344"/>
            <a:ext cx="10899600" cy="51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66B3"/>
              </a:buClr>
              <a:buSzPts val="3600"/>
              <a:buFont typeface="Arial"/>
              <a:buNone/>
            </a:pPr>
            <a:r>
              <a:rPr lang="en-US"/>
              <a:t>GHA: CVE Scanning</a:t>
            </a:r>
            <a:endParaRPr/>
          </a:p>
        </p:txBody>
      </p:sp>
      <p:pic>
        <p:nvPicPr>
          <p:cNvPr id="355" name="Google Shape;355;p33" title="Screenshot 2025-11-03 at 9.16.17 PM.png"/>
          <p:cNvPicPr preferRelativeResize="0"/>
          <p:nvPr/>
        </p:nvPicPr>
        <p:blipFill>
          <a:blip r:embed="rId3">
            <a:alphaModFix/>
          </a:blip>
          <a:stretch>
            <a:fillRect/>
          </a:stretch>
        </p:blipFill>
        <p:spPr>
          <a:xfrm>
            <a:off x="0" y="3932902"/>
            <a:ext cx="3471629" cy="989650"/>
          </a:xfrm>
          <a:prstGeom prst="rect">
            <a:avLst/>
          </a:prstGeom>
          <a:noFill/>
          <a:ln cap="flat" cmpd="sng" w="9525">
            <a:solidFill>
              <a:schemeClr val="dk1"/>
            </a:solidFill>
            <a:prstDash val="solid"/>
            <a:round/>
            <a:headEnd len="sm" w="sm" type="none"/>
            <a:tailEnd len="sm" w="sm" type="none"/>
          </a:ln>
        </p:spPr>
      </p:pic>
      <p:sp>
        <p:nvSpPr>
          <p:cNvPr id="356" name="Google Shape;356;p33"/>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57" name="Google Shape;357;p33"/>
          <p:cNvSpPr txBox="1"/>
          <p:nvPr>
            <p:ph idx="2" type="subTitle"/>
          </p:nvPr>
        </p:nvSpPr>
        <p:spPr>
          <a:xfrm>
            <a:off x="621793" y="978412"/>
            <a:ext cx="7370700" cy="34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400"/>
              <a:buNone/>
            </a:pPr>
            <a:r>
              <a:rPr lang="en-US"/>
              <a:t>vulnerabilities</a:t>
            </a:r>
            <a:endParaRPr/>
          </a:p>
        </p:txBody>
      </p:sp>
      <p:pic>
        <p:nvPicPr>
          <p:cNvPr id="358" name="Google Shape;358;p33" title="Screenshot 2025-11-03 at 9.09.57 PM.png"/>
          <p:cNvPicPr preferRelativeResize="0"/>
          <p:nvPr/>
        </p:nvPicPr>
        <p:blipFill rotWithShape="1">
          <a:blip r:embed="rId4">
            <a:alphaModFix/>
          </a:blip>
          <a:srcRect b="0" l="0" r="0" t="50941"/>
          <a:stretch/>
        </p:blipFill>
        <p:spPr>
          <a:xfrm>
            <a:off x="5004544" y="4335097"/>
            <a:ext cx="6889800" cy="342900"/>
          </a:xfrm>
          <a:prstGeom prst="rect">
            <a:avLst/>
          </a:prstGeom>
          <a:noFill/>
          <a:ln>
            <a:noFill/>
          </a:ln>
        </p:spPr>
      </p:pic>
      <p:grpSp>
        <p:nvGrpSpPr>
          <p:cNvPr id="359" name="Google Shape;359;p33"/>
          <p:cNvGrpSpPr/>
          <p:nvPr/>
        </p:nvGrpSpPr>
        <p:grpSpPr>
          <a:xfrm>
            <a:off x="5004544" y="0"/>
            <a:ext cx="6889800" cy="4303803"/>
            <a:chOff x="5302200" y="257969"/>
            <a:chExt cx="6889800" cy="4303803"/>
          </a:xfrm>
        </p:grpSpPr>
        <p:pic>
          <p:nvPicPr>
            <p:cNvPr id="360" name="Google Shape;360;p33" title="Screenshot 2025-11-03 at 9.04.41 PM.png"/>
            <p:cNvPicPr preferRelativeResize="0"/>
            <p:nvPr/>
          </p:nvPicPr>
          <p:blipFill>
            <a:blip r:embed="rId5">
              <a:alphaModFix/>
            </a:blip>
            <a:stretch>
              <a:fillRect/>
            </a:stretch>
          </p:blipFill>
          <p:spPr>
            <a:xfrm>
              <a:off x="5302229" y="1152872"/>
              <a:ext cx="6889749" cy="3408900"/>
            </a:xfrm>
            <a:prstGeom prst="rect">
              <a:avLst/>
            </a:prstGeom>
            <a:noFill/>
            <a:ln cap="flat" cmpd="sng" w="9525">
              <a:solidFill>
                <a:schemeClr val="dk1"/>
              </a:solidFill>
              <a:prstDash val="solid"/>
              <a:round/>
              <a:headEnd len="sm" w="sm" type="none"/>
              <a:tailEnd len="sm" w="sm" type="none"/>
            </a:ln>
          </p:spPr>
        </p:pic>
        <p:sp>
          <p:nvSpPr>
            <p:cNvPr id="361" name="Google Shape;361;p33"/>
            <p:cNvSpPr txBox="1"/>
            <p:nvPr/>
          </p:nvSpPr>
          <p:spPr>
            <a:xfrm>
              <a:off x="5302200" y="257969"/>
              <a:ext cx="6889800" cy="92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rgbClr val="1F2328"/>
                  </a:solidFill>
                  <a:highlight>
                    <a:srgbClr val="FFFFFF"/>
                  </a:highlight>
                </a:rPr>
                <a:t>release-docker-images</a:t>
              </a:r>
              <a:r>
                <a:rPr b="1" lang="en-US" sz="2400">
                  <a:solidFill>
                    <a:srgbClr val="1F2328"/>
                  </a:solidFill>
                  <a:highlight>
                    <a:srgbClr val="FFFFFF"/>
                  </a:highlight>
                </a:rPr>
                <a:t>.yml</a:t>
              </a:r>
              <a:br>
                <a:rPr b="1" lang="en-US" sz="2400">
                  <a:solidFill>
                    <a:srgbClr val="1F2328"/>
                  </a:solidFill>
                  <a:highlight>
                    <a:srgbClr val="FFFFFF"/>
                  </a:highlight>
                </a:rPr>
              </a:br>
              <a:r>
                <a:rPr b="1" lang="en-US" sz="2400">
                  <a:solidFill>
                    <a:srgbClr val="1F2328"/>
                  </a:solidFill>
                  <a:highlight>
                    <a:srgbClr val="FFFFFF"/>
                  </a:highlight>
                </a:rPr>
                <a:t>(development-docker-images.yml)</a:t>
              </a:r>
              <a:endParaRPr b="1" sz="2400">
                <a:solidFill>
                  <a:schemeClr val="dk1"/>
                </a:solidFill>
              </a:endParaRPr>
            </a:p>
          </p:txBody>
        </p:sp>
        <p:pic>
          <p:nvPicPr>
            <p:cNvPr id="362" name="Google Shape;362;p33"/>
            <p:cNvPicPr preferRelativeResize="0"/>
            <p:nvPr/>
          </p:nvPicPr>
          <p:blipFill rotWithShape="1">
            <a:blip r:embed="rId6">
              <a:alphaModFix/>
            </a:blip>
            <a:srcRect b="5250" l="35860" r="35806" t="6065"/>
            <a:stretch/>
          </p:blipFill>
          <p:spPr>
            <a:xfrm>
              <a:off x="10966130" y="1285994"/>
              <a:ext cx="1106801" cy="1757650"/>
            </a:xfrm>
            <a:prstGeom prst="rect">
              <a:avLst/>
            </a:prstGeom>
            <a:noFill/>
            <a:ln>
              <a:noFill/>
            </a:ln>
          </p:spPr>
        </p:pic>
      </p:grpSp>
      <p:pic>
        <p:nvPicPr>
          <p:cNvPr id="363" name="Google Shape;363;p33" title="Screenshot 2025-11-03 at 9.15.07 PM.png"/>
          <p:cNvPicPr preferRelativeResize="0"/>
          <p:nvPr/>
        </p:nvPicPr>
        <p:blipFill rotWithShape="1">
          <a:blip r:embed="rId7">
            <a:alphaModFix/>
          </a:blip>
          <a:srcRect b="0" l="0" r="0" t="50114"/>
          <a:stretch/>
        </p:blipFill>
        <p:spPr>
          <a:xfrm>
            <a:off x="0" y="4939519"/>
            <a:ext cx="12192000" cy="1286250"/>
          </a:xfrm>
          <a:prstGeom prst="rect">
            <a:avLst/>
          </a:prstGeom>
          <a:noFill/>
          <a:ln cap="flat" cmpd="sng" w="9525">
            <a:solidFill>
              <a:schemeClr val="dk1"/>
            </a:solidFill>
            <a:prstDash val="solid"/>
            <a:round/>
            <a:headEnd len="sm" w="sm" type="none"/>
            <a:tailEnd len="sm" w="sm" type="none"/>
          </a:ln>
        </p:spPr>
      </p:pic>
      <p:grpSp>
        <p:nvGrpSpPr>
          <p:cNvPr id="364" name="Google Shape;364;p33"/>
          <p:cNvGrpSpPr/>
          <p:nvPr/>
        </p:nvGrpSpPr>
        <p:grpSpPr>
          <a:xfrm>
            <a:off x="0" y="1409706"/>
            <a:ext cx="3471625" cy="2507822"/>
            <a:chOff x="0" y="1409706"/>
            <a:chExt cx="3471625" cy="2507822"/>
          </a:xfrm>
        </p:grpSpPr>
        <p:pic>
          <p:nvPicPr>
            <p:cNvPr id="365" name="Google Shape;365;p33" title="Screenshot 2025-11-03 at 9.19.52 PM.png"/>
            <p:cNvPicPr preferRelativeResize="0"/>
            <p:nvPr/>
          </p:nvPicPr>
          <p:blipFill>
            <a:blip r:embed="rId8">
              <a:alphaModFix/>
            </a:blip>
            <a:stretch>
              <a:fillRect/>
            </a:stretch>
          </p:blipFill>
          <p:spPr>
            <a:xfrm>
              <a:off x="0" y="1520071"/>
              <a:ext cx="3471625" cy="2397457"/>
            </a:xfrm>
            <a:prstGeom prst="rect">
              <a:avLst/>
            </a:prstGeom>
            <a:noFill/>
            <a:ln>
              <a:noFill/>
            </a:ln>
          </p:spPr>
        </p:pic>
        <p:sp>
          <p:nvSpPr>
            <p:cNvPr id="366" name="Google Shape;366;p33"/>
            <p:cNvSpPr txBox="1"/>
            <p:nvPr/>
          </p:nvSpPr>
          <p:spPr>
            <a:xfrm>
              <a:off x="0" y="1409706"/>
              <a:ext cx="3471600" cy="69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rgbClr val="1F2328"/>
                  </a:solidFill>
                  <a:highlight>
                    <a:srgbClr val="FFFFFF"/>
                  </a:highlight>
                </a:rPr>
                <a:t>METviewer</a:t>
              </a:r>
              <a:endParaRPr b="1" sz="2400">
                <a:solidFill>
                  <a:schemeClr val="dk1"/>
                </a:solidFill>
              </a:endParaRPr>
            </a:p>
          </p:txBody>
        </p:sp>
      </p:grpSp>
      <p:pic>
        <p:nvPicPr>
          <p:cNvPr id="367" name="Google Shape;367;p33" title="Screenshot 2025-11-03 at 9.30.34 PM.png"/>
          <p:cNvPicPr preferRelativeResize="0"/>
          <p:nvPr/>
        </p:nvPicPr>
        <p:blipFill rotWithShape="1">
          <a:blip r:embed="rId9">
            <a:alphaModFix/>
          </a:blip>
          <a:srcRect b="1409" l="0" r="0" t="1409"/>
          <a:stretch/>
        </p:blipFill>
        <p:spPr>
          <a:xfrm>
            <a:off x="0" y="6228600"/>
            <a:ext cx="12191999" cy="622775"/>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4"/>
          <p:cNvSpPr txBox="1"/>
          <p:nvPr>
            <p:ph idx="12" type="sldNum"/>
          </p:nvPr>
        </p:nvSpPr>
        <p:spPr>
          <a:xfrm>
            <a:off x="8778240" y="6487299"/>
            <a:ext cx="2743200" cy="227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73" name="Google Shape;373;p34"/>
          <p:cNvSpPr txBox="1"/>
          <p:nvPr>
            <p:ph idx="4294967295" type="body"/>
          </p:nvPr>
        </p:nvSpPr>
        <p:spPr>
          <a:xfrm>
            <a:off x="317500" y="4742669"/>
            <a:ext cx="11667900" cy="198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2400"/>
              <a:buFont typeface="Arial"/>
              <a:buNone/>
            </a:pPr>
            <a:r>
              <a:rPr b="1" lang="en-US" sz="3200">
                <a:latin typeface="Poppins"/>
                <a:ea typeface="Poppins"/>
                <a:cs typeface="Poppins"/>
                <a:sym typeface="Poppins"/>
              </a:rPr>
              <a:t>Docs</a:t>
            </a:r>
            <a:r>
              <a:rPr lang="en-US" sz="3200">
                <a:latin typeface="Poppins"/>
                <a:ea typeface="Poppins"/>
                <a:cs typeface="Poppins"/>
                <a:sym typeface="Poppins"/>
              </a:rPr>
              <a:t> | https://metplus.readthedocs.io</a:t>
            </a:r>
            <a:endParaRPr sz="3200">
              <a:latin typeface="Poppins"/>
              <a:ea typeface="Poppins"/>
              <a:cs typeface="Poppins"/>
              <a:sym typeface="Poppins"/>
            </a:endParaRPr>
          </a:p>
          <a:p>
            <a:pPr indent="0" lvl="0" marL="0" rtl="0" algn="ctr">
              <a:spcBef>
                <a:spcPts val="0"/>
              </a:spcBef>
              <a:spcAft>
                <a:spcPts val="0"/>
              </a:spcAft>
              <a:buClr>
                <a:schemeClr val="dk1"/>
              </a:buClr>
              <a:buSzPts val="2400"/>
              <a:buFont typeface="Arial"/>
              <a:buNone/>
            </a:pPr>
            <a:r>
              <a:rPr b="1" lang="en-US" sz="3200">
                <a:latin typeface="Poppins"/>
                <a:ea typeface="Poppins"/>
                <a:cs typeface="Poppins"/>
                <a:sym typeface="Poppins"/>
              </a:rPr>
              <a:t>Web</a:t>
            </a:r>
            <a:r>
              <a:rPr lang="en-US" sz="3200">
                <a:latin typeface="Poppins"/>
                <a:ea typeface="Poppins"/>
                <a:cs typeface="Poppins"/>
                <a:sym typeface="Poppins"/>
              </a:rPr>
              <a:t> | https://dtcenter.org/community-code/metplus</a:t>
            </a:r>
            <a:endParaRPr sz="3200">
              <a:latin typeface="Poppins"/>
              <a:ea typeface="Poppins"/>
              <a:cs typeface="Poppins"/>
              <a:sym typeface="Poppins"/>
            </a:endParaRPr>
          </a:p>
          <a:p>
            <a:pPr indent="0" lvl="0" marL="0" rtl="0" algn="ctr">
              <a:lnSpc>
                <a:spcPct val="90000"/>
              </a:lnSpc>
              <a:spcBef>
                <a:spcPts val="0"/>
              </a:spcBef>
              <a:spcAft>
                <a:spcPts val="0"/>
              </a:spcAft>
              <a:buClr>
                <a:schemeClr val="dk1"/>
              </a:buClr>
              <a:buSzPts val="2400"/>
              <a:buFont typeface="Arial"/>
              <a:buNone/>
            </a:pPr>
            <a:r>
              <a:rPr b="1" lang="en-US" sz="3200">
                <a:latin typeface="Poppins"/>
                <a:ea typeface="Poppins"/>
                <a:cs typeface="Poppins"/>
                <a:sym typeface="Poppins"/>
              </a:rPr>
              <a:t>Help</a:t>
            </a:r>
            <a:r>
              <a:rPr lang="en-US" sz="3200">
                <a:latin typeface="Poppins"/>
                <a:ea typeface="Poppins"/>
                <a:cs typeface="Poppins"/>
                <a:sym typeface="Poppins"/>
              </a:rPr>
              <a:t> | </a:t>
            </a:r>
            <a:r>
              <a:rPr lang="en-US" sz="3200">
                <a:latin typeface="Poppins"/>
                <a:ea typeface="Poppins"/>
                <a:cs typeface="Poppins"/>
                <a:sym typeface="Poppins"/>
              </a:rPr>
              <a:t>https://github.com/dtcenter/METplus/discussions</a:t>
            </a:r>
            <a:endParaRPr sz="3200">
              <a:latin typeface="Poppins"/>
              <a:ea typeface="Poppins"/>
              <a:cs typeface="Poppins"/>
              <a:sym typeface="Poppins"/>
            </a:endParaRPr>
          </a:p>
          <a:p>
            <a:pPr indent="0" lvl="0" marL="0" rtl="0" algn="ctr">
              <a:lnSpc>
                <a:spcPct val="90000"/>
              </a:lnSpc>
              <a:spcBef>
                <a:spcPts val="0"/>
              </a:spcBef>
              <a:spcAft>
                <a:spcPts val="0"/>
              </a:spcAft>
              <a:buClr>
                <a:schemeClr val="dk1"/>
              </a:buClr>
              <a:buSzPts val="2400"/>
              <a:buFont typeface="Arial"/>
              <a:buNone/>
            </a:pPr>
            <a:r>
              <a:t/>
            </a:r>
            <a:endParaRPr>
              <a:latin typeface="Poppins"/>
              <a:ea typeface="Poppins"/>
              <a:cs typeface="Poppins"/>
              <a:sym typeface="Poppins"/>
            </a:endParaRPr>
          </a:p>
        </p:txBody>
      </p:sp>
      <p:sp>
        <p:nvSpPr>
          <p:cNvPr id="374" name="Google Shape;374;p34"/>
          <p:cNvSpPr/>
          <p:nvPr/>
        </p:nvSpPr>
        <p:spPr>
          <a:xfrm>
            <a:off x="2215713" y="2323300"/>
            <a:ext cx="7760572" cy="121997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DTC Colors">
      <a:dk1>
        <a:srgbClr val="000000"/>
      </a:dk1>
      <a:lt1>
        <a:srgbClr val="FFFFFF"/>
      </a:lt1>
      <a:dk2>
        <a:srgbClr val="0066B3"/>
      </a:dk2>
      <a:lt2>
        <a:srgbClr val="D3DCEC"/>
      </a:lt2>
      <a:accent1>
        <a:srgbClr val="0066B3"/>
      </a:accent1>
      <a:accent2>
        <a:srgbClr val="50BFBB"/>
      </a:accent2>
      <a:accent3>
        <a:srgbClr val="E1C720"/>
      </a:accent3>
      <a:accent4>
        <a:srgbClr val="D3DCEC"/>
      </a:accent4>
      <a:accent5>
        <a:srgbClr val="6C6C6C"/>
      </a:accent5>
      <a:accent6>
        <a:srgbClr val="9EA0A3"/>
      </a:accent6>
      <a:hlink>
        <a:srgbClr val="1A658F"/>
      </a:hlink>
      <a:folHlink>
        <a:srgbClr val="BBD5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