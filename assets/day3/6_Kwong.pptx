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 id="2147483663"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Lora"/>
      <p:regular r:id="rId23"/>
      <p:bold r:id="rId24"/>
      <p:italic r:id="rId25"/>
      <p:boldItalic r:id="rId26"/>
    </p:embeddedFon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Lora-bold.fntdata"/><Relationship Id="rId23" Type="http://schemas.openxmlformats.org/officeDocument/2006/relationships/font" Target="fonts/Lora-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Lora-boldItalic.fntdata"/><Relationship Id="rId25" Type="http://schemas.openxmlformats.org/officeDocument/2006/relationships/font" Target="fonts/Lora-italic.fntdata"/><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HelveticaNeue-italic.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HelveticaNeue-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eabb6ebb9_0_119: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SzPts val="1100"/>
              <a:buNone/>
            </a:pPr>
            <a:r>
              <a:t/>
            </a:r>
            <a:endParaRPr>
              <a:latin typeface="Arial"/>
              <a:ea typeface="Arial"/>
              <a:cs typeface="Arial"/>
              <a:sym typeface="Arial"/>
            </a:endParaRPr>
          </a:p>
        </p:txBody>
      </p:sp>
      <p:sp>
        <p:nvSpPr>
          <p:cNvPr id="72" name="Google Shape;72;g36eabb6ebb9_0_119: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eabb6ebb9_0_162: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Regional ocean models are powerful tools:</a:t>
            </a:r>
            <a:endParaRPr/>
          </a:p>
          <a:p>
            <a:pPr indent="-298450" lvl="0" marL="457200" rtl="0" algn="l">
              <a:lnSpc>
                <a:spcPct val="100000"/>
              </a:lnSpc>
              <a:spcBef>
                <a:spcPts val="0"/>
              </a:spcBef>
              <a:spcAft>
                <a:spcPts val="0"/>
              </a:spcAft>
              <a:buSzPts val="1100"/>
              <a:buChar char="●"/>
            </a:pPr>
            <a:r>
              <a:rPr lang="en"/>
              <a:t>Allow us to physical and biogeochemical </a:t>
            </a:r>
            <a:r>
              <a:rPr lang="en"/>
              <a:t>processes</a:t>
            </a:r>
            <a:r>
              <a:rPr lang="en"/>
              <a:t> at finer spatial scales, which are otherwise unresolved in global climate models.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In</a:t>
            </a:r>
            <a:r>
              <a:rPr lang="en"/>
              <a:t> our case: “</a:t>
            </a:r>
            <a:r>
              <a:rPr lang="en">
                <a:solidFill>
                  <a:schemeClr val="dk1"/>
                </a:solidFill>
              </a:rPr>
              <a:t>A </a:t>
            </a:r>
            <a:r>
              <a:rPr b="1" lang="en">
                <a:solidFill>
                  <a:schemeClr val="dk1"/>
                </a:solidFill>
              </a:rPr>
              <a:t>model</a:t>
            </a:r>
            <a:r>
              <a:rPr lang="en">
                <a:solidFill>
                  <a:schemeClr val="dk1"/>
                </a:solidFill>
              </a:rPr>
              <a:t> is a numerical representation of the physical processes that govern the Earth system, using equations, input data, and numerical methods to simulate how this </a:t>
            </a:r>
            <a:r>
              <a:rPr lang="en">
                <a:solidFill>
                  <a:schemeClr val="dk1"/>
                </a:solidFill>
              </a:rPr>
              <a:t>system</a:t>
            </a:r>
            <a:r>
              <a:rPr lang="en">
                <a:solidFill>
                  <a:schemeClr val="dk1"/>
                </a:solidFill>
              </a:rPr>
              <a:t> evolves over space and time.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Model setup challenges:</a:t>
            </a:r>
            <a:endParaRPr/>
          </a:p>
          <a:p>
            <a:pPr indent="-298450" lvl="0" marL="457200" rtl="0" algn="l">
              <a:lnSpc>
                <a:spcPct val="100000"/>
              </a:lnSpc>
              <a:spcBef>
                <a:spcPts val="0"/>
              </a:spcBef>
              <a:spcAft>
                <a:spcPts val="0"/>
              </a:spcAft>
              <a:buSzPts val="1100"/>
              <a:buChar char="●"/>
            </a:pPr>
            <a:r>
              <a:rPr lang="en"/>
              <a:t>It can take several months to set up one’s desired regional ocean model with MOM6. </a:t>
            </a:r>
            <a:endParaRPr/>
          </a:p>
          <a:p>
            <a:pPr indent="-298450" lvl="0" marL="457200" rtl="0" algn="l">
              <a:lnSpc>
                <a:spcPct val="100000"/>
              </a:lnSpc>
              <a:spcBef>
                <a:spcPts val="0"/>
              </a:spcBef>
              <a:spcAft>
                <a:spcPts val="0"/>
              </a:spcAft>
              <a:buSzPts val="1100"/>
              <a:buChar char="●"/>
            </a:pPr>
            <a:r>
              <a:rPr lang="en"/>
              <a:t>We want to pursue rapid prototyping of regional ocean models so we can answer more important scientific questions.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Introducing CROCODILE</a:t>
            </a:r>
            <a:endParaRPr/>
          </a:p>
          <a:p>
            <a:pPr indent="-298450" lvl="0" marL="457200" rtl="0" algn="l">
              <a:spcBef>
                <a:spcPts val="0"/>
              </a:spcBef>
              <a:spcAft>
                <a:spcPts val="0"/>
              </a:spcAft>
              <a:buSzPts val="1100"/>
              <a:buChar char="●"/>
            </a:pPr>
            <a:r>
              <a:rPr lang="en">
                <a:solidFill>
                  <a:schemeClr val="dk1"/>
                </a:solidFill>
              </a:rPr>
              <a:t>By accelerating this process and lowering the technical overhead, we can build a community centered around open science, aimed at understanding the imprints of climate change.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Outline basic features of CrocoDash and its workflow: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What does this look like? It involves generating a domain (area you want to study), creating a “case” in CESM, preparing ocean forcing data (so initial conditions and open boundary conditions), and finally building the case.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take these steps and unify them into one cohesive workflow, priming users for rapid development of models.</a:t>
            </a:r>
            <a:endParaRPr>
              <a:solidFill>
                <a:schemeClr val="dk1"/>
              </a:solidFill>
            </a:endParaRPr>
          </a:p>
        </p:txBody>
      </p:sp>
      <p:sp>
        <p:nvSpPr>
          <p:cNvPr id="81" name="Google Shape;81;g36eabb6ebb9_0_162: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07258973f_0_41: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And thus our Project objective!</a:t>
            </a:r>
            <a:endParaRPr/>
          </a:p>
          <a:p>
            <a:pPr indent="-298450" lvl="0" marL="457200" rtl="0" algn="l">
              <a:lnSpc>
                <a:spcPct val="100000"/>
              </a:lnSpc>
              <a:spcBef>
                <a:spcPts val="0"/>
              </a:spcBef>
              <a:spcAft>
                <a:spcPts val="0"/>
              </a:spcAft>
              <a:buSzPts val="1100"/>
              <a:buChar char="●"/>
            </a:pPr>
            <a:r>
              <a:rPr lang="en"/>
              <a:t>Our goal is to enhance scientific reproducibility and increase </a:t>
            </a:r>
            <a:r>
              <a:rPr lang="en"/>
              <a:t>accessibility</a:t>
            </a:r>
            <a:r>
              <a:rPr lang="en"/>
              <a:t> in the CrocoDash workflow.</a:t>
            </a:r>
            <a:endParaRPr/>
          </a:p>
          <a:p>
            <a:pPr indent="-298450" lvl="0" marL="457200" rtl="0" algn="l">
              <a:lnSpc>
                <a:spcPct val="100000"/>
              </a:lnSpc>
              <a:spcBef>
                <a:spcPts val="0"/>
              </a:spcBef>
              <a:spcAft>
                <a:spcPts val="0"/>
              </a:spcAft>
              <a:buSzPts val="1100"/>
              <a:buChar char="●"/>
            </a:pPr>
            <a:r>
              <a:rPr lang="en"/>
              <a:t>What it means to be reproducible:</a:t>
            </a:r>
            <a:endParaRPr/>
          </a:p>
          <a:p>
            <a:pPr indent="-298450" lvl="1" marL="914400" rtl="0" algn="l">
              <a:lnSpc>
                <a:spcPct val="100000"/>
              </a:lnSpc>
              <a:spcBef>
                <a:spcPts val="0"/>
              </a:spcBef>
              <a:spcAft>
                <a:spcPts val="0"/>
              </a:spcAft>
              <a:buSzPts val="1100"/>
              <a:buChar char="○"/>
            </a:pPr>
            <a:r>
              <a:rPr lang="en"/>
              <a:t>Repeatability</a:t>
            </a:r>
            <a:r>
              <a:rPr lang="en"/>
              <a:t>: A researcher can independently recreate the same exact model setup, run, and results under the same inputs and assumptions.</a:t>
            </a:r>
            <a:endParaRPr/>
          </a:p>
          <a:p>
            <a:pPr indent="-298450" lvl="2" marL="1371600" rtl="0" algn="l">
              <a:lnSpc>
                <a:spcPct val="100000"/>
              </a:lnSpc>
              <a:spcBef>
                <a:spcPts val="0"/>
              </a:spcBef>
              <a:spcAft>
                <a:spcPts val="0"/>
              </a:spcAft>
              <a:buSzPts val="1100"/>
              <a:buChar char="■"/>
            </a:pPr>
            <a:r>
              <a:rPr lang="en"/>
              <a:t>Our contributions </a:t>
            </a:r>
            <a:r>
              <a:rPr lang="en"/>
              <a:t>focus</a:t>
            </a:r>
            <a:r>
              <a:rPr lang="en"/>
              <a:t> on the model setup being </a:t>
            </a:r>
            <a:r>
              <a:rPr lang="en"/>
              <a:t>repeatable</a:t>
            </a:r>
            <a:r>
              <a:rPr lang="en"/>
              <a:t>!</a:t>
            </a:r>
            <a:endParaRPr/>
          </a:p>
          <a:p>
            <a:pPr indent="-298450" lvl="1" marL="914400" rtl="0" algn="l">
              <a:lnSpc>
                <a:spcPct val="100000"/>
              </a:lnSpc>
              <a:spcBef>
                <a:spcPts val="0"/>
              </a:spcBef>
              <a:spcAft>
                <a:spcPts val="0"/>
              </a:spcAft>
              <a:buSzPts val="1100"/>
              <a:buChar char="○"/>
            </a:pPr>
            <a:r>
              <a:rPr lang="en"/>
              <a:t>Traceability</a:t>
            </a:r>
            <a:r>
              <a:rPr lang="en"/>
              <a:t>: Each </a:t>
            </a:r>
            <a:r>
              <a:rPr lang="en"/>
              <a:t>transformation</a:t>
            </a:r>
            <a:r>
              <a:rPr lang="en"/>
              <a:t> to the model build should be logged and versioned! This enables provenance tracking.</a:t>
            </a:r>
            <a:endParaRPr/>
          </a:p>
          <a:p>
            <a:pPr indent="-298450" lvl="1" marL="914400" rtl="0" algn="l">
              <a:lnSpc>
                <a:spcPct val="100000"/>
              </a:lnSpc>
              <a:spcBef>
                <a:spcPts val="0"/>
              </a:spcBef>
              <a:spcAft>
                <a:spcPts val="0"/>
              </a:spcAft>
              <a:buSzPts val="1100"/>
              <a:buChar char="○"/>
            </a:pPr>
            <a:r>
              <a:rPr lang="en"/>
              <a:t>Transparency: Changes are made known to the user setting up the model and to those who might want to use or replicate that model down the line.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TopoEditor (AFTER)</a:t>
            </a:r>
            <a:endParaRPr/>
          </a:p>
          <a:p>
            <a:pPr indent="-298450" lvl="0" marL="457200" rtl="0" algn="l">
              <a:lnSpc>
                <a:spcPct val="100000"/>
              </a:lnSpc>
              <a:spcBef>
                <a:spcPts val="0"/>
              </a:spcBef>
              <a:spcAft>
                <a:spcPts val="0"/>
              </a:spcAft>
              <a:buSzPts val="1100"/>
              <a:buChar char="●"/>
            </a:pPr>
            <a:r>
              <a:rPr lang="en"/>
              <a:t>And so, looking into what reproducible looks like, we can look at the TopoEditor.</a:t>
            </a:r>
            <a:endParaRPr/>
          </a:p>
          <a:p>
            <a:pPr indent="-298450" lvl="0" marL="457200" rtl="0" algn="l">
              <a:lnSpc>
                <a:spcPct val="100000"/>
              </a:lnSpc>
              <a:spcBef>
                <a:spcPts val="0"/>
              </a:spcBef>
              <a:spcAft>
                <a:spcPts val="0"/>
              </a:spcAft>
              <a:buSzPts val="1100"/>
              <a:buChar char="●"/>
            </a:pPr>
            <a:r>
              <a:rPr lang="en"/>
              <a:t>Showcase the different </a:t>
            </a:r>
            <a:r>
              <a:rPr lang="en"/>
              <a:t>features</a:t>
            </a:r>
            <a:r>
              <a:rPr lang="en"/>
              <a:t> added that contribute to this reproducibility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Ultimately, it was from here to increase the scope of adding reproducible features from the (existing) TopoEditor to beyond… here’s what I did</a:t>
            </a:r>
            <a:endParaRPr/>
          </a:p>
          <a:p>
            <a:pPr indent="0" lvl="0" marL="0" rtl="0" algn="l">
              <a:lnSpc>
                <a:spcPct val="100000"/>
              </a:lnSpc>
              <a:spcBef>
                <a:spcPts val="0"/>
              </a:spcBef>
              <a:spcAft>
                <a:spcPts val="0"/>
              </a:spcAft>
              <a:buNone/>
            </a:pPr>
            <a:r>
              <a:t/>
            </a:r>
            <a:endParaRPr/>
          </a:p>
        </p:txBody>
      </p:sp>
      <p:sp>
        <p:nvSpPr>
          <p:cNvPr id="93" name="Google Shape;93;g3707258973f_0_41: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707258973f_0_33: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CrocoDash in its original state</a:t>
            </a:r>
            <a:endParaRPr/>
          </a:p>
          <a:p>
            <a:pPr indent="-298450" lvl="0" marL="457200" rtl="0" algn="l">
              <a:lnSpc>
                <a:spcPct val="100000"/>
              </a:lnSpc>
              <a:spcBef>
                <a:spcPts val="0"/>
              </a:spcBef>
              <a:spcAft>
                <a:spcPts val="0"/>
              </a:spcAft>
              <a:buSzPts val="1100"/>
              <a:buChar char="●"/>
            </a:pPr>
            <a:r>
              <a:rPr lang="en"/>
              <a:t>Model setups are now more user-friendly and streamlined in this workflow.</a:t>
            </a:r>
            <a:endParaRPr/>
          </a:p>
          <a:p>
            <a:pPr indent="-298450" lvl="0" marL="457200" rtl="0" algn="l">
              <a:lnSpc>
                <a:spcPct val="100000"/>
              </a:lnSpc>
              <a:spcBef>
                <a:spcPts val="0"/>
              </a:spcBef>
              <a:spcAft>
                <a:spcPts val="0"/>
              </a:spcAft>
              <a:buSzPts val="1100"/>
              <a:buChar char="●"/>
            </a:pPr>
            <a:r>
              <a:rPr lang="en"/>
              <a:t>It is now much easier and faster to create model configurations over domains – in most cases, the setup time has decreased from weeks or even months to just hours.</a:t>
            </a:r>
            <a:endParaRPr/>
          </a:p>
          <a:p>
            <a:pPr indent="-298450" lvl="0" marL="457200" rtl="0" algn="l">
              <a:lnSpc>
                <a:spcPct val="100000"/>
              </a:lnSpc>
              <a:spcBef>
                <a:spcPts val="0"/>
              </a:spcBef>
              <a:spcAft>
                <a:spcPts val="0"/>
              </a:spcAft>
              <a:buSzPts val="1100"/>
              <a:buChar char="●"/>
            </a:pPr>
            <a:r>
              <a:rPr lang="en"/>
              <a:t>With that said…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Reproducibility</a:t>
            </a:r>
            <a:endParaRPr/>
          </a:p>
          <a:p>
            <a:pPr indent="-298450" lvl="0" marL="457200" rtl="0" algn="l">
              <a:lnSpc>
                <a:spcPct val="100000"/>
              </a:lnSpc>
              <a:spcBef>
                <a:spcPts val="0"/>
              </a:spcBef>
              <a:spcAft>
                <a:spcPts val="0"/>
              </a:spcAft>
              <a:buSzPts val="1100"/>
              <a:buChar char="●"/>
            </a:pPr>
            <a:r>
              <a:rPr lang="en"/>
              <a:t>There is a lack of reproducible features in CrocoDash!</a:t>
            </a:r>
            <a:endParaRPr/>
          </a:p>
          <a:p>
            <a:pPr indent="-298450" lvl="0" marL="457200" rtl="0" algn="l">
              <a:lnSpc>
                <a:spcPct val="100000"/>
              </a:lnSpc>
              <a:spcBef>
                <a:spcPts val="0"/>
              </a:spcBef>
              <a:spcAft>
                <a:spcPts val="0"/>
              </a:spcAft>
              <a:buSzPts val="1100"/>
              <a:buChar char="●"/>
            </a:pPr>
            <a:r>
              <a:rPr lang="en"/>
              <a:t>How can users be able to save their configurations or keep track of their progress as they set up their regional ocean models?</a:t>
            </a:r>
            <a:endParaRPr/>
          </a:p>
          <a:p>
            <a:pPr indent="-298450" lvl="0" marL="457200" rtl="0" algn="l">
              <a:lnSpc>
                <a:spcPct val="100000"/>
              </a:lnSpc>
              <a:spcBef>
                <a:spcPts val="0"/>
              </a:spcBef>
              <a:spcAft>
                <a:spcPts val="0"/>
              </a:spcAft>
              <a:buSzPts val="1100"/>
              <a:buChar char="●"/>
            </a:pPr>
            <a:r>
              <a:rPr lang="en"/>
              <a:t>Introduce object configurators – used for generating domain.</a:t>
            </a:r>
            <a:endParaRPr/>
          </a:p>
          <a:p>
            <a:pPr indent="-298450" lvl="0" marL="457200" rtl="0" algn="l">
              <a:lnSpc>
                <a:spcPct val="100000"/>
              </a:lnSpc>
              <a:spcBef>
                <a:spcPts val="0"/>
              </a:spcBef>
              <a:spcAft>
                <a:spcPts val="0"/>
              </a:spcAft>
              <a:buSzPts val="1100"/>
              <a:buChar char="●"/>
            </a:pPr>
            <a:r>
              <a:rPr lang="en"/>
              <a:t>Use the TopoEditor as an example.</a:t>
            </a:r>
            <a:endParaRPr/>
          </a:p>
          <a:p>
            <a:pPr indent="-298450" lvl="1" marL="914400" rtl="0" algn="l">
              <a:lnSpc>
                <a:spcPct val="100000"/>
              </a:lnSpc>
              <a:spcBef>
                <a:spcPts val="0"/>
              </a:spcBef>
              <a:spcAft>
                <a:spcPts val="0"/>
              </a:spcAft>
              <a:buSzPts val="1100"/>
              <a:buChar char="○"/>
            </a:pPr>
            <a:r>
              <a:rPr lang="en"/>
              <a:t>It can take hours to make fine edits and save a desired topography.</a:t>
            </a:r>
            <a:endParaRPr/>
          </a:p>
          <a:p>
            <a:pPr indent="-298450" lvl="1" marL="914400" rtl="0" algn="l">
              <a:lnSpc>
                <a:spcPct val="100000"/>
              </a:lnSpc>
              <a:spcBef>
                <a:spcPts val="0"/>
              </a:spcBef>
              <a:spcAft>
                <a:spcPts val="0"/>
              </a:spcAft>
              <a:buSzPts val="1100"/>
              <a:buChar char="○"/>
            </a:pPr>
            <a:r>
              <a:rPr lang="en"/>
              <a:t>No way to save/track progress across sessions – essentially lose all progress if you end the Jupyter notebook session!</a:t>
            </a:r>
            <a:endParaRPr/>
          </a:p>
          <a:p>
            <a:pPr indent="-298450" lvl="0" marL="457200" rtl="0" algn="l">
              <a:lnSpc>
                <a:spcPct val="100000"/>
              </a:lnSpc>
              <a:spcBef>
                <a:spcPts val="0"/>
              </a:spcBef>
              <a:spcAft>
                <a:spcPts val="0"/>
              </a:spcAft>
              <a:buSzPts val="1100"/>
              <a:buChar char="●"/>
            </a:pPr>
            <a:r>
              <a:rPr lang="en"/>
              <a:t>Show Grid and VGrid and how it is still unintuitive and potentially time-consuming</a:t>
            </a:r>
            <a:endParaRPr/>
          </a:p>
          <a:p>
            <a:pPr indent="-298450" lvl="0" marL="457200" rtl="0" algn="l">
              <a:lnSpc>
                <a:spcPct val="100000"/>
              </a:lnSpc>
              <a:spcBef>
                <a:spcPts val="0"/>
              </a:spcBef>
              <a:spcAft>
                <a:spcPts val="0"/>
              </a:spcAft>
              <a:buSzPts val="1100"/>
              <a:buChar char="●"/>
            </a:pPr>
            <a:r>
              <a:rPr lang="en"/>
              <a:t>We want open science, where we can </a:t>
            </a:r>
            <a:r>
              <a:rPr lang="en"/>
              <a:t>experiment</a:t>
            </a:r>
            <a:r>
              <a:rPr lang="en"/>
              <a:t> and validate with ease.</a:t>
            </a:r>
            <a:endParaRPr/>
          </a:p>
        </p:txBody>
      </p:sp>
      <p:sp>
        <p:nvSpPr>
          <p:cNvPr id="113" name="Google Shape;113;g3707258973f_0_33: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07258973f_0_71: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“While Earth's seafloor is well-mapped, regional ocean models often require </a:t>
            </a:r>
            <a:r>
              <a:rPr b="1" lang="en" sz="1200">
                <a:solidFill>
                  <a:schemeClr val="dk1"/>
                </a:solidFill>
                <a:latin typeface="Times New Roman"/>
                <a:ea typeface="Times New Roman"/>
                <a:cs typeface="Times New Roman"/>
                <a:sym typeface="Times New Roman"/>
              </a:rPr>
              <a:t>modifying topography</a:t>
            </a:r>
            <a:r>
              <a:rPr lang="en" sz="1200">
                <a:solidFill>
                  <a:schemeClr val="dk1"/>
                </a:solidFill>
                <a:latin typeface="Times New Roman"/>
                <a:ea typeface="Times New Roman"/>
                <a:cs typeface="Times New Roman"/>
                <a:sym typeface="Times New Roman"/>
              </a:rPr>
              <a:t> to ensure numerical stability and realistic circulation at a given grid resolution. Features like narrow straits, steep slopes, or shallow basins may need to be smoothed, deepened, or reshaped to avoid instabilities or spurious flows. This process is part of </a:t>
            </a:r>
            <a:r>
              <a:rPr b="1" lang="en" sz="1200">
                <a:solidFill>
                  <a:schemeClr val="dk1"/>
                </a:solidFill>
                <a:latin typeface="Times New Roman"/>
                <a:ea typeface="Times New Roman"/>
                <a:cs typeface="Times New Roman"/>
                <a:sym typeface="Times New Roman"/>
              </a:rPr>
              <a:t>model tuning</a:t>
            </a:r>
            <a:r>
              <a:rPr lang="en" sz="1200">
                <a:solidFill>
                  <a:schemeClr val="dk1"/>
                </a:solidFill>
                <a:latin typeface="Times New Roman"/>
                <a:ea typeface="Times New Roman"/>
                <a:cs typeface="Times New Roman"/>
                <a:sym typeface="Times New Roman"/>
              </a:rPr>
              <a:t> — getting a simulation to behave realistically isn't just about correct equations and boundary conditions; it requires careful iteration. The Topo Editor makes this process </a:t>
            </a:r>
            <a:r>
              <a:rPr b="1" lang="en" sz="1200">
                <a:solidFill>
                  <a:schemeClr val="dk1"/>
                </a:solidFill>
                <a:latin typeface="Times New Roman"/>
                <a:ea typeface="Times New Roman"/>
                <a:cs typeface="Times New Roman"/>
                <a:sym typeface="Times New Roman"/>
              </a:rPr>
              <a:t>transparent, reversible, and reproducible</a:t>
            </a:r>
            <a:r>
              <a:rPr lang="en" sz="1200">
                <a:solidFill>
                  <a:schemeClr val="dk1"/>
                </a:solidFill>
                <a:latin typeface="Times New Roman"/>
                <a:ea typeface="Times New Roman"/>
                <a:cs typeface="Times New Roman"/>
                <a:sym typeface="Times New Roman"/>
              </a:rPr>
              <a:t>, so users no longer need to “cross their fingers” and hope the case runs — they can see, control, and refine each step with confidence.”</a:t>
            </a:r>
            <a:endParaRPr/>
          </a:p>
        </p:txBody>
      </p:sp>
      <p:sp>
        <p:nvSpPr>
          <p:cNvPr id="125" name="Google Shape;125;g3707258973f_0_71: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07258973f_0_78: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Initial focus on the object configurators in the CrocoDash workflow</a:t>
            </a:r>
            <a:endParaRPr/>
          </a:p>
          <a:p>
            <a:pPr indent="-298450" lvl="0" marL="457200" rtl="0" algn="l">
              <a:lnSpc>
                <a:spcPct val="100000"/>
              </a:lnSpc>
              <a:spcBef>
                <a:spcPts val="0"/>
              </a:spcBef>
              <a:spcAft>
                <a:spcPts val="0"/>
              </a:spcAft>
              <a:buSzPts val="1100"/>
              <a:buChar char="●"/>
            </a:pPr>
            <a:r>
              <a:rPr lang="en"/>
              <a:t>Makes sense as they are user-facing and there is a great deal of interactivity</a:t>
            </a:r>
            <a:endParaRPr/>
          </a:p>
          <a:p>
            <a:pPr indent="-298450" lvl="0" marL="457200" rtl="0" algn="l">
              <a:lnSpc>
                <a:spcPct val="100000"/>
              </a:lnSpc>
              <a:spcBef>
                <a:spcPts val="0"/>
              </a:spcBef>
              <a:spcAft>
                <a:spcPts val="0"/>
              </a:spcAft>
              <a:buSzPts val="1100"/>
              <a:buChar char="●"/>
            </a:pPr>
            <a:r>
              <a:rPr lang="en"/>
              <a:t>First thing you might notice is that there is not the functionality to undo, redo, and reset changes.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TopoEditor improvements</a:t>
            </a:r>
            <a:endParaRPr/>
          </a:p>
          <a:p>
            <a:pPr indent="-298450" lvl="0" marL="457200" rtl="0" algn="l">
              <a:lnSpc>
                <a:spcPct val="100000"/>
              </a:lnSpc>
              <a:spcBef>
                <a:spcPts val="0"/>
              </a:spcBef>
              <a:spcAft>
                <a:spcPts val="0"/>
              </a:spcAft>
              <a:buSzPts val="1100"/>
              <a:buChar char="●"/>
            </a:pPr>
            <a:r>
              <a:rPr lang="en"/>
              <a:t>On top of these new edit features, one can snapshot their changes by saving state, or they can load a previous state from a history.</a:t>
            </a:r>
            <a:endParaRPr/>
          </a:p>
          <a:p>
            <a:pPr indent="-298450" lvl="0" marL="457200" rtl="0" algn="l">
              <a:lnSpc>
                <a:spcPct val="100000"/>
              </a:lnSpc>
              <a:spcBef>
                <a:spcPts val="0"/>
              </a:spcBef>
              <a:spcAft>
                <a:spcPts val="0"/>
              </a:spcAft>
              <a:buSzPts val="1100"/>
              <a:buChar char="●"/>
            </a:pPr>
            <a:r>
              <a:rPr lang="en"/>
              <a:t>If a user loads in a previous state using load state, the undo and redo histories are restored from the previous session.</a:t>
            </a:r>
            <a:endParaRPr/>
          </a:p>
          <a:p>
            <a:pPr indent="-298450" lvl="1" marL="914400" rtl="0" algn="l">
              <a:lnSpc>
                <a:spcPct val="100000"/>
              </a:lnSpc>
              <a:spcBef>
                <a:spcPts val="0"/>
              </a:spcBef>
              <a:spcAft>
                <a:spcPts val="0"/>
              </a:spcAft>
              <a:buSzPts val="1100"/>
              <a:buChar char="○"/>
            </a:pPr>
            <a:r>
              <a:rPr lang="en"/>
              <a:t>.json files used to restore topography changes in the Topo Editor</a:t>
            </a:r>
            <a:endParaRPr/>
          </a:p>
          <a:p>
            <a:pPr indent="-298450" lvl="0" marL="457200" rtl="0" algn="l">
              <a:lnSpc>
                <a:spcPct val="100000"/>
              </a:lnSpc>
              <a:spcBef>
                <a:spcPts val="0"/>
              </a:spcBef>
              <a:spcAft>
                <a:spcPts val="0"/>
              </a:spcAft>
              <a:buSzPts val="1100"/>
              <a:buChar char="●"/>
            </a:pPr>
            <a:r>
              <a:rPr lang="en"/>
              <a:t>SHA (hmm) → leads into the next slide on version control </a:t>
            </a:r>
            <a:r>
              <a:rPr lang="en"/>
              <a:t>integration</a:t>
            </a:r>
            <a:r>
              <a:rPr lang="en"/>
              <a:t> and the use of Git</a:t>
            </a:r>
            <a:endParaRPr/>
          </a:p>
        </p:txBody>
      </p:sp>
      <p:sp>
        <p:nvSpPr>
          <p:cNvPr id="138" name="Google Shape;138;g3707258973f_0_78: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07258973f_0_92: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Saving and Loading</a:t>
            </a:r>
            <a:endParaRPr/>
          </a:p>
          <a:p>
            <a:pPr indent="-298450" lvl="0" marL="457200" rtl="0" algn="l">
              <a:lnSpc>
                <a:spcPct val="100000"/>
              </a:lnSpc>
              <a:spcBef>
                <a:spcPts val="0"/>
              </a:spcBef>
              <a:spcAft>
                <a:spcPts val="0"/>
              </a:spcAft>
              <a:buSzPts val="1100"/>
              <a:buChar char="●"/>
            </a:pPr>
            <a:r>
              <a:rPr lang="en"/>
              <a:t>This is actually using Git commits under the hood!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Git for version control!</a:t>
            </a:r>
            <a:endParaRPr/>
          </a:p>
          <a:p>
            <a:pPr indent="-298450" lvl="0" marL="457200" rtl="0" algn="l">
              <a:lnSpc>
                <a:spcPct val="100000"/>
              </a:lnSpc>
              <a:spcBef>
                <a:spcPts val="0"/>
              </a:spcBef>
              <a:spcAft>
                <a:spcPts val="0"/>
              </a:spcAft>
              <a:buSzPts val="1100"/>
              <a:buChar char="●"/>
            </a:pPr>
            <a:r>
              <a:rPr lang="en"/>
              <a:t>Thus, our </a:t>
            </a:r>
            <a:r>
              <a:rPr lang="en"/>
              <a:t>method</a:t>
            </a:r>
            <a:r>
              <a:rPr lang="en"/>
              <a:t> of handling version control is via Git.</a:t>
            </a:r>
            <a:endParaRPr/>
          </a:p>
          <a:p>
            <a:pPr indent="-298450" lvl="1" marL="914400" rtl="0" algn="l">
              <a:lnSpc>
                <a:spcPct val="100000"/>
              </a:lnSpc>
              <a:spcBef>
                <a:spcPts val="0"/>
              </a:spcBef>
              <a:spcAft>
                <a:spcPts val="0"/>
              </a:spcAft>
              <a:buSzPts val="1100"/>
              <a:buChar char="○"/>
            </a:pPr>
            <a:r>
              <a:rPr lang="en"/>
              <a:t>We can commit changes; create, delete, and merge branches; and perform checkouts in the Topo Editor.</a:t>
            </a:r>
            <a:endParaRPr/>
          </a:p>
          <a:p>
            <a:pPr indent="-298450" lvl="1" marL="914400" rtl="0" algn="l">
              <a:lnSpc>
                <a:spcPct val="100000"/>
              </a:lnSpc>
              <a:spcBef>
                <a:spcPts val="0"/>
              </a:spcBef>
              <a:spcAft>
                <a:spcPts val="0"/>
              </a:spcAft>
              <a:buSzPts val="1100"/>
              <a:buChar char="○"/>
            </a:pPr>
            <a:r>
              <a:rPr lang="en"/>
              <a:t>We use Git because it is well-developed software widely used by the scientific community.</a:t>
            </a:r>
            <a:endParaRPr/>
          </a:p>
          <a:p>
            <a:pPr indent="-298450" lvl="1" marL="914400" rtl="0" algn="l">
              <a:lnSpc>
                <a:spcPct val="100000"/>
              </a:lnSpc>
              <a:spcBef>
                <a:spcPts val="0"/>
              </a:spcBef>
              <a:spcAft>
                <a:spcPts val="0"/>
              </a:spcAft>
              <a:buSzPts val="1100"/>
              <a:buChar char="○"/>
            </a:pPr>
            <a:r>
              <a:rPr lang="en"/>
              <a:t>This </a:t>
            </a:r>
            <a:r>
              <a:rPr lang="en"/>
              <a:t>further</a:t>
            </a:r>
            <a:r>
              <a:rPr lang="en"/>
              <a:t> promotes open science and a collaborative modeling environment.</a:t>
            </a:r>
            <a:endParaRPr/>
          </a:p>
          <a:p>
            <a:pPr indent="-298450" lvl="0" marL="457200" rtl="0" algn="l">
              <a:lnSpc>
                <a:spcPct val="100000"/>
              </a:lnSpc>
              <a:spcBef>
                <a:spcPts val="0"/>
              </a:spcBef>
              <a:spcAft>
                <a:spcPts val="0"/>
              </a:spcAft>
              <a:buSzPts val="1100"/>
              <a:buChar char="●"/>
            </a:pPr>
            <a:r>
              <a:rPr lang="en"/>
              <a:t>It also </a:t>
            </a:r>
            <a:r>
              <a:rPr lang="en"/>
              <a:t>promotes</a:t>
            </a:r>
            <a:r>
              <a:rPr lang="en"/>
              <a:t> data provenance and </a:t>
            </a:r>
            <a:r>
              <a:rPr lang="en"/>
              <a:t>traceability</a:t>
            </a:r>
            <a:r>
              <a:rPr lang="en"/>
              <a:t>.</a:t>
            </a:r>
            <a:endParaRPr/>
          </a:p>
          <a:p>
            <a:pPr indent="-298450" lvl="0" marL="457200" rtl="0" algn="l">
              <a:lnSpc>
                <a:spcPct val="100000"/>
              </a:lnSpc>
              <a:spcBef>
                <a:spcPts val="0"/>
              </a:spcBef>
              <a:spcAft>
                <a:spcPts val="0"/>
              </a:spcAft>
              <a:buSzPts val="1100"/>
              <a:buChar char="●"/>
            </a:pPr>
            <a:r>
              <a:rPr lang="en"/>
              <a:t>Users can therefore share and use Topo objects from repositories (as well as horizontal Grids since they are always connected to Topos), but what does this look like across the CrocoDash workflow?</a:t>
            </a:r>
            <a:endParaRPr/>
          </a:p>
          <a:p>
            <a:pPr indent="-298450" lvl="1" marL="914400" rtl="0" algn="l">
              <a:lnSpc>
                <a:spcPct val="100000"/>
              </a:lnSpc>
              <a:spcBef>
                <a:spcPts val="0"/>
              </a:spcBef>
              <a:spcAft>
                <a:spcPts val="0"/>
              </a:spcAft>
              <a:buSzPts val="1100"/>
              <a:buChar char="○"/>
            </a:pPr>
            <a:r>
              <a:rPr lang="en"/>
              <a:t>What is the sense of structure and what users might be sharing?</a:t>
            </a:r>
            <a:endParaRPr/>
          </a:p>
        </p:txBody>
      </p:sp>
      <p:sp>
        <p:nvSpPr>
          <p:cNvPr id="148" name="Google Shape;148;g3707258973f_0_92: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07258973f_1_2: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Structure</a:t>
            </a:r>
            <a:endParaRPr/>
          </a:p>
          <a:p>
            <a:pPr indent="-298450" lvl="0" marL="457200" rtl="0" algn="l">
              <a:lnSpc>
                <a:spcPct val="100000"/>
              </a:lnSpc>
              <a:spcBef>
                <a:spcPts val="0"/>
              </a:spcBef>
              <a:spcAft>
                <a:spcPts val="0"/>
              </a:spcAft>
              <a:buSzPts val="1100"/>
              <a:buChar char="●"/>
            </a:pPr>
            <a:r>
              <a:rPr lang="en"/>
              <a:t>Go through from the top (aided by transitions)</a:t>
            </a:r>
            <a:endParaRPr/>
          </a:p>
          <a:p>
            <a:pPr indent="-298450" lvl="1" marL="914400" rtl="0" algn="l">
              <a:lnSpc>
                <a:spcPct val="100000"/>
              </a:lnSpc>
              <a:spcBef>
                <a:spcPts val="0"/>
              </a:spcBef>
              <a:spcAft>
                <a:spcPts val="0"/>
              </a:spcAft>
              <a:buSzPts val="1100"/>
              <a:buChar char="○"/>
            </a:pPr>
            <a:r>
              <a:rPr lang="en"/>
              <a:t>Grid generation creates a Grid object</a:t>
            </a:r>
            <a:endParaRPr/>
          </a:p>
          <a:p>
            <a:pPr indent="-298450" lvl="2" marL="1371600" rtl="0" algn="l">
              <a:lnSpc>
                <a:spcPct val="100000"/>
              </a:lnSpc>
              <a:spcBef>
                <a:spcPts val="0"/>
              </a:spcBef>
              <a:spcAft>
                <a:spcPts val="0"/>
              </a:spcAft>
              <a:buSzPts val="1100"/>
              <a:buChar char="■"/>
            </a:pPr>
            <a:r>
              <a:rPr lang="en"/>
              <a:t>You can edit said Grid, which will create a NEW Grid object each time you make a change and save the Grid</a:t>
            </a:r>
            <a:endParaRPr/>
          </a:p>
          <a:p>
            <a:pPr indent="-298450" lvl="2" marL="1371600" rtl="0" algn="l">
              <a:lnSpc>
                <a:spcPct val="100000"/>
              </a:lnSpc>
              <a:spcBef>
                <a:spcPts val="0"/>
              </a:spcBef>
              <a:spcAft>
                <a:spcPts val="0"/>
              </a:spcAft>
              <a:buSzPts val="1100"/>
              <a:buChar char="■"/>
            </a:pPr>
            <a:r>
              <a:rPr lang="en"/>
              <a:t>Grid Libraries! → contains .json and .nc files</a:t>
            </a:r>
            <a:endParaRPr/>
          </a:p>
          <a:p>
            <a:pPr indent="-298450" lvl="1" marL="914400" rtl="0" algn="l">
              <a:lnSpc>
                <a:spcPct val="100000"/>
              </a:lnSpc>
              <a:spcBef>
                <a:spcPts val="0"/>
              </a:spcBef>
              <a:spcAft>
                <a:spcPts val="0"/>
              </a:spcAft>
              <a:buSzPts val="1100"/>
              <a:buChar char="○"/>
            </a:pPr>
            <a:r>
              <a:rPr lang="en"/>
              <a:t>You generate a Topo from a Grid</a:t>
            </a:r>
            <a:endParaRPr/>
          </a:p>
          <a:p>
            <a:pPr indent="-298450" lvl="2" marL="1371600" rtl="0" algn="l">
              <a:lnSpc>
                <a:spcPct val="100000"/>
              </a:lnSpc>
              <a:spcBef>
                <a:spcPts val="0"/>
              </a:spcBef>
              <a:spcAft>
                <a:spcPts val="0"/>
              </a:spcAft>
              <a:buSzPts val="1100"/>
              <a:buChar char="■"/>
            </a:pPr>
            <a:r>
              <a:rPr lang="en"/>
              <a:t>This Topo object can now be modified/mutated using the Topo Editor → contains .json and .nc files (both Grid and Topo)</a:t>
            </a:r>
            <a:endParaRPr/>
          </a:p>
          <a:p>
            <a:pPr indent="-298450" lvl="1" marL="914400" rtl="0" algn="l">
              <a:lnSpc>
                <a:spcPct val="100000"/>
              </a:lnSpc>
              <a:spcBef>
                <a:spcPts val="0"/>
              </a:spcBef>
              <a:spcAft>
                <a:spcPts val="0"/>
              </a:spcAft>
              <a:buSzPts val="1100"/>
              <a:buChar char="○"/>
            </a:pPr>
            <a:r>
              <a:rPr lang="en"/>
              <a:t>The VGrid is separated generated</a:t>
            </a:r>
            <a:endParaRPr/>
          </a:p>
          <a:p>
            <a:pPr indent="-298450" lvl="2" marL="1371600" rtl="0" algn="l">
              <a:lnSpc>
                <a:spcPct val="100000"/>
              </a:lnSpc>
              <a:spcBef>
                <a:spcPts val="0"/>
              </a:spcBef>
              <a:spcAft>
                <a:spcPts val="0"/>
              </a:spcAft>
              <a:buSzPts val="1100"/>
              <a:buChar char="■"/>
            </a:pPr>
            <a:r>
              <a:rPr lang="en"/>
              <a:t>You can edit said VGrid, which will create a NEW VGrid object each time you make a change and save the VGrid</a:t>
            </a:r>
            <a:endParaRPr/>
          </a:p>
          <a:p>
            <a:pPr indent="-298450" lvl="2" marL="1371600" rtl="0" algn="l">
              <a:lnSpc>
                <a:spcPct val="100000"/>
              </a:lnSpc>
              <a:spcBef>
                <a:spcPts val="0"/>
              </a:spcBef>
              <a:spcAft>
                <a:spcPts val="0"/>
              </a:spcAft>
              <a:buSzPts val="1100"/>
              <a:buChar char="■"/>
            </a:pPr>
            <a:r>
              <a:rPr lang="en"/>
              <a:t>VGrid Libraries! → contains .json and .nc files</a:t>
            </a:r>
            <a:endParaRPr/>
          </a:p>
          <a:p>
            <a:pPr indent="-298450" lvl="1" marL="914400" rtl="0" algn="l">
              <a:lnSpc>
                <a:spcPct val="100000"/>
              </a:lnSpc>
              <a:spcBef>
                <a:spcPts val="0"/>
              </a:spcBef>
              <a:spcAft>
                <a:spcPts val="0"/>
              </a:spcAft>
              <a:buSzPts val="1100"/>
              <a:buChar char="○"/>
            </a:pPr>
            <a:r>
              <a:rPr lang="en"/>
              <a:t>A Grid, Topo, and VGrid object are used to create a Case object!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 and then we configure and process forcings from ocean data so that a case can be built and run…</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Reiterate the points that each Topo of a </a:t>
            </a:r>
            <a:r>
              <a:rPr i="1" lang="en"/>
              <a:t>unique </a:t>
            </a:r>
            <a:r>
              <a:rPr lang="en"/>
              <a:t>Grid are their own Git repositories, and Grids/VGrids are libraries local to the user.</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So what does do these configurators look like all together?</a:t>
            </a:r>
            <a:endParaRPr/>
          </a:p>
        </p:txBody>
      </p:sp>
      <p:sp>
        <p:nvSpPr>
          <p:cNvPr id="160" name="Google Shape;160;g3707258973f_1_2: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07258973f_0_112: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Now that we have gone through the three core parts of adding reproducibility into these object configurators, namely history &amp; provenance, version control, and shareability, what do they all look like?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You have already seen the Topo Editor (--&gt; transition)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 EMPHASIZE REPRODUCIBILITY</a:t>
            </a:r>
            <a:endParaRPr/>
          </a:p>
          <a:p>
            <a:pPr indent="0" lvl="0" marL="0" rtl="0" algn="l">
              <a:lnSpc>
                <a:spcPct val="100000"/>
              </a:lnSpc>
              <a:spcBef>
                <a:spcPts val="0"/>
              </a:spcBef>
              <a:spcAft>
                <a:spcPts val="0"/>
              </a:spcAft>
              <a:buSzPts val="1400"/>
              <a:buNone/>
            </a:pPr>
            <a:r>
              <a:rPr lang="en"/>
              <a:t>Grid Editor</a:t>
            </a:r>
            <a:endParaRPr/>
          </a:p>
          <a:p>
            <a:pPr indent="-298450" lvl="0" marL="457200" rtl="0" algn="l">
              <a:lnSpc>
                <a:spcPct val="100000"/>
              </a:lnSpc>
              <a:spcBef>
                <a:spcPts val="0"/>
              </a:spcBef>
              <a:spcAft>
                <a:spcPts val="0"/>
              </a:spcAft>
              <a:buSzPts val="1100"/>
              <a:buChar char="●"/>
            </a:pPr>
            <a:r>
              <a:rPr lang="en"/>
              <a:t>Note the lack of snapshots (we are not tracking changes in Grids over time since they are all unique objects, unlike Topo.</a:t>
            </a:r>
            <a:endParaRPr/>
          </a:p>
          <a:p>
            <a:pPr indent="-298450" lvl="0" marL="457200" rtl="0" algn="l">
              <a:lnSpc>
                <a:spcPct val="100000"/>
              </a:lnSpc>
              <a:spcBef>
                <a:spcPts val="0"/>
              </a:spcBef>
              <a:spcAft>
                <a:spcPts val="0"/>
              </a:spcAft>
              <a:buSzPts val="1100"/>
              <a:buChar char="●"/>
            </a:pPr>
            <a:r>
              <a:rPr lang="en"/>
              <a:t>We are instantiating a new Grid object each time we change and save a Grid.</a:t>
            </a:r>
            <a:endParaRPr/>
          </a:p>
          <a:p>
            <a:pPr indent="-298450" lvl="0" marL="457200" rtl="0" algn="l">
              <a:lnSpc>
                <a:spcPct val="100000"/>
              </a:lnSpc>
              <a:spcBef>
                <a:spcPts val="0"/>
              </a:spcBef>
              <a:spcAft>
                <a:spcPts val="0"/>
              </a:spcAft>
              <a:buSzPts val="1100"/>
              <a:buChar char="●"/>
            </a:pPr>
            <a:r>
              <a:rPr lang="en"/>
              <a:t>With a Topo object, </a:t>
            </a:r>
            <a:r>
              <a:rPr lang="en"/>
              <a:t>modifications</a:t>
            </a:r>
            <a:r>
              <a:rPr lang="en"/>
              <a:t> can be tracked by looking at the bathymetry data.</a:t>
            </a:r>
            <a:endParaRPr/>
          </a:p>
          <a:p>
            <a:pPr indent="-298450" lvl="0" marL="457200" rtl="0" algn="l">
              <a:lnSpc>
                <a:spcPct val="100000"/>
              </a:lnSpc>
              <a:spcBef>
                <a:spcPts val="0"/>
              </a:spcBef>
              <a:spcAft>
                <a:spcPts val="0"/>
              </a:spcAft>
              <a:buSzPts val="1100"/>
              <a:buChar char="●"/>
            </a:pPr>
            <a:r>
              <a:rPr lang="en"/>
              <a:t>Still VERY useful and increases accessibility and efficiency in the workflow!</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VGrid Editor (this one is the most simple)</a:t>
            </a:r>
            <a:endParaRPr/>
          </a:p>
          <a:p>
            <a:pPr indent="-298450" lvl="0" marL="457200" rtl="0" algn="l">
              <a:lnSpc>
                <a:spcPct val="100000"/>
              </a:lnSpc>
              <a:spcBef>
                <a:spcPts val="0"/>
              </a:spcBef>
              <a:spcAft>
                <a:spcPts val="0"/>
              </a:spcAft>
              <a:buSzPts val="1100"/>
              <a:buChar char="●"/>
            </a:pPr>
            <a:r>
              <a:rPr lang="en"/>
              <a:t>Very similar to the </a:t>
            </a:r>
            <a:r>
              <a:rPr lang="en"/>
              <a:t>Grid Editor</a:t>
            </a:r>
            <a:r>
              <a:rPr lang="en"/>
              <a:t>, except you are now changing the vertical grid profile.</a:t>
            </a:r>
            <a:endParaRPr/>
          </a:p>
        </p:txBody>
      </p:sp>
      <p:sp>
        <p:nvSpPr>
          <p:cNvPr id="188" name="Google Shape;188;g3707258973f_0_112: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07258973f_0_123: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Walk through the Case Assembler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(when it gets to the part where I select the forcing config) Final step: Ocean Forcing Data</a:t>
            </a:r>
            <a:endParaRPr/>
          </a:p>
          <a:p>
            <a:pPr indent="-298450" lvl="0" marL="457200" rtl="0" algn="l">
              <a:lnSpc>
                <a:spcPct val="100000"/>
              </a:lnSpc>
              <a:spcBef>
                <a:spcPts val="0"/>
              </a:spcBef>
              <a:spcAft>
                <a:spcPts val="0"/>
              </a:spcAft>
              <a:buSzPts val="1100"/>
              <a:buChar char="●"/>
            </a:pPr>
            <a:r>
              <a:rPr lang="en"/>
              <a:t>With reproducibility added to the generation of a domain, as well as case creation, our final step involves adding reproducibility to the preparation of forcing data.</a:t>
            </a:r>
            <a:endParaRPr/>
          </a:p>
          <a:p>
            <a:pPr indent="-298450" lvl="0" marL="457200" rtl="0" algn="l">
              <a:lnSpc>
                <a:spcPct val="100000"/>
              </a:lnSpc>
              <a:spcBef>
                <a:spcPts val="0"/>
              </a:spcBef>
              <a:spcAft>
                <a:spcPts val="0"/>
              </a:spcAft>
              <a:buSzPts val="1100"/>
              <a:buChar char="●"/>
            </a:pPr>
            <a:r>
              <a:rPr lang="en"/>
              <a:t>Forcing data: Atmospheric and freshwater </a:t>
            </a:r>
            <a:r>
              <a:rPr lang="en"/>
              <a:t>inputs</a:t>
            </a:r>
            <a:r>
              <a:rPr lang="en"/>
              <a:t> used to drive ocean models – simulating ocean circulation and other processes.</a:t>
            </a:r>
            <a:endParaRPr/>
          </a:p>
          <a:p>
            <a:pPr indent="-298450" lvl="0" marL="457200" rtl="0" algn="l">
              <a:lnSpc>
                <a:spcPct val="100000"/>
              </a:lnSpc>
              <a:spcBef>
                <a:spcPts val="0"/>
              </a:spcBef>
              <a:spcAft>
                <a:spcPts val="0"/>
              </a:spcAft>
              <a:buSzPts val="1100"/>
              <a:buChar char="●"/>
            </a:pPr>
            <a:r>
              <a:rPr lang="en"/>
              <a:t>In the setup of a regional ocean model, this involves having some forcing configuration.</a:t>
            </a:r>
            <a:endParaRPr/>
          </a:p>
          <a:p>
            <a:pPr indent="-298450" lvl="1" marL="914400" rtl="0" algn="l">
              <a:lnSpc>
                <a:spcPct val="100000"/>
              </a:lnSpc>
              <a:spcBef>
                <a:spcPts val="0"/>
              </a:spcBef>
              <a:spcAft>
                <a:spcPts val="0"/>
              </a:spcAft>
              <a:buSzPts val="1100"/>
              <a:buChar char="○"/>
            </a:pPr>
            <a:r>
              <a:rPr lang="en"/>
              <a:t>Includes ICs, OBCs, tides (and soon to be chlorophyll).</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Solution to Forcing Data</a:t>
            </a:r>
            <a:endParaRPr/>
          </a:p>
          <a:p>
            <a:pPr indent="-298450" lvl="0" marL="457200" rtl="0" algn="l">
              <a:lnSpc>
                <a:spcPct val="100000"/>
              </a:lnSpc>
              <a:spcBef>
                <a:spcPts val="0"/>
              </a:spcBef>
              <a:spcAft>
                <a:spcPts val="0"/>
              </a:spcAft>
              <a:buSzPts val="1100"/>
              <a:buChar char="●"/>
            </a:pPr>
            <a:r>
              <a:rPr lang="en"/>
              <a:t>We save a </a:t>
            </a:r>
            <a:r>
              <a:rPr lang="en"/>
              <a:t>history</a:t>
            </a:r>
            <a:r>
              <a:rPr lang="en"/>
              <a:t> of case forcing configurations in a .json file.</a:t>
            </a:r>
            <a:endParaRPr/>
          </a:p>
          <a:p>
            <a:pPr indent="-298450" lvl="0" marL="457200" rtl="0" algn="l">
              <a:lnSpc>
                <a:spcPct val="100000"/>
              </a:lnSpc>
              <a:spcBef>
                <a:spcPts val="0"/>
              </a:spcBef>
              <a:spcAft>
                <a:spcPts val="0"/>
              </a:spcAft>
              <a:buSzPts val="1100"/>
              <a:buChar char="●"/>
            </a:pPr>
            <a:r>
              <a:rPr lang="en"/>
              <a:t>Serves as a snapshot of the full forcing configuration – users no longer have to worry about trying to create any previous forcing configuration they used from scratch!</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All ingredients are ready!</a:t>
            </a:r>
            <a:endParaRPr/>
          </a:p>
          <a:p>
            <a:pPr indent="-298450" lvl="0" marL="457200" rtl="0" algn="l">
              <a:lnSpc>
                <a:spcPct val="100000"/>
              </a:lnSpc>
              <a:spcBef>
                <a:spcPts val="0"/>
              </a:spcBef>
              <a:spcAft>
                <a:spcPts val="0"/>
              </a:spcAft>
              <a:buSzPts val="1100"/>
              <a:buChar char="●"/>
            </a:pPr>
            <a:r>
              <a:rPr lang="en"/>
              <a:t>Domain</a:t>
            </a:r>
            <a:endParaRPr/>
          </a:p>
          <a:p>
            <a:pPr indent="-298450" lvl="0" marL="457200" rtl="0" algn="l">
              <a:lnSpc>
                <a:spcPct val="100000"/>
              </a:lnSpc>
              <a:spcBef>
                <a:spcPts val="0"/>
              </a:spcBef>
              <a:spcAft>
                <a:spcPts val="0"/>
              </a:spcAft>
              <a:buSzPts val="1100"/>
              <a:buChar char="●"/>
            </a:pPr>
            <a:r>
              <a:rPr lang="en"/>
              <a:t>Case is created</a:t>
            </a:r>
            <a:endParaRPr/>
          </a:p>
          <a:p>
            <a:pPr indent="-298450" lvl="0" marL="457200" rtl="0" algn="l">
              <a:lnSpc>
                <a:spcPct val="100000"/>
              </a:lnSpc>
              <a:spcBef>
                <a:spcPts val="0"/>
              </a:spcBef>
              <a:spcAft>
                <a:spcPts val="0"/>
              </a:spcAft>
              <a:buSzPts val="1100"/>
              <a:buChar char="●"/>
            </a:pPr>
            <a:r>
              <a:rPr lang="en"/>
              <a:t>Forcing configurations</a:t>
            </a:r>
            <a:endParaRPr/>
          </a:p>
          <a:p>
            <a:pPr indent="-298450" lvl="0" marL="457200" rtl="0" algn="l">
              <a:lnSpc>
                <a:spcPct val="100000"/>
              </a:lnSpc>
              <a:spcBef>
                <a:spcPts val="0"/>
              </a:spcBef>
              <a:spcAft>
                <a:spcPts val="0"/>
              </a:spcAft>
              <a:buSzPts val="1100"/>
              <a:buChar char="●"/>
            </a:pPr>
            <a:r>
              <a:rPr lang="en"/>
              <a:t>All reproducible and saved to some sort of history!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Here’s what it looks like after configuring and processing the forcings – they’re written to a configuration file called user_nl_mom</a:t>
            </a:r>
            <a:endParaRPr/>
          </a:p>
          <a:p>
            <a:pPr indent="-298450" lvl="0" marL="457200" rtl="0" algn="l">
              <a:lnSpc>
                <a:spcPct val="100000"/>
              </a:lnSpc>
              <a:spcBef>
                <a:spcPts val="0"/>
              </a:spcBef>
              <a:spcAft>
                <a:spcPts val="0"/>
              </a:spcAft>
              <a:buSzPts val="1100"/>
              <a:buChar char="●"/>
            </a:pPr>
            <a:r>
              <a:rPr lang="en"/>
              <a:t>The case is ready to be </a:t>
            </a:r>
            <a:r>
              <a:rPr lang="en"/>
              <a:t>built</a:t>
            </a:r>
            <a:r>
              <a:rPr lang="en"/>
              <a:t> and run! We have a ready-to-go regional ocean model!</a:t>
            </a:r>
            <a:endParaRPr/>
          </a:p>
        </p:txBody>
      </p:sp>
      <p:sp>
        <p:nvSpPr>
          <p:cNvPr id="200" name="Google Shape;200;g3707258973f_0_123: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10971480f_1_4: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Walk through the Case Assembler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(when it gets to the part where I select the forcing config) Final step: Ocean Forcing Data</a:t>
            </a:r>
            <a:endParaRPr/>
          </a:p>
          <a:p>
            <a:pPr indent="-298450" lvl="0" marL="457200" rtl="0" algn="l">
              <a:lnSpc>
                <a:spcPct val="100000"/>
              </a:lnSpc>
              <a:spcBef>
                <a:spcPts val="0"/>
              </a:spcBef>
              <a:spcAft>
                <a:spcPts val="0"/>
              </a:spcAft>
              <a:buSzPts val="1100"/>
              <a:buChar char="●"/>
            </a:pPr>
            <a:r>
              <a:rPr lang="en"/>
              <a:t>With reproducibility added to the generation of a domain, as well as case creation, our final step involves adding reproducibility to the preparation of forcing data.</a:t>
            </a:r>
            <a:endParaRPr/>
          </a:p>
          <a:p>
            <a:pPr indent="-298450" lvl="0" marL="457200" rtl="0" algn="l">
              <a:lnSpc>
                <a:spcPct val="100000"/>
              </a:lnSpc>
              <a:spcBef>
                <a:spcPts val="0"/>
              </a:spcBef>
              <a:spcAft>
                <a:spcPts val="0"/>
              </a:spcAft>
              <a:buSzPts val="1100"/>
              <a:buChar char="●"/>
            </a:pPr>
            <a:r>
              <a:rPr lang="en"/>
              <a:t>Forcing data: Atmospheric and freshwater inputs used to drive ocean models – simulating ocean circulation and other processes.</a:t>
            </a:r>
            <a:endParaRPr/>
          </a:p>
          <a:p>
            <a:pPr indent="-298450" lvl="0" marL="457200" rtl="0" algn="l">
              <a:lnSpc>
                <a:spcPct val="100000"/>
              </a:lnSpc>
              <a:spcBef>
                <a:spcPts val="0"/>
              </a:spcBef>
              <a:spcAft>
                <a:spcPts val="0"/>
              </a:spcAft>
              <a:buSzPts val="1100"/>
              <a:buChar char="●"/>
            </a:pPr>
            <a:r>
              <a:rPr lang="en"/>
              <a:t>In the setup of a regional ocean model, this involves having some forcing configuration.</a:t>
            </a:r>
            <a:endParaRPr/>
          </a:p>
          <a:p>
            <a:pPr indent="-298450" lvl="1" marL="914400" rtl="0" algn="l">
              <a:lnSpc>
                <a:spcPct val="100000"/>
              </a:lnSpc>
              <a:spcBef>
                <a:spcPts val="0"/>
              </a:spcBef>
              <a:spcAft>
                <a:spcPts val="0"/>
              </a:spcAft>
              <a:buSzPts val="1100"/>
              <a:buChar char="○"/>
            </a:pPr>
            <a:r>
              <a:rPr lang="en"/>
              <a:t>Includes ICs, OBCs, tides (and soon to be chlorophyll).</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Solution to Forcing Data</a:t>
            </a:r>
            <a:endParaRPr/>
          </a:p>
          <a:p>
            <a:pPr indent="-298450" lvl="0" marL="457200" rtl="0" algn="l">
              <a:lnSpc>
                <a:spcPct val="100000"/>
              </a:lnSpc>
              <a:spcBef>
                <a:spcPts val="0"/>
              </a:spcBef>
              <a:spcAft>
                <a:spcPts val="0"/>
              </a:spcAft>
              <a:buSzPts val="1100"/>
              <a:buChar char="●"/>
            </a:pPr>
            <a:r>
              <a:rPr lang="en"/>
              <a:t>We save a history of case forcing configurations in a .json file.</a:t>
            </a:r>
            <a:endParaRPr/>
          </a:p>
          <a:p>
            <a:pPr indent="-298450" lvl="0" marL="457200" rtl="0" algn="l">
              <a:lnSpc>
                <a:spcPct val="100000"/>
              </a:lnSpc>
              <a:spcBef>
                <a:spcPts val="0"/>
              </a:spcBef>
              <a:spcAft>
                <a:spcPts val="0"/>
              </a:spcAft>
              <a:buSzPts val="1100"/>
              <a:buChar char="●"/>
            </a:pPr>
            <a:r>
              <a:rPr lang="en"/>
              <a:t>Serves as a snapshot of the full forcing configuration – users no longer have to worry about trying to create any previous forcing configuration they used from scratch!</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All ingredients are ready!</a:t>
            </a:r>
            <a:endParaRPr/>
          </a:p>
          <a:p>
            <a:pPr indent="-298450" lvl="0" marL="457200" rtl="0" algn="l">
              <a:lnSpc>
                <a:spcPct val="100000"/>
              </a:lnSpc>
              <a:spcBef>
                <a:spcPts val="0"/>
              </a:spcBef>
              <a:spcAft>
                <a:spcPts val="0"/>
              </a:spcAft>
              <a:buSzPts val="1100"/>
              <a:buChar char="●"/>
            </a:pPr>
            <a:r>
              <a:rPr lang="en"/>
              <a:t>Domain</a:t>
            </a:r>
            <a:endParaRPr/>
          </a:p>
          <a:p>
            <a:pPr indent="-298450" lvl="0" marL="457200" rtl="0" algn="l">
              <a:lnSpc>
                <a:spcPct val="100000"/>
              </a:lnSpc>
              <a:spcBef>
                <a:spcPts val="0"/>
              </a:spcBef>
              <a:spcAft>
                <a:spcPts val="0"/>
              </a:spcAft>
              <a:buSzPts val="1100"/>
              <a:buChar char="●"/>
            </a:pPr>
            <a:r>
              <a:rPr lang="en"/>
              <a:t>Case is created</a:t>
            </a:r>
            <a:endParaRPr/>
          </a:p>
          <a:p>
            <a:pPr indent="-298450" lvl="0" marL="457200" rtl="0" algn="l">
              <a:lnSpc>
                <a:spcPct val="100000"/>
              </a:lnSpc>
              <a:spcBef>
                <a:spcPts val="0"/>
              </a:spcBef>
              <a:spcAft>
                <a:spcPts val="0"/>
              </a:spcAft>
              <a:buSzPts val="1100"/>
              <a:buChar char="●"/>
            </a:pPr>
            <a:r>
              <a:rPr lang="en"/>
              <a:t>Forcing configurations</a:t>
            </a:r>
            <a:endParaRPr/>
          </a:p>
          <a:p>
            <a:pPr indent="-298450" lvl="0" marL="457200" rtl="0" algn="l">
              <a:lnSpc>
                <a:spcPct val="100000"/>
              </a:lnSpc>
              <a:spcBef>
                <a:spcPts val="0"/>
              </a:spcBef>
              <a:spcAft>
                <a:spcPts val="0"/>
              </a:spcAft>
              <a:buSzPts val="1100"/>
              <a:buChar char="●"/>
            </a:pPr>
            <a:r>
              <a:rPr lang="en"/>
              <a:t>All reproducible and saved to some sort of history!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Here’s what it looks like after configuring and processing the forcings – they’re written to a configuration file called user_nl_mom</a:t>
            </a:r>
            <a:endParaRPr/>
          </a:p>
          <a:p>
            <a:pPr indent="-298450" lvl="0" marL="457200" rtl="0" algn="l">
              <a:lnSpc>
                <a:spcPct val="100000"/>
              </a:lnSpc>
              <a:spcBef>
                <a:spcPts val="0"/>
              </a:spcBef>
              <a:spcAft>
                <a:spcPts val="0"/>
              </a:spcAft>
              <a:buSzPts val="1100"/>
              <a:buChar char="●"/>
            </a:pPr>
            <a:r>
              <a:rPr lang="en"/>
              <a:t>The case is ready to be built and run! We have a ready-to-go regional ocean model!</a:t>
            </a:r>
            <a:endParaRPr/>
          </a:p>
        </p:txBody>
      </p:sp>
      <p:sp>
        <p:nvSpPr>
          <p:cNvPr id="211" name="Google Shape;211;g3710971480f_1_4: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07258973f_0_146: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298450" lvl="0" marL="457200" rtl="0" algn="l">
              <a:lnSpc>
                <a:spcPct val="100000"/>
              </a:lnSpc>
              <a:spcBef>
                <a:spcPts val="0"/>
              </a:spcBef>
              <a:spcAft>
                <a:spcPts val="0"/>
              </a:spcAft>
              <a:buSzPts val="1100"/>
              <a:buAutoNum type="arabicPeriod"/>
            </a:pPr>
            <a:r>
              <a:rPr lang="en"/>
              <a:t>Reproducibility is built, not assumed.</a:t>
            </a:r>
            <a:endParaRPr/>
          </a:p>
          <a:p>
            <a:pPr indent="-298450" lvl="1" marL="914400" rtl="0" algn="l">
              <a:lnSpc>
                <a:spcPct val="100000"/>
              </a:lnSpc>
              <a:spcBef>
                <a:spcPts val="0"/>
              </a:spcBef>
              <a:spcAft>
                <a:spcPts val="0"/>
              </a:spcAft>
              <a:buSzPts val="1100"/>
              <a:buAutoNum type="alphaLcPeriod"/>
            </a:pPr>
            <a:r>
              <a:rPr lang="en"/>
              <a:t>Scientific reproducibility is more than just a post-processing step of a workflow. It’s even more than just having a history and log of actions and changes a user has made.</a:t>
            </a:r>
            <a:endParaRPr/>
          </a:p>
          <a:p>
            <a:pPr indent="-298450" lvl="1" marL="914400" rtl="0" algn="l">
              <a:lnSpc>
                <a:spcPct val="100000"/>
              </a:lnSpc>
              <a:spcBef>
                <a:spcPts val="0"/>
              </a:spcBef>
              <a:spcAft>
                <a:spcPts val="0"/>
              </a:spcAft>
              <a:buSzPts val="1100"/>
              <a:buAutoNum type="alphaLcPeriod"/>
            </a:pPr>
            <a:r>
              <a:rPr lang="en"/>
              <a:t>It includes modular, testable code and features that promote workflow provenance, traceability, and shareability.</a:t>
            </a:r>
            <a:endParaRPr/>
          </a:p>
          <a:p>
            <a:pPr indent="-298450" lvl="1" marL="914400" rtl="0" algn="l">
              <a:lnSpc>
                <a:spcPct val="100000"/>
              </a:lnSpc>
              <a:spcBef>
                <a:spcPts val="0"/>
              </a:spcBef>
              <a:spcAft>
                <a:spcPts val="0"/>
              </a:spcAft>
              <a:buSzPts val="1100"/>
              <a:buAutoNum type="alphaLcPeriod"/>
            </a:pPr>
            <a:r>
              <a:rPr lang="en"/>
              <a:t>Reproducibility is now a core feature of CrocoDash, not an afterthought.</a:t>
            </a:r>
            <a:endParaRPr/>
          </a:p>
          <a:p>
            <a:pPr indent="-298450" lvl="0" marL="457200" rtl="0" algn="l">
              <a:lnSpc>
                <a:spcPct val="100000"/>
              </a:lnSpc>
              <a:spcBef>
                <a:spcPts val="0"/>
              </a:spcBef>
              <a:spcAft>
                <a:spcPts val="0"/>
              </a:spcAft>
              <a:buSzPts val="1100"/>
              <a:buAutoNum type="arabicPeriod"/>
            </a:pPr>
            <a:r>
              <a:rPr lang="en"/>
              <a:t>Refactoring enables reliability and </a:t>
            </a:r>
            <a:r>
              <a:rPr lang="en"/>
              <a:t>extensibility</a:t>
            </a:r>
            <a:r>
              <a:rPr lang="en"/>
              <a:t>.</a:t>
            </a:r>
            <a:endParaRPr/>
          </a:p>
          <a:p>
            <a:pPr indent="-298450" lvl="1" marL="914400" rtl="0" algn="l">
              <a:lnSpc>
                <a:spcPct val="100000"/>
              </a:lnSpc>
              <a:spcBef>
                <a:spcPts val="0"/>
              </a:spcBef>
              <a:spcAft>
                <a:spcPts val="0"/>
              </a:spcAft>
              <a:buSzPts val="1100"/>
              <a:buAutoNum type="alphaLcPeriod"/>
            </a:pPr>
            <a:r>
              <a:rPr lang="en"/>
              <a:t>It’s easy to go fast and develop features at a rapid pace, but in the context of production and working on large teams, it’s essential to not overextend.</a:t>
            </a:r>
            <a:endParaRPr/>
          </a:p>
          <a:p>
            <a:pPr indent="-298450" lvl="1" marL="914400" rtl="0" algn="l">
              <a:lnSpc>
                <a:spcPct val="100000"/>
              </a:lnSpc>
              <a:spcBef>
                <a:spcPts val="0"/>
              </a:spcBef>
              <a:spcAft>
                <a:spcPts val="0"/>
              </a:spcAft>
              <a:buSzPts val="1100"/>
              <a:buAutoNum type="alphaLcPeriod"/>
            </a:pPr>
            <a:r>
              <a:rPr lang="en"/>
              <a:t>To not overextend means keeping an eye on your footprint – your code footprint that is.</a:t>
            </a:r>
            <a:endParaRPr/>
          </a:p>
          <a:p>
            <a:pPr indent="-298450" lvl="1" marL="914400" rtl="0" algn="l">
              <a:lnSpc>
                <a:spcPct val="100000"/>
              </a:lnSpc>
              <a:spcBef>
                <a:spcPts val="0"/>
              </a:spcBef>
              <a:spcAft>
                <a:spcPts val="0"/>
              </a:spcAft>
              <a:buSzPts val="1100"/>
              <a:buAutoNum type="alphaLcPeriod"/>
            </a:pPr>
            <a:r>
              <a:rPr lang="en"/>
              <a:t>Refactoring is the means by which we can maintain these features in the long run.</a:t>
            </a:r>
            <a:endParaRPr/>
          </a:p>
          <a:p>
            <a:pPr indent="-298450" lvl="0" marL="457200" rtl="0" algn="l">
              <a:lnSpc>
                <a:spcPct val="100000"/>
              </a:lnSpc>
              <a:spcBef>
                <a:spcPts val="0"/>
              </a:spcBef>
              <a:spcAft>
                <a:spcPts val="0"/>
              </a:spcAft>
              <a:buSzPts val="1100"/>
              <a:buAutoNum type="arabicPeriod"/>
            </a:pPr>
            <a:r>
              <a:rPr lang="en"/>
              <a:t>Reproducibility isn’t just good practice, it’s good science.</a:t>
            </a:r>
            <a:endParaRPr/>
          </a:p>
          <a:p>
            <a:pPr indent="-298450" lvl="1" marL="914400" rtl="0" algn="l">
              <a:lnSpc>
                <a:spcPct val="100000"/>
              </a:lnSpc>
              <a:spcBef>
                <a:spcPts val="0"/>
              </a:spcBef>
              <a:spcAft>
                <a:spcPts val="0"/>
              </a:spcAft>
              <a:buSzPts val="1100"/>
              <a:buAutoNum type="alphaLcPeriod"/>
            </a:pPr>
            <a:r>
              <a:rPr lang="en"/>
              <a:t>Open science is more important than ever.</a:t>
            </a:r>
            <a:endParaRPr/>
          </a:p>
          <a:p>
            <a:pPr indent="-298450" lvl="1" marL="914400" rtl="0" algn="l">
              <a:lnSpc>
                <a:spcPct val="100000"/>
              </a:lnSpc>
              <a:spcBef>
                <a:spcPts val="0"/>
              </a:spcBef>
              <a:spcAft>
                <a:spcPts val="0"/>
              </a:spcAft>
              <a:buSzPts val="1100"/>
              <a:buAutoNum type="alphaLcPeriod"/>
            </a:pPr>
            <a:r>
              <a:rPr lang="en"/>
              <a:t>Sharing transparent workflows can allow us to tackle scientific questions and understand our ways of tackling them.</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222" name="Google Shape;222;g3707258973f_0_146: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707258973f_0_154: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a:t>Documentation</a:t>
            </a:r>
            <a:endParaRPr/>
          </a:p>
          <a:p>
            <a:pPr indent="-298450" lvl="0" marL="457200" rtl="0" algn="l">
              <a:lnSpc>
                <a:spcPct val="100000"/>
              </a:lnSpc>
              <a:spcBef>
                <a:spcPts val="0"/>
              </a:spcBef>
              <a:spcAft>
                <a:spcPts val="0"/>
              </a:spcAft>
              <a:buSzPts val="1100"/>
              <a:buChar char="●"/>
            </a:pPr>
            <a:r>
              <a:rPr lang="en"/>
              <a:t>Jupyter notebook development for documentation and user knowledge</a:t>
            </a:r>
            <a:endParaRPr/>
          </a:p>
          <a:p>
            <a:pPr indent="-298450" lvl="0" marL="457200" rtl="0" algn="l">
              <a:lnSpc>
                <a:spcPct val="100000"/>
              </a:lnSpc>
              <a:spcBef>
                <a:spcPts val="0"/>
              </a:spcBef>
              <a:spcAft>
                <a:spcPts val="0"/>
              </a:spcAft>
              <a:buSzPts val="1100"/>
              <a:buChar char="●"/>
            </a:pPr>
            <a:r>
              <a:rPr lang="en"/>
              <a:t>Create scientifically relevant use-cases for reproducibility</a:t>
            </a:r>
            <a:endParaRPr/>
          </a:p>
          <a:p>
            <a:pPr indent="-298450" lvl="0" marL="457200" rtl="0" algn="l">
              <a:lnSpc>
                <a:spcPct val="100000"/>
              </a:lnSpc>
              <a:spcBef>
                <a:spcPts val="0"/>
              </a:spcBef>
              <a:spcAft>
                <a:spcPts val="0"/>
              </a:spcAft>
              <a:buSzPts val="1100"/>
              <a:buChar char="●"/>
            </a:pPr>
            <a:r>
              <a:rPr lang="en"/>
              <a:t>Showcase each component (object configurators, Case Assembler, and more)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Testing</a:t>
            </a:r>
            <a:endParaRPr/>
          </a:p>
          <a:p>
            <a:pPr indent="-298450" lvl="0" marL="457200" rtl="0" algn="l">
              <a:lnSpc>
                <a:spcPct val="100000"/>
              </a:lnSpc>
              <a:spcBef>
                <a:spcPts val="0"/>
              </a:spcBef>
              <a:spcAft>
                <a:spcPts val="0"/>
              </a:spcAft>
              <a:buSzPts val="1100"/>
              <a:buChar char="●"/>
            </a:pPr>
            <a:r>
              <a:rPr lang="en"/>
              <a:t>Write unit tests for key components in the configurators as well as in Case Assembler</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Extending Features</a:t>
            </a:r>
            <a:endParaRPr/>
          </a:p>
          <a:p>
            <a:pPr indent="-298450" lvl="0" marL="457200" rtl="0" algn="l">
              <a:lnSpc>
                <a:spcPct val="100000"/>
              </a:lnSpc>
              <a:spcBef>
                <a:spcPts val="0"/>
              </a:spcBef>
              <a:spcAft>
                <a:spcPts val="0"/>
              </a:spcAft>
              <a:buSzPts val="1100"/>
              <a:buChar char="●"/>
            </a:pPr>
            <a:r>
              <a:rPr lang="en"/>
              <a:t>Extend features to support curvilinear grids and other modifications and changes that can be made to Cases</a:t>
            </a:r>
            <a:endParaRPr/>
          </a:p>
        </p:txBody>
      </p:sp>
      <p:sp>
        <p:nvSpPr>
          <p:cNvPr id="233" name="Google Shape;233;g3707258973f_0_154: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707258973f_0_161: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t/>
            </a:r>
            <a:endParaRPr/>
          </a:p>
        </p:txBody>
      </p:sp>
      <p:sp>
        <p:nvSpPr>
          <p:cNvPr id="246" name="Google Shape;246;g3707258973f_0_161: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4133ab9ee_2_0:notes"/>
          <p:cNvSpPr txBox="1"/>
          <p:nvPr>
            <p:ph idx="1" type="body"/>
          </p:nvPr>
        </p:nvSpPr>
        <p:spPr>
          <a:xfrm>
            <a:off x="685800" y="4400550"/>
            <a:ext cx="5486400" cy="36006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t/>
            </a:r>
            <a:endParaRPr/>
          </a:p>
        </p:txBody>
      </p:sp>
      <p:sp>
        <p:nvSpPr>
          <p:cNvPr id="256" name="Google Shape;256;g384133ab9ee_2_0:notes"/>
          <p:cNvSpPr/>
          <p:nvPr>
            <p:ph idx="2" type="sldImg"/>
          </p:nvPr>
        </p:nvSpPr>
        <p:spPr>
          <a:xfrm>
            <a:off x="701951" y="1143000"/>
            <a:ext cx="5454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7" name="Shape 57"/>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4" name="Shape 64"/>
        <p:cNvGrpSpPr/>
        <p:nvPr/>
      </p:nvGrpSpPr>
      <p:grpSpPr>
        <a:xfrm>
          <a:off x="0" y="0"/>
          <a:ext cx="0" cy="0"/>
          <a:chOff x="0" y="0"/>
          <a:chExt cx="0" cy="0"/>
        </a:xfrm>
      </p:grpSpPr>
      <p:sp>
        <p:nvSpPr>
          <p:cNvPr id="65" name="Google Shape;65;p16"/>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chemeClr val="lt1"/>
              </a:buClr>
              <a:buSzPts val="1700"/>
              <a:buNone/>
              <a:defRPr i="0" sz="1700" u="none" cap="none" strike="noStrike">
                <a:solidFill>
                  <a:schemeClr val="lt1"/>
                </a:solidFil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66" name="Google Shape;66;p16"/>
          <p:cNvSpPr txBox="1"/>
          <p:nvPr>
            <p:ph idx="1" type="body"/>
          </p:nvPr>
        </p:nvSpPr>
        <p:spPr>
          <a:xfrm>
            <a:off x="457202" y="1631156"/>
            <a:ext cx="4040100" cy="2963400"/>
          </a:xfrm>
          <a:prstGeom prst="rect">
            <a:avLst/>
          </a:prstGeom>
          <a:noFill/>
          <a:ln>
            <a:noFill/>
          </a:ln>
        </p:spPr>
        <p:txBody>
          <a:bodyPr anchorCtr="0" anchor="t" bIns="34275" lIns="68575" spcFirstLastPara="1" rIns="68575" wrap="square" tIns="34275">
            <a:noAutofit/>
          </a:bodyPr>
          <a:lstStyle>
            <a:lvl1pPr indent="-311150" lvl="0" marL="457200" marR="0" algn="l">
              <a:lnSpc>
                <a:spcPct val="100000"/>
              </a:lnSpc>
              <a:spcBef>
                <a:spcPts val="300"/>
              </a:spcBef>
              <a:spcAft>
                <a:spcPts val="0"/>
              </a:spcAft>
              <a:buSzPts val="1300"/>
              <a:buChar char="•"/>
              <a:defRPr i="0" sz="1300" u="none" cap="none" strike="noStrike"/>
            </a:lvl1pPr>
            <a:lvl2pPr indent="-304800" lvl="1" marL="914400" marR="0" algn="l">
              <a:lnSpc>
                <a:spcPct val="100000"/>
              </a:lnSpc>
              <a:spcBef>
                <a:spcPts val="200"/>
              </a:spcBef>
              <a:spcAft>
                <a:spcPts val="0"/>
              </a:spcAft>
              <a:buSzPts val="1200"/>
              <a:buChar char="–"/>
              <a:defRPr i="0" sz="1200" u="none" cap="none" strike="noStrike"/>
            </a:lvl2pPr>
            <a:lvl3pPr indent="-298450" lvl="2" marL="1371600" marR="0" algn="l">
              <a:lnSpc>
                <a:spcPct val="100000"/>
              </a:lnSpc>
              <a:spcBef>
                <a:spcPts val="200"/>
              </a:spcBef>
              <a:spcAft>
                <a:spcPts val="0"/>
              </a:spcAft>
              <a:buSzPts val="1100"/>
              <a:buChar char="•"/>
              <a:defRPr i="0" sz="1100" u="none" cap="none" strike="noStrike"/>
            </a:lvl3pPr>
            <a:lvl4pPr indent="-285750" lvl="3" marL="1828800" marR="0" algn="l">
              <a:lnSpc>
                <a:spcPct val="100000"/>
              </a:lnSpc>
              <a:spcBef>
                <a:spcPts val="200"/>
              </a:spcBef>
              <a:spcAft>
                <a:spcPts val="0"/>
              </a:spcAft>
              <a:buSzPts val="900"/>
              <a:buChar char="–"/>
              <a:defRPr i="0" sz="900" u="none" cap="none" strike="noStrike"/>
            </a:lvl4pPr>
            <a:lvl5pPr indent="-279400" lvl="4" marL="2286000" marR="0" algn="l">
              <a:lnSpc>
                <a:spcPct val="100000"/>
              </a:lnSpc>
              <a:spcBef>
                <a:spcPts val="200"/>
              </a:spcBef>
              <a:spcAft>
                <a:spcPts val="0"/>
              </a:spcAft>
              <a:buSzPts val="800"/>
              <a:buChar char="»"/>
              <a:defRPr i="0" sz="800" u="none" cap="none" strike="noStrike"/>
            </a:lvl5pPr>
            <a:lvl6pPr indent="-298450" lvl="5" marL="2743200" marR="0" algn="l">
              <a:lnSpc>
                <a:spcPct val="100000"/>
              </a:lnSpc>
              <a:spcBef>
                <a:spcPts val="200"/>
              </a:spcBef>
              <a:spcAft>
                <a:spcPts val="0"/>
              </a:spcAft>
              <a:buSzPts val="1100"/>
              <a:buChar char="•"/>
              <a:defRPr i="0" sz="1100" u="none" cap="none" strike="noStrike"/>
            </a:lvl6pPr>
            <a:lvl7pPr indent="-298450" lvl="6" marL="3200400" marR="0" algn="l">
              <a:lnSpc>
                <a:spcPct val="100000"/>
              </a:lnSpc>
              <a:spcBef>
                <a:spcPts val="200"/>
              </a:spcBef>
              <a:spcAft>
                <a:spcPts val="0"/>
              </a:spcAft>
              <a:buSzPts val="1100"/>
              <a:buChar char="•"/>
              <a:defRPr i="0" sz="1100" u="none" cap="none" strike="noStrike"/>
            </a:lvl7pPr>
            <a:lvl8pPr indent="-298450" lvl="7" marL="3657600" marR="0" algn="l">
              <a:lnSpc>
                <a:spcPct val="100000"/>
              </a:lnSpc>
              <a:spcBef>
                <a:spcPts val="200"/>
              </a:spcBef>
              <a:spcAft>
                <a:spcPts val="0"/>
              </a:spcAft>
              <a:buSzPts val="1100"/>
              <a:buChar char="•"/>
              <a:defRPr i="0" sz="1100" u="none" cap="none" strike="noStrike"/>
            </a:lvl8pPr>
            <a:lvl9pPr indent="-298450" lvl="8" marL="4114800" marR="0" algn="l">
              <a:lnSpc>
                <a:spcPct val="100000"/>
              </a:lnSpc>
              <a:spcBef>
                <a:spcPts val="200"/>
              </a:spcBef>
              <a:spcAft>
                <a:spcPts val="0"/>
              </a:spcAft>
              <a:buSzPts val="1100"/>
              <a:buChar char="•"/>
              <a:defRPr i="0" sz="1100" u="none" cap="none" strike="noStrike"/>
            </a:lvl9pPr>
          </a:lstStyle>
          <a:p/>
        </p:txBody>
      </p:sp>
      <p:sp>
        <p:nvSpPr>
          <p:cNvPr id="67" name="Google Shape;67;p16"/>
          <p:cNvSpPr txBox="1"/>
          <p:nvPr>
            <p:ph idx="2" type="body"/>
          </p:nvPr>
        </p:nvSpPr>
        <p:spPr>
          <a:xfrm>
            <a:off x="4645035" y="1631156"/>
            <a:ext cx="4041600" cy="2963400"/>
          </a:xfrm>
          <a:prstGeom prst="rect">
            <a:avLst/>
          </a:prstGeom>
          <a:noFill/>
          <a:ln>
            <a:noFill/>
          </a:ln>
        </p:spPr>
        <p:txBody>
          <a:bodyPr anchorCtr="0" anchor="t" bIns="34275" lIns="68575" spcFirstLastPara="1" rIns="68575" wrap="square" tIns="34275">
            <a:noAutofit/>
          </a:bodyPr>
          <a:lstStyle>
            <a:lvl1pPr indent="-311150" lvl="0" marL="457200" marR="0" algn="l">
              <a:lnSpc>
                <a:spcPct val="100000"/>
              </a:lnSpc>
              <a:spcBef>
                <a:spcPts val="300"/>
              </a:spcBef>
              <a:spcAft>
                <a:spcPts val="0"/>
              </a:spcAft>
              <a:buSzPts val="1300"/>
              <a:buChar char="•"/>
              <a:defRPr i="0" sz="1300" u="none" cap="none" strike="noStrike"/>
            </a:lvl1pPr>
            <a:lvl2pPr indent="-304800" lvl="1" marL="914400" marR="0" algn="l">
              <a:lnSpc>
                <a:spcPct val="100000"/>
              </a:lnSpc>
              <a:spcBef>
                <a:spcPts val="200"/>
              </a:spcBef>
              <a:spcAft>
                <a:spcPts val="0"/>
              </a:spcAft>
              <a:buSzPts val="1200"/>
              <a:buChar char="–"/>
              <a:defRPr i="0" sz="1200" u="none" cap="none" strike="noStrike"/>
            </a:lvl2pPr>
            <a:lvl3pPr indent="-298450" lvl="2" marL="1371600" marR="0" algn="l">
              <a:lnSpc>
                <a:spcPct val="100000"/>
              </a:lnSpc>
              <a:spcBef>
                <a:spcPts val="200"/>
              </a:spcBef>
              <a:spcAft>
                <a:spcPts val="0"/>
              </a:spcAft>
              <a:buSzPts val="1100"/>
              <a:buChar char="•"/>
              <a:defRPr i="0" sz="1100" u="none" cap="none" strike="noStrike"/>
            </a:lvl3pPr>
            <a:lvl4pPr indent="-285750" lvl="3" marL="1828800" marR="0" algn="l">
              <a:lnSpc>
                <a:spcPct val="100000"/>
              </a:lnSpc>
              <a:spcBef>
                <a:spcPts val="200"/>
              </a:spcBef>
              <a:spcAft>
                <a:spcPts val="0"/>
              </a:spcAft>
              <a:buSzPts val="900"/>
              <a:buChar char="–"/>
              <a:defRPr i="0" sz="900" u="none" cap="none" strike="noStrike"/>
            </a:lvl4pPr>
            <a:lvl5pPr indent="-279400" lvl="4" marL="2286000" marR="0" algn="l">
              <a:lnSpc>
                <a:spcPct val="100000"/>
              </a:lnSpc>
              <a:spcBef>
                <a:spcPts val="200"/>
              </a:spcBef>
              <a:spcAft>
                <a:spcPts val="0"/>
              </a:spcAft>
              <a:buSzPts val="800"/>
              <a:buChar char="»"/>
              <a:defRPr i="0" sz="800" u="none" cap="none" strike="noStrike"/>
            </a:lvl5pPr>
            <a:lvl6pPr indent="-298450" lvl="5" marL="2743200" marR="0" algn="l">
              <a:lnSpc>
                <a:spcPct val="100000"/>
              </a:lnSpc>
              <a:spcBef>
                <a:spcPts val="200"/>
              </a:spcBef>
              <a:spcAft>
                <a:spcPts val="0"/>
              </a:spcAft>
              <a:buSzPts val="1100"/>
              <a:buChar char="•"/>
              <a:defRPr i="0" sz="1100" u="none" cap="none" strike="noStrike"/>
            </a:lvl6pPr>
            <a:lvl7pPr indent="-298450" lvl="6" marL="3200400" marR="0" algn="l">
              <a:lnSpc>
                <a:spcPct val="100000"/>
              </a:lnSpc>
              <a:spcBef>
                <a:spcPts val="200"/>
              </a:spcBef>
              <a:spcAft>
                <a:spcPts val="0"/>
              </a:spcAft>
              <a:buSzPts val="1100"/>
              <a:buChar char="•"/>
              <a:defRPr i="0" sz="1100" u="none" cap="none" strike="noStrike"/>
            </a:lvl7pPr>
            <a:lvl8pPr indent="-298450" lvl="7" marL="3657600" marR="0" algn="l">
              <a:lnSpc>
                <a:spcPct val="100000"/>
              </a:lnSpc>
              <a:spcBef>
                <a:spcPts val="200"/>
              </a:spcBef>
              <a:spcAft>
                <a:spcPts val="0"/>
              </a:spcAft>
              <a:buSzPts val="1100"/>
              <a:buChar char="•"/>
              <a:defRPr i="0" sz="1100" u="none" cap="none" strike="noStrike"/>
            </a:lvl8pPr>
            <a:lvl9pPr indent="-298450" lvl="8" marL="4114800" marR="0" algn="l">
              <a:lnSpc>
                <a:spcPct val="100000"/>
              </a:lnSpc>
              <a:spcBef>
                <a:spcPts val="200"/>
              </a:spcBef>
              <a:spcAft>
                <a:spcPts val="0"/>
              </a:spcAft>
              <a:buSzPts val="1100"/>
              <a:buChar char="•"/>
              <a:defRPr i="0" sz="1100" u="none" cap="none" strike="noStrike"/>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17"/>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chemeClr val="lt1"/>
              </a:buClr>
              <a:buSzPts val="1700"/>
              <a:buNone/>
              <a:defRPr i="0" sz="1700" u="none" cap="none" strike="noStrike">
                <a:solidFill>
                  <a:schemeClr val="lt1"/>
                </a:solidFil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6.jpg"/><Relationship Id="rId2" Type="http://schemas.openxmlformats.org/officeDocument/2006/relationships/image" Target="../media/image1.png"/><Relationship Id="rId3"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5128" l="9" r="9" t="10096"/>
          <a:stretch/>
        </p:blipFill>
        <p:spPr>
          <a:xfrm>
            <a:off x="0" y="1864"/>
            <a:ext cx="9143972" cy="5169376"/>
          </a:xfrm>
          <a:prstGeom prst="rect">
            <a:avLst/>
          </a:prstGeom>
          <a:noFill/>
          <a:ln>
            <a:noFill/>
          </a:ln>
        </p:spPr>
      </p:pic>
      <p:sp>
        <p:nvSpPr>
          <p:cNvPr id="52" name="Google Shape;52;p13"/>
          <p:cNvSpPr/>
          <p:nvPr/>
        </p:nvSpPr>
        <p:spPr>
          <a:xfrm>
            <a:off x="1320" y="1711921"/>
            <a:ext cx="9142500" cy="1687200"/>
          </a:xfrm>
          <a:prstGeom prst="rect">
            <a:avLst/>
          </a:prstGeom>
          <a:solidFill>
            <a:schemeClr val="dk1">
              <a:alpha val="823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sp>
        <p:nvSpPr>
          <p:cNvPr id="53" name="Google Shape;53;p13"/>
          <p:cNvSpPr/>
          <p:nvPr/>
        </p:nvSpPr>
        <p:spPr>
          <a:xfrm>
            <a:off x="0" y="3478988"/>
            <a:ext cx="9144000" cy="1687200"/>
          </a:xfrm>
          <a:prstGeom prst="rect">
            <a:avLst/>
          </a:prstGeom>
          <a:gradFill>
            <a:gsLst>
              <a:gs pos="0">
                <a:srgbClr val="FFFFFF">
                  <a:alpha val="0"/>
                </a:srgbClr>
              </a:gs>
              <a:gs pos="100000">
                <a:srgbClr val="FFFFFF"/>
              </a:gs>
            </a:gsLst>
            <a:lin ang="5400012" scaled="0"/>
          </a:gra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 name="Google Shape;54;p13"/>
          <p:cNvSpPr/>
          <p:nvPr/>
        </p:nvSpPr>
        <p:spPr>
          <a:xfrm>
            <a:off x="1175" y="4989150"/>
            <a:ext cx="9142800" cy="177000"/>
          </a:xfrm>
          <a:prstGeom prst="rect">
            <a:avLst/>
          </a:prstGeom>
          <a:solidFill>
            <a:srgbClr val="1A658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 name="Google Shape;55;p13"/>
          <p:cNvSpPr txBox="1"/>
          <p:nvPr/>
        </p:nvSpPr>
        <p:spPr>
          <a:xfrm>
            <a:off x="503275" y="5011875"/>
            <a:ext cx="8136300" cy="1317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FFFFFF"/>
                </a:solidFill>
                <a:latin typeface="Helvetica Neue"/>
                <a:ea typeface="Helvetica Neue"/>
                <a:cs typeface="Helvetica Neue"/>
                <a:sym typeface="Helvetica Neue"/>
              </a:rPr>
              <a:t>This material is based upon work supported by the NSF National Center for Atmospheric Research, which is a major facility sponsored by the U.S. National Science Foundation under Cooperative Agreement No. 1852977.</a:t>
            </a:r>
            <a:endParaRPr b="0" i="0" sz="500" u="none" cap="none" strike="noStrike">
              <a:solidFill>
                <a:srgbClr val="FFFFFF"/>
              </a:solidFill>
              <a:latin typeface="Helvetica Neue"/>
              <a:ea typeface="Helvetica Neue"/>
              <a:cs typeface="Helvetica Neue"/>
              <a:sym typeface="Helvetica Neue"/>
            </a:endParaRPr>
          </a:p>
        </p:txBody>
      </p:sp>
      <p:pic>
        <p:nvPicPr>
          <p:cNvPr id="56" name="Google Shape;56;p13"/>
          <p:cNvPicPr preferRelativeResize="0"/>
          <p:nvPr/>
        </p:nvPicPr>
        <p:blipFill>
          <a:blip r:embed="rId2">
            <a:alphaModFix/>
          </a:blip>
          <a:stretch>
            <a:fillRect/>
          </a:stretch>
        </p:blipFill>
        <p:spPr>
          <a:xfrm>
            <a:off x="236063" y="237724"/>
            <a:ext cx="1930783" cy="64391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pic>
        <p:nvPicPr>
          <p:cNvPr id="59" name="Google Shape;59;p15"/>
          <p:cNvPicPr preferRelativeResize="0"/>
          <p:nvPr/>
        </p:nvPicPr>
        <p:blipFill rotWithShape="1">
          <a:blip r:embed="rId1">
            <a:alphaModFix/>
          </a:blip>
          <a:srcRect b="0" l="0" r="0" t="0"/>
          <a:stretch/>
        </p:blipFill>
        <p:spPr>
          <a:xfrm>
            <a:off x="-1" y="4704588"/>
            <a:ext cx="9144004" cy="438912"/>
          </a:xfrm>
          <a:prstGeom prst="rect">
            <a:avLst/>
          </a:prstGeom>
          <a:noFill/>
          <a:ln>
            <a:noFill/>
          </a:ln>
        </p:spPr>
      </p:pic>
      <p:sp>
        <p:nvSpPr>
          <p:cNvPr id="60" name="Google Shape;60;p15"/>
          <p:cNvSpPr/>
          <p:nvPr/>
        </p:nvSpPr>
        <p:spPr>
          <a:xfrm>
            <a:off x="-1" y="0"/>
            <a:ext cx="9144000" cy="488700"/>
          </a:xfrm>
          <a:prstGeom prst="rect">
            <a:avLst/>
          </a:prstGeom>
          <a:solidFill>
            <a:srgbClr val="1A658F"/>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t/>
            </a:r>
            <a:endParaRPr i="0" sz="900" u="none" cap="none" strike="noStrike">
              <a:solidFill>
                <a:schemeClr val="lt1"/>
              </a:solidFill>
            </a:endParaRPr>
          </a:p>
        </p:txBody>
      </p:sp>
      <p:sp>
        <p:nvSpPr>
          <p:cNvPr id="61" name="Google Shape;61;p15"/>
          <p:cNvSpPr txBox="1"/>
          <p:nvPr>
            <p:ph idx="1" type="body"/>
          </p:nvPr>
        </p:nvSpPr>
        <p:spPr>
          <a:xfrm>
            <a:off x="457200" y="1200152"/>
            <a:ext cx="8229600" cy="3239100"/>
          </a:xfrm>
          <a:prstGeom prst="rect">
            <a:avLst/>
          </a:prstGeom>
          <a:noFill/>
          <a:ln>
            <a:noFill/>
          </a:ln>
        </p:spPr>
        <p:txBody>
          <a:bodyPr anchorCtr="0" anchor="t" bIns="34275" lIns="68575" spcFirstLastPara="1" rIns="68575" wrap="square" tIns="34275">
            <a:noAutofit/>
          </a:bodyPr>
          <a:lstStyle>
            <a:lvl1pPr indent="-330200" lvl="0" marL="457200" marR="0" algn="l">
              <a:lnSpc>
                <a:spcPct val="100000"/>
              </a:lnSpc>
              <a:spcBef>
                <a:spcPts val="300"/>
              </a:spcBef>
              <a:spcAft>
                <a:spcPts val="0"/>
              </a:spcAft>
              <a:buSzPts val="1600"/>
              <a:buChar char="•"/>
              <a:defRPr i="0" sz="1600" u="none" cap="none" strike="noStrike"/>
            </a:lvl1pPr>
            <a:lvl2pPr indent="-311150" lvl="1" marL="914400" marR="0" algn="l">
              <a:lnSpc>
                <a:spcPct val="100000"/>
              </a:lnSpc>
              <a:spcBef>
                <a:spcPts val="300"/>
              </a:spcBef>
              <a:spcAft>
                <a:spcPts val="0"/>
              </a:spcAft>
              <a:buSzPts val="1300"/>
              <a:buChar char="–"/>
              <a:defRPr i="0" sz="1300" u="none" cap="none" strike="noStrike"/>
            </a:lvl2pPr>
            <a:lvl3pPr indent="-304800" lvl="2" marL="1371600" marR="0" algn="l">
              <a:lnSpc>
                <a:spcPct val="100000"/>
              </a:lnSpc>
              <a:spcBef>
                <a:spcPts val="200"/>
              </a:spcBef>
              <a:spcAft>
                <a:spcPts val="0"/>
              </a:spcAft>
              <a:buSzPts val="1200"/>
              <a:buChar char="•"/>
              <a:defRPr i="0" sz="1200" u="none" cap="none" strike="noStrike"/>
            </a:lvl3pPr>
            <a:lvl4pPr indent="-298450" lvl="3" marL="1828800" marR="0" algn="l">
              <a:lnSpc>
                <a:spcPct val="100000"/>
              </a:lnSpc>
              <a:spcBef>
                <a:spcPts val="200"/>
              </a:spcBef>
              <a:spcAft>
                <a:spcPts val="0"/>
              </a:spcAft>
              <a:buSzPts val="1100"/>
              <a:buChar char="–"/>
              <a:defRPr i="0" sz="1100" u="none" cap="none" strike="noStrike"/>
            </a:lvl4pPr>
            <a:lvl5pPr indent="-285750" lvl="4" marL="2286000" marR="0" algn="l">
              <a:lnSpc>
                <a:spcPct val="100000"/>
              </a:lnSpc>
              <a:spcBef>
                <a:spcPts val="200"/>
              </a:spcBef>
              <a:spcAft>
                <a:spcPts val="0"/>
              </a:spcAft>
              <a:buSzPts val="900"/>
              <a:buChar char="»"/>
              <a:defRPr i="0" sz="900" u="none" cap="none" strike="noStrike"/>
            </a:lvl5pPr>
            <a:lvl6pPr indent="-311150" lvl="5" marL="2743200" marR="0" algn="l">
              <a:lnSpc>
                <a:spcPct val="100000"/>
              </a:lnSpc>
              <a:spcBef>
                <a:spcPts val="300"/>
              </a:spcBef>
              <a:spcAft>
                <a:spcPts val="0"/>
              </a:spcAft>
              <a:buSzPts val="1300"/>
              <a:buChar char="•"/>
              <a:defRPr i="0" sz="1300" u="none" cap="none" strike="noStrike"/>
            </a:lvl6pPr>
            <a:lvl7pPr indent="-311150" lvl="6" marL="3200400" marR="0" algn="l">
              <a:lnSpc>
                <a:spcPct val="100000"/>
              </a:lnSpc>
              <a:spcBef>
                <a:spcPts val="300"/>
              </a:spcBef>
              <a:spcAft>
                <a:spcPts val="0"/>
              </a:spcAft>
              <a:buSzPts val="1300"/>
              <a:buChar char="•"/>
              <a:defRPr i="0" sz="1300" u="none" cap="none" strike="noStrike"/>
            </a:lvl7pPr>
            <a:lvl8pPr indent="-311150" lvl="7" marL="3657600" marR="0" algn="l">
              <a:lnSpc>
                <a:spcPct val="100000"/>
              </a:lnSpc>
              <a:spcBef>
                <a:spcPts val="300"/>
              </a:spcBef>
              <a:spcAft>
                <a:spcPts val="0"/>
              </a:spcAft>
              <a:buSzPts val="1300"/>
              <a:buChar char="•"/>
              <a:defRPr i="0" sz="1300" u="none" cap="none" strike="noStrike"/>
            </a:lvl8pPr>
            <a:lvl9pPr indent="-311150" lvl="8" marL="4114800" marR="0" algn="l">
              <a:lnSpc>
                <a:spcPct val="100000"/>
              </a:lnSpc>
              <a:spcBef>
                <a:spcPts val="300"/>
              </a:spcBef>
              <a:spcAft>
                <a:spcPts val="0"/>
              </a:spcAft>
              <a:buSzPts val="1300"/>
              <a:buChar char="•"/>
              <a:defRPr i="0" sz="1300" u="none" cap="none" strike="noStrike"/>
            </a:lvl9pPr>
          </a:lstStyle>
          <a:p/>
        </p:txBody>
      </p:sp>
      <p:sp>
        <p:nvSpPr>
          <p:cNvPr id="62" name="Google Shape;62;p15"/>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chemeClr val="lt1"/>
              </a:buClr>
              <a:buSzPts val="1700"/>
              <a:buNone/>
              <a:defRPr b="1" i="0" sz="1700" u="none" cap="none" strike="noStrike">
                <a:solidFill>
                  <a:schemeClr val="lt1"/>
                </a:solidFill>
              </a:defRPr>
            </a:lvl1pPr>
            <a:lvl2pPr lvl="1" marR="0" algn="l">
              <a:lnSpc>
                <a:spcPct val="100000"/>
              </a:lnSpc>
              <a:spcBef>
                <a:spcPts val="0"/>
              </a:spcBef>
              <a:spcAft>
                <a:spcPts val="0"/>
              </a:spcAft>
              <a:buClr>
                <a:srgbClr val="000000"/>
              </a:buClr>
              <a:buSzPts val="1100"/>
              <a:buNone/>
              <a:defRPr i="0" sz="1400" u="none" cap="none" strike="noStrike">
                <a:solidFill>
                  <a:srgbClr val="000000"/>
                </a:solidFill>
              </a:defRPr>
            </a:lvl2pPr>
            <a:lvl3pPr lvl="2" marR="0" algn="l">
              <a:lnSpc>
                <a:spcPct val="100000"/>
              </a:lnSpc>
              <a:spcBef>
                <a:spcPts val="0"/>
              </a:spcBef>
              <a:spcAft>
                <a:spcPts val="0"/>
              </a:spcAft>
              <a:buClr>
                <a:srgbClr val="000000"/>
              </a:buClr>
              <a:buSzPts val="1100"/>
              <a:buNone/>
              <a:defRPr i="0" sz="1400" u="none" cap="none" strike="noStrike">
                <a:solidFill>
                  <a:srgbClr val="000000"/>
                </a:solidFill>
              </a:defRPr>
            </a:lvl3pPr>
            <a:lvl4pPr lvl="3" marR="0" algn="l">
              <a:lnSpc>
                <a:spcPct val="100000"/>
              </a:lnSpc>
              <a:spcBef>
                <a:spcPts val="0"/>
              </a:spcBef>
              <a:spcAft>
                <a:spcPts val="0"/>
              </a:spcAft>
              <a:buClr>
                <a:srgbClr val="000000"/>
              </a:buClr>
              <a:buSzPts val="1100"/>
              <a:buNone/>
              <a:defRPr i="0" sz="1400" u="none" cap="none" strike="noStrike">
                <a:solidFill>
                  <a:srgbClr val="000000"/>
                </a:solidFill>
              </a:defRPr>
            </a:lvl4pPr>
            <a:lvl5pPr lvl="4" marR="0" algn="l">
              <a:lnSpc>
                <a:spcPct val="100000"/>
              </a:lnSpc>
              <a:spcBef>
                <a:spcPts val="0"/>
              </a:spcBef>
              <a:spcAft>
                <a:spcPts val="0"/>
              </a:spcAft>
              <a:buClr>
                <a:srgbClr val="000000"/>
              </a:buClr>
              <a:buSzPts val="1100"/>
              <a:buNone/>
              <a:defRPr i="0" sz="1400" u="none" cap="none" strike="noStrike">
                <a:solidFill>
                  <a:srgbClr val="000000"/>
                </a:solidFill>
              </a:defRPr>
            </a:lvl5pPr>
            <a:lvl6pPr lvl="5" marR="0" algn="l">
              <a:lnSpc>
                <a:spcPct val="100000"/>
              </a:lnSpc>
              <a:spcBef>
                <a:spcPts val="0"/>
              </a:spcBef>
              <a:spcAft>
                <a:spcPts val="0"/>
              </a:spcAft>
              <a:buClr>
                <a:srgbClr val="000000"/>
              </a:buClr>
              <a:buSzPts val="1100"/>
              <a:buNone/>
              <a:defRPr i="0" sz="1400" u="none" cap="none" strike="noStrike">
                <a:solidFill>
                  <a:srgbClr val="000000"/>
                </a:solidFill>
              </a:defRPr>
            </a:lvl6pPr>
            <a:lvl7pPr lvl="6" marR="0" algn="l">
              <a:lnSpc>
                <a:spcPct val="100000"/>
              </a:lnSpc>
              <a:spcBef>
                <a:spcPts val="0"/>
              </a:spcBef>
              <a:spcAft>
                <a:spcPts val="0"/>
              </a:spcAft>
              <a:buClr>
                <a:srgbClr val="000000"/>
              </a:buClr>
              <a:buSzPts val="1100"/>
              <a:buNone/>
              <a:defRPr i="0" sz="1400" u="none" cap="none" strike="noStrike">
                <a:solidFill>
                  <a:srgbClr val="000000"/>
                </a:solidFill>
              </a:defRPr>
            </a:lvl7pPr>
            <a:lvl8pPr lvl="7" marR="0" algn="l">
              <a:lnSpc>
                <a:spcPct val="100000"/>
              </a:lnSpc>
              <a:spcBef>
                <a:spcPts val="0"/>
              </a:spcBef>
              <a:spcAft>
                <a:spcPts val="0"/>
              </a:spcAft>
              <a:buClr>
                <a:srgbClr val="000000"/>
              </a:buClr>
              <a:buSzPts val="1100"/>
              <a:buNone/>
              <a:defRPr i="0" sz="1400" u="none" cap="none" strike="noStrike">
                <a:solidFill>
                  <a:srgbClr val="000000"/>
                </a:solidFill>
              </a:defRPr>
            </a:lvl8pPr>
            <a:lvl9pPr lvl="8" marR="0" algn="l">
              <a:lnSpc>
                <a:spcPct val="100000"/>
              </a:lnSpc>
              <a:spcBef>
                <a:spcPts val="0"/>
              </a:spcBef>
              <a:spcAft>
                <a:spcPts val="0"/>
              </a:spcAft>
              <a:buClr>
                <a:srgbClr val="000000"/>
              </a:buClr>
              <a:buSzPts val="1100"/>
              <a:buNone/>
              <a:defRPr i="0" sz="1400" u="none" cap="none" strike="noStrike">
                <a:solidFill>
                  <a:srgbClr val="000000"/>
                </a:solidFill>
              </a:defRPr>
            </a:lvl9pPr>
          </a:lstStyle>
          <a:p/>
        </p:txBody>
      </p:sp>
      <p:pic>
        <p:nvPicPr>
          <p:cNvPr id="63" name="Google Shape;63;p15"/>
          <p:cNvPicPr preferRelativeResize="0"/>
          <p:nvPr/>
        </p:nvPicPr>
        <p:blipFill rotWithShape="1">
          <a:blip r:embed="rId2">
            <a:alphaModFix/>
          </a:blip>
          <a:srcRect b="0" l="0" r="0" t="0"/>
          <a:stretch/>
        </p:blipFill>
        <p:spPr>
          <a:xfrm>
            <a:off x="88350" y="4726943"/>
            <a:ext cx="1162957" cy="3878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3"/>
    <p:sldLayoutId id="2147483661" r:id="rId4"/>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5.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hyperlink" Target="http://drive.google.com/file/d/1DIrM3FeMvM-DihKkVVaC0VmMjPsE_MMB/view" TargetMode="External"/><Relationship Id="rId5"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gif"/><Relationship Id="rId5" Type="http://schemas.openxmlformats.org/officeDocument/2006/relationships/image" Target="../media/image1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hyperlink" Target="http://drive.google.com/file/d/1SzaLTcZBkS-veIt1lD9rPWKqtAeN0OS9/view" TargetMode="Externa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8.jpg"/><Relationship Id="rId9"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31.jpg"/><Relationship Id="rId7" Type="http://schemas.openxmlformats.org/officeDocument/2006/relationships/image" Target="../media/image29.jpg"/><Relationship Id="rId8" Type="http://schemas.openxmlformats.org/officeDocument/2006/relationships/image" Target="../media/image3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8"/>
          <p:cNvSpPr/>
          <p:nvPr/>
        </p:nvSpPr>
        <p:spPr>
          <a:xfrm>
            <a:off x="512650" y="2156250"/>
            <a:ext cx="8118900" cy="4155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b="1" lang="en" sz="2300">
                <a:solidFill>
                  <a:schemeClr val="lt1"/>
                </a:solidFill>
              </a:rPr>
              <a:t>Enhancing Scientific Reproducibility in CrocoDash for Regional Ocean Modeling</a:t>
            </a:r>
            <a:endParaRPr i="0" sz="1100" u="none" cap="none" strike="noStrike">
              <a:solidFill>
                <a:srgbClr val="000000"/>
              </a:solidFill>
            </a:endParaRPr>
          </a:p>
        </p:txBody>
      </p:sp>
      <p:sp>
        <p:nvSpPr>
          <p:cNvPr id="75" name="Google Shape;75;p18"/>
          <p:cNvSpPr txBox="1"/>
          <p:nvPr/>
        </p:nvSpPr>
        <p:spPr>
          <a:xfrm>
            <a:off x="3284345" y="4625049"/>
            <a:ext cx="2575500" cy="2754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b="1" lang="en" sz="1100"/>
              <a:t>November 7, 2025</a:t>
            </a:r>
            <a:endParaRPr i="0" sz="1100" u="none" cap="none" strike="noStrike"/>
          </a:p>
        </p:txBody>
      </p:sp>
      <p:sp>
        <p:nvSpPr>
          <p:cNvPr id="76" name="Google Shape;76;p18"/>
          <p:cNvSpPr/>
          <p:nvPr/>
        </p:nvSpPr>
        <p:spPr>
          <a:xfrm>
            <a:off x="1741600" y="3640517"/>
            <a:ext cx="5661000" cy="8076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b="1" lang="en" sz="1500"/>
              <a:t>Andrew Kwong</a:t>
            </a:r>
            <a:endParaRPr b="1" sz="1100" u="none" cap="none" strike="noStrike"/>
          </a:p>
          <a:p>
            <a:pPr indent="0" lvl="0" marL="0" marR="0" rtl="0" algn="ctr">
              <a:lnSpc>
                <a:spcPct val="115000"/>
              </a:lnSpc>
              <a:spcBef>
                <a:spcPts val="0"/>
              </a:spcBef>
              <a:spcAft>
                <a:spcPts val="0"/>
              </a:spcAft>
              <a:buNone/>
            </a:pPr>
            <a:r>
              <a:rPr lang="en"/>
              <a:t>Mentors: Manish Venumuddula, Alper Altuntas, </a:t>
            </a:r>
            <a:r>
              <a:rPr lang="en">
                <a:solidFill>
                  <a:schemeClr val="dk1"/>
                </a:solidFill>
              </a:rPr>
              <a:t>Dan Amrhein</a:t>
            </a:r>
            <a:endParaRPr i="1"/>
          </a:p>
          <a:p>
            <a:pPr indent="0" lvl="0" marL="0" marR="0" rtl="0" algn="ctr">
              <a:lnSpc>
                <a:spcPct val="100000"/>
              </a:lnSpc>
              <a:spcBef>
                <a:spcPts val="0"/>
              </a:spcBef>
              <a:spcAft>
                <a:spcPts val="0"/>
              </a:spcAft>
              <a:buNone/>
            </a:pPr>
            <a:r>
              <a:rPr b="1" i="1" lang="en"/>
              <a:t>S</a:t>
            </a:r>
            <a:r>
              <a:rPr i="1" lang="en"/>
              <a:t>ummer </a:t>
            </a:r>
            <a:r>
              <a:rPr b="1" i="1" lang="en"/>
              <a:t>I</a:t>
            </a:r>
            <a:r>
              <a:rPr i="1" lang="en"/>
              <a:t>nternships in </a:t>
            </a:r>
            <a:r>
              <a:rPr b="1" i="1" lang="en"/>
              <a:t>P</a:t>
            </a:r>
            <a:r>
              <a:rPr i="1" lang="en"/>
              <a:t>arallel </a:t>
            </a:r>
            <a:r>
              <a:rPr b="1" i="1" lang="en"/>
              <a:t>C</a:t>
            </a:r>
            <a:r>
              <a:rPr i="1" lang="en"/>
              <a:t>omputational </a:t>
            </a:r>
            <a:r>
              <a:rPr b="1" i="1" lang="en"/>
              <a:t>S</a:t>
            </a:r>
            <a:r>
              <a:rPr i="1" lang="en"/>
              <a:t>cience (</a:t>
            </a:r>
            <a:r>
              <a:rPr b="1" i="1" lang="en"/>
              <a:t>SIP</a:t>
            </a:r>
            <a:r>
              <a:rPr i="1" lang="en"/>
              <a:t>ar</a:t>
            </a:r>
            <a:r>
              <a:rPr b="1" i="1" lang="en"/>
              <a:t>CS</a:t>
            </a:r>
            <a:r>
              <a:rPr i="1" lang="en"/>
              <a:t>)</a:t>
            </a:r>
            <a:endParaRPr i="0" sz="1100" u="none" cap="none" strike="noStrike"/>
          </a:p>
        </p:txBody>
      </p:sp>
      <p:pic>
        <p:nvPicPr>
          <p:cNvPr id="77" name="Google Shape;77;p18"/>
          <p:cNvPicPr preferRelativeResize="0"/>
          <p:nvPr/>
        </p:nvPicPr>
        <p:blipFill>
          <a:blip r:embed="rId3">
            <a:alphaModFix/>
          </a:blip>
          <a:stretch>
            <a:fillRect/>
          </a:stretch>
        </p:blipFill>
        <p:spPr>
          <a:xfrm>
            <a:off x="8086729" y="215669"/>
            <a:ext cx="728947" cy="728947"/>
          </a:xfrm>
          <a:prstGeom prst="rect">
            <a:avLst/>
          </a:prstGeom>
          <a:noFill/>
          <a:ln>
            <a:noFill/>
          </a:ln>
        </p:spPr>
      </p:pic>
      <p:pic>
        <p:nvPicPr>
          <p:cNvPr id="78" name="Google Shape;78;p18"/>
          <p:cNvPicPr preferRelativeResize="0"/>
          <p:nvPr/>
        </p:nvPicPr>
        <p:blipFill rotWithShape="1">
          <a:blip r:embed="rId4">
            <a:alphaModFix/>
          </a:blip>
          <a:srcRect b="-1730" l="0" r="0" t="1730"/>
          <a:stretch/>
        </p:blipFill>
        <p:spPr>
          <a:xfrm>
            <a:off x="7223977" y="178275"/>
            <a:ext cx="841298" cy="8400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9"/>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BACKGROUND</a:t>
            </a:r>
            <a:endParaRPr sz="1500">
              <a:latin typeface="Arial"/>
              <a:ea typeface="Arial"/>
              <a:cs typeface="Arial"/>
              <a:sym typeface="Arial"/>
            </a:endParaRPr>
          </a:p>
        </p:txBody>
      </p:sp>
      <p:sp>
        <p:nvSpPr>
          <p:cNvPr id="84" name="Google Shape;84;p19"/>
          <p:cNvSpPr txBox="1"/>
          <p:nvPr>
            <p:ph idx="1" type="body"/>
          </p:nvPr>
        </p:nvSpPr>
        <p:spPr>
          <a:xfrm>
            <a:off x="304800" y="972525"/>
            <a:ext cx="4040100" cy="4170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300"/>
              </a:spcBef>
              <a:spcAft>
                <a:spcPts val="0"/>
              </a:spcAft>
              <a:buSzPts val="1300"/>
              <a:buNone/>
            </a:pPr>
            <a:r>
              <a:rPr lang="en">
                <a:latin typeface="Lora"/>
                <a:ea typeface="Lora"/>
                <a:cs typeface="Lora"/>
                <a:sym typeface="Lora"/>
              </a:rPr>
              <a:t>Regional ocean models are </a:t>
            </a:r>
            <a:r>
              <a:rPr b="1" lang="en">
                <a:latin typeface="Lora"/>
                <a:ea typeface="Lora"/>
                <a:cs typeface="Lora"/>
                <a:sym typeface="Lora"/>
              </a:rPr>
              <a:t>powerful</a:t>
            </a:r>
            <a:r>
              <a:rPr lang="en">
                <a:latin typeface="Lora"/>
                <a:ea typeface="Lora"/>
                <a:cs typeface="Lora"/>
                <a:sym typeface="Lora"/>
              </a:rPr>
              <a:t> tools.</a:t>
            </a:r>
            <a:endParaRPr>
              <a:latin typeface="Lora"/>
              <a:ea typeface="Lora"/>
              <a:cs typeface="Lora"/>
              <a:sym typeface="Lora"/>
            </a:endParaRPr>
          </a:p>
          <a:p>
            <a:pPr indent="0" lvl="0" marL="0" rtl="0" algn="l">
              <a:lnSpc>
                <a:spcPct val="100000"/>
              </a:lnSpc>
              <a:spcBef>
                <a:spcPts val="300"/>
              </a:spcBef>
              <a:spcAft>
                <a:spcPts val="0"/>
              </a:spcAft>
              <a:buSzPts val="1300"/>
              <a:buNone/>
            </a:pPr>
            <a:r>
              <a:t/>
            </a:r>
            <a:endParaRPr/>
          </a:p>
          <a:p>
            <a:pPr indent="0" lvl="0" marL="0" rtl="0" algn="l">
              <a:lnSpc>
                <a:spcPct val="100000"/>
              </a:lnSpc>
              <a:spcBef>
                <a:spcPts val="300"/>
              </a:spcBef>
              <a:spcAft>
                <a:spcPts val="0"/>
              </a:spcAft>
              <a:buSzPts val="1300"/>
              <a:buNone/>
            </a:pPr>
            <a:r>
              <a:t/>
            </a:r>
            <a:endParaRPr/>
          </a:p>
          <a:p>
            <a:pPr indent="0" lvl="0" marL="0" rtl="0" algn="l">
              <a:lnSpc>
                <a:spcPct val="100000"/>
              </a:lnSpc>
              <a:spcBef>
                <a:spcPts val="300"/>
              </a:spcBef>
              <a:spcAft>
                <a:spcPts val="0"/>
              </a:spcAft>
              <a:buSzPts val="1300"/>
              <a:buNone/>
            </a:pPr>
            <a:r>
              <a:t/>
            </a:r>
            <a:endParaRPr/>
          </a:p>
        </p:txBody>
      </p:sp>
      <p:sp>
        <p:nvSpPr>
          <p:cNvPr id="85" name="Google Shape;85;p19"/>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1: Introduction</a:t>
            </a:r>
            <a:endParaRPr b="1" sz="1200">
              <a:solidFill>
                <a:srgbClr val="FFFFFF"/>
              </a:solidFill>
            </a:endParaRPr>
          </a:p>
        </p:txBody>
      </p:sp>
      <p:pic>
        <p:nvPicPr>
          <p:cNvPr id="86" name="Google Shape;86;p19"/>
          <p:cNvPicPr preferRelativeResize="0"/>
          <p:nvPr/>
        </p:nvPicPr>
        <p:blipFill>
          <a:blip r:embed="rId3">
            <a:alphaModFix/>
          </a:blip>
          <a:stretch>
            <a:fillRect/>
          </a:stretch>
        </p:blipFill>
        <p:spPr>
          <a:xfrm>
            <a:off x="1021800" y="1781450"/>
            <a:ext cx="2606100" cy="2602252"/>
          </a:xfrm>
          <a:prstGeom prst="rect">
            <a:avLst/>
          </a:prstGeom>
          <a:noFill/>
          <a:ln>
            <a:noFill/>
          </a:ln>
        </p:spPr>
      </p:pic>
      <p:sp>
        <p:nvSpPr>
          <p:cNvPr id="87" name="Google Shape;87;p19"/>
          <p:cNvSpPr txBox="1"/>
          <p:nvPr/>
        </p:nvSpPr>
        <p:spPr>
          <a:xfrm>
            <a:off x="295200" y="1354938"/>
            <a:ext cx="4059300" cy="384900"/>
          </a:xfrm>
          <a:prstGeom prst="rect">
            <a:avLst/>
          </a:prstGeom>
          <a:noFill/>
          <a:ln>
            <a:noFill/>
          </a:ln>
        </p:spPr>
        <p:txBody>
          <a:bodyPr anchorCtr="0" anchor="t" bIns="91425" lIns="91425" spcFirstLastPara="1" rIns="91425" wrap="square" tIns="91425">
            <a:spAutoFit/>
          </a:bodyPr>
          <a:lstStyle/>
          <a:p>
            <a:pPr indent="0" lvl="0" marL="0" rtl="0" algn="ctr">
              <a:spcBef>
                <a:spcPts val="300"/>
              </a:spcBef>
              <a:spcAft>
                <a:spcPts val="0"/>
              </a:spcAft>
              <a:buNone/>
            </a:pPr>
            <a:r>
              <a:rPr lang="en" sz="1300">
                <a:latin typeface="Lora"/>
                <a:ea typeface="Lora"/>
                <a:cs typeface="Lora"/>
                <a:sym typeface="Lora"/>
              </a:rPr>
              <a:t>It can be time-consuming to set these models up. </a:t>
            </a:r>
            <a:endParaRPr sz="1600"/>
          </a:p>
        </p:txBody>
      </p:sp>
      <p:sp>
        <p:nvSpPr>
          <p:cNvPr id="88" name="Google Shape;88;p19"/>
          <p:cNvSpPr/>
          <p:nvPr/>
        </p:nvSpPr>
        <p:spPr>
          <a:xfrm>
            <a:off x="3692853" y="2900975"/>
            <a:ext cx="1335600" cy="291300"/>
          </a:xfrm>
          <a:prstGeom prst="rightArrow">
            <a:avLst>
              <a:gd fmla="val 50000" name="adj1"/>
              <a:gd fmla="val 5000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9" name="Google Shape;89;p19"/>
          <p:cNvPicPr preferRelativeResize="0"/>
          <p:nvPr/>
        </p:nvPicPr>
        <p:blipFill rotWithShape="1">
          <a:blip r:embed="rId4">
            <a:alphaModFix/>
          </a:blip>
          <a:srcRect b="6049" l="7733" r="13189" t="4465"/>
          <a:stretch/>
        </p:blipFill>
        <p:spPr>
          <a:xfrm>
            <a:off x="5169600" y="836600"/>
            <a:ext cx="3642975" cy="3159227"/>
          </a:xfrm>
          <a:prstGeom prst="rect">
            <a:avLst/>
          </a:prstGeom>
          <a:noFill/>
          <a:ln>
            <a:noFill/>
          </a:ln>
        </p:spPr>
      </p:pic>
      <p:sp>
        <p:nvSpPr>
          <p:cNvPr id="90" name="Google Shape;90;p19"/>
          <p:cNvSpPr txBox="1"/>
          <p:nvPr/>
        </p:nvSpPr>
        <p:spPr>
          <a:xfrm>
            <a:off x="5428238" y="3995825"/>
            <a:ext cx="3125700" cy="415500"/>
          </a:xfrm>
          <a:prstGeom prst="rect">
            <a:avLst/>
          </a:prstGeom>
          <a:solidFill>
            <a:schemeClr val="accent4"/>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ora"/>
                <a:ea typeface="Lora"/>
                <a:cs typeface="Lora"/>
                <a:sym typeface="Lora"/>
              </a:rPr>
              <a:t>Months/Weeks → Days/Hours</a:t>
            </a:r>
            <a:endParaRPr b="1" sz="1500">
              <a:latin typeface="Lora"/>
              <a:ea typeface="Lora"/>
              <a:cs typeface="Lora"/>
              <a:sym typeface="Lor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PROJECT OBJECTIVE</a:t>
            </a:r>
            <a:endParaRPr sz="1500">
              <a:latin typeface="Arial"/>
              <a:ea typeface="Arial"/>
              <a:cs typeface="Arial"/>
              <a:sym typeface="Arial"/>
            </a:endParaRPr>
          </a:p>
        </p:txBody>
      </p:sp>
      <p:sp>
        <p:nvSpPr>
          <p:cNvPr id="96" name="Google Shape;96;p20"/>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1: Introduction</a:t>
            </a:r>
            <a:endParaRPr b="1" sz="1200">
              <a:solidFill>
                <a:srgbClr val="FFFFFF"/>
              </a:solidFill>
            </a:endParaRPr>
          </a:p>
        </p:txBody>
      </p:sp>
      <p:sp>
        <p:nvSpPr>
          <p:cNvPr id="97" name="Google Shape;97;p20"/>
          <p:cNvSpPr txBox="1"/>
          <p:nvPr/>
        </p:nvSpPr>
        <p:spPr>
          <a:xfrm>
            <a:off x="457200" y="717587"/>
            <a:ext cx="8229600" cy="415500"/>
          </a:xfrm>
          <a:prstGeom prst="rect">
            <a:avLst/>
          </a:prstGeom>
          <a:solidFill>
            <a:schemeClr val="accent4"/>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latin typeface="Lora"/>
                <a:ea typeface="Lora"/>
                <a:cs typeface="Lora"/>
                <a:sym typeface="Lora"/>
              </a:rPr>
              <a:t>Enhance </a:t>
            </a:r>
            <a:r>
              <a:rPr b="1" lang="en" sz="1500">
                <a:latin typeface="Lora"/>
                <a:ea typeface="Lora"/>
                <a:cs typeface="Lora"/>
                <a:sym typeface="Lora"/>
              </a:rPr>
              <a:t>scientific reproducibility</a:t>
            </a:r>
            <a:r>
              <a:rPr lang="en" sz="1500">
                <a:latin typeface="Lora"/>
                <a:ea typeface="Lora"/>
                <a:cs typeface="Lora"/>
                <a:sym typeface="Lora"/>
              </a:rPr>
              <a:t> and </a:t>
            </a:r>
            <a:r>
              <a:rPr lang="en" sz="1500">
                <a:latin typeface="Lora"/>
                <a:ea typeface="Lora"/>
                <a:cs typeface="Lora"/>
                <a:sym typeface="Lora"/>
              </a:rPr>
              <a:t>increase</a:t>
            </a:r>
            <a:r>
              <a:rPr lang="en" sz="1500">
                <a:latin typeface="Lora"/>
                <a:ea typeface="Lora"/>
                <a:cs typeface="Lora"/>
                <a:sym typeface="Lora"/>
              </a:rPr>
              <a:t> </a:t>
            </a:r>
            <a:r>
              <a:rPr b="1" lang="en" sz="1500">
                <a:latin typeface="Lora"/>
                <a:ea typeface="Lora"/>
                <a:cs typeface="Lora"/>
                <a:sym typeface="Lora"/>
              </a:rPr>
              <a:t>accessibility</a:t>
            </a:r>
            <a:r>
              <a:rPr lang="en" sz="1500">
                <a:latin typeface="Lora"/>
                <a:ea typeface="Lora"/>
                <a:cs typeface="Lora"/>
                <a:sym typeface="Lora"/>
              </a:rPr>
              <a:t> in the CrocoDash </a:t>
            </a:r>
            <a:r>
              <a:rPr lang="en" sz="1500">
                <a:latin typeface="Lora"/>
                <a:ea typeface="Lora"/>
                <a:cs typeface="Lora"/>
                <a:sym typeface="Lora"/>
              </a:rPr>
              <a:t>workflow</a:t>
            </a:r>
            <a:r>
              <a:rPr lang="en" sz="1500">
                <a:latin typeface="Lora"/>
                <a:ea typeface="Lora"/>
                <a:cs typeface="Lora"/>
                <a:sym typeface="Lora"/>
              </a:rPr>
              <a:t>.</a:t>
            </a:r>
            <a:endParaRPr sz="1500">
              <a:latin typeface="Lora"/>
              <a:ea typeface="Lora"/>
              <a:cs typeface="Lora"/>
              <a:sym typeface="Lora"/>
            </a:endParaRPr>
          </a:p>
        </p:txBody>
      </p:sp>
      <p:sp>
        <p:nvSpPr>
          <p:cNvPr id="98" name="Google Shape;98;p20"/>
          <p:cNvSpPr txBox="1"/>
          <p:nvPr/>
        </p:nvSpPr>
        <p:spPr>
          <a:xfrm>
            <a:off x="211440" y="1321708"/>
            <a:ext cx="4914000" cy="723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a:latin typeface="Lora"/>
                <a:ea typeface="Lora"/>
                <a:cs typeface="Lora"/>
                <a:sym typeface="Lora"/>
              </a:rPr>
              <a:t>Goal</a:t>
            </a:r>
            <a:r>
              <a:rPr lang="en">
                <a:latin typeface="Lora"/>
                <a:ea typeface="Lora"/>
                <a:cs typeface="Lora"/>
                <a:sym typeface="Lora"/>
              </a:rPr>
              <a:t>: Fully reproducible end-to-end </a:t>
            </a:r>
            <a:r>
              <a:rPr lang="en">
                <a:latin typeface="Lora"/>
                <a:ea typeface="Lora"/>
                <a:cs typeface="Lora"/>
                <a:sym typeface="Lora"/>
              </a:rPr>
              <a:t>workflow</a:t>
            </a:r>
            <a:r>
              <a:rPr lang="en">
                <a:latin typeface="Lora"/>
                <a:ea typeface="Lora"/>
                <a:cs typeface="Lora"/>
                <a:sym typeface="Lora"/>
              </a:rPr>
              <a:t> to create regional Modular Ocean Model version 6 (MOM6) cases!</a:t>
            </a:r>
            <a:endParaRPr>
              <a:latin typeface="Lora"/>
              <a:ea typeface="Lora"/>
              <a:cs typeface="Lora"/>
              <a:sym typeface="Lora"/>
            </a:endParaRPr>
          </a:p>
        </p:txBody>
      </p:sp>
      <p:sp>
        <p:nvSpPr>
          <p:cNvPr id="99" name="Google Shape;99;p20"/>
          <p:cNvSpPr txBox="1"/>
          <p:nvPr/>
        </p:nvSpPr>
        <p:spPr>
          <a:xfrm>
            <a:off x="234700" y="2138282"/>
            <a:ext cx="4867500" cy="723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b="1" lang="en">
                <a:latin typeface="Lora"/>
                <a:ea typeface="Lora"/>
                <a:cs typeface="Lora"/>
                <a:sym typeface="Lora"/>
              </a:rPr>
              <a:t>Case</a:t>
            </a:r>
            <a:r>
              <a:rPr lang="en">
                <a:latin typeface="Lora"/>
                <a:ea typeface="Lora"/>
                <a:cs typeface="Lora"/>
                <a:sym typeface="Lora"/>
              </a:rPr>
              <a:t>: A specific instance of a model simulation in the Community Earth System Model (CESM).</a:t>
            </a:r>
            <a:endParaRPr>
              <a:latin typeface="Lora"/>
              <a:ea typeface="Lora"/>
              <a:cs typeface="Lora"/>
              <a:sym typeface="Lora"/>
            </a:endParaRPr>
          </a:p>
        </p:txBody>
      </p:sp>
      <p:sp>
        <p:nvSpPr>
          <p:cNvPr id="100" name="Google Shape;100;p20"/>
          <p:cNvSpPr txBox="1"/>
          <p:nvPr/>
        </p:nvSpPr>
        <p:spPr>
          <a:xfrm>
            <a:off x="258100" y="2954858"/>
            <a:ext cx="4820700" cy="723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b="1" lang="en">
                <a:latin typeface="Lora"/>
                <a:ea typeface="Lora"/>
                <a:cs typeface="Lora"/>
                <a:sym typeface="Lora"/>
              </a:rPr>
              <a:t>Domain</a:t>
            </a:r>
            <a:r>
              <a:rPr lang="en">
                <a:latin typeface="Lora"/>
                <a:ea typeface="Lora"/>
                <a:cs typeface="Lora"/>
                <a:sym typeface="Lora"/>
              </a:rPr>
              <a:t>: Specific region being simulated, including a horizontal grid, vertical grid, and topography.</a:t>
            </a:r>
            <a:endParaRPr>
              <a:latin typeface="Lora"/>
              <a:ea typeface="Lora"/>
              <a:cs typeface="Lora"/>
              <a:sym typeface="Lora"/>
            </a:endParaRPr>
          </a:p>
        </p:txBody>
      </p:sp>
      <p:sp>
        <p:nvSpPr>
          <p:cNvPr id="101" name="Google Shape;101;p20"/>
          <p:cNvSpPr/>
          <p:nvPr/>
        </p:nvSpPr>
        <p:spPr>
          <a:xfrm>
            <a:off x="5286999" y="1369212"/>
            <a:ext cx="3520800" cy="3030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20"/>
          <p:cNvSpPr/>
          <p:nvPr/>
        </p:nvSpPr>
        <p:spPr>
          <a:xfrm>
            <a:off x="5586177" y="2184788"/>
            <a:ext cx="2879100" cy="33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Domain Generation</a:t>
            </a:r>
            <a:endParaRPr>
              <a:latin typeface="Lora"/>
              <a:ea typeface="Lora"/>
              <a:cs typeface="Lora"/>
              <a:sym typeface="Lora"/>
            </a:endParaRPr>
          </a:p>
        </p:txBody>
      </p:sp>
      <p:sp>
        <p:nvSpPr>
          <p:cNvPr id="103" name="Google Shape;103;p20"/>
          <p:cNvSpPr/>
          <p:nvPr/>
        </p:nvSpPr>
        <p:spPr>
          <a:xfrm>
            <a:off x="5586177" y="2733369"/>
            <a:ext cx="2879100" cy="33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Case Creation</a:t>
            </a:r>
            <a:endParaRPr>
              <a:latin typeface="Lora"/>
              <a:ea typeface="Lora"/>
              <a:cs typeface="Lora"/>
              <a:sym typeface="Lora"/>
            </a:endParaRPr>
          </a:p>
        </p:txBody>
      </p:sp>
      <p:sp>
        <p:nvSpPr>
          <p:cNvPr id="104" name="Google Shape;104;p20"/>
          <p:cNvSpPr/>
          <p:nvPr/>
        </p:nvSpPr>
        <p:spPr>
          <a:xfrm>
            <a:off x="5586177" y="3281950"/>
            <a:ext cx="2879100" cy="33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Ocean Forcing Data Preparation</a:t>
            </a:r>
            <a:endParaRPr>
              <a:latin typeface="Lora"/>
              <a:ea typeface="Lora"/>
              <a:cs typeface="Lora"/>
              <a:sym typeface="Lora"/>
            </a:endParaRPr>
          </a:p>
        </p:txBody>
      </p:sp>
      <p:sp>
        <p:nvSpPr>
          <p:cNvPr id="105" name="Google Shape;105;p20"/>
          <p:cNvSpPr/>
          <p:nvPr/>
        </p:nvSpPr>
        <p:spPr>
          <a:xfrm>
            <a:off x="5586177" y="3830532"/>
            <a:ext cx="2879100" cy="33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Build and Run Case </a:t>
            </a:r>
            <a:endParaRPr>
              <a:latin typeface="Lora"/>
              <a:ea typeface="Lora"/>
              <a:cs typeface="Lora"/>
              <a:sym typeface="Lora"/>
            </a:endParaRPr>
          </a:p>
        </p:txBody>
      </p:sp>
      <p:cxnSp>
        <p:nvCxnSpPr>
          <p:cNvPr id="106" name="Google Shape;106;p20"/>
          <p:cNvCxnSpPr>
            <a:stCxn id="102" idx="2"/>
            <a:endCxn id="103" idx="0"/>
          </p:cNvCxnSpPr>
          <p:nvPr/>
        </p:nvCxnSpPr>
        <p:spPr>
          <a:xfrm>
            <a:off x="7025727" y="2515388"/>
            <a:ext cx="0" cy="218100"/>
          </a:xfrm>
          <a:prstGeom prst="straightConnector1">
            <a:avLst/>
          </a:prstGeom>
          <a:noFill/>
          <a:ln cap="flat" cmpd="sng" w="19050">
            <a:solidFill>
              <a:srgbClr val="000000"/>
            </a:solidFill>
            <a:prstDash val="solid"/>
            <a:round/>
            <a:headEnd len="med" w="med" type="none"/>
            <a:tailEnd len="med" w="med" type="triangle"/>
          </a:ln>
        </p:spPr>
      </p:cxnSp>
      <p:cxnSp>
        <p:nvCxnSpPr>
          <p:cNvPr id="107" name="Google Shape;107;p20"/>
          <p:cNvCxnSpPr>
            <a:stCxn id="103" idx="2"/>
            <a:endCxn id="104" idx="0"/>
          </p:cNvCxnSpPr>
          <p:nvPr/>
        </p:nvCxnSpPr>
        <p:spPr>
          <a:xfrm>
            <a:off x="7025727" y="3063969"/>
            <a:ext cx="0" cy="218100"/>
          </a:xfrm>
          <a:prstGeom prst="straightConnector1">
            <a:avLst/>
          </a:prstGeom>
          <a:noFill/>
          <a:ln cap="flat" cmpd="sng" w="19050">
            <a:solidFill>
              <a:srgbClr val="000000"/>
            </a:solidFill>
            <a:prstDash val="solid"/>
            <a:round/>
            <a:headEnd len="med" w="med" type="none"/>
            <a:tailEnd len="med" w="med" type="triangle"/>
          </a:ln>
        </p:spPr>
      </p:cxnSp>
      <p:cxnSp>
        <p:nvCxnSpPr>
          <p:cNvPr id="108" name="Google Shape;108;p20"/>
          <p:cNvCxnSpPr>
            <a:stCxn id="104" idx="2"/>
            <a:endCxn id="105" idx="0"/>
          </p:cNvCxnSpPr>
          <p:nvPr/>
        </p:nvCxnSpPr>
        <p:spPr>
          <a:xfrm>
            <a:off x="7025727" y="3612550"/>
            <a:ext cx="0" cy="218100"/>
          </a:xfrm>
          <a:prstGeom prst="straightConnector1">
            <a:avLst/>
          </a:prstGeom>
          <a:noFill/>
          <a:ln cap="flat" cmpd="sng" w="19050">
            <a:solidFill>
              <a:srgbClr val="000000"/>
            </a:solidFill>
            <a:prstDash val="solid"/>
            <a:round/>
            <a:headEnd len="med" w="med" type="none"/>
            <a:tailEnd len="med" w="med" type="triangle"/>
          </a:ln>
        </p:spPr>
      </p:cxnSp>
      <p:sp>
        <p:nvSpPr>
          <p:cNvPr id="109" name="Google Shape;109;p20"/>
          <p:cNvSpPr txBox="1"/>
          <p:nvPr/>
        </p:nvSpPr>
        <p:spPr>
          <a:xfrm>
            <a:off x="6011173" y="1551331"/>
            <a:ext cx="2029200" cy="5232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latin typeface="Lora"/>
                <a:ea typeface="Lora"/>
                <a:cs typeface="Lora"/>
                <a:sym typeface="Lora"/>
              </a:rPr>
              <a:t>CrocoDash</a:t>
            </a:r>
            <a:endParaRPr b="1" sz="2200">
              <a:latin typeface="Lora"/>
              <a:ea typeface="Lora"/>
              <a:cs typeface="Lora"/>
              <a:sym typeface="Lora"/>
            </a:endParaRPr>
          </a:p>
        </p:txBody>
      </p:sp>
      <p:sp>
        <p:nvSpPr>
          <p:cNvPr id="110" name="Google Shape;110;p20"/>
          <p:cNvSpPr txBox="1"/>
          <p:nvPr/>
        </p:nvSpPr>
        <p:spPr>
          <a:xfrm>
            <a:off x="234700" y="3771432"/>
            <a:ext cx="5055900" cy="723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a:latin typeface="Lora"/>
                <a:ea typeface="Lora"/>
                <a:cs typeface="Lora"/>
                <a:sym typeface="Lora"/>
              </a:rPr>
              <a:t>Forcings</a:t>
            </a:r>
            <a:r>
              <a:rPr lang="en">
                <a:latin typeface="Lora"/>
                <a:ea typeface="Lora"/>
                <a:cs typeface="Lora"/>
                <a:sym typeface="Lora"/>
              </a:rPr>
              <a:t>: Initial conditions (ICs), open boundary conditions (OBCs), tides, and chlorophyll.</a:t>
            </a:r>
            <a:endParaRPr sz="1600"/>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MOTIVATION</a:t>
            </a:r>
            <a:endParaRPr sz="1500">
              <a:latin typeface="Arial"/>
              <a:ea typeface="Arial"/>
              <a:cs typeface="Arial"/>
              <a:sym typeface="Arial"/>
            </a:endParaRPr>
          </a:p>
        </p:txBody>
      </p:sp>
      <p:sp>
        <p:nvSpPr>
          <p:cNvPr id="116" name="Google Shape;116;p21"/>
          <p:cNvSpPr txBox="1"/>
          <p:nvPr>
            <p:ph idx="1" type="body"/>
          </p:nvPr>
        </p:nvSpPr>
        <p:spPr>
          <a:xfrm>
            <a:off x="381000" y="879225"/>
            <a:ext cx="4040100" cy="6882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Model setups are now more </a:t>
            </a:r>
            <a:r>
              <a:rPr lang="en">
                <a:latin typeface="Lora"/>
                <a:ea typeface="Lora"/>
                <a:cs typeface="Lora"/>
                <a:sym typeface="Lora"/>
              </a:rPr>
              <a:t>user-friendly and </a:t>
            </a:r>
            <a:r>
              <a:rPr lang="en">
                <a:latin typeface="Lora"/>
                <a:ea typeface="Lora"/>
                <a:cs typeface="Lora"/>
                <a:sym typeface="Lora"/>
              </a:rPr>
              <a:t>streamlined in this workflow but… </a:t>
            </a:r>
            <a:endParaRPr>
              <a:latin typeface="Lora"/>
              <a:ea typeface="Lora"/>
              <a:cs typeface="Lora"/>
              <a:sym typeface="Lora"/>
            </a:endParaRPr>
          </a:p>
        </p:txBody>
      </p:sp>
      <p:sp>
        <p:nvSpPr>
          <p:cNvPr id="117" name="Google Shape;117;p21"/>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1: Introduction</a:t>
            </a:r>
            <a:endParaRPr b="1" sz="1200">
              <a:solidFill>
                <a:srgbClr val="FFFFFF"/>
              </a:solidFill>
            </a:endParaRPr>
          </a:p>
        </p:txBody>
      </p:sp>
      <p:sp>
        <p:nvSpPr>
          <p:cNvPr id="118" name="Google Shape;118;p21"/>
          <p:cNvSpPr txBox="1"/>
          <p:nvPr/>
        </p:nvSpPr>
        <p:spPr>
          <a:xfrm>
            <a:off x="111450" y="1541888"/>
            <a:ext cx="4579200" cy="384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lang="en" sz="1300">
                <a:latin typeface="Lora"/>
                <a:ea typeface="Lora"/>
                <a:cs typeface="Lora"/>
                <a:sym typeface="Lora"/>
              </a:rPr>
              <a:t>T</a:t>
            </a:r>
            <a:r>
              <a:rPr lang="en" sz="1300">
                <a:latin typeface="Lora"/>
                <a:ea typeface="Lora"/>
                <a:cs typeface="Lora"/>
                <a:sym typeface="Lora"/>
              </a:rPr>
              <a:t>here is a lack of </a:t>
            </a:r>
            <a:r>
              <a:rPr b="1" lang="en" sz="1300">
                <a:latin typeface="Lora"/>
                <a:ea typeface="Lora"/>
                <a:cs typeface="Lora"/>
                <a:sym typeface="Lora"/>
              </a:rPr>
              <a:t>reproducible</a:t>
            </a:r>
            <a:r>
              <a:rPr lang="en" sz="1300">
                <a:latin typeface="Lora"/>
                <a:ea typeface="Lora"/>
                <a:cs typeface="Lora"/>
                <a:sym typeface="Lora"/>
              </a:rPr>
              <a:t> features in CrocoDash!</a:t>
            </a:r>
            <a:endParaRPr sz="1600"/>
          </a:p>
        </p:txBody>
      </p:sp>
      <p:pic>
        <p:nvPicPr>
          <p:cNvPr id="119" name="Google Shape;119;p21" title="Screenshot 2025-07-18 at 12.48.43 PM.png"/>
          <p:cNvPicPr preferRelativeResize="0"/>
          <p:nvPr/>
        </p:nvPicPr>
        <p:blipFill>
          <a:blip r:embed="rId3">
            <a:alphaModFix/>
          </a:blip>
          <a:stretch>
            <a:fillRect/>
          </a:stretch>
        </p:blipFill>
        <p:spPr>
          <a:xfrm>
            <a:off x="383275" y="2012638"/>
            <a:ext cx="4035544" cy="2479562"/>
          </a:xfrm>
          <a:prstGeom prst="rect">
            <a:avLst/>
          </a:prstGeom>
          <a:noFill/>
          <a:ln>
            <a:noFill/>
          </a:ln>
        </p:spPr>
      </p:pic>
      <p:pic>
        <p:nvPicPr>
          <p:cNvPr id="120" name="Google Shape;120;p21" title="Screenshot 2025-07-18 at 12.08.20 PM.png"/>
          <p:cNvPicPr preferRelativeResize="0"/>
          <p:nvPr/>
        </p:nvPicPr>
        <p:blipFill rotWithShape="1">
          <a:blip r:embed="rId4">
            <a:alphaModFix/>
          </a:blip>
          <a:srcRect b="47467" l="7825" r="0" t="0"/>
          <a:stretch/>
        </p:blipFill>
        <p:spPr>
          <a:xfrm>
            <a:off x="4734875" y="917000"/>
            <a:ext cx="4209975" cy="1843524"/>
          </a:xfrm>
          <a:prstGeom prst="rect">
            <a:avLst/>
          </a:prstGeom>
          <a:noFill/>
          <a:ln>
            <a:noFill/>
          </a:ln>
        </p:spPr>
      </p:pic>
      <p:pic>
        <p:nvPicPr>
          <p:cNvPr id="121" name="Google Shape;121;p21" title="Screenshot 2025-07-18 at 12.09.25 PM.png"/>
          <p:cNvPicPr preferRelativeResize="0"/>
          <p:nvPr/>
        </p:nvPicPr>
        <p:blipFill>
          <a:blip r:embed="rId5">
            <a:alphaModFix/>
          </a:blip>
          <a:stretch>
            <a:fillRect/>
          </a:stretch>
        </p:blipFill>
        <p:spPr>
          <a:xfrm>
            <a:off x="6071775" y="2827100"/>
            <a:ext cx="1536176" cy="1053850"/>
          </a:xfrm>
          <a:prstGeom prst="rect">
            <a:avLst/>
          </a:prstGeom>
          <a:noFill/>
          <a:ln>
            <a:noFill/>
          </a:ln>
        </p:spPr>
      </p:pic>
      <p:sp>
        <p:nvSpPr>
          <p:cNvPr id="122" name="Google Shape;122;p21"/>
          <p:cNvSpPr txBox="1"/>
          <p:nvPr/>
        </p:nvSpPr>
        <p:spPr>
          <a:xfrm>
            <a:off x="4958263" y="4014500"/>
            <a:ext cx="37632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latin typeface="Lora"/>
                <a:ea typeface="Lora"/>
                <a:cs typeface="Lora"/>
                <a:sym typeface="Lora"/>
              </a:rPr>
              <a:t>How do we make this workflow </a:t>
            </a:r>
            <a:r>
              <a:rPr b="1" lang="en" sz="1300">
                <a:latin typeface="Lora"/>
                <a:ea typeface="Lora"/>
                <a:cs typeface="Lora"/>
                <a:sym typeface="Lora"/>
              </a:rPr>
              <a:t>reproducible</a:t>
            </a:r>
            <a:r>
              <a:rPr lang="en" sz="1300">
                <a:latin typeface="Lora"/>
                <a:ea typeface="Lora"/>
                <a:cs typeface="Lora"/>
                <a:sym typeface="Lora"/>
              </a:rPr>
              <a:t>?</a:t>
            </a:r>
            <a:endParaRPr sz="1300">
              <a:latin typeface="Lora"/>
              <a:ea typeface="Lora"/>
              <a:cs typeface="Lora"/>
              <a:sym typeface="Lor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SCIENTIFIC REPRODUCIBILITY</a:t>
            </a:r>
            <a:endParaRPr sz="1500">
              <a:latin typeface="Arial"/>
              <a:ea typeface="Arial"/>
              <a:cs typeface="Arial"/>
              <a:sym typeface="Arial"/>
            </a:endParaRPr>
          </a:p>
        </p:txBody>
      </p:sp>
      <p:sp>
        <p:nvSpPr>
          <p:cNvPr id="128" name="Google Shape;128;p22"/>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2: Procedures</a:t>
            </a:r>
            <a:endParaRPr b="1" sz="1200">
              <a:solidFill>
                <a:srgbClr val="FFFFFF"/>
              </a:solidFill>
            </a:endParaRPr>
          </a:p>
        </p:txBody>
      </p:sp>
      <p:pic>
        <p:nvPicPr>
          <p:cNvPr id="129" name="Google Shape;129;p22" title="Screenshot 2025-07-21 at 9.33.23 AM.png"/>
          <p:cNvPicPr preferRelativeResize="0"/>
          <p:nvPr/>
        </p:nvPicPr>
        <p:blipFill>
          <a:blip r:embed="rId3">
            <a:alphaModFix/>
          </a:blip>
          <a:stretch>
            <a:fillRect/>
          </a:stretch>
        </p:blipFill>
        <p:spPr>
          <a:xfrm>
            <a:off x="1739880" y="1373080"/>
            <a:ext cx="4658276" cy="2863926"/>
          </a:xfrm>
          <a:prstGeom prst="rect">
            <a:avLst/>
          </a:prstGeom>
          <a:noFill/>
          <a:ln>
            <a:noFill/>
          </a:ln>
        </p:spPr>
      </p:pic>
      <p:sp>
        <p:nvSpPr>
          <p:cNvPr id="130" name="Google Shape;130;p22"/>
          <p:cNvSpPr txBox="1"/>
          <p:nvPr/>
        </p:nvSpPr>
        <p:spPr>
          <a:xfrm>
            <a:off x="720900" y="750831"/>
            <a:ext cx="77022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ora"/>
                <a:ea typeface="Lora"/>
                <a:cs typeface="Lora"/>
                <a:sym typeface="Lora"/>
              </a:rPr>
              <a:t>Reproducibility = Repeatability + Traceability + Transparency</a:t>
            </a:r>
            <a:endParaRPr b="1" sz="1500">
              <a:latin typeface="Lora"/>
              <a:ea typeface="Lora"/>
              <a:cs typeface="Lora"/>
              <a:sym typeface="Lora"/>
            </a:endParaRPr>
          </a:p>
        </p:txBody>
      </p:sp>
      <p:sp>
        <p:nvSpPr>
          <p:cNvPr id="131" name="Google Shape;131;p22"/>
          <p:cNvSpPr/>
          <p:nvPr/>
        </p:nvSpPr>
        <p:spPr>
          <a:xfrm>
            <a:off x="1712075" y="3552616"/>
            <a:ext cx="1905000" cy="712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2"/>
          <p:cNvSpPr txBox="1"/>
          <p:nvPr/>
        </p:nvSpPr>
        <p:spPr>
          <a:xfrm>
            <a:off x="45214" y="3385375"/>
            <a:ext cx="1461300" cy="1046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a:latin typeface="Lora"/>
                <a:ea typeface="Lora"/>
                <a:cs typeface="Lora"/>
                <a:sym typeface="Lora"/>
              </a:rPr>
              <a:t>History</a:t>
            </a:r>
            <a:endParaRPr>
              <a:latin typeface="Lora"/>
              <a:ea typeface="Lora"/>
              <a:cs typeface="Lora"/>
              <a:sym typeface="Lora"/>
            </a:endParaRPr>
          </a:p>
          <a:p>
            <a:pPr indent="0" lvl="0" marL="0" rtl="0" algn="ctr">
              <a:lnSpc>
                <a:spcPct val="150000"/>
              </a:lnSpc>
              <a:spcBef>
                <a:spcPts val="0"/>
              </a:spcBef>
              <a:spcAft>
                <a:spcPts val="0"/>
              </a:spcAft>
              <a:buNone/>
            </a:pPr>
            <a:r>
              <a:rPr lang="en">
                <a:latin typeface="Lora"/>
                <a:ea typeface="Lora"/>
                <a:cs typeface="Lora"/>
                <a:sym typeface="Lora"/>
              </a:rPr>
              <a:t>Version control</a:t>
            </a:r>
            <a:endParaRPr>
              <a:latin typeface="Lora"/>
              <a:ea typeface="Lora"/>
              <a:cs typeface="Lora"/>
              <a:sym typeface="Lora"/>
            </a:endParaRPr>
          </a:p>
          <a:p>
            <a:pPr indent="0" lvl="0" marL="0" rtl="0" algn="ctr">
              <a:lnSpc>
                <a:spcPct val="150000"/>
              </a:lnSpc>
              <a:spcBef>
                <a:spcPts val="0"/>
              </a:spcBef>
              <a:spcAft>
                <a:spcPts val="0"/>
              </a:spcAft>
              <a:buNone/>
            </a:pPr>
            <a:r>
              <a:rPr lang="en">
                <a:latin typeface="Lora"/>
                <a:ea typeface="Lora"/>
                <a:cs typeface="Lora"/>
                <a:sym typeface="Lora"/>
              </a:rPr>
              <a:t>Shareability</a:t>
            </a:r>
            <a:endParaRPr>
              <a:latin typeface="Lora"/>
              <a:ea typeface="Lora"/>
              <a:cs typeface="Lora"/>
              <a:sym typeface="Lora"/>
            </a:endParaRPr>
          </a:p>
        </p:txBody>
      </p:sp>
      <p:cxnSp>
        <p:nvCxnSpPr>
          <p:cNvPr id="133" name="Google Shape;133;p22"/>
          <p:cNvCxnSpPr/>
          <p:nvPr/>
        </p:nvCxnSpPr>
        <p:spPr>
          <a:xfrm>
            <a:off x="1460593" y="3908725"/>
            <a:ext cx="205500" cy="0"/>
          </a:xfrm>
          <a:prstGeom prst="straightConnector1">
            <a:avLst/>
          </a:prstGeom>
          <a:noFill/>
          <a:ln cap="flat" cmpd="sng" w="19050">
            <a:solidFill>
              <a:srgbClr val="000000"/>
            </a:solidFill>
            <a:prstDash val="solid"/>
            <a:round/>
            <a:headEnd len="med" w="med" type="none"/>
            <a:tailEnd len="med" w="med" type="triangle"/>
          </a:ln>
        </p:spPr>
      </p:cxnSp>
      <p:sp>
        <p:nvSpPr>
          <p:cNvPr id="134" name="Google Shape;134;p22"/>
          <p:cNvSpPr txBox="1"/>
          <p:nvPr/>
        </p:nvSpPr>
        <p:spPr>
          <a:xfrm>
            <a:off x="6649130" y="1787138"/>
            <a:ext cx="2273700" cy="8772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latin typeface="Lora"/>
                <a:ea typeface="Lora"/>
                <a:cs typeface="Lora"/>
                <a:sym typeface="Lora"/>
              </a:rPr>
              <a:t>Editing topography is important for model tuning but tedious!</a:t>
            </a:r>
            <a:endParaRPr sz="1500">
              <a:latin typeface="Lora"/>
              <a:ea typeface="Lora"/>
              <a:cs typeface="Lora"/>
              <a:sym typeface="Lora"/>
            </a:endParaRPr>
          </a:p>
        </p:txBody>
      </p:sp>
      <p:pic>
        <p:nvPicPr>
          <p:cNvPr id="135" name="Google Shape;135;p22" title="pexels-karolina-grabowska-6028581.jpg"/>
          <p:cNvPicPr preferRelativeResize="0"/>
          <p:nvPr/>
        </p:nvPicPr>
        <p:blipFill>
          <a:blip r:embed="rId4">
            <a:alphaModFix/>
          </a:blip>
          <a:stretch>
            <a:fillRect/>
          </a:stretch>
        </p:blipFill>
        <p:spPr>
          <a:xfrm>
            <a:off x="6649130" y="2749375"/>
            <a:ext cx="2273700" cy="151544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20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20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20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xit" presetID="2" presetSubtype="4">
                                  <p:stCondLst>
                                    <p:cond delay="0"/>
                                  </p:stCondLst>
                                  <p:childTnLst>
                                    <p:anim calcmode="lin" valueType="num">
                                      <p:cBhvr additive="base">
                                        <p:cTn dur="1000"/>
                                        <p:tgtEl>
                                          <p:spTgt spid="135"/>
                                        </p:tgtEl>
                                        <p:attrNameLst>
                                          <p:attrName>ppt_y</p:attrName>
                                        </p:attrNameLst>
                                      </p:cBhvr>
                                      <p:tavLst>
                                        <p:tav fmla="" tm="0">
                                          <p:val>
                                            <p:strVal val="#ppt_y"/>
                                          </p:val>
                                        </p:tav>
                                        <p:tav fmla="" tm="100000">
                                          <p:val>
                                            <p:strVal val="#ppt_y+1"/>
                                          </p:val>
                                        </p:tav>
                                      </p:tavLst>
                                    </p:anim>
                                    <p:set>
                                      <p:cBhvr>
                                        <p:cTn dur="1" fill="hold">
                                          <p:stCondLst>
                                            <p:cond delay="1000"/>
                                          </p:stCondLst>
                                        </p:cTn>
                                        <p:tgtEl>
                                          <p:spTgt spid="1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HISTORY AND PROVENANCE</a:t>
            </a:r>
            <a:endParaRPr sz="1500">
              <a:latin typeface="Arial"/>
              <a:ea typeface="Arial"/>
              <a:cs typeface="Arial"/>
              <a:sym typeface="Arial"/>
            </a:endParaRPr>
          </a:p>
        </p:txBody>
      </p:sp>
      <p:sp>
        <p:nvSpPr>
          <p:cNvPr id="141" name="Google Shape;141;p23"/>
          <p:cNvSpPr txBox="1"/>
          <p:nvPr>
            <p:ph idx="2" type="body"/>
          </p:nvPr>
        </p:nvSpPr>
        <p:spPr>
          <a:xfrm>
            <a:off x="5010040" y="3835800"/>
            <a:ext cx="4009200" cy="677700"/>
          </a:xfrm>
          <a:prstGeom prst="rect">
            <a:avLst/>
          </a:prstGeom>
          <a:solidFill>
            <a:schemeClr val="lt2"/>
          </a:solid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Users now able to save and load snapshots across sessions, with a history </a:t>
            </a:r>
            <a:r>
              <a:rPr b="1" lang="en">
                <a:latin typeface="Lora"/>
                <a:ea typeface="Lora"/>
                <a:cs typeface="Lora"/>
                <a:sym typeface="Lora"/>
              </a:rPr>
              <a:t>log</a:t>
            </a:r>
            <a:r>
              <a:rPr lang="en">
                <a:latin typeface="Lora"/>
                <a:ea typeface="Lora"/>
                <a:cs typeface="Lora"/>
                <a:sym typeface="Lora"/>
              </a:rPr>
              <a:t> of modifications.</a:t>
            </a:r>
            <a:endParaRPr>
              <a:latin typeface="Lora"/>
              <a:ea typeface="Lora"/>
              <a:cs typeface="Lora"/>
              <a:sym typeface="Lora"/>
            </a:endParaRPr>
          </a:p>
        </p:txBody>
      </p:sp>
      <p:sp>
        <p:nvSpPr>
          <p:cNvPr id="142" name="Google Shape;142;p23"/>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2: Procedures</a:t>
            </a:r>
            <a:endParaRPr b="1" sz="1200">
              <a:solidFill>
                <a:srgbClr val="FFFFFF"/>
              </a:solidFill>
            </a:endParaRPr>
          </a:p>
        </p:txBody>
      </p:sp>
      <p:sp>
        <p:nvSpPr>
          <p:cNvPr id="143" name="Google Shape;143;p23"/>
          <p:cNvSpPr txBox="1"/>
          <p:nvPr/>
        </p:nvSpPr>
        <p:spPr>
          <a:xfrm>
            <a:off x="5194844" y="3417786"/>
            <a:ext cx="36396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300">
                <a:latin typeface="Lora"/>
                <a:ea typeface="Lora"/>
                <a:cs typeface="Lora"/>
                <a:sym typeface="Lora"/>
              </a:rPr>
              <a:t>Topo Editor Edit History Section</a:t>
            </a:r>
            <a:endParaRPr i="1" sz="1300">
              <a:latin typeface="Lora"/>
              <a:ea typeface="Lora"/>
              <a:cs typeface="Lora"/>
              <a:sym typeface="Lora"/>
            </a:endParaRPr>
          </a:p>
        </p:txBody>
      </p:sp>
      <p:pic>
        <p:nvPicPr>
          <p:cNvPr id="144" name="Google Shape;144;p23" title="Slide 5 History Widget.png"/>
          <p:cNvPicPr preferRelativeResize="0"/>
          <p:nvPr/>
        </p:nvPicPr>
        <p:blipFill>
          <a:blip r:embed="rId3">
            <a:alphaModFix/>
          </a:blip>
          <a:stretch>
            <a:fillRect/>
          </a:stretch>
        </p:blipFill>
        <p:spPr>
          <a:xfrm>
            <a:off x="5884505" y="658450"/>
            <a:ext cx="2260267" cy="2781850"/>
          </a:xfrm>
          <a:prstGeom prst="rect">
            <a:avLst/>
          </a:prstGeom>
          <a:noFill/>
          <a:ln>
            <a:noFill/>
          </a:ln>
        </p:spPr>
      </p:pic>
      <p:pic>
        <p:nvPicPr>
          <p:cNvPr id="145" name="Google Shape;145;p23" title="Slide 5 Save Load Snapshot.mp4">
            <a:hlinkClick r:id="rId4"/>
          </p:cNvPr>
          <p:cNvPicPr preferRelativeResize="0"/>
          <p:nvPr/>
        </p:nvPicPr>
        <p:blipFill>
          <a:blip r:embed="rId5">
            <a:alphaModFix/>
          </a:blip>
          <a:stretch>
            <a:fillRect/>
          </a:stretch>
        </p:blipFill>
        <p:spPr>
          <a:xfrm>
            <a:off x="60098" y="899425"/>
            <a:ext cx="4874948" cy="334463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VERSION CONTROL INTEGRATION</a:t>
            </a:r>
            <a:endParaRPr sz="1500">
              <a:latin typeface="Arial"/>
              <a:ea typeface="Arial"/>
              <a:cs typeface="Arial"/>
              <a:sym typeface="Arial"/>
            </a:endParaRPr>
          </a:p>
        </p:txBody>
      </p:sp>
      <p:sp>
        <p:nvSpPr>
          <p:cNvPr id="151" name="Google Shape;151;p24"/>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2: Procedures</a:t>
            </a:r>
            <a:endParaRPr b="1" sz="1200">
              <a:solidFill>
                <a:srgbClr val="FFFFFF"/>
              </a:solidFill>
            </a:endParaRPr>
          </a:p>
        </p:txBody>
      </p:sp>
      <p:sp>
        <p:nvSpPr>
          <p:cNvPr id="152" name="Google Shape;152;p24"/>
          <p:cNvSpPr txBox="1"/>
          <p:nvPr>
            <p:ph idx="1" type="body"/>
          </p:nvPr>
        </p:nvSpPr>
        <p:spPr>
          <a:xfrm>
            <a:off x="512542" y="1310887"/>
            <a:ext cx="4040100" cy="6843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With a history to log changes over time, how do we integrate version control?</a:t>
            </a:r>
            <a:endParaRPr>
              <a:latin typeface="Lora"/>
              <a:ea typeface="Lora"/>
              <a:cs typeface="Lora"/>
              <a:sym typeface="Lora"/>
            </a:endParaRPr>
          </a:p>
        </p:txBody>
      </p:sp>
      <p:sp>
        <p:nvSpPr>
          <p:cNvPr id="153" name="Google Shape;153;p24"/>
          <p:cNvSpPr txBox="1"/>
          <p:nvPr/>
        </p:nvSpPr>
        <p:spPr>
          <a:xfrm>
            <a:off x="758542" y="2122763"/>
            <a:ext cx="3548100" cy="6849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Clr>
                <a:srgbClr val="000000"/>
              </a:buClr>
              <a:buSzPts val="1300"/>
              <a:buFont typeface="Arial"/>
              <a:buNone/>
            </a:pPr>
            <a:r>
              <a:rPr lang="en" sz="1300">
                <a:latin typeface="Lora"/>
                <a:ea typeface="Lora"/>
                <a:cs typeface="Lora"/>
                <a:sym typeface="Lora"/>
              </a:rPr>
              <a:t>We use </a:t>
            </a:r>
            <a:r>
              <a:rPr b="1" lang="en" sz="1300">
                <a:latin typeface="Lora"/>
                <a:ea typeface="Lora"/>
                <a:cs typeface="Lora"/>
                <a:sym typeface="Lora"/>
              </a:rPr>
              <a:t>Git</a:t>
            </a:r>
            <a:r>
              <a:rPr lang="en" sz="1300">
                <a:latin typeface="Lora"/>
                <a:ea typeface="Lora"/>
                <a:cs typeface="Lora"/>
                <a:sym typeface="Lora"/>
              </a:rPr>
              <a:t> to handle commits, branches, and checkouts in the Topo Editor.</a:t>
            </a:r>
            <a:endParaRPr sz="1300">
              <a:latin typeface="Lora"/>
              <a:ea typeface="Lora"/>
              <a:cs typeface="Lora"/>
              <a:sym typeface="Lora"/>
            </a:endParaRPr>
          </a:p>
        </p:txBody>
      </p:sp>
      <p:sp>
        <p:nvSpPr>
          <p:cNvPr id="154" name="Google Shape;154;p24"/>
          <p:cNvSpPr txBox="1"/>
          <p:nvPr/>
        </p:nvSpPr>
        <p:spPr>
          <a:xfrm>
            <a:off x="512542" y="2935238"/>
            <a:ext cx="4040100" cy="384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lang="en" sz="1300">
                <a:latin typeface="Lora"/>
                <a:ea typeface="Lora"/>
                <a:cs typeface="Lora"/>
                <a:sym typeface="Lora"/>
              </a:rPr>
              <a:t>This promotes</a:t>
            </a:r>
            <a:r>
              <a:rPr lang="en" sz="1300">
                <a:latin typeface="Lora"/>
                <a:ea typeface="Lora"/>
                <a:cs typeface="Lora"/>
                <a:sym typeface="Lora"/>
              </a:rPr>
              <a:t> data provenance and traceability</a:t>
            </a:r>
            <a:r>
              <a:rPr lang="en" sz="1300">
                <a:latin typeface="Lora"/>
                <a:ea typeface="Lora"/>
                <a:cs typeface="Lora"/>
                <a:sym typeface="Lora"/>
              </a:rPr>
              <a:t>!</a:t>
            </a:r>
            <a:endParaRPr sz="1300">
              <a:latin typeface="Lora"/>
              <a:ea typeface="Lora"/>
              <a:cs typeface="Lora"/>
              <a:sym typeface="Lora"/>
            </a:endParaRPr>
          </a:p>
        </p:txBody>
      </p:sp>
      <p:sp>
        <p:nvSpPr>
          <p:cNvPr id="155" name="Google Shape;155;p24"/>
          <p:cNvSpPr txBox="1"/>
          <p:nvPr/>
        </p:nvSpPr>
        <p:spPr>
          <a:xfrm>
            <a:off x="512542" y="3447713"/>
            <a:ext cx="4040100" cy="684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lang="en" sz="1300">
                <a:latin typeface="Lora"/>
                <a:ea typeface="Lora"/>
                <a:cs typeface="Lora"/>
                <a:sym typeface="Lora"/>
              </a:rPr>
              <a:t>Users can share Topo and Grid configurations through repositories.</a:t>
            </a:r>
            <a:endParaRPr sz="1300">
              <a:latin typeface="Lora"/>
              <a:ea typeface="Lora"/>
              <a:cs typeface="Lora"/>
              <a:sym typeface="Lora"/>
            </a:endParaRPr>
          </a:p>
        </p:txBody>
      </p:sp>
      <p:sp>
        <p:nvSpPr>
          <p:cNvPr id="156" name="Google Shape;156;p24"/>
          <p:cNvSpPr txBox="1"/>
          <p:nvPr/>
        </p:nvSpPr>
        <p:spPr>
          <a:xfrm>
            <a:off x="4800785" y="3655245"/>
            <a:ext cx="36396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300">
                <a:latin typeface="Lora"/>
                <a:ea typeface="Lora"/>
                <a:cs typeface="Lora"/>
                <a:sym typeface="Lora"/>
              </a:rPr>
              <a:t>Topo Editor Version Control Section</a:t>
            </a:r>
            <a:endParaRPr i="1" sz="1300">
              <a:latin typeface="Lora"/>
              <a:ea typeface="Lora"/>
              <a:cs typeface="Lora"/>
              <a:sym typeface="Lora"/>
            </a:endParaRPr>
          </a:p>
        </p:txBody>
      </p:sp>
      <p:pic>
        <p:nvPicPr>
          <p:cNvPr id="157" name="Google Shape;157;p24" title="Slide 6 Git Version Control.png"/>
          <p:cNvPicPr preferRelativeResize="0"/>
          <p:nvPr/>
        </p:nvPicPr>
        <p:blipFill>
          <a:blip r:embed="rId3">
            <a:alphaModFix/>
          </a:blip>
          <a:stretch>
            <a:fillRect/>
          </a:stretch>
        </p:blipFill>
        <p:spPr>
          <a:xfrm>
            <a:off x="4820200" y="1103362"/>
            <a:ext cx="3600726" cy="246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STRUCTURE AND SHAREABILITY</a:t>
            </a:r>
            <a:endParaRPr sz="1500">
              <a:latin typeface="Arial"/>
              <a:ea typeface="Arial"/>
              <a:cs typeface="Arial"/>
              <a:sym typeface="Arial"/>
            </a:endParaRPr>
          </a:p>
        </p:txBody>
      </p:sp>
      <p:sp>
        <p:nvSpPr>
          <p:cNvPr id="163" name="Google Shape;163;p25"/>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2: Procedures</a:t>
            </a:r>
            <a:endParaRPr b="1" sz="1200">
              <a:solidFill>
                <a:srgbClr val="FFFFFF"/>
              </a:solidFill>
            </a:endParaRPr>
          </a:p>
        </p:txBody>
      </p:sp>
      <p:sp>
        <p:nvSpPr>
          <p:cNvPr id="164" name="Google Shape;164;p25"/>
          <p:cNvSpPr/>
          <p:nvPr/>
        </p:nvSpPr>
        <p:spPr>
          <a:xfrm>
            <a:off x="4509200" y="822600"/>
            <a:ext cx="1513800" cy="34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Generate Grid</a:t>
            </a:r>
            <a:endParaRPr>
              <a:latin typeface="Lora"/>
              <a:ea typeface="Lora"/>
              <a:cs typeface="Lora"/>
              <a:sym typeface="Lora"/>
            </a:endParaRPr>
          </a:p>
        </p:txBody>
      </p:sp>
      <p:sp>
        <p:nvSpPr>
          <p:cNvPr id="165" name="Google Shape;165;p25"/>
          <p:cNvSpPr/>
          <p:nvPr/>
        </p:nvSpPr>
        <p:spPr>
          <a:xfrm>
            <a:off x="4628300" y="1415450"/>
            <a:ext cx="1275600" cy="4848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Grid</a:t>
            </a:r>
            <a:endParaRPr>
              <a:latin typeface="Lora"/>
              <a:ea typeface="Lora"/>
              <a:cs typeface="Lora"/>
              <a:sym typeface="Lora"/>
            </a:endParaRPr>
          </a:p>
        </p:txBody>
      </p:sp>
      <p:sp>
        <p:nvSpPr>
          <p:cNvPr id="166" name="Google Shape;166;p25"/>
          <p:cNvSpPr/>
          <p:nvPr/>
        </p:nvSpPr>
        <p:spPr>
          <a:xfrm>
            <a:off x="4509200" y="2152900"/>
            <a:ext cx="1513800" cy="34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Generate Topo</a:t>
            </a:r>
            <a:endParaRPr>
              <a:latin typeface="Lora"/>
              <a:ea typeface="Lora"/>
              <a:cs typeface="Lora"/>
              <a:sym typeface="Lora"/>
            </a:endParaRPr>
          </a:p>
        </p:txBody>
      </p:sp>
      <p:sp>
        <p:nvSpPr>
          <p:cNvPr id="167" name="Google Shape;167;p25"/>
          <p:cNvSpPr/>
          <p:nvPr/>
        </p:nvSpPr>
        <p:spPr>
          <a:xfrm>
            <a:off x="4628300" y="2745750"/>
            <a:ext cx="1275600" cy="4848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Topo</a:t>
            </a:r>
            <a:endParaRPr>
              <a:latin typeface="Lora"/>
              <a:ea typeface="Lora"/>
              <a:cs typeface="Lora"/>
              <a:sym typeface="Lora"/>
            </a:endParaRPr>
          </a:p>
        </p:txBody>
      </p:sp>
      <p:sp>
        <p:nvSpPr>
          <p:cNvPr id="168" name="Google Shape;168;p25"/>
          <p:cNvSpPr/>
          <p:nvPr/>
        </p:nvSpPr>
        <p:spPr>
          <a:xfrm>
            <a:off x="6467950" y="1446500"/>
            <a:ext cx="1513800" cy="4227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Grid Creator</a:t>
            </a:r>
            <a:endParaRPr>
              <a:latin typeface="Lora"/>
              <a:ea typeface="Lora"/>
              <a:cs typeface="Lora"/>
              <a:sym typeface="Lora"/>
            </a:endParaRPr>
          </a:p>
        </p:txBody>
      </p:sp>
      <p:sp>
        <p:nvSpPr>
          <p:cNvPr id="169" name="Google Shape;169;p25"/>
          <p:cNvSpPr/>
          <p:nvPr/>
        </p:nvSpPr>
        <p:spPr>
          <a:xfrm>
            <a:off x="6467950" y="2776800"/>
            <a:ext cx="1513800" cy="4227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Topo Editor</a:t>
            </a:r>
            <a:endParaRPr>
              <a:latin typeface="Lora"/>
              <a:ea typeface="Lora"/>
              <a:cs typeface="Lora"/>
              <a:sym typeface="Lora"/>
            </a:endParaRPr>
          </a:p>
        </p:txBody>
      </p:sp>
      <p:sp>
        <p:nvSpPr>
          <p:cNvPr id="170" name="Google Shape;170;p25"/>
          <p:cNvSpPr/>
          <p:nvPr/>
        </p:nvSpPr>
        <p:spPr>
          <a:xfrm>
            <a:off x="2669550" y="2152900"/>
            <a:ext cx="1513800" cy="34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Generate VGrid</a:t>
            </a:r>
            <a:endParaRPr>
              <a:latin typeface="Lora"/>
              <a:ea typeface="Lora"/>
              <a:cs typeface="Lora"/>
              <a:sym typeface="Lora"/>
            </a:endParaRPr>
          </a:p>
        </p:txBody>
      </p:sp>
      <p:sp>
        <p:nvSpPr>
          <p:cNvPr id="171" name="Google Shape;171;p25"/>
          <p:cNvSpPr/>
          <p:nvPr/>
        </p:nvSpPr>
        <p:spPr>
          <a:xfrm>
            <a:off x="2788638" y="2745750"/>
            <a:ext cx="1275600" cy="4848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VGrid</a:t>
            </a:r>
            <a:endParaRPr>
              <a:latin typeface="Lora"/>
              <a:ea typeface="Lora"/>
              <a:cs typeface="Lora"/>
              <a:sym typeface="Lora"/>
            </a:endParaRPr>
          </a:p>
        </p:txBody>
      </p:sp>
      <p:sp>
        <p:nvSpPr>
          <p:cNvPr id="172" name="Google Shape;172;p25"/>
          <p:cNvSpPr/>
          <p:nvPr/>
        </p:nvSpPr>
        <p:spPr>
          <a:xfrm>
            <a:off x="690900" y="2776800"/>
            <a:ext cx="1513800" cy="4227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VGrid Creator</a:t>
            </a:r>
            <a:endParaRPr>
              <a:latin typeface="Lora"/>
              <a:ea typeface="Lora"/>
              <a:cs typeface="Lora"/>
              <a:sym typeface="Lora"/>
            </a:endParaRPr>
          </a:p>
        </p:txBody>
      </p:sp>
      <p:sp>
        <p:nvSpPr>
          <p:cNvPr id="173" name="Google Shape;173;p25"/>
          <p:cNvSpPr/>
          <p:nvPr/>
        </p:nvSpPr>
        <p:spPr>
          <a:xfrm>
            <a:off x="2788638" y="3804650"/>
            <a:ext cx="1275600" cy="4848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Case</a:t>
            </a:r>
            <a:endParaRPr>
              <a:latin typeface="Lora"/>
              <a:ea typeface="Lora"/>
              <a:cs typeface="Lora"/>
              <a:sym typeface="Lora"/>
            </a:endParaRPr>
          </a:p>
        </p:txBody>
      </p:sp>
      <p:sp>
        <p:nvSpPr>
          <p:cNvPr id="174" name="Google Shape;174;p25"/>
          <p:cNvSpPr txBox="1"/>
          <p:nvPr/>
        </p:nvSpPr>
        <p:spPr>
          <a:xfrm>
            <a:off x="4705000" y="3916075"/>
            <a:ext cx="41412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latin typeface="Lora"/>
                <a:ea typeface="Lora"/>
                <a:cs typeface="Lora"/>
                <a:sym typeface="Lora"/>
              </a:rPr>
              <a:t>Grids and VGrids are </a:t>
            </a:r>
            <a:r>
              <a:rPr b="1" lang="en">
                <a:latin typeface="Lora"/>
                <a:ea typeface="Lora"/>
                <a:cs typeface="Lora"/>
                <a:sym typeface="Lora"/>
              </a:rPr>
              <a:t>libraries </a:t>
            </a:r>
            <a:r>
              <a:rPr lang="en">
                <a:latin typeface="Lora"/>
                <a:ea typeface="Lora"/>
                <a:cs typeface="Lora"/>
                <a:sym typeface="Lora"/>
              </a:rPr>
              <a:t>local to the user.</a:t>
            </a:r>
            <a:endParaRPr i="1">
              <a:latin typeface="Lora"/>
              <a:ea typeface="Lora"/>
              <a:cs typeface="Lora"/>
              <a:sym typeface="Lora"/>
            </a:endParaRPr>
          </a:p>
        </p:txBody>
      </p:sp>
      <p:cxnSp>
        <p:nvCxnSpPr>
          <p:cNvPr id="175" name="Google Shape;175;p25"/>
          <p:cNvCxnSpPr>
            <a:stCxn id="164" idx="2"/>
            <a:endCxn id="165" idx="0"/>
          </p:cNvCxnSpPr>
          <p:nvPr/>
        </p:nvCxnSpPr>
        <p:spPr>
          <a:xfrm>
            <a:off x="5266100" y="1162800"/>
            <a:ext cx="0" cy="252600"/>
          </a:xfrm>
          <a:prstGeom prst="straightConnector1">
            <a:avLst/>
          </a:prstGeom>
          <a:noFill/>
          <a:ln cap="flat" cmpd="sng" w="19050">
            <a:solidFill>
              <a:srgbClr val="000000"/>
            </a:solidFill>
            <a:prstDash val="solid"/>
            <a:round/>
            <a:headEnd len="med" w="med" type="none"/>
            <a:tailEnd len="med" w="med" type="triangle"/>
          </a:ln>
        </p:spPr>
      </p:cxnSp>
      <p:cxnSp>
        <p:nvCxnSpPr>
          <p:cNvPr id="176" name="Google Shape;176;p25"/>
          <p:cNvCxnSpPr>
            <a:stCxn id="165" idx="4"/>
            <a:endCxn id="166" idx="0"/>
          </p:cNvCxnSpPr>
          <p:nvPr/>
        </p:nvCxnSpPr>
        <p:spPr>
          <a:xfrm>
            <a:off x="5266100" y="1900250"/>
            <a:ext cx="0" cy="252600"/>
          </a:xfrm>
          <a:prstGeom prst="straightConnector1">
            <a:avLst/>
          </a:prstGeom>
          <a:noFill/>
          <a:ln cap="flat" cmpd="sng" w="19050">
            <a:solidFill>
              <a:srgbClr val="000000"/>
            </a:solidFill>
            <a:prstDash val="solid"/>
            <a:round/>
            <a:headEnd len="med" w="med" type="none"/>
            <a:tailEnd len="med" w="med" type="triangle"/>
          </a:ln>
        </p:spPr>
      </p:cxnSp>
      <p:cxnSp>
        <p:nvCxnSpPr>
          <p:cNvPr id="177" name="Google Shape;177;p25"/>
          <p:cNvCxnSpPr>
            <a:stCxn id="166" idx="2"/>
            <a:endCxn id="167" idx="0"/>
          </p:cNvCxnSpPr>
          <p:nvPr/>
        </p:nvCxnSpPr>
        <p:spPr>
          <a:xfrm>
            <a:off x="5266100" y="2493100"/>
            <a:ext cx="0" cy="252600"/>
          </a:xfrm>
          <a:prstGeom prst="straightConnector1">
            <a:avLst/>
          </a:prstGeom>
          <a:noFill/>
          <a:ln cap="flat" cmpd="sng" w="19050">
            <a:solidFill>
              <a:srgbClr val="000000"/>
            </a:solidFill>
            <a:prstDash val="solid"/>
            <a:round/>
            <a:headEnd len="med" w="med" type="none"/>
            <a:tailEnd len="med" w="med" type="triangle"/>
          </a:ln>
        </p:spPr>
      </p:cxnSp>
      <p:cxnSp>
        <p:nvCxnSpPr>
          <p:cNvPr id="178" name="Google Shape;178;p25"/>
          <p:cNvCxnSpPr>
            <a:stCxn id="165" idx="6"/>
            <a:endCxn id="168" idx="1"/>
          </p:cNvCxnSpPr>
          <p:nvPr/>
        </p:nvCxnSpPr>
        <p:spPr>
          <a:xfrm>
            <a:off x="5903900" y="1657850"/>
            <a:ext cx="564000" cy="0"/>
          </a:xfrm>
          <a:prstGeom prst="straightConnector1">
            <a:avLst/>
          </a:prstGeom>
          <a:noFill/>
          <a:ln cap="flat" cmpd="sng" w="19050">
            <a:solidFill>
              <a:srgbClr val="000000"/>
            </a:solidFill>
            <a:prstDash val="solid"/>
            <a:round/>
            <a:headEnd len="med" w="med" type="stealth"/>
            <a:tailEnd len="med" w="med" type="triangle"/>
          </a:ln>
        </p:spPr>
      </p:cxnSp>
      <p:cxnSp>
        <p:nvCxnSpPr>
          <p:cNvPr id="179" name="Google Shape;179;p25"/>
          <p:cNvCxnSpPr>
            <a:stCxn id="167" idx="6"/>
            <a:endCxn id="169" idx="1"/>
          </p:cNvCxnSpPr>
          <p:nvPr/>
        </p:nvCxnSpPr>
        <p:spPr>
          <a:xfrm>
            <a:off x="5903900" y="2988150"/>
            <a:ext cx="564000" cy="0"/>
          </a:xfrm>
          <a:prstGeom prst="straightConnector1">
            <a:avLst/>
          </a:prstGeom>
          <a:noFill/>
          <a:ln cap="flat" cmpd="sng" w="19050">
            <a:solidFill>
              <a:srgbClr val="000000"/>
            </a:solidFill>
            <a:prstDash val="solid"/>
            <a:round/>
            <a:headEnd len="med" w="med" type="stealth"/>
            <a:tailEnd len="med" w="med" type="triangle"/>
          </a:ln>
        </p:spPr>
      </p:cxnSp>
      <p:cxnSp>
        <p:nvCxnSpPr>
          <p:cNvPr id="180" name="Google Shape;180;p25"/>
          <p:cNvCxnSpPr>
            <a:stCxn id="170" idx="2"/>
            <a:endCxn id="171" idx="0"/>
          </p:cNvCxnSpPr>
          <p:nvPr/>
        </p:nvCxnSpPr>
        <p:spPr>
          <a:xfrm>
            <a:off x="3426450" y="2493100"/>
            <a:ext cx="0" cy="252600"/>
          </a:xfrm>
          <a:prstGeom prst="straightConnector1">
            <a:avLst/>
          </a:prstGeom>
          <a:noFill/>
          <a:ln cap="flat" cmpd="sng" w="19050">
            <a:solidFill>
              <a:srgbClr val="000000"/>
            </a:solidFill>
            <a:prstDash val="solid"/>
            <a:round/>
            <a:headEnd len="med" w="med" type="none"/>
            <a:tailEnd len="med" w="med" type="triangle"/>
          </a:ln>
        </p:spPr>
      </p:cxnSp>
      <p:cxnSp>
        <p:nvCxnSpPr>
          <p:cNvPr id="181" name="Google Shape;181;p25"/>
          <p:cNvCxnSpPr>
            <a:stCxn id="167" idx="4"/>
            <a:endCxn id="173" idx="7"/>
          </p:cNvCxnSpPr>
          <p:nvPr/>
        </p:nvCxnSpPr>
        <p:spPr>
          <a:xfrm flipH="1">
            <a:off x="3877400" y="3230550"/>
            <a:ext cx="1388700" cy="645000"/>
          </a:xfrm>
          <a:prstGeom prst="straightConnector1">
            <a:avLst/>
          </a:prstGeom>
          <a:noFill/>
          <a:ln cap="flat" cmpd="sng" w="19050">
            <a:solidFill>
              <a:srgbClr val="000000"/>
            </a:solidFill>
            <a:prstDash val="solid"/>
            <a:round/>
            <a:headEnd len="med" w="med" type="none"/>
            <a:tailEnd len="med" w="med" type="triangle"/>
          </a:ln>
        </p:spPr>
      </p:cxnSp>
      <p:cxnSp>
        <p:nvCxnSpPr>
          <p:cNvPr id="182" name="Google Shape;182;p25"/>
          <p:cNvCxnSpPr>
            <a:stCxn id="171" idx="4"/>
            <a:endCxn id="173" idx="0"/>
          </p:cNvCxnSpPr>
          <p:nvPr/>
        </p:nvCxnSpPr>
        <p:spPr>
          <a:xfrm>
            <a:off x="3426438" y="3230550"/>
            <a:ext cx="0" cy="574200"/>
          </a:xfrm>
          <a:prstGeom prst="straightConnector1">
            <a:avLst/>
          </a:prstGeom>
          <a:noFill/>
          <a:ln cap="flat" cmpd="sng" w="19050">
            <a:solidFill>
              <a:srgbClr val="000000"/>
            </a:solidFill>
            <a:prstDash val="solid"/>
            <a:round/>
            <a:headEnd len="med" w="med" type="none"/>
            <a:tailEnd len="med" w="med" type="triangle"/>
          </a:ln>
        </p:spPr>
      </p:cxnSp>
      <p:cxnSp>
        <p:nvCxnSpPr>
          <p:cNvPr id="183" name="Google Shape;183;p25"/>
          <p:cNvCxnSpPr>
            <a:stCxn id="172" idx="3"/>
            <a:endCxn id="171" idx="2"/>
          </p:cNvCxnSpPr>
          <p:nvPr/>
        </p:nvCxnSpPr>
        <p:spPr>
          <a:xfrm>
            <a:off x="2204700" y="2988150"/>
            <a:ext cx="583800" cy="0"/>
          </a:xfrm>
          <a:prstGeom prst="straightConnector1">
            <a:avLst/>
          </a:prstGeom>
          <a:noFill/>
          <a:ln cap="flat" cmpd="sng" w="19050">
            <a:solidFill>
              <a:srgbClr val="000000"/>
            </a:solidFill>
            <a:prstDash val="solid"/>
            <a:round/>
            <a:headEnd len="med" w="med" type="triangle"/>
            <a:tailEnd len="med" w="med" type="triangle"/>
          </a:ln>
        </p:spPr>
      </p:cxnSp>
      <p:cxnSp>
        <p:nvCxnSpPr>
          <p:cNvPr id="184" name="Google Shape;184;p25"/>
          <p:cNvCxnSpPr>
            <a:stCxn id="165" idx="2"/>
            <a:endCxn id="173" idx="2"/>
          </p:cNvCxnSpPr>
          <p:nvPr/>
        </p:nvCxnSpPr>
        <p:spPr>
          <a:xfrm flipH="1">
            <a:off x="2788700" y="1657850"/>
            <a:ext cx="1839600" cy="2389200"/>
          </a:xfrm>
          <a:prstGeom prst="curvedConnector3">
            <a:avLst>
              <a:gd fmla="val 229243" name="adj1"/>
            </a:avLst>
          </a:prstGeom>
          <a:noFill/>
          <a:ln cap="flat" cmpd="sng" w="19050">
            <a:solidFill>
              <a:srgbClr val="000000"/>
            </a:solidFill>
            <a:prstDash val="solid"/>
            <a:round/>
            <a:headEnd len="med" w="med" type="none"/>
            <a:tailEnd len="med" w="med" type="triangle"/>
          </a:ln>
        </p:spPr>
      </p:cxnSp>
      <p:sp>
        <p:nvSpPr>
          <p:cNvPr id="185" name="Google Shape;185;p25"/>
          <p:cNvSpPr txBox="1"/>
          <p:nvPr/>
        </p:nvSpPr>
        <p:spPr>
          <a:xfrm>
            <a:off x="386425" y="898800"/>
            <a:ext cx="3531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latin typeface="Lora"/>
                <a:ea typeface="Lora"/>
                <a:cs typeface="Lora"/>
                <a:sym typeface="Lora"/>
              </a:rPr>
              <a:t>Topo</a:t>
            </a:r>
            <a:r>
              <a:rPr lang="en">
                <a:latin typeface="Lora"/>
                <a:ea typeface="Lora"/>
                <a:cs typeface="Lora"/>
                <a:sym typeface="Lora"/>
              </a:rPr>
              <a:t>s</a:t>
            </a:r>
            <a:r>
              <a:rPr lang="en">
                <a:latin typeface="Lora"/>
                <a:ea typeface="Lora"/>
                <a:cs typeface="Lora"/>
                <a:sym typeface="Lora"/>
              </a:rPr>
              <a:t> are located in </a:t>
            </a:r>
            <a:r>
              <a:rPr b="1" lang="en">
                <a:latin typeface="Lora"/>
                <a:ea typeface="Lora"/>
                <a:cs typeface="Lora"/>
                <a:sym typeface="Lora"/>
              </a:rPr>
              <a:t>Git</a:t>
            </a:r>
            <a:r>
              <a:rPr lang="en">
                <a:latin typeface="Lora"/>
                <a:ea typeface="Lora"/>
                <a:cs typeface="Lora"/>
                <a:sym typeface="Lora"/>
              </a:rPr>
              <a:t> repositories.</a:t>
            </a:r>
            <a:endParaRPr>
              <a:latin typeface="Lora"/>
              <a:ea typeface="Lora"/>
              <a:cs typeface="Lora"/>
              <a:sym typeface="Lor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par>
                                <p:cTn fill="hold" nodeType="with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par>
                                <p:cTn fill="hold" nodeType="with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OBJECT CONFIGURATORS</a:t>
            </a:r>
            <a:endParaRPr sz="1500">
              <a:latin typeface="Arial"/>
              <a:ea typeface="Arial"/>
              <a:cs typeface="Arial"/>
              <a:sym typeface="Arial"/>
            </a:endParaRPr>
          </a:p>
        </p:txBody>
      </p:sp>
      <p:sp>
        <p:nvSpPr>
          <p:cNvPr id="191" name="Google Shape;191;p26"/>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2: Procedures</a:t>
            </a:r>
            <a:endParaRPr b="1" sz="1200">
              <a:solidFill>
                <a:srgbClr val="FFFFFF"/>
              </a:solidFill>
            </a:endParaRPr>
          </a:p>
        </p:txBody>
      </p:sp>
      <p:sp>
        <p:nvSpPr>
          <p:cNvPr id="192" name="Google Shape;192;p26"/>
          <p:cNvSpPr txBox="1"/>
          <p:nvPr/>
        </p:nvSpPr>
        <p:spPr>
          <a:xfrm>
            <a:off x="1134126" y="1230863"/>
            <a:ext cx="2071200" cy="4155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b="1" lang="en" sz="1500">
                <a:latin typeface="Lora"/>
                <a:ea typeface="Lora"/>
                <a:cs typeface="Lora"/>
                <a:sym typeface="Lora"/>
              </a:rPr>
              <a:t>Topo Editor</a:t>
            </a:r>
            <a:endParaRPr b="1" sz="1500">
              <a:latin typeface="Lora"/>
              <a:ea typeface="Lora"/>
              <a:cs typeface="Lora"/>
              <a:sym typeface="Lora"/>
            </a:endParaRPr>
          </a:p>
        </p:txBody>
      </p:sp>
      <p:sp>
        <p:nvSpPr>
          <p:cNvPr id="193" name="Google Shape;193;p26"/>
          <p:cNvSpPr txBox="1"/>
          <p:nvPr/>
        </p:nvSpPr>
        <p:spPr>
          <a:xfrm>
            <a:off x="1511551" y="1123800"/>
            <a:ext cx="1907400" cy="415500"/>
          </a:xfrm>
          <a:prstGeom prst="rect">
            <a:avLst/>
          </a:prstGeom>
          <a:solidFill>
            <a:srgbClr val="FFFFFF"/>
          </a:solid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b="1" lang="en" sz="1500">
                <a:latin typeface="Lora"/>
                <a:ea typeface="Lora"/>
                <a:cs typeface="Lora"/>
                <a:sym typeface="Lora"/>
              </a:rPr>
              <a:t>Grid</a:t>
            </a:r>
            <a:r>
              <a:rPr b="1" lang="en" sz="1500">
                <a:latin typeface="Lora"/>
                <a:ea typeface="Lora"/>
                <a:cs typeface="Lora"/>
                <a:sym typeface="Lora"/>
              </a:rPr>
              <a:t> Creator</a:t>
            </a:r>
            <a:endParaRPr b="1" sz="1500">
              <a:latin typeface="Lora"/>
              <a:ea typeface="Lora"/>
              <a:cs typeface="Lora"/>
              <a:sym typeface="Lora"/>
            </a:endParaRPr>
          </a:p>
        </p:txBody>
      </p:sp>
      <p:sp>
        <p:nvSpPr>
          <p:cNvPr id="194" name="Google Shape;194;p26"/>
          <p:cNvSpPr txBox="1"/>
          <p:nvPr/>
        </p:nvSpPr>
        <p:spPr>
          <a:xfrm>
            <a:off x="6129513" y="1374575"/>
            <a:ext cx="1747200" cy="4155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300"/>
              </a:spcBef>
              <a:spcAft>
                <a:spcPts val="0"/>
              </a:spcAft>
              <a:buNone/>
            </a:pPr>
            <a:r>
              <a:rPr b="1" lang="en" sz="1500">
                <a:latin typeface="Lora"/>
                <a:ea typeface="Lora"/>
                <a:cs typeface="Lora"/>
                <a:sym typeface="Lora"/>
              </a:rPr>
              <a:t>VGrid</a:t>
            </a:r>
            <a:r>
              <a:rPr b="1" lang="en" sz="1500">
                <a:latin typeface="Lora"/>
                <a:ea typeface="Lora"/>
                <a:cs typeface="Lora"/>
                <a:sym typeface="Lora"/>
              </a:rPr>
              <a:t> Creator</a:t>
            </a:r>
            <a:endParaRPr b="1" sz="1500">
              <a:latin typeface="Lora"/>
              <a:ea typeface="Lora"/>
              <a:cs typeface="Lora"/>
              <a:sym typeface="Lora"/>
            </a:endParaRPr>
          </a:p>
        </p:txBody>
      </p:sp>
      <p:pic>
        <p:nvPicPr>
          <p:cNvPr id="195" name="Google Shape;195;p26" title="Slide 8 Topo Editor Still Image.png"/>
          <p:cNvPicPr preferRelativeResize="0"/>
          <p:nvPr/>
        </p:nvPicPr>
        <p:blipFill>
          <a:blip r:embed="rId3">
            <a:alphaModFix/>
          </a:blip>
          <a:stretch>
            <a:fillRect/>
          </a:stretch>
        </p:blipFill>
        <p:spPr>
          <a:xfrm>
            <a:off x="45438" y="1615775"/>
            <a:ext cx="4248576" cy="2694750"/>
          </a:xfrm>
          <a:prstGeom prst="rect">
            <a:avLst/>
          </a:prstGeom>
          <a:noFill/>
          <a:ln>
            <a:noFill/>
          </a:ln>
        </p:spPr>
      </p:pic>
      <p:pic>
        <p:nvPicPr>
          <p:cNvPr id="196" name="Google Shape;196;p26" title="GridCreator Demo.gif"/>
          <p:cNvPicPr preferRelativeResize="0"/>
          <p:nvPr/>
        </p:nvPicPr>
        <p:blipFill>
          <a:blip r:embed="rId4">
            <a:alphaModFix/>
          </a:blip>
          <a:stretch>
            <a:fillRect/>
          </a:stretch>
        </p:blipFill>
        <p:spPr>
          <a:xfrm>
            <a:off x="38275" y="1539300"/>
            <a:ext cx="4853940" cy="3003363"/>
          </a:xfrm>
          <a:prstGeom prst="rect">
            <a:avLst/>
          </a:prstGeom>
          <a:noFill/>
          <a:ln>
            <a:noFill/>
          </a:ln>
        </p:spPr>
      </p:pic>
      <p:pic>
        <p:nvPicPr>
          <p:cNvPr id="197" name="Google Shape;197;p26" title="VGridCreator Demo.gif"/>
          <p:cNvPicPr preferRelativeResize="0"/>
          <p:nvPr/>
        </p:nvPicPr>
        <p:blipFill>
          <a:blip r:embed="rId5">
            <a:alphaModFix/>
          </a:blip>
          <a:stretch>
            <a:fillRect/>
          </a:stretch>
        </p:blipFill>
        <p:spPr>
          <a:xfrm>
            <a:off x="4953437" y="1798370"/>
            <a:ext cx="4099374" cy="248524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7" title="Slide 11 Case Assembler.mp4">
            <a:hlinkClick r:id="rId3"/>
          </p:cNvPr>
          <p:cNvPicPr preferRelativeResize="0"/>
          <p:nvPr/>
        </p:nvPicPr>
        <p:blipFill>
          <a:blip r:embed="rId4">
            <a:alphaModFix/>
          </a:blip>
          <a:stretch>
            <a:fillRect/>
          </a:stretch>
        </p:blipFill>
        <p:spPr>
          <a:xfrm>
            <a:off x="3453713" y="1017300"/>
            <a:ext cx="5408877" cy="3613301"/>
          </a:xfrm>
          <a:prstGeom prst="rect">
            <a:avLst/>
          </a:prstGeom>
          <a:noFill/>
          <a:ln>
            <a:noFill/>
          </a:ln>
        </p:spPr>
      </p:pic>
      <p:sp>
        <p:nvSpPr>
          <p:cNvPr id="203" name="Google Shape;203;p27"/>
          <p:cNvSpPr txBox="1"/>
          <p:nvPr/>
        </p:nvSpPr>
        <p:spPr>
          <a:xfrm>
            <a:off x="5107772" y="601788"/>
            <a:ext cx="21009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ora"/>
                <a:ea typeface="Lora"/>
                <a:cs typeface="Lora"/>
                <a:sym typeface="Lora"/>
              </a:rPr>
              <a:t>Case Assembler</a:t>
            </a:r>
            <a:endParaRPr b="1" sz="1500">
              <a:latin typeface="Lora"/>
              <a:ea typeface="Lora"/>
              <a:cs typeface="Lora"/>
              <a:sym typeface="Lora"/>
            </a:endParaRPr>
          </a:p>
        </p:txBody>
      </p:sp>
      <p:sp>
        <p:nvSpPr>
          <p:cNvPr id="204" name="Google Shape;204;p27"/>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END-TO-END WORKFLOW</a:t>
            </a:r>
            <a:endParaRPr sz="1500">
              <a:latin typeface="Arial"/>
              <a:ea typeface="Arial"/>
              <a:cs typeface="Arial"/>
              <a:sym typeface="Arial"/>
            </a:endParaRPr>
          </a:p>
        </p:txBody>
      </p:sp>
      <p:sp>
        <p:nvSpPr>
          <p:cNvPr id="205" name="Google Shape;205;p27"/>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3: Outcomes</a:t>
            </a:r>
            <a:endParaRPr b="1" sz="1200">
              <a:solidFill>
                <a:srgbClr val="FFFFFF"/>
              </a:solidFill>
            </a:endParaRPr>
          </a:p>
        </p:txBody>
      </p:sp>
      <p:sp>
        <p:nvSpPr>
          <p:cNvPr id="206" name="Google Shape;206;p27"/>
          <p:cNvSpPr txBox="1"/>
          <p:nvPr>
            <p:ph idx="1" type="body"/>
          </p:nvPr>
        </p:nvSpPr>
        <p:spPr>
          <a:xfrm>
            <a:off x="324950" y="2414560"/>
            <a:ext cx="2843100" cy="6696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Case history configurations are saved to a .json file.</a:t>
            </a:r>
            <a:endParaRPr>
              <a:latin typeface="Lora"/>
              <a:ea typeface="Lora"/>
              <a:cs typeface="Lora"/>
              <a:sym typeface="Lora"/>
            </a:endParaRPr>
          </a:p>
        </p:txBody>
      </p:sp>
      <p:sp>
        <p:nvSpPr>
          <p:cNvPr id="207" name="Google Shape;207;p27"/>
          <p:cNvSpPr txBox="1"/>
          <p:nvPr>
            <p:ph idx="1" type="body"/>
          </p:nvPr>
        </p:nvSpPr>
        <p:spPr>
          <a:xfrm>
            <a:off x="324950" y="1480560"/>
            <a:ext cx="2843100" cy="6696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Final step: Add reproducibility to the preparation of forcing data.</a:t>
            </a:r>
            <a:endParaRPr>
              <a:latin typeface="Lora"/>
              <a:ea typeface="Lora"/>
              <a:cs typeface="Lora"/>
              <a:sym typeface="Lora"/>
            </a:endParaRPr>
          </a:p>
        </p:txBody>
      </p:sp>
      <p:sp>
        <p:nvSpPr>
          <p:cNvPr id="208" name="Google Shape;208;p27"/>
          <p:cNvSpPr txBox="1"/>
          <p:nvPr>
            <p:ph idx="1" type="body"/>
          </p:nvPr>
        </p:nvSpPr>
        <p:spPr>
          <a:xfrm>
            <a:off x="324950" y="3348560"/>
            <a:ext cx="2843100" cy="669600"/>
          </a:xfrm>
          <a:prstGeom prst="rect">
            <a:avLst/>
          </a:prstGeom>
          <a:solidFill>
            <a:schemeClr val="accent4"/>
          </a:solid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We have everything we need to </a:t>
            </a:r>
            <a:r>
              <a:rPr b="1" lang="en">
                <a:latin typeface="Lora"/>
                <a:ea typeface="Lora"/>
                <a:cs typeface="Lora"/>
                <a:sym typeface="Lora"/>
              </a:rPr>
              <a:t>build</a:t>
            </a:r>
            <a:r>
              <a:rPr lang="en">
                <a:latin typeface="Lora"/>
                <a:ea typeface="Lora"/>
                <a:cs typeface="Lora"/>
                <a:sym typeface="Lora"/>
              </a:rPr>
              <a:t> and </a:t>
            </a:r>
            <a:r>
              <a:rPr b="1" lang="en">
                <a:latin typeface="Lora"/>
                <a:ea typeface="Lora"/>
                <a:cs typeface="Lora"/>
                <a:sym typeface="Lora"/>
              </a:rPr>
              <a:t>run</a:t>
            </a:r>
            <a:r>
              <a:rPr lang="en">
                <a:latin typeface="Lora"/>
                <a:ea typeface="Lora"/>
                <a:cs typeface="Lora"/>
                <a:sym typeface="Lora"/>
              </a:rPr>
              <a:t> a Case from history!</a:t>
            </a:r>
            <a:endParaRPr>
              <a:latin typeface="Lora"/>
              <a:ea typeface="Lora"/>
              <a:cs typeface="Lora"/>
              <a:sym typeface="Lor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END-TO-END WORKFLOW</a:t>
            </a:r>
            <a:endParaRPr sz="1500">
              <a:latin typeface="Arial"/>
              <a:ea typeface="Arial"/>
              <a:cs typeface="Arial"/>
              <a:sym typeface="Arial"/>
            </a:endParaRPr>
          </a:p>
        </p:txBody>
      </p:sp>
      <p:sp>
        <p:nvSpPr>
          <p:cNvPr id="214" name="Google Shape;214;p28"/>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3: Outcomes</a:t>
            </a:r>
            <a:endParaRPr b="1" sz="1200">
              <a:solidFill>
                <a:srgbClr val="FFFFFF"/>
              </a:solidFill>
            </a:endParaRPr>
          </a:p>
        </p:txBody>
      </p:sp>
      <p:pic>
        <p:nvPicPr>
          <p:cNvPr id="215" name="Google Shape;215;p28" title="Screenshot 2025-07-18 at 10.45.14 PM.png"/>
          <p:cNvPicPr preferRelativeResize="0"/>
          <p:nvPr/>
        </p:nvPicPr>
        <p:blipFill>
          <a:blip r:embed="rId3">
            <a:alphaModFix/>
          </a:blip>
          <a:stretch>
            <a:fillRect/>
          </a:stretch>
        </p:blipFill>
        <p:spPr>
          <a:xfrm>
            <a:off x="3678499" y="3953949"/>
            <a:ext cx="4959451" cy="555550"/>
          </a:xfrm>
          <a:prstGeom prst="rect">
            <a:avLst/>
          </a:prstGeom>
          <a:noFill/>
          <a:ln>
            <a:noFill/>
          </a:ln>
        </p:spPr>
      </p:pic>
      <p:pic>
        <p:nvPicPr>
          <p:cNvPr id="216" name="Google Shape;216;p28" title="Screenshot 2025-07-18 at 11.08.44 PM.png"/>
          <p:cNvPicPr preferRelativeResize="0"/>
          <p:nvPr/>
        </p:nvPicPr>
        <p:blipFill rotWithShape="1">
          <a:blip r:embed="rId4">
            <a:alphaModFix/>
          </a:blip>
          <a:srcRect b="0" l="0" r="0" t="249"/>
          <a:stretch/>
        </p:blipFill>
        <p:spPr>
          <a:xfrm>
            <a:off x="4119875" y="1025725"/>
            <a:ext cx="4076574" cy="3032001"/>
          </a:xfrm>
          <a:prstGeom prst="rect">
            <a:avLst/>
          </a:prstGeom>
          <a:noFill/>
          <a:ln>
            <a:noFill/>
          </a:ln>
        </p:spPr>
      </p:pic>
      <p:sp>
        <p:nvSpPr>
          <p:cNvPr id="217" name="Google Shape;217;p28"/>
          <p:cNvSpPr txBox="1"/>
          <p:nvPr>
            <p:ph idx="1" type="body"/>
          </p:nvPr>
        </p:nvSpPr>
        <p:spPr>
          <a:xfrm>
            <a:off x="324950" y="2414560"/>
            <a:ext cx="2843100" cy="6696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Case history configurations are saved to a .json file.</a:t>
            </a:r>
            <a:endParaRPr>
              <a:latin typeface="Lora"/>
              <a:ea typeface="Lora"/>
              <a:cs typeface="Lora"/>
              <a:sym typeface="Lora"/>
            </a:endParaRPr>
          </a:p>
        </p:txBody>
      </p:sp>
      <p:sp>
        <p:nvSpPr>
          <p:cNvPr id="218" name="Google Shape;218;p28"/>
          <p:cNvSpPr txBox="1"/>
          <p:nvPr>
            <p:ph idx="1" type="body"/>
          </p:nvPr>
        </p:nvSpPr>
        <p:spPr>
          <a:xfrm>
            <a:off x="324950" y="1480560"/>
            <a:ext cx="2843100" cy="6696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Final step: Add reproducibility to the preparation of forcing data.</a:t>
            </a:r>
            <a:endParaRPr>
              <a:latin typeface="Lora"/>
              <a:ea typeface="Lora"/>
              <a:cs typeface="Lora"/>
              <a:sym typeface="Lora"/>
            </a:endParaRPr>
          </a:p>
        </p:txBody>
      </p:sp>
      <p:sp>
        <p:nvSpPr>
          <p:cNvPr id="219" name="Google Shape;219;p28"/>
          <p:cNvSpPr txBox="1"/>
          <p:nvPr>
            <p:ph idx="1" type="body"/>
          </p:nvPr>
        </p:nvSpPr>
        <p:spPr>
          <a:xfrm>
            <a:off x="324950" y="3348560"/>
            <a:ext cx="2843100" cy="669600"/>
          </a:xfrm>
          <a:prstGeom prst="rect">
            <a:avLst/>
          </a:prstGeom>
          <a:solidFill>
            <a:schemeClr val="accent4"/>
          </a:solid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lang="en">
                <a:latin typeface="Lora"/>
                <a:ea typeface="Lora"/>
                <a:cs typeface="Lora"/>
                <a:sym typeface="Lora"/>
              </a:rPr>
              <a:t>We have everything we need to </a:t>
            </a:r>
            <a:r>
              <a:rPr b="1" lang="en">
                <a:latin typeface="Lora"/>
                <a:ea typeface="Lora"/>
                <a:cs typeface="Lora"/>
                <a:sym typeface="Lora"/>
              </a:rPr>
              <a:t>build</a:t>
            </a:r>
            <a:r>
              <a:rPr lang="en">
                <a:latin typeface="Lora"/>
                <a:ea typeface="Lora"/>
                <a:cs typeface="Lora"/>
                <a:sym typeface="Lora"/>
              </a:rPr>
              <a:t> and </a:t>
            </a:r>
            <a:r>
              <a:rPr b="1" lang="en">
                <a:latin typeface="Lora"/>
                <a:ea typeface="Lora"/>
                <a:cs typeface="Lora"/>
                <a:sym typeface="Lora"/>
              </a:rPr>
              <a:t>run</a:t>
            </a:r>
            <a:r>
              <a:rPr lang="en">
                <a:latin typeface="Lora"/>
                <a:ea typeface="Lora"/>
                <a:cs typeface="Lora"/>
                <a:sym typeface="Lora"/>
              </a:rPr>
              <a:t> a Case from history!</a:t>
            </a:r>
            <a:endParaRPr>
              <a:latin typeface="Lora"/>
              <a:ea typeface="Lora"/>
              <a:cs typeface="Lora"/>
              <a:sym typeface="Lora"/>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CONCLUSIONS</a:t>
            </a:r>
            <a:endParaRPr sz="1500">
              <a:latin typeface="Arial"/>
              <a:ea typeface="Arial"/>
              <a:cs typeface="Arial"/>
              <a:sym typeface="Arial"/>
            </a:endParaRPr>
          </a:p>
        </p:txBody>
      </p:sp>
      <p:sp>
        <p:nvSpPr>
          <p:cNvPr id="225" name="Google Shape;225;p29"/>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4: Conclusions</a:t>
            </a:r>
            <a:endParaRPr b="1" sz="1200">
              <a:solidFill>
                <a:srgbClr val="FFFFFF"/>
              </a:solidFill>
            </a:endParaRPr>
          </a:p>
        </p:txBody>
      </p:sp>
      <p:sp>
        <p:nvSpPr>
          <p:cNvPr id="226" name="Google Shape;226;p29"/>
          <p:cNvSpPr txBox="1"/>
          <p:nvPr/>
        </p:nvSpPr>
        <p:spPr>
          <a:xfrm>
            <a:off x="1278600" y="931059"/>
            <a:ext cx="7196400" cy="28398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SzPts val="1500"/>
              <a:buFont typeface="Lora"/>
              <a:buAutoNum type="arabicPeriod"/>
            </a:pPr>
            <a:r>
              <a:rPr lang="en" sz="1500">
                <a:latin typeface="Lora"/>
                <a:ea typeface="Lora"/>
                <a:cs typeface="Lora"/>
                <a:sym typeface="Lora"/>
              </a:rPr>
              <a:t>Reproducibility requires intention and infrastructure.</a:t>
            </a:r>
            <a:r>
              <a:rPr lang="en" sz="1500">
                <a:solidFill>
                  <a:srgbClr val="FFFFFF"/>
                </a:solidFill>
                <a:latin typeface="Lora"/>
                <a:ea typeface="Lora"/>
                <a:cs typeface="Lora"/>
                <a:sym typeface="Lora"/>
              </a:rPr>
              <a:t>Refactoring enables reliability and extensibility.</a:t>
            </a:r>
            <a:endParaRPr sz="1500">
              <a:solidFill>
                <a:srgbClr val="FFFFFF"/>
              </a:solidFill>
              <a:latin typeface="Lora"/>
              <a:ea typeface="Lora"/>
              <a:cs typeface="Lora"/>
              <a:sym typeface="Lora"/>
            </a:endParaRPr>
          </a:p>
          <a:p>
            <a:pPr indent="-323850" lvl="1" marL="914400" rtl="0" algn="l">
              <a:lnSpc>
                <a:spcPct val="150000"/>
              </a:lnSpc>
              <a:spcBef>
                <a:spcPts val="0"/>
              </a:spcBef>
              <a:spcAft>
                <a:spcPts val="0"/>
              </a:spcAft>
              <a:buClr>
                <a:srgbClr val="FFFFFF"/>
              </a:buClr>
              <a:buSzPts val="1500"/>
              <a:buFont typeface="Lora"/>
              <a:buAutoNum type="alphaLcPeriod"/>
            </a:pPr>
            <a:r>
              <a:rPr lang="en" sz="1500">
                <a:solidFill>
                  <a:srgbClr val="FFFFFF"/>
                </a:solidFill>
                <a:latin typeface="Lora"/>
                <a:ea typeface="Lora"/>
                <a:cs typeface="Lora"/>
                <a:sym typeface="Lora"/>
              </a:rPr>
              <a:t>Building new features requires maintenance of one’s footprint.</a:t>
            </a:r>
            <a:endParaRPr sz="1500">
              <a:solidFill>
                <a:srgbClr val="FFFFFF"/>
              </a:solidFill>
              <a:latin typeface="Lora"/>
              <a:ea typeface="Lora"/>
              <a:cs typeface="Lora"/>
              <a:sym typeface="Lora"/>
            </a:endParaRPr>
          </a:p>
          <a:p>
            <a:pPr indent="-323850" lvl="1" marL="914400" rtl="0" algn="l">
              <a:lnSpc>
                <a:spcPct val="150000"/>
              </a:lnSpc>
              <a:spcBef>
                <a:spcPts val="0"/>
              </a:spcBef>
              <a:spcAft>
                <a:spcPts val="0"/>
              </a:spcAft>
              <a:buClr>
                <a:srgbClr val="FFFFFF"/>
              </a:buClr>
              <a:buSzPts val="1500"/>
              <a:buFont typeface="Lora"/>
              <a:buAutoNum type="alphaLcPeriod"/>
            </a:pPr>
            <a:r>
              <a:rPr lang="en" sz="1500">
                <a:solidFill>
                  <a:srgbClr val="FFFFFF"/>
                </a:solidFill>
                <a:latin typeface="Lora"/>
                <a:ea typeface="Lora"/>
                <a:cs typeface="Lora"/>
                <a:sym typeface="Lora"/>
              </a:rPr>
              <a:t>Essential for long-term scientific software.</a:t>
            </a:r>
            <a:endParaRPr sz="1500">
              <a:solidFill>
                <a:srgbClr val="FFFFFF"/>
              </a:solidFill>
              <a:latin typeface="Lora"/>
              <a:ea typeface="Lora"/>
              <a:cs typeface="Lora"/>
              <a:sym typeface="Lora"/>
            </a:endParaRPr>
          </a:p>
          <a:p>
            <a:pPr indent="-323850" lvl="0" marL="457200" rtl="0" algn="l">
              <a:lnSpc>
                <a:spcPct val="150000"/>
              </a:lnSpc>
              <a:spcBef>
                <a:spcPts val="0"/>
              </a:spcBef>
              <a:spcAft>
                <a:spcPts val="0"/>
              </a:spcAft>
              <a:buClr>
                <a:srgbClr val="FFFFFF"/>
              </a:buClr>
              <a:buSzPts val="1500"/>
              <a:buFont typeface="Lora"/>
              <a:buAutoNum type="arabicPeriod"/>
            </a:pPr>
            <a:r>
              <a:rPr lang="en" sz="1500">
                <a:solidFill>
                  <a:srgbClr val="FFFFFF"/>
                </a:solidFill>
                <a:latin typeface="Lora"/>
                <a:ea typeface="Lora"/>
                <a:cs typeface="Lora"/>
                <a:sym typeface="Lora"/>
              </a:rPr>
              <a:t>Reproducibility isn’t just good practice, it’s good science.</a:t>
            </a:r>
            <a:endParaRPr sz="1500">
              <a:solidFill>
                <a:srgbClr val="FFFFFF"/>
              </a:solidFill>
              <a:latin typeface="Lora"/>
              <a:ea typeface="Lora"/>
              <a:cs typeface="Lora"/>
              <a:sym typeface="Lora"/>
            </a:endParaRPr>
          </a:p>
          <a:p>
            <a:pPr indent="-323850" lvl="1" marL="914400" rtl="0" algn="l">
              <a:lnSpc>
                <a:spcPct val="150000"/>
              </a:lnSpc>
              <a:spcBef>
                <a:spcPts val="0"/>
              </a:spcBef>
              <a:spcAft>
                <a:spcPts val="0"/>
              </a:spcAft>
              <a:buClr>
                <a:srgbClr val="FFFFFF"/>
              </a:buClr>
              <a:buSzPts val="1500"/>
              <a:buFont typeface="Lora"/>
              <a:buAutoNum type="alphaLcPeriod"/>
            </a:pPr>
            <a:r>
              <a:rPr lang="en" sz="1500">
                <a:solidFill>
                  <a:srgbClr val="FFFFFF"/>
                </a:solidFill>
                <a:latin typeface="Lora"/>
                <a:ea typeface="Lora"/>
                <a:cs typeface="Lora"/>
                <a:sym typeface="Lora"/>
              </a:rPr>
              <a:t>By tracking what we do, we preserve </a:t>
            </a:r>
            <a:r>
              <a:rPr b="1" lang="en" sz="1500">
                <a:solidFill>
                  <a:srgbClr val="FFFFFF"/>
                </a:solidFill>
                <a:latin typeface="Lora"/>
                <a:ea typeface="Lora"/>
                <a:cs typeface="Lora"/>
                <a:sym typeface="Lora"/>
              </a:rPr>
              <a:t>why</a:t>
            </a:r>
            <a:r>
              <a:rPr lang="en" sz="1500">
                <a:solidFill>
                  <a:srgbClr val="FFFFFF"/>
                </a:solidFill>
                <a:latin typeface="Lora"/>
                <a:ea typeface="Lora"/>
                <a:cs typeface="Lora"/>
                <a:sym typeface="Lora"/>
              </a:rPr>
              <a:t> results matter.</a:t>
            </a:r>
            <a:endParaRPr sz="1500">
              <a:solidFill>
                <a:srgbClr val="FFFFFF"/>
              </a:solidFill>
              <a:latin typeface="Lora"/>
              <a:ea typeface="Lora"/>
              <a:cs typeface="Lora"/>
              <a:sym typeface="Lora"/>
            </a:endParaRPr>
          </a:p>
          <a:p>
            <a:pPr indent="-323850" lvl="1" marL="914400" rtl="0" algn="l">
              <a:lnSpc>
                <a:spcPct val="150000"/>
              </a:lnSpc>
              <a:spcBef>
                <a:spcPts val="0"/>
              </a:spcBef>
              <a:spcAft>
                <a:spcPts val="0"/>
              </a:spcAft>
              <a:buClr>
                <a:srgbClr val="FFFFFF"/>
              </a:buClr>
              <a:buSzPts val="1500"/>
              <a:buFont typeface="Lora"/>
              <a:buAutoNum type="alphaLcPeriod"/>
            </a:pPr>
            <a:r>
              <a:rPr lang="en" sz="1500">
                <a:solidFill>
                  <a:srgbClr val="FFFFFF"/>
                </a:solidFill>
                <a:latin typeface="Lora"/>
                <a:ea typeface="Lora"/>
                <a:cs typeface="Lora"/>
                <a:sym typeface="Lora"/>
              </a:rPr>
              <a:t>This work ensures that ocean models from CrocoDash are not just functional, but transparent and shareable.</a:t>
            </a:r>
            <a:endParaRPr sz="1600">
              <a:solidFill>
                <a:srgbClr val="FFFFFF"/>
              </a:solidFill>
            </a:endParaRPr>
          </a:p>
        </p:txBody>
      </p:sp>
      <p:sp>
        <p:nvSpPr>
          <p:cNvPr id="227" name="Google Shape;227;p29"/>
          <p:cNvSpPr txBox="1"/>
          <p:nvPr>
            <p:ph idx="1" type="body"/>
          </p:nvPr>
        </p:nvSpPr>
        <p:spPr>
          <a:xfrm>
            <a:off x="568650" y="3544725"/>
            <a:ext cx="8006700" cy="758100"/>
          </a:xfrm>
          <a:prstGeom prst="rect">
            <a:avLst/>
          </a:prstGeom>
          <a:solidFill>
            <a:schemeClr val="accent4"/>
          </a:solid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SzPts val="1300"/>
              <a:buNone/>
            </a:pPr>
            <a:r>
              <a:rPr b="1" lang="en" sz="1500">
                <a:latin typeface="Lora"/>
                <a:ea typeface="Lora"/>
                <a:cs typeface="Lora"/>
                <a:sym typeface="Lora"/>
              </a:rPr>
              <a:t>Our work integrating modular configurators, version-controlled editing, and reproducible tools lays the </a:t>
            </a:r>
            <a:r>
              <a:rPr b="1" lang="en" sz="1500">
                <a:latin typeface="Lora"/>
                <a:ea typeface="Lora"/>
                <a:cs typeface="Lora"/>
                <a:sym typeface="Lora"/>
              </a:rPr>
              <a:t>foundation</a:t>
            </a:r>
            <a:r>
              <a:rPr b="1" lang="en" sz="1500">
                <a:latin typeface="Lora"/>
                <a:ea typeface="Lora"/>
                <a:cs typeface="Lora"/>
                <a:sym typeface="Lora"/>
              </a:rPr>
              <a:t> for rapid, reproducible Earth system modeling.</a:t>
            </a:r>
            <a:endParaRPr b="1" sz="1500">
              <a:latin typeface="Lora"/>
              <a:ea typeface="Lora"/>
              <a:cs typeface="Lora"/>
              <a:sym typeface="Lora"/>
            </a:endParaRPr>
          </a:p>
        </p:txBody>
      </p:sp>
      <p:sp>
        <p:nvSpPr>
          <p:cNvPr id="228" name="Google Shape;228;p29"/>
          <p:cNvSpPr txBox="1"/>
          <p:nvPr/>
        </p:nvSpPr>
        <p:spPr>
          <a:xfrm>
            <a:off x="1278600" y="1551231"/>
            <a:ext cx="6957000" cy="6618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FFFFFF"/>
              </a:buClr>
              <a:buSzPts val="1600"/>
              <a:buAutoNum type="arabicPeriod"/>
            </a:pPr>
            <a:r>
              <a:rPr lang="en" sz="1600">
                <a:solidFill>
                  <a:srgbClr val="FFFFFF"/>
                </a:solidFill>
              </a:rPr>
              <a:t>A</a:t>
            </a:r>
            <a:endParaRPr sz="1600">
              <a:solidFill>
                <a:srgbClr val="FFFFFF"/>
              </a:solidFill>
            </a:endParaRPr>
          </a:p>
          <a:p>
            <a:pPr indent="-323850" lvl="0" marL="457200" rtl="0" algn="l">
              <a:lnSpc>
                <a:spcPct val="150000"/>
              </a:lnSpc>
              <a:spcBef>
                <a:spcPts val="0"/>
              </a:spcBef>
              <a:spcAft>
                <a:spcPts val="0"/>
              </a:spcAft>
              <a:buSzPts val="1500"/>
              <a:buFont typeface="Lora"/>
              <a:buAutoNum type="arabicPeriod"/>
            </a:pPr>
            <a:r>
              <a:rPr lang="en" sz="1500">
                <a:latin typeface="Lora"/>
                <a:ea typeface="Lora"/>
                <a:cs typeface="Lora"/>
                <a:sym typeface="Lora"/>
              </a:rPr>
              <a:t>Modular design enables reusable modeling.</a:t>
            </a:r>
            <a:endParaRPr sz="1600"/>
          </a:p>
        </p:txBody>
      </p:sp>
      <p:sp>
        <p:nvSpPr>
          <p:cNvPr id="229" name="Google Shape;229;p29"/>
          <p:cNvSpPr txBox="1"/>
          <p:nvPr/>
        </p:nvSpPr>
        <p:spPr>
          <a:xfrm>
            <a:off x="1278600" y="1966216"/>
            <a:ext cx="6957000" cy="11082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rgbClr val="FFFFFF"/>
              </a:buClr>
              <a:buSzPts val="1500"/>
              <a:buFont typeface="Lora"/>
              <a:buAutoNum type="arabicPeriod"/>
            </a:pPr>
            <a:r>
              <a:t/>
            </a:r>
            <a:endParaRPr sz="1500">
              <a:latin typeface="Lora"/>
              <a:ea typeface="Lora"/>
              <a:cs typeface="Lora"/>
              <a:sym typeface="Lora"/>
            </a:endParaRPr>
          </a:p>
          <a:p>
            <a:pPr indent="-323850" lvl="0" marL="457200" rtl="0" algn="l">
              <a:lnSpc>
                <a:spcPct val="150000"/>
              </a:lnSpc>
              <a:spcBef>
                <a:spcPts val="0"/>
              </a:spcBef>
              <a:spcAft>
                <a:spcPts val="0"/>
              </a:spcAft>
              <a:buClr>
                <a:srgbClr val="FFFFFF"/>
              </a:buClr>
              <a:buSzPts val="1500"/>
              <a:buFont typeface="Lora"/>
              <a:buAutoNum type="arabicPeriod"/>
            </a:pPr>
            <a:r>
              <a:t/>
            </a:r>
            <a:endParaRPr sz="1500">
              <a:latin typeface="Lora"/>
              <a:ea typeface="Lora"/>
              <a:cs typeface="Lora"/>
              <a:sym typeface="Lora"/>
            </a:endParaRPr>
          </a:p>
          <a:p>
            <a:pPr indent="-323850" lvl="0" marL="457200" rtl="0" algn="l">
              <a:lnSpc>
                <a:spcPct val="150000"/>
              </a:lnSpc>
              <a:spcBef>
                <a:spcPts val="0"/>
              </a:spcBef>
              <a:spcAft>
                <a:spcPts val="0"/>
              </a:spcAft>
              <a:buSzPts val="1500"/>
              <a:buFont typeface="Lora"/>
              <a:buAutoNum type="arabicPeriod"/>
            </a:pPr>
            <a:r>
              <a:rPr lang="en" sz="1500">
                <a:latin typeface="Lora"/>
                <a:ea typeface="Lora"/>
                <a:cs typeface="Lora"/>
                <a:sym typeface="Lora"/>
              </a:rPr>
              <a:t>Good science begins with reproducibility.</a:t>
            </a:r>
            <a:endParaRPr sz="1500">
              <a:latin typeface="Lora"/>
              <a:ea typeface="Lora"/>
              <a:cs typeface="Lora"/>
              <a:sym typeface="Lora"/>
            </a:endParaRPr>
          </a:p>
        </p:txBody>
      </p:sp>
      <p:pic>
        <p:nvPicPr>
          <p:cNvPr descr="The Song Elton John Can't Wait to Stop ..." id="230" name="Google Shape;230;p29"/>
          <p:cNvPicPr preferRelativeResize="0"/>
          <p:nvPr/>
        </p:nvPicPr>
        <p:blipFill>
          <a:blip r:embed="rId3">
            <a:alphaModFix/>
          </a:blip>
          <a:stretch>
            <a:fillRect/>
          </a:stretch>
        </p:blipFill>
        <p:spPr>
          <a:xfrm>
            <a:off x="6123200" y="1479413"/>
            <a:ext cx="2619375" cy="1743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ADDITIONAL WORK</a:t>
            </a:r>
            <a:endParaRPr sz="1500">
              <a:latin typeface="Arial"/>
              <a:ea typeface="Arial"/>
              <a:cs typeface="Arial"/>
              <a:sym typeface="Arial"/>
            </a:endParaRPr>
          </a:p>
        </p:txBody>
      </p:sp>
      <p:sp>
        <p:nvSpPr>
          <p:cNvPr id="236" name="Google Shape;236;p30"/>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4: Conclusions</a:t>
            </a:r>
            <a:endParaRPr b="1" sz="1200">
              <a:solidFill>
                <a:srgbClr val="FFFFFF"/>
              </a:solidFill>
            </a:endParaRPr>
          </a:p>
        </p:txBody>
      </p:sp>
      <p:sp>
        <p:nvSpPr>
          <p:cNvPr id="237" name="Google Shape;237;p30"/>
          <p:cNvSpPr txBox="1"/>
          <p:nvPr/>
        </p:nvSpPr>
        <p:spPr>
          <a:xfrm>
            <a:off x="4505375" y="1269650"/>
            <a:ext cx="4383900" cy="12852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SzPts val="1300"/>
              <a:buFont typeface="Lora"/>
              <a:buChar char="●"/>
            </a:pPr>
            <a:r>
              <a:rPr lang="en" sz="1300">
                <a:latin typeface="Lora"/>
                <a:ea typeface="Lora"/>
                <a:cs typeface="Lora"/>
                <a:sym typeface="Lora"/>
              </a:rPr>
              <a:t>Write unit tests for key components in the editors and in the Case Assembler.</a:t>
            </a:r>
            <a:endParaRPr sz="1300">
              <a:latin typeface="Lora"/>
              <a:ea typeface="Lora"/>
              <a:cs typeface="Lora"/>
              <a:sym typeface="Lora"/>
            </a:endParaRPr>
          </a:p>
          <a:p>
            <a:pPr indent="-311150" lvl="0" marL="457200" rtl="0" algn="l">
              <a:lnSpc>
                <a:spcPct val="150000"/>
              </a:lnSpc>
              <a:spcBef>
                <a:spcPts val="0"/>
              </a:spcBef>
              <a:spcAft>
                <a:spcPts val="0"/>
              </a:spcAft>
              <a:buSzPts val="1300"/>
              <a:buFont typeface="Lora"/>
              <a:buChar char="●"/>
            </a:pPr>
            <a:r>
              <a:rPr lang="en" sz="1300">
                <a:latin typeface="Lora"/>
                <a:ea typeface="Lora"/>
                <a:cs typeface="Lora"/>
                <a:sym typeface="Lora"/>
              </a:rPr>
              <a:t>Develop a continuous integration (</a:t>
            </a:r>
            <a:r>
              <a:rPr lang="en" sz="1300">
                <a:latin typeface="Lora"/>
                <a:ea typeface="Lora"/>
                <a:cs typeface="Lora"/>
                <a:sym typeface="Lora"/>
              </a:rPr>
              <a:t>CI</a:t>
            </a:r>
            <a:r>
              <a:rPr lang="en" sz="1300">
                <a:latin typeface="Lora"/>
                <a:ea typeface="Lora"/>
                <a:cs typeface="Lora"/>
                <a:sym typeface="Lora"/>
              </a:rPr>
              <a:t>) pipeline for automated testing.</a:t>
            </a:r>
            <a:endParaRPr sz="1300">
              <a:latin typeface="Lora"/>
              <a:ea typeface="Lora"/>
              <a:cs typeface="Lora"/>
              <a:sym typeface="Lora"/>
            </a:endParaRPr>
          </a:p>
        </p:txBody>
      </p:sp>
      <p:sp>
        <p:nvSpPr>
          <p:cNvPr id="238" name="Google Shape;238;p30"/>
          <p:cNvSpPr txBox="1"/>
          <p:nvPr/>
        </p:nvSpPr>
        <p:spPr>
          <a:xfrm>
            <a:off x="1352463" y="852500"/>
            <a:ext cx="2070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ora"/>
                <a:ea typeface="Lora"/>
                <a:cs typeface="Lora"/>
                <a:sym typeface="Lora"/>
              </a:rPr>
              <a:t>Documentation</a:t>
            </a:r>
            <a:endParaRPr b="1" sz="1500">
              <a:latin typeface="Lora"/>
              <a:ea typeface="Lora"/>
              <a:cs typeface="Lora"/>
              <a:sym typeface="Lora"/>
            </a:endParaRPr>
          </a:p>
        </p:txBody>
      </p:sp>
      <p:pic>
        <p:nvPicPr>
          <p:cNvPr id="239" name="Google Shape;239;p30" title="Screenshot 2025-07-17 at 1.29.57 PM.png"/>
          <p:cNvPicPr preferRelativeResize="0"/>
          <p:nvPr/>
        </p:nvPicPr>
        <p:blipFill>
          <a:blip r:embed="rId3">
            <a:alphaModFix/>
          </a:blip>
          <a:stretch>
            <a:fillRect/>
          </a:stretch>
        </p:blipFill>
        <p:spPr>
          <a:xfrm>
            <a:off x="419225" y="1331528"/>
            <a:ext cx="3936773" cy="2283624"/>
          </a:xfrm>
          <a:prstGeom prst="rect">
            <a:avLst/>
          </a:prstGeom>
          <a:noFill/>
          <a:ln>
            <a:noFill/>
          </a:ln>
        </p:spPr>
      </p:pic>
      <p:sp>
        <p:nvSpPr>
          <p:cNvPr id="240" name="Google Shape;240;p30"/>
          <p:cNvSpPr txBox="1"/>
          <p:nvPr>
            <p:ph idx="1" type="body"/>
          </p:nvPr>
        </p:nvSpPr>
        <p:spPr>
          <a:xfrm>
            <a:off x="350175" y="3718875"/>
            <a:ext cx="4074900" cy="6696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None/>
            </a:pPr>
            <a:r>
              <a:rPr lang="en">
                <a:latin typeface="Lora"/>
                <a:ea typeface="Lora"/>
                <a:cs typeface="Lora"/>
                <a:sym typeface="Lora"/>
              </a:rPr>
              <a:t>Creation of</a:t>
            </a:r>
            <a:r>
              <a:rPr lang="en">
                <a:latin typeface="Lora"/>
                <a:ea typeface="Lora"/>
                <a:cs typeface="Lora"/>
                <a:sym typeface="Lora"/>
              </a:rPr>
              <a:t> Jupyter notebooks focused on scientific reproducibility for regional MOM6 cases.</a:t>
            </a:r>
            <a:endParaRPr>
              <a:latin typeface="Lora"/>
              <a:ea typeface="Lora"/>
              <a:cs typeface="Lora"/>
              <a:sym typeface="Lora"/>
            </a:endParaRPr>
          </a:p>
        </p:txBody>
      </p:sp>
      <p:sp>
        <p:nvSpPr>
          <p:cNvPr id="241" name="Google Shape;241;p30"/>
          <p:cNvSpPr txBox="1"/>
          <p:nvPr/>
        </p:nvSpPr>
        <p:spPr>
          <a:xfrm>
            <a:off x="5771063" y="852500"/>
            <a:ext cx="2070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ora"/>
                <a:ea typeface="Lora"/>
                <a:cs typeface="Lora"/>
                <a:sym typeface="Lora"/>
              </a:rPr>
              <a:t>Testing</a:t>
            </a:r>
            <a:endParaRPr b="1" sz="1500">
              <a:latin typeface="Lora"/>
              <a:ea typeface="Lora"/>
              <a:cs typeface="Lora"/>
              <a:sym typeface="Lora"/>
            </a:endParaRPr>
          </a:p>
        </p:txBody>
      </p:sp>
      <p:sp>
        <p:nvSpPr>
          <p:cNvPr id="242" name="Google Shape;242;p30"/>
          <p:cNvSpPr txBox="1"/>
          <p:nvPr/>
        </p:nvSpPr>
        <p:spPr>
          <a:xfrm>
            <a:off x="4505375" y="3203775"/>
            <a:ext cx="4383900" cy="9852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SzPts val="1300"/>
              <a:buFont typeface="Lora"/>
              <a:buChar char="●"/>
            </a:pPr>
            <a:r>
              <a:rPr lang="en" sz="1300">
                <a:latin typeface="Lora"/>
                <a:ea typeface="Lora"/>
                <a:cs typeface="Lora"/>
                <a:sym typeface="Lora"/>
              </a:rPr>
              <a:t>Handle</a:t>
            </a:r>
            <a:r>
              <a:rPr lang="en" sz="1300">
                <a:latin typeface="Lora"/>
                <a:ea typeface="Lora"/>
                <a:cs typeface="Lora"/>
                <a:sym typeface="Lora"/>
              </a:rPr>
              <a:t> for other grid and edit types.</a:t>
            </a:r>
            <a:endParaRPr sz="1300">
              <a:latin typeface="Lora"/>
              <a:ea typeface="Lora"/>
              <a:cs typeface="Lora"/>
              <a:sym typeface="Lora"/>
            </a:endParaRPr>
          </a:p>
          <a:p>
            <a:pPr indent="-311150" lvl="0" marL="457200" rtl="0" algn="l">
              <a:lnSpc>
                <a:spcPct val="150000"/>
              </a:lnSpc>
              <a:spcBef>
                <a:spcPts val="0"/>
              </a:spcBef>
              <a:spcAft>
                <a:spcPts val="0"/>
              </a:spcAft>
              <a:buSzPts val="1300"/>
              <a:buFont typeface="Lora"/>
              <a:buChar char="●"/>
            </a:pPr>
            <a:r>
              <a:rPr lang="en" sz="1300">
                <a:latin typeface="Lora"/>
                <a:ea typeface="Lora"/>
                <a:cs typeface="Lora"/>
                <a:sym typeface="Lora"/>
              </a:rPr>
              <a:t>Add to the reproducibility suite as CrocoDash grows (e.g., chlorophyll, BGC, DROF)!</a:t>
            </a:r>
            <a:endParaRPr sz="1600"/>
          </a:p>
        </p:txBody>
      </p:sp>
      <p:sp>
        <p:nvSpPr>
          <p:cNvPr id="243" name="Google Shape;243;p30"/>
          <p:cNvSpPr txBox="1"/>
          <p:nvPr/>
        </p:nvSpPr>
        <p:spPr>
          <a:xfrm>
            <a:off x="5771063" y="2747763"/>
            <a:ext cx="2070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ora"/>
                <a:ea typeface="Lora"/>
                <a:cs typeface="Lora"/>
                <a:sym typeface="Lora"/>
              </a:rPr>
              <a:t>Extending Features</a:t>
            </a:r>
            <a:endParaRPr b="1" sz="1500">
              <a:latin typeface="Lora"/>
              <a:ea typeface="Lora"/>
              <a:cs typeface="Lora"/>
              <a:sym typeface="Lor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ACKNOWLEDGMENTS</a:t>
            </a:r>
            <a:endParaRPr sz="1500">
              <a:latin typeface="Arial"/>
              <a:ea typeface="Arial"/>
              <a:cs typeface="Arial"/>
              <a:sym typeface="Arial"/>
            </a:endParaRPr>
          </a:p>
        </p:txBody>
      </p:sp>
      <p:sp>
        <p:nvSpPr>
          <p:cNvPr id="249" name="Google Shape;249;p31"/>
          <p:cNvSpPr txBox="1"/>
          <p:nvPr>
            <p:ph idx="1" type="body"/>
          </p:nvPr>
        </p:nvSpPr>
        <p:spPr>
          <a:xfrm>
            <a:off x="783749" y="730085"/>
            <a:ext cx="7576500" cy="2963400"/>
          </a:xfrm>
          <a:prstGeom prst="rect">
            <a:avLst/>
          </a:prstGeom>
          <a:noFill/>
          <a:ln>
            <a:noFill/>
          </a:ln>
        </p:spPr>
        <p:txBody>
          <a:bodyPr anchorCtr="0" anchor="t" bIns="34275" lIns="68575" spcFirstLastPara="1" rIns="68575" wrap="square" tIns="34275">
            <a:noAutofit/>
          </a:bodyPr>
          <a:lstStyle/>
          <a:p>
            <a:pPr indent="0" lvl="0" marL="0" rtl="0" algn="ctr">
              <a:lnSpc>
                <a:spcPct val="150000"/>
              </a:lnSpc>
              <a:spcBef>
                <a:spcPts val="300"/>
              </a:spcBef>
              <a:spcAft>
                <a:spcPts val="0"/>
              </a:spcAft>
              <a:buNone/>
            </a:pPr>
            <a:r>
              <a:rPr lang="en" sz="1600">
                <a:latin typeface="Lora"/>
                <a:ea typeface="Lora"/>
                <a:cs typeface="Lora"/>
                <a:sym typeface="Lora"/>
              </a:rPr>
              <a:t>Thank you to my mentors:</a:t>
            </a:r>
            <a:endParaRPr sz="1600">
              <a:latin typeface="Lora"/>
              <a:ea typeface="Lora"/>
              <a:cs typeface="Lora"/>
              <a:sym typeface="Lora"/>
            </a:endParaRPr>
          </a:p>
          <a:p>
            <a:pPr indent="0" lvl="0" marL="0" rtl="0" algn="ctr">
              <a:lnSpc>
                <a:spcPct val="150000"/>
              </a:lnSpc>
              <a:spcBef>
                <a:spcPts val="300"/>
              </a:spcBef>
              <a:spcAft>
                <a:spcPts val="0"/>
              </a:spcAft>
              <a:buNone/>
            </a:pPr>
            <a:r>
              <a:rPr b="1" lang="en" sz="1600">
                <a:latin typeface="Lora"/>
                <a:ea typeface="Lora"/>
                <a:cs typeface="Lora"/>
                <a:sym typeface="Lora"/>
              </a:rPr>
              <a:t>Dan Amrhein, Manish Venumuddula, Alper Altuntas</a:t>
            </a:r>
            <a:endParaRPr b="1" sz="1600">
              <a:latin typeface="Lora"/>
              <a:ea typeface="Lora"/>
              <a:cs typeface="Lora"/>
              <a:sym typeface="Lora"/>
            </a:endParaRPr>
          </a:p>
          <a:p>
            <a:pPr indent="0" lvl="0" marL="0" rtl="0" algn="ctr">
              <a:lnSpc>
                <a:spcPct val="150000"/>
              </a:lnSpc>
              <a:spcBef>
                <a:spcPts val="300"/>
              </a:spcBef>
              <a:spcAft>
                <a:spcPts val="0"/>
              </a:spcAft>
              <a:buNone/>
            </a:pPr>
            <a:r>
              <a:t/>
            </a:r>
            <a:endParaRPr b="1" sz="600">
              <a:latin typeface="Lora"/>
              <a:ea typeface="Lora"/>
              <a:cs typeface="Lora"/>
              <a:sym typeface="Lora"/>
            </a:endParaRPr>
          </a:p>
          <a:p>
            <a:pPr indent="0" lvl="0" marL="0" rtl="0" algn="ctr">
              <a:lnSpc>
                <a:spcPct val="150000"/>
              </a:lnSpc>
              <a:spcBef>
                <a:spcPts val="300"/>
              </a:spcBef>
              <a:spcAft>
                <a:spcPts val="0"/>
              </a:spcAft>
              <a:buNone/>
            </a:pPr>
            <a:r>
              <a:rPr lang="en" sz="1600">
                <a:latin typeface="Lora"/>
                <a:ea typeface="Lora"/>
                <a:cs typeface="Lora"/>
                <a:sym typeface="Lora"/>
              </a:rPr>
              <a:t>Thank you to the internship organizers:</a:t>
            </a:r>
            <a:endParaRPr sz="1600">
              <a:latin typeface="Lora"/>
              <a:ea typeface="Lora"/>
              <a:cs typeface="Lora"/>
              <a:sym typeface="Lora"/>
            </a:endParaRPr>
          </a:p>
          <a:p>
            <a:pPr indent="0" lvl="0" marL="0" rtl="0" algn="ctr">
              <a:lnSpc>
                <a:spcPct val="150000"/>
              </a:lnSpc>
              <a:spcBef>
                <a:spcPts val="300"/>
              </a:spcBef>
              <a:spcAft>
                <a:spcPts val="0"/>
              </a:spcAft>
              <a:buNone/>
            </a:pPr>
            <a:r>
              <a:rPr b="1" lang="en" sz="1600">
                <a:latin typeface="Lora"/>
                <a:ea typeface="Lora"/>
                <a:cs typeface="Lora"/>
                <a:sym typeface="Lora"/>
              </a:rPr>
              <a:t>Virginia Do, Jessica Wang, Prashansa Agrawal</a:t>
            </a:r>
            <a:endParaRPr b="1" sz="1600">
              <a:latin typeface="Lora"/>
              <a:ea typeface="Lora"/>
              <a:cs typeface="Lora"/>
              <a:sym typeface="Lora"/>
            </a:endParaRPr>
          </a:p>
          <a:p>
            <a:pPr indent="0" lvl="0" marL="0" rtl="0" algn="ctr">
              <a:lnSpc>
                <a:spcPct val="150000"/>
              </a:lnSpc>
              <a:spcBef>
                <a:spcPts val="300"/>
              </a:spcBef>
              <a:spcAft>
                <a:spcPts val="0"/>
              </a:spcAft>
              <a:buNone/>
            </a:pPr>
            <a:r>
              <a:t/>
            </a:r>
            <a:endParaRPr b="1" sz="600">
              <a:latin typeface="Lora"/>
              <a:ea typeface="Lora"/>
              <a:cs typeface="Lora"/>
              <a:sym typeface="Lora"/>
            </a:endParaRPr>
          </a:p>
          <a:p>
            <a:pPr indent="0" lvl="0" marL="0" rtl="0" algn="ctr">
              <a:lnSpc>
                <a:spcPct val="150000"/>
              </a:lnSpc>
              <a:spcBef>
                <a:spcPts val="300"/>
              </a:spcBef>
              <a:spcAft>
                <a:spcPts val="0"/>
              </a:spcAft>
              <a:buNone/>
            </a:pPr>
            <a:r>
              <a:rPr lang="en" sz="1600">
                <a:latin typeface="Lora"/>
                <a:ea typeface="Lora"/>
                <a:cs typeface="Lora"/>
                <a:sym typeface="Lora"/>
              </a:rPr>
              <a:t>Thank you to the organizations that support us:</a:t>
            </a:r>
            <a:endParaRPr sz="1600">
              <a:latin typeface="Lora"/>
              <a:ea typeface="Lora"/>
              <a:cs typeface="Lora"/>
              <a:sym typeface="Lora"/>
            </a:endParaRPr>
          </a:p>
        </p:txBody>
      </p:sp>
      <p:sp>
        <p:nvSpPr>
          <p:cNvPr id="250" name="Google Shape;250;p31"/>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4: Conclusions</a:t>
            </a:r>
            <a:endParaRPr b="1" sz="1200">
              <a:solidFill>
                <a:srgbClr val="FFFFFF"/>
              </a:solidFill>
            </a:endParaRPr>
          </a:p>
        </p:txBody>
      </p:sp>
      <p:pic>
        <p:nvPicPr>
          <p:cNvPr id="251" name="Google Shape;251;p31"/>
          <p:cNvPicPr preferRelativeResize="0"/>
          <p:nvPr/>
        </p:nvPicPr>
        <p:blipFill>
          <a:blip r:embed="rId3">
            <a:alphaModFix/>
          </a:blip>
          <a:stretch>
            <a:fillRect/>
          </a:stretch>
        </p:blipFill>
        <p:spPr>
          <a:xfrm>
            <a:off x="2509300" y="3197183"/>
            <a:ext cx="896923" cy="896923"/>
          </a:xfrm>
          <a:prstGeom prst="rect">
            <a:avLst/>
          </a:prstGeom>
          <a:noFill/>
          <a:ln>
            <a:noFill/>
          </a:ln>
        </p:spPr>
      </p:pic>
      <p:pic>
        <p:nvPicPr>
          <p:cNvPr id="252" name="Google Shape;252;p31" title="NSF-NCAR_Lockup-UCAR-Dark_102523.png"/>
          <p:cNvPicPr preferRelativeResize="0"/>
          <p:nvPr/>
        </p:nvPicPr>
        <p:blipFill>
          <a:blip r:embed="rId4">
            <a:alphaModFix/>
          </a:blip>
          <a:stretch>
            <a:fillRect/>
          </a:stretch>
        </p:blipFill>
        <p:spPr>
          <a:xfrm>
            <a:off x="3517800" y="3051735"/>
            <a:ext cx="3186427" cy="1062675"/>
          </a:xfrm>
          <a:prstGeom prst="rect">
            <a:avLst/>
          </a:prstGeom>
          <a:noFill/>
          <a:ln>
            <a:noFill/>
          </a:ln>
        </p:spPr>
      </p:pic>
      <p:sp>
        <p:nvSpPr>
          <p:cNvPr id="253" name="Google Shape;253;p31"/>
          <p:cNvSpPr txBox="1"/>
          <p:nvPr/>
        </p:nvSpPr>
        <p:spPr>
          <a:xfrm>
            <a:off x="80250" y="4237625"/>
            <a:ext cx="8983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
                <a:latin typeface="Lora"/>
                <a:ea typeface="Lora"/>
                <a:cs typeface="Lora"/>
                <a:sym typeface="Lora"/>
              </a:rPr>
              <a:t>This material is based upon work supported by the U.S. National Science Foundation National Center for Atmospheric Research, which is a major facility sponsored by the U.S. National Science Foundation under Cooperative Agreement No. 1755088. Any opinions, findings, and conclusions or recommendations expressed in this material are those of the author(s) and do not necessarily reflect the views of the U.S. National Science Foundation.</a:t>
            </a:r>
            <a:endParaRPr sz="600">
              <a:latin typeface="Lora"/>
              <a:ea typeface="Lora"/>
              <a:cs typeface="Lora"/>
              <a:sym typeface="Lor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457200" y="117225"/>
            <a:ext cx="8229600" cy="282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500"/>
              <a:buNone/>
            </a:pPr>
            <a:r>
              <a:rPr lang="en" sz="1500"/>
              <a:t>ABOUT SIPARCS</a:t>
            </a:r>
            <a:endParaRPr sz="1500">
              <a:latin typeface="Arial"/>
              <a:ea typeface="Arial"/>
              <a:cs typeface="Arial"/>
              <a:sym typeface="Arial"/>
            </a:endParaRPr>
          </a:p>
        </p:txBody>
      </p:sp>
      <p:sp>
        <p:nvSpPr>
          <p:cNvPr id="259" name="Google Shape;259;p32"/>
          <p:cNvSpPr txBox="1"/>
          <p:nvPr/>
        </p:nvSpPr>
        <p:spPr>
          <a:xfrm>
            <a:off x="3150458" y="4787348"/>
            <a:ext cx="2843100" cy="29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1200">
                <a:solidFill>
                  <a:schemeClr val="lt1"/>
                </a:solidFill>
              </a:rPr>
              <a:t>Part 4: Conclusions</a:t>
            </a:r>
            <a:endParaRPr b="1" sz="1200">
              <a:solidFill>
                <a:srgbClr val="FFFFFF"/>
              </a:solidFill>
            </a:endParaRPr>
          </a:p>
        </p:txBody>
      </p:sp>
      <p:pic>
        <p:nvPicPr>
          <p:cNvPr id="260" name="Google Shape;260;p32"/>
          <p:cNvPicPr preferRelativeResize="0"/>
          <p:nvPr/>
        </p:nvPicPr>
        <p:blipFill>
          <a:blip r:embed="rId3">
            <a:alphaModFix/>
          </a:blip>
          <a:stretch>
            <a:fillRect/>
          </a:stretch>
        </p:blipFill>
        <p:spPr>
          <a:xfrm>
            <a:off x="538100" y="913523"/>
            <a:ext cx="1431751" cy="1431751"/>
          </a:xfrm>
          <a:prstGeom prst="rect">
            <a:avLst/>
          </a:prstGeom>
          <a:noFill/>
          <a:ln>
            <a:noFill/>
          </a:ln>
        </p:spPr>
      </p:pic>
      <p:pic>
        <p:nvPicPr>
          <p:cNvPr id="261" name="Google Shape;261;p32" title="IMG_4554.JPG"/>
          <p:cNvPicPr preferRelativeResize="0"/>
          <p:nvPr/>
        </p:nvPicPr>
        <p:blipFill>
          <a:blip r:embed="rId4">
            <a:alphaModFix/>
          </a:blip>
          <a:stretch>
            <a:fillRect/>
          </a:stretch>
        </p:blipFill>
        <p:spPr>
          <a:xfrm>
            <a:off x="2353075" y="747875"/>
            <a:ext cx="2637588" cy="1979475"/>
          </a:xfrm>
          <a:prstGeom prst="rect">
            <a:avLst/>
          </a:prstGeom>
          <a:noFill/>
          <a:ln>
            <a:noFill/>
          </a:ln>
        </p:spPr>
      </p:pic>
      <p:pic>
        <p:nvPicPr>
          <p:cNvPr id="262" name="Google Shape;262;p32" title="IMG_4395.JPG"/>
          <p:cNvPicPr preferRelativeResize="0"/>
          <p:nvPr/>
        </p:nvPicPr>
        <p:blipFill>
          <a:blip r:embed="rId5">
            <a:alphaModFix/>
          </a:blip>
          <a:stretch>
            <a:fillRect/>
          </a:stretch>
        </p:blipFill>
        <p:spPr>
          <a:xfrm>
            <a:off x="7057662" y="1293763"/>
            <a:ext cx="1916974" cy="2555950"/>
          </a:xfrm>
          <a:prstGeom prst="rect">
            <a:avLst/>
          </a:prstGeom>
          <a:noFill/>
          <a:ln>
            <a:noFill/>
          </a:ln>
        </p:spPr>
      </p:pic>
      <p:pic>
        <p:nvPicPr>
          <p:cNvPr id="263" name="Google Shape;263;p32" title="IMG_4274.JPG"/>
          <p:cNvPicPr preferRelativeResize="0"/>
          <p:nvPr/>
        </p:nvPicPr>
        <p:blipFill>
          <a:blip r:embed="rId6">
            <a:alphaModFix/>
          </a:blip>
          <a:stretch>
            <a:fillRect/>
          </a:stretch>
        </p:blipFill>
        <p:spPr>
          <a:xfrm>
            <a:off x="2748125" y="2858650"/>
            <a:ext cx="2242550" cy="1681928"/>
          </a:xfrm>
          <a:prstGeom prst="rect">
            <a:avLst/>
          </a:prstGeom>
          <a:noFill/>
          <a:ln>
            <a:noFill/>
          </a:ln>
        </p:spPr>
      </p:pic>
      <p:pic>
        <p:nvPicPr>
          <p:cNvPr id="264" name="Google Shape;264;p32" title="IMG_4064.JPG"/>
          <p:cNvPicPr preferRelativeResize="0"/>
          <p:nvPr/>
        </p:nvPicPr>
        <p:blipFill>
          <a:blip r:embed="rId7">
            <a:alphaModFix/>
          </a:blip>
          <a:stretch>
            <a:fillRect/>
          </a:stretch>
        </p:blipFill>
        <p:spPr>
          <a:xfrm>
            <a:off x="5176800" y="818242"/>
            <a:ext cx="1694726" cy="2259635"/>
          </a:xfrm>
          <a:prstGeom prst="rect">
            <a:avLst/>
          </a:prstGeom>
          <a:noFill/>
          <a:ln>
            <a:noFill/>
          </a:ln>
        </p:spPr>
      </p:pic>
      <p:pic>
        <p:nvPicPr>
          <p:cNvPr id="265" name="Google Shape;265;p32" title="IMG_3910.JPG"/>
          <p:cNvPicPr preferRelativeResize="0"/>
          <p:nvPr/>
        </p:nvPicPr>
        <p:blipFill>
          <a:blip r:embed="rId8">
            <a:alphaModFix/>
          </a:blip>
          <a:stretch>
            <a:fillRect/>
          </a:stretch>
        </p:blipFill>
        <p:spPr>
          <a:xfrm>
            <a:off x="298200" y="2858650"/>
            <a:ext cx="2196552" cy="1647425"/>
          </a:xfrm>
          <a:prstGeom prst="rect">
            <a:avLst/>
          </a:prstGeom>
          <a:noFill/>
          <a:ln>
            <a:noFill/>
          </a:ln>
        </p:spPr>
      </p:pic>
      <p:pic>
        <p:nvPicPr>
          <p:cNvPr id="266" name="Google Shape;266;p32" title="IMG_9252.jpg"/>
          <p:cNvPicPr preferRelativeResize="0"/>
          <p:nvPr/>
        </p:nvPicPr>
        <p:blipFill>
          <a:blip r:embed="rId9">
            <a:alphaModFix/>
          </a:blip>
          <a:stretch>
            <a:fillRect/>
          </a:stretch>
        </p:blipFill>
        <p:spPr>
          <a:xfrm>
            <a:off x="5176800" y="3233375"/>
            <a:ext cx="1694725" cy="12710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Page: NCAR - Blue Logo">
  <a:themeElements>
    <a:clrScheme name="NCAR UCAR">
      <a:dk1>
        <a:srgbClr val="000000"/>
      </a:dk1>
      <a:lt1>
        <a:srgbClr val="FFFFFF"/>
      </a:lt1>
      <a:dk2>
        <a:srgbClr val="1F3058"/>
      </a:dk2>
      <a:lt2>
        <a:srgbClr val="EEECE1"/>
      </a:lt2>
      <a:accent1>
        <a:srgbClr val="1A3141"/>
      </a:accent1>
      <a:accent2>
        <a:srgbClr val="456673"/>
      </a:accent2>
      <a:accent3>
        <a:srgbClr val="C45229"/>
      </a:accent3>
      <a:accent4>
        <a:srgbClr val="9F1B25"/>
      </a:accent4>
      <a:accent5>
        <a:srgbClr val="B36E25"/>
      </a:accent5>
      <a:accent6>
        <a:srgbClr val="555058"/>
      </a:accent6>
      <a:hlink>
        <a:srgbClr val="1F3058"/>
      </a:hlink>
      <a:folHlink>
        <a:srgbClr val="7C788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NCAR-BlueTopHeader-GraySwoosh">
  <a:themeElements>
    <a:clrScheme name="NCAR and UCAR">
      <a:dk1>
        <a:srgbClr val="666666"/>
      </a:dk1>
      <a:lt1>
        <a:srgbClr val="FFFFFF"/>
      </a:lt1>
      <a:dk2>
        <a:srgbClr val="122D5D"/>
      </a:dk2>
      <a:lt2>
        <a:srgbClr val="D3DCEC"/>
      </a:lt2>
      <a:accent1>
        <a:srgbClr val="277DA1"/>
      </a:accent1>
      <a:accent2>
        <a:srgbClr val="248F87"/>
      </a:accent2>
      <a:accent3>
        <a:srgbClr val="BBD52F"/>
      </a:accent3>
      <a:accent4>
        <a:srgbClr val="D3DCEC"/>
      </a:accent4>
      <a:accent5>
        <a:srgbClr val="6C6C6C"/>
      </a:accent5>
      <a:accent6>
        <a:srgbClr val="9EA0A3"/>
      </a:accent6>
      <a:hlink>
        <a:srgbClr val="1A658F"/>
      </a:hlink>
      <a:folHlink>
        <a:srgbClr val="BBD5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