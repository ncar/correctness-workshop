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Old Standard TT"/>
      <p:regular r:id="rId48"/>
      <p:bold r:id="rId49"/>
      <p: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ldStandardTT-regular.fntdata"/><Relationship Id="rId47" Type="http://schemas.openxmlformats.org/officeDocument/2006/relationships/slide" Target="slides/slide42.xml"/><Relationship Id="rId49" Type="http://schemas.openxmlformats.org/officeDocument/2006/relationships/font" Target="fonts/OldStandardT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OldStandardTT-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Good morning everyone, I’m Tripti Agarwal, and today I’ll be talking about our work and some of the </a:t>
            </a:r>
            <a:r>
              <a:rPr lang="en">
                <a:solidFill>
                  <a:schemeClr val="dk1"/>
                </a:solidFill>
              </a:rPr>
              <a:t>initial</a:t>
            </a:r>
            <a:r>
              <a:rPr lang="en">
                <a:solidFill>
                  <a:schemeClr val="dk1"/>
                </a:solidFill>
              </a:rPr>
              <a:t> ideas that we on </a:t>
            </a:r>
            <a:r>
              <a:rPr i="1" lang="en">
                <a:solidFill>
                  <a:schemeClr val="dk1"/>
                </a:solidFill>
              </a:rPr>
              <a:t>Formal Guarantees of Error-Bounded Lossy Compression</a:t>
            </a:r>
            <a:r>
              <a:rPr lang="en">
                <a:solidFill>
                  <a:schemeClr val="dk1"/>
                </a:solidFill>
              </a:rPr>
              <a:t>. This work going to explore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how we can formally verify correctness and determinism in lossy compressors, while maintaining topological and numerical integrity.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eb50ecb1b_0_3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eb50ecb1b_0_3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lets have quick understanding of why we are working with lossy compressors, first. Scientific discovery today heavily depends on large-scale simulations and high-resolution instruments.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eb50ecb1b_0_3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9eb50ecb1b_0_3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For instance, a single CESM climate simulation can generate </a:t>
            </a:r>
            <a:r>
              <a:rPr b="1" lang="en">
                <a:solidFill>
                  <a:schemeClr val="dk1"/>
                </a:solidFill>
              </a:rPr>
              <a:t>1 terabyte per compute day</a:t>
            </a:r>
            <a:r>
              <a:rPr lang="en">
                <a:solidFill>
                  <a:schemeClr val="dk1"/>
                </a:solidFill>
              </a:rPr>
              <a:t>, that can consume nearly </a:t>
            </a:r>
            <a:r>
              <a:rPr b="1" lang="en">
                <a:solidFill>
                  <a:schemeClr val="dk1"/>
                </a:solidFill>
              </a:rPr>
              <a:t>half of NCAR’s hardware budget</a:t>
            </a:r>
            <a:r>
              <a:rPr lang="en">
                <a:solidFill>
                  <a:schemeClr val="dk1"/>
                </a:solidFill>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eb50ecb1b_0_3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eb50ecb1b_0_3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Similarly, Cosmology simulation produces a total of more than 20 PB of data and X-ray experiments can reach </a:t>
            </a:r>
            <a:r>
              <a:rPr b="1" lang="en">
                <a:solidFill>
                  <a:schemeClr val="dk1"/>
                </a:solidFill>
              </a:rPr>
              <a:t>terabytes per second</a:t>
            </a:r>
            <a:r>
              <a:rPr lang="en">
                <a:solidFill>
                  <a:schemeClr val="dk1"/>
                </a:solidFill>
              </a:rPr>
              <a:t>. So clearly, the scale of data in modern scientific simulations is staggering — from climate and cosmology to X-ray facilities, we’re generating large amount of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0c698dfc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0c698dfc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But storing, moving, and analyzing this data becomes infeasible unless we reduce it efficiently. This brings us to the next key question — </a:t>
            </a:r>
            <a:r>
              <a:rPr i="1" lang="en">
                <a:solidFill>
                  <a:schemeClr val="dk1"/>
                </a:solidFill>
              </a:rPr>
              <a:t>how can we actually reduce this data size without losing important information?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eb50ecb1b_0_3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eb50ecb1b_0_3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first approach we typically use is </a:t>
            </a:r>
            <a:r>
              <a:rPr i="1" lang="en">
                <a:solidFill>
                  <a:schemeClr val="dk1"/>
                </a:solidFill>
              </a:rPr>
              <a:t>lossless compression</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Lossless compression relies on redundancy i.e.  repeated patterns or correlations in the data — to shrink the storage footprint without changing any values.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eb50ecb1b_0_3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eb50ecb1b_0_3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 simple workflow of lossless compression. We take the input data, then preprocess it using techniques like </a:t>
            </a:r>
            <a:r>
              <a:rPr lang="en">
                <a:solidFill>
                  <a:schemeClr val="dk1"/>
                </a:solidFill>
              </a:rPr>
              <a:t> LZ77, Snappy, and Zlib so that we can remove redundancy in our data and then apply entropy encoding such as huffman encoding on the data to store the compressed output in form of smaller bits and bytes.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eb50ecb1b_0_3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eb50ecb1b_0_3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for scientific floating-point data, the ratio rarely exceeds by more than 2. So, To  increase the ratio by more than 2, we must trade a bit of accuracy for much higher compression.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eb50ecb1b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eb50ecb1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Thats where lossy compression comes in. So, l</a:t>
            </a:r>
            <a:r>
              <a:rPr lang="en"/>
              <a:t>ossy compression reduces precision through quantization. During quantization the floating point values are converted to integer bin which are later converted back of floating point data but with lower precision during decompression. During this process, we deliberately sacrifice some numerical precision to achieve much higher compression ratios. </a:t>
            </a:r>
            <a:endParaRPr/>
          </a:p>
          <a:p>
            <a:pPr indent="0" lvl="0" marL="0" rtl="0" algn="l">
              <a:spcBef>
                <a:spcPts val="0"/>
              </a:spcBef>
              <a:spcAft>
                <a:spcPts val="0"/>
              </a:spcAft>
              <a:buNone/>
            </a:pPr>
            <a:r>
              <a:rPr lang="en"/>
              <a:t>The compression ratios can go from 10x  to 50x to even 100x in lossy compression</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eb50ecb1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eb50ecb1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t</a:t>
            </a:r>
            <a:r>
              <a:rPr lang="en"/>
              <a:t>he key here  is balance: we want to make data smaller, but still accurate enough for scientific analysis.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9eb50ecb1b_0_3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9eb50ecb1b_0_3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understand how this balance is measured, we look at the metrics so that we can quantify the impact of lossy compression.  The impact is </a:t>
            </a:r>
            <a:r>
              <a:rPr lang="en"/>
              <a:t>measured</a:t>
            </a:r>
            <a:r>
              <a:rPr lang="en"/>
              <a:t> quantitatively—using metrics like error bounds, PSNR, SSIM—or visually through topology, such as critical points and merge trees.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eb50ecb1b_0_3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eb50ecb1b_0_3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an example of Hurricane data using different lossy compressors particularly SZ and ZFP and their quantitative metrics. SZ and ZFP are two main lossy compressors for floating point data built by ANL and Lawrence livermore national labs respectively.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eb50ecb1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eb50ecb1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Quantitative assessment in lossy compressors is done by defining the point-wise error </a:t>
            </a:r>
            <a:r>
              <a:rPr lang="en"/>
              <a:t>bound</a:t>
            </a:r>
            <a:r>
              <a:rPr lang="en"/>
              <a:t> and calculating the statistical metrics like RMSE, PSNR and rate distortion. In this </a:t>
            </a:r>
            <a:r>
              <a:rPr lang="en"/>
              <a:t>example</a:t>
            </a:r>
            <a:r>
              <a:rPr lang="en"/>
              <a:t> here we can see </a:t>
            </a:r>
            <a:r>
              <a:rPr lang="en">
                <a:solidFill>
                  <a:schemeClr val="dk1"/>
                </a:solidFill>
              </a:rPr>
              <a:t>different compressors produce different values of PSNR and SSIM. These values help in measuring the reconstruction quality of the data. These values are highly dependent on the point-wise error bound that we define while performing the compression.</a:t>
            </a:r>
            <a:endParaRPr>
              <a:solidFill>
                <a:schemeClr val="dk1"/>
              </a:solidFill>
            </a:endParaRPr>
          </a:p>
          <a:p>
            <a:pPr indent="0" lvl="0" marL="0" rtl="0" algn="l">
              <a:spcBef>
                <a:spcPts val="0"/>
              </a:spcBef>
              <a:spcAft>
                <a:spcPts val="0"/>
              </a:spcAft>
              <a:buNone/>
            </a:pPr>
            <a:r>
              <a:rPr lang="en"/>
              <a:t>So how can we define the point-wise error bound.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eb50ecb1b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eb50ecb1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the point wise error bound can be defined in two ways: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eb50ecb1b_0_3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eb50ecb1b_0_3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1 is absolute error bound and other is relative error bounds. The main idea of defining the pointwise error bound is  how far decompressed data can deviate from the original data</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eb50ecb1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9eb50ecb1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Now, lets switch gears and talk about some of the problems in the lossy compression and as discussed in the previous </a:t>
            </a:r>
            <a:r>
              <a:rPr lang="en">
                <a:solidFill>
                  <a:schemeClr val="dk1"/>
                </a:solidFill>
              </a:rPr>
              <a:t>presentation</a:t>
            </a:r>
            <a:r>
              <a:rPr lang="en">
                <a:solidFill>
                  <a:schemeClr val="dk1"/>
                </a:solidFill>
              </a:rPr>
              <a:t> what are the fears of lossy compression but from a slightly different angle. </a:t>
            </a:r>
            <a:r>
              <a:rPr lang="en">
                <a:solidFill>
                  <a:schemeClr val="dk1"/>
                </a:solidFill>
              </a:rPr>
              <a:t>So far, we’ve looked at how compressors like SZ and ZFP define strict pointwise error guarantees — absolute or relative — ensuring that reconstructed values don’t deviate from the originals by more than a user-defined bound. But the big question is — </a:t>
            </a:r>
            <a:r>
              <a:rPr i="1" lang="en">
                <a:solidFill>
                  <a:schemeClr val="dk1"/>
                </a:solidFill>
              </a:rPr>
              <a:t>do these guarantees always hold in practice?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eb50ecb1b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9eb50ecb1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Well the answer is no.</a:t>
            </a:r>
            <a:r>
              <a:rPr lang="en">
                <a:solidFill>
                  <a:schemeClr val="dk1"/>
                </a:solidFill>
              </a:rPr>
              <a:t>Even tiny rounding effects in floating-point arithmetic can sometimes push values across those mathematical boundaries. And , in reality, floating-point numbers can’t represent every possible real value.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eb50ecb1b_0_3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9eb50ecb1b_0_3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is because </a:t>
            </a:r>
            <a:r>
              <a:rPr lang="en">
                <a:solidFill>
                  <a:schemeClr val="dk1"/>
                </a:solidFill>
              </a:rPr>
              <a:t>when we quantize or round, especially near bin edges, we can unintentionally violate the very error bounds we’re trying to enforce and that’s where many subtle correctness issues begin.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eb50ecb1b_0_3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9eb50ecb1b_0_3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also face undefined behaviors like NaNs, Infs. If the original data contains Nans and Infs these values can </a:t>
            </a:r>
            <a:r>
              <a:rPr lang="en"/>
              <a:t>propagate</a:t>
            </a:r>
            <a:r>
              <a:rPr lang="en"/>
              <a:t> through different stages of lossy compression pipeline and results in high error in the reconstructed value.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eb50ecb1b_0_3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9eb50ecb1b_0_3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Similarly</a:t>
            </a:r>
            <a:r>
              <a:rPr lang="en">
                <a:solidFill>
                  <a:schemeClr val="dk1"/>
                </a:solidFill>
              </a:rPr>
              <a:t>, </a:t>
            </a:r>
            <a:r>
              <a:rPr lang="en">
                <a:solidFill>
                  <a:schemeClr val="dk1"/>
                </a:solidFill>
              </a:rPr>
              <a:t>denormals are highly sensitive to rounding and these can propagate unpredictably through the pipeline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9eb50ecb1b_0_3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9eb50ecb1b_0_3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in this work, one of our  goal is to </a:t>
            </a:r>
            <a:r>
              <a:rPr b="1" lang="en">
                <a:solidFill>
                  <a:schemeClr val="dk1"/>
                </a:solidFill>
              </a:rPr>
              <a:t>eliminate these corner-case violations</a:t>
            </a:r>
            <a:r>
              <a:rPr lang="en">
                <a:solidFill>
                  <a:schemeClr val="dk1"/>
                </a:solidFill>
              </a:rPr>
              <a:t> i.e. no error bound violation, and no undefined floating point behavior during the compression and reconstruction pipeline.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9eb50ecb1b_0_3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9eb50ecb1b_0_3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this we propose and</a:t>
            </a:r>
            <a:r>
              <a:rPr lang="en">
                <a:solidFill>
                  <a:schemeClr val="dk1"/>
                </a:solidFill>
              </a:rPr>
              <a:t> define </a:t>
            </a:r>
            <a:r>
              <a:rPr i="1" lang="en">
                <a:solidFill>
                  <a:schemeClr val="dk1"/>
                </a:solidFill>
              </a:rPr>
              <a:t>formal contracts</a:t>
            </a:r>
            <a:r>
              <a:rPr lang="en">
                <a:solidFill>
                  <a:schemeClr val="dk1"/>
                </a:solidFill>
              </a:rPr>
              <a:t>—pre- and post-conditions—ensuring that the difference between the original and reconstructed data is less than or equal to defined error bound,</a:t>
            </a:r>
            <a:endParaRPr>
              <a:solidFill>
                <a:schemeClr val="dk1"/>
              </a:solidFill>
            </a:endParaRPr>
          </a:p>
          <a:p>
            <a:pPr indent="0" lvl="0" marL="0" rtl="0" algn="l">
              <a:spcBef>
                <a:spcPts val="0"/>
              </a:spcBef>
              <a:spcAft>
                <a:spcPts val="0"/>
              </a:spcAft>
              <a:buNone/>
            </a:pPr>
            <a:r>
              <a:rPr lang="en">
                <a:solidFill>
                  <a:schemeClr val="dk1"/>
                </a:solidFill>
              </a:rPr>
              <a:t>and that quantization remains monotonic, bounded, and terminating.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9eb50ecb1b_0_3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9eb50ecb1b_0_3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encode these contracts using </a:t>
            </a:r>
            <a:r>
              <a:rPr b="1" lang="en">
                <a:solidFill>
                  <a:schemeClr val="dk1"/>
                </a:solidFill>
              </a:rPr>
              <a:t>Verus</a:t>
            </a:r>
            <a:r>
              <a:rPr lang="en">
                <a:solidFill>
                  <a:schemeClr val="dk1"/>
                </a:solidFill>
              </a:rPr>
              <a:t>, a Rust-based verification language that reasons about memory safety and arithmetic correctness. This gives us </a:t>
            </a:r>
            <a:r>
              <a:rPr i="1" lang="en">
                <a:solidFill>
                  <a:schemeClr val="dk1"/>
                </a:solidFill>
              </a:rPr>
              <a:t>specification-level guarantees</a:t>
            </a:r>
            <a:r>
              <a:rPr lang="en">
                <a:solidFill>
                  <a:schemeClr val="dk1"/>
                </a:solidFill>
              </a:rPr>
              <a:t> that the reconstructed values never violate user-defined bounds.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eb50ecb1b_0_3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9eb50ecb1b_0_3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next problem that can happen in lossy compression is race conditions. Most modern </a:t>
            </a:r>
            <a:r>
              <a:rPr lang="en">
                <a:solidFill>
                  <a:schemeClr val="dk1"/>
                </a:solidFill>
              </a:rPr>
              <a:t>compressors rely on OpenMP or CUDA parallelism. Parallelism is important to produce faster scientific analysis. </a:t>
            </a:r>
            <a:r>
              <a:rPr lang="en"/>
              <a:t> But uncontrolled shared states can lead to data races, producing nondeterministic results—even with the same inputs. This can break the correctness </a:t>
            </a:r>
            <a:r>
              <a:rPr lang="en"/>
              <a:t>guarantees</a:t>
            </a:r>
            <a:r>
              <a:rPr lang="en"/>
              <a:t> of our system.</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9eb50ecb1b_0_3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9eb50ecb1b_0_3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Verus helps eliminate this by enforcing the </a:t>
            </a:r>
            <a:r>
              <a:rPr b="1" lang="en">
                <a:solidFill>
                  <a:schemeClr val="dk1"/>
                </a:solidFill>
              </a:rPr>
              <a:t>ownership and borrowing</a:t>
            </a:r>
            <a:r>
              <a:rPr lang="en">
                <a:solidFill>
                  <a:schemeClr val="dk1"/>
                </a:solidFill>
              </a:rPr>
              <a:t> model where each thread operates on disjoint memory—and by </a:t>
            </a:r>
            <a:r>
              <a:rPr b="1" lang="en">
                <a:solidFill>
                  <a:schemeClr val="dk1"/>
                </a:solidFill>
              </a:rPr>
              <a:t>permission-based reasoning</a:t>
            </a:r>
            <a:r>
              <a:rPr lang="en">
                <a:solidFill>
                  <a:schemeClr val="dk1"/>
                </a:solidFill>
              </a:rPr>
              <a:t>, which statically prevents two threads from writing to the same cell.</a:t>
            </a:r>
            <a:endParaRPr>
              <a:solidFill>
                <a:schemeClr val="dk1"/>
              </a:solidFill>
            </a:endParaRPr>
          </a:p>
          <a:p>
            <a:pPr indent="0" lvl="0" marL="0" rtl="0" algn="l">
              <a:spcBef>
                <a:spcPts val="0"/>
              </a:spcBef>
              <a:spcAft>
                <a:spcPts val="0"/>
              </a:spcAft>
              <a:buNone/>
            </a:pPr>
            <a:r>
              <a:rPr lang="en">
                <a:solidFill>
                  <a:schemeClr val="dk1"/>
                </a:solidFill>
              </a:rPr>
              <a:t>This removes race conditions </a:t>
            </a:r>
            <a:r>
              <a:rPr i="1" lang="en">
                <a:solidFill>
                  <a:schemeClr val="dk1"/>
                </a:solidFill>
              </a:rPr>
              <a:t>by construction in Verus</a:t>
            </a:r>
            <a:r>
              <a:rPr lang="en">
                <a:solidFill>
                  <a:schemeClr val="dk1"/>
                </a:solidFill>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9eb50ecb1b_0_3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9eb50ecb1b_0_3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Next problem we want to tackle in lossy compression is in terms of visualization</a:t>
            </a:r>
            <a:endParaRPr>
              <a:solidFill>
                <a:schemeClr val="dk1"/>
              </a:solidFill>
            </a:endParaRPr>
          </a:p>
          <a:p>
            <a:pPr indent="0" lvl="0" marL="0" rtl="0" algn="l">
              <a:spcBef>
                <a:spcPts val="0"/>
              </a:spcBef>
              <a:spcAft>
                <a:spcPts val="0"/>
              </a:spcAft>
              <a:buNone/>
            </a:pPr>
            <a:r>
              <a:rPr lang="en">
                <a:solidFill>
                  <a:schemeClr val="dk1"/>
                </a:solidFill>
              </a:rPr>
              <a:t>So beyond numerical accuracy, </a:t>
            </a:r>
            <a:r>
              <a:rPr lang="en">
                <a:solidFill>
                  <a:schemeClr val="dk1"/>
                </a:solidFill>
              </a:rPr>
              <a:t>topology tells us whether the </a:t>
            </a:r>
            <a:r>
              <a:rPr i="1" lang="en">
                <a:solidFill>
                  <a:schemeClr val="dk1"/>
                </a:solidFill>
              </a:rPr>
              <a:t>structure</a:t>
            </a:r>
            <a:r>
              <a:rPr lang="en">
                <a:solidFill>
                  <a:schemeClr val="dk1"/>
                </a:solidFill>
              </a:rPr>
              <a:t> of the data is preserved or not.</a:t>
            </a:r>
            <a:endParaRPr>
              <a:solidFill>
                <a:schemeClr val="dk1"/>
              </a:solidFill>
            </a:endParaRPr>
          </a:p>
          <a:p>
            <a:pPr indent="0" lvl="0" marL="0" rtl="0" algn="l">
              <a:spcBef>
                <a:spcPts val="0"/>
              </a:spcBef>
              <a:spcAft>
                <a:spcPts val="0"/>
              </a:spcAft>
              <a:buNone/>
            </a:pPr>
            <a:r>
              <a:rPr lang="en">
                <a:solidFill>
                  <a:schemeClr val="dk1"/>
                </a:solidFill>
              </a:rPr>
              <a:t>There are different types of topological descriptors.</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9eb50ecb1b_0_3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9eb50ecb1b_0_3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is critical points. </a:t>
            </a:r>
            <a:r>
              <a:rPr lang="en"/>
              <a:t>Critical points such as maxima, minima, and saddles—capture physical features such as vortex cores or pressure extrema. These are the points where the derivative of a function is zero or undefined. These helps to quantify and describe the structure of the system. For example the white dots in the figure are critical points of the data.</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9eb50ecb1b_0_3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9eb50ecb1b_0_3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is contour trees. Contour trees </a:t>
            </a:r>
            <a:r>
              <a:rPr lang="en">
                <a:solidFill>
                  <a:srgbClr val="001D35"/>
                </a:solidFill>
                <a:highlight>
                  <a:srgbClr val="FFFFFF"/>
                </a:highlight>
              </a:rPr>
              <a:t>records the connectivity of isosurfaces (contours) of a scalar field as their isovalue changes. For example in the graph here, where f is the height function, we can </a:t>
            </a:r>
            <a:r>
              <a:rPr lang="en">
                <a:solidFill>
                  <a:srgbClr val="001D35"/>
                </a:solidFill>
                <a:highlight>
                  <a:srgbClr val="FFFFFF"/>
                </a:highlight>
              </a:rPr>
              <a:t>create</a:t>
            </a:r>
            <a:r>
              <a:rPr lang="en">
                <a:solidFill>
                  <a:srgbClr val="001D35"/>
                </a:solidFill>
                <a:highlight>
                  <a:srgbClr val="FFFFFF"/>
                </a:highlight>
              </a:rPr>
              <a:t> the contour trees by </a:t>
            </a:r>
            <a:r>
              <a:rPr lang="en">
                <a:solidFill>
                  <a:srgbClr val="001D35"/>
                </a:solidFill>
                <a:highlight>
                  <a:srgbClr val="FFFFFF"/>
                </a:highlight>
              </a:rPr>
              <a:t>connecting the critical points at different isosurfaces.</a:t>
            </a:r>
            <a:endParaRPr sz="10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9eb50ecb1b_0_3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9eb50ecb1b_0_3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a:t>
            </a:r>
            <a:r>
              <a:rPr lang="en"/>
              <a:t>Descriptors like merge trees, and  Morse-Smale complexes, help summarize how scalar fields evolve. So here is an example of how merge trees and morse-smale complex looks like.</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9eb50ecb1b_0_3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9eb50ecb1b_0_3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However, theres is a problem that can occur in topological descriptors because of the loss of information. Basically, lossy compression can introduce </a:t>
            </a:r>
            <a:r>
              <a:rPr b="1" lang="en">
                <a:solidFill>
                  <a:schemeClr val="dk1"/>
                </a:solidFill>
              </a:rPr>
              <a:t>false positives, false negatives, or false types</a:t>
            </a:r>
            <a:r>
              <a:rPr lang="en">
                <a:solidFill>
                  <a:schemeClr val="dk1"/>
                </a:solidFill>
              </a:rPr>
              <a:t> in these structures.” FP refers to when a new feature is introduced in you descriptor when it was not avaialanle in original data. Similarly FN is loss of features in </a:t>
            </a:r>
            <a:r>
              <a:rPr lang="en">
                <a:solidFill>
                  <a:schemeClr val="dk1"/>
                </a:solidFill>
              </a:rPr>
              <a:t>the</a:t>
            </a:r>
            <a:r>
              <a:rPr lang="en">
                <a:solidFill>
                  <a:schemeClr val="dk1"/>
                </a:solidFill>
              </a:rPr>
              <a:t> reconstructed data and FT is a new type of feature that got introduced in reconstructed data when it was not present in original data.</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9eb50ecb1b_0_3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9eb50ecb1b_0_3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methods attempt to fix this, where they </a:t>
            </a:r>
            <a:r>
              <a:rPr lang="en"/>
              <a:t>remove</a:t>
            </a:r>
            <a:r>
              <a:rPr lang="en"/>
              <a:t> the false cases by saving extra information while compressing and then applying specialized techniques to retrieve the information correctly. But mos</a:t>
            </a:r>
            <a:r>
              <a:rPr lang="en"/>
              <a:t>t </a:t>
            </a:r>
            <a:r>
              <a:rPr lang="en"/>
              <a:t>of these methods are iterative and computationally heavy. </a:t>
            </a:r>
            <a:r>
              <a:rPr lang="en">
                <a:solidFill>
                  <a:schemeClr val="dk1"/>
                </a:solidFill>
              </a:rPr>
              <a:t> Prior work—such as TopoSZ and TopoQZ tackle this issue. </a:t>
            </a:r>
            <a:r>
              <a:rPr lang="en"/>
              <a:t>But</a:t>
            </a:r>
            <a:r>
              <a:rPr lang="en"/>
              <a:t> these methods are bottlenecked by the topological descriptor creation during the compression pipeline there by making the entire process computationally and memory expensive</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9eb50ecb1b_0_3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9eb50ecb1b_0_3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Since one of the </a:t>
            </a:r>
            <a:r>
              <a:rPr lang="en">
                <a:solidFill>
                  <a:schemeClr val="dk1"/>
                </a:solidFill>
              </a:rPr>
              <a:t> main advantage of lossy compression is speed and we do end up losing that in some of these prior work we are interested in building a compression pipeline that is not only fast but can also preserve the topological information.</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9eb50ecb1b_0_3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9eb50ecb1b_0_3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Hence </a:t>
            </a:r>
            <a:r>
              <a:rPr lang="en">
                <a:solidFill>
                  <a:schemeClr val="dk1"/>
                </a:solidFill>
              </a:rPr>
              <a:t>We address this issue with a faster, single-pass approach. Our single-pass method directly preserves critical point </a:t>
            </a:r>
            <a:r>
              <a:rPr b="1" lang="en">
                <a:solidFill>
                  <a:schemeClr val="dk1"/>
                </a:solidFill>
              </a:rPr>
              <a:t>types</a:t>
            </a:r>
            <a:r>
              <a:rPr lang="en">
                <a:solidFill>
                  <a:schemeClr val="dk1"/>
                </a:solidFill>
              </a:rPr>
              <a:t>, </a:t>
            </a:r>
            <a:r>
              <a:rPr b="1" lang="en">
                <a:solidFill>
                  <a:schemeClr val="dk1"/>
                </a:solidFill>
              </a:rPr>
              <a:t>locations</a:t>
            </a:r>
            <a:r>
              <a:rPr lang="en">
                <a:solidFill>
                  <a:schemeClr val="dk1"/>
                </a:solidFill>
              </a:rPr>
              <a:t>, and there by also preserve </a:t>
            </a:r>
            <a:r>
              <a:rPr b="1" lang="en">
                <a:solidFill>
                  <a:schemeClr val="dk1"/>
                </a:solidFill>
              </a:rPr>
              <a:t>merge-tree structure</a:t>
            </a:r>
            <a:r>
              <a:rPr lang="en">
                <a:solidFill>
                  <a:schemeClr val="dk1"/>
                </a:solidFill>
              </a:rPr>
              <a:t> during compression. This work is in collaboration with ANL.</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9eb50ecb1b_0_3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9eb50ecb1b_0_3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this We use </a:t>
            </a:r>
            <a:r>
              <a:rPr b="1" lang="en">
                <a:solidFill>
                  <a:schemeClr val="dk1"/>
                </a:solidFill>
              </a:rPr>
              <a:t>stencil-based neighborhood analysis</a:t>
            </a:r>
            <a:r>
              <a:rPr lang="en">
                <a:solidFill>
                  <a:schemeClr val="dk1"/>
                </a:solidFill>
              </a:rPr>
              <a:t> to detect these features and store minimal metadata to reconstruct the topology accurately. Here is an example of maxima point lost during compression and then applying a simple stencil to retrieve the maxima back. The mechanism for maxima stencil is very simple. We take the maximum value of the neighboring points and add a machine epsilon to </a:t>
            </a:r>
            <a:r>
              <a:rPr lang="en">
                <a:solidFill>
                  <a:schemeClr val="dk1"/>
                </a:solidFill>
              </a:rPr>
              <a:t>retrieve</a:t>
            </a:r>
            <a:r>
              <a:rPr lang="en">
                <a:solidFill>
                  <a:schemeClr val="dk1"/>
                </a:solidFill>
              </a:rPr>
              <a:t> the final maxima back.</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9eb50ecb1b_0_3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9eb50ecb1b_0_3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avoids costly iterative reconstruction. We also save the relative positions of critical point so that we can </a:t>
            </a:r>
            <a:r>
              <a:rPr lang="en"/>
              <a:t>retrieve</a:t>
            </a:r>
            <a:r>
              <a:rPr lang="en"/>
              <a:t> the merge tree structure. So here is an example of how the reconstructed data will look like if we apply just the previous stencil method that I discussed before.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a0c698dfc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a0c698dfc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rather we save the relative position of each value in the quantization bin to </a:t>
            </a:r>
            <a:r>
              <a:rPr lang="en"/>
              <a:t>retrieve</a:t>
            </a:r>
            <a:r>
              <a:rPr lang="en"/>
              <a:t> the correct output for the decompressed result. This position helps us in </a:t>
            </a:r>
            <a:r>
              <a:rPr lang="en"/>
              <a:t>preserving</a:t>
            </a:r>
            <a:r>
              <a:rPr lang="en"/>
              <a:t> the overall merge tree structure.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9eb50ecb1b_0_3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9eb50ecb1b_0_3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solidFill>
                  <a:schemeClr val="dk1"/>
                </a:solidFill>
              </a:rPr>
              <a:t>o wrap up, let’s revisit why formal guarantees matter in lossy compression.</a:t>
            </a:r>
            <a:br>
              <a:rPr lang="en">
                <a:solidFill>
                  <a:schemeClr val="dk1"/>
                </a:solidFill>
              </a:rPr>
            </a:br>
            <a:r>
              <a:rPr lang="en">
                <a:solidFill>
                  <a:schemeClr val="dk1"/>
                </a:solidFill>
              </a:rPr>
              <a:t> In practice, we face four major sources of uncertainty:</a:t>
            </a:r>
            <a:endParaRPr>
              <a:solidFill>
                <a:schemeClr val="dk1"/>
              </a:solidFill>
            </a:endParaRPr>
          </a:p>
          <a:p>
            <a:pPr indent="-298450" lvl="0" marL="457200" rtl="0" algn="l">
              <a:spcBef>
                <a:spcPts val="0"/>
              </a:spcBef>
              <a:spcAft>
                <a:spcPts val="0"/>
              </a:spcAft>
              <a:buClr>
                <a:schemeClr val="dk1"/>
              </a:buClr>
              <a:buSzPts val="1100"/>
              <a:buAutoNum type="arabicPeriod"/>
            </a:pPr>
            <a:r>
              <a:rPr b="1" lang="en">
                <a:solidFill>
                  <a:schemeClr val="dk1"/>
                </a:solidFill>
              </a:rPr>
              <a:t>Error bounds</a:t>
            </a:r>
            <a:r>
              <a:rPr lang="en">
                <a:solidFill>
                  <a:schemeClr val="dk1"/>
                </a:solidFill>
              </a:rPr>
              <a:t> that can be violated due to rounding,</a:t>
            </a:r>
            <a:endParaRPr>
              <a:solidFill>
                <a:schemeClr val="dk1"/>
              </a:solidFill>
            </a:endParaRPr>
          </a:p>
          <a:p>
            <a:pPr indent="-298450" lvl="0" marL="457200" rtl="0" algn="l">
              <a:spcBef>
                <a:spcPts val="0"/>
              </a:spcBef>
              <a:spcAft>
                <a:spcPts val="0"/>
              </a:spcAft>
              <a:buClr>
                <a:schemeClr val="dk1"/>
              </a:buClr>
              <a:buSzPts val="1100"/>
              <a:buAutoNum type="arabicPeriod"/>
            </a:pPr>
            <a:r>
              <a:rPr b="1" lang="en">
                <a:solidFill>
                  <a:schemeClr val="dk1"/>
                </a:solidFill>
              </a:rPr>
              <a:t>Floating-point behavior</a:t>
            </a:r>
            <a:r>
              <a:rPr lang="en">
                <a:solidFill>
                  <a:schemeClr val="dk1"/>
                </a:solidFill>
              </a:rPr>
              <a:t> that leads to non-deterministic results</a:t>
            </a:r>
            <a:endParaRPr>
              <a:solidFill>
                <a:schemeClr val="dk1"/>
              </a:solidFill>
            </a:endParaRPr>
          </a:p>
          <a:p>
            <a:pPr indent="-298450" lvl="0" marL="457200" rtl="0" algn="l">
              <a:spcBef>
                <a:spcPts val="0"/>
              </a:spcBef>
              <a:spcAft>
                <a:spcPts val="0"/>
              </a:spcAft>
              <a:buClr>
                <a:schemeClr val="dk1"/>
              </a:buClr>
              <a:buSzPts val="1100"/>
              <a:buAutoNum type="arabicPeriod"/>
            </a:pPr>
            <a:r>
              <a:rPr b="1" lang="en">
                <a:solidFill>
                  <a:schemeClr val="dk1"/>
                </a:solidFill>
              </a:rPr>
              <a:t>Race conditions</a:t>
            </a:r>
            <a:r>
              <a:rPr lang="en">
                <a:solidFill>
                  <a:schemeClr val="dk1"/>
                </a:solidFill>
              </a:rPr>
              <a:t> in parallel implementations, and</a:t>
            </a:r>
            <a:endParaRPr>
              <a:solidFill>
                <a:schemeClr val="dk1"/>
              </a:solidFill>
            </a:endParaRPr>
          </a:p>
          <a:p>
            <a:pPr indent="-298450" lvl="0" marL="457200" rtl="0" algn="l">
              <a:spcBef>
                <a:spcPts val="0"/>
              </a:spcBef>
              <a:spcAft>
                <a:spcPts val="0"/>
              </a:spcAft>
              <a:buClr>
                <a:schemeClr val="dk1"/>
              </a:buClr>
              <a:buSzPts val="1100"/>
              <a:buAutoNum type="arabicPeriod"/>
            </a:pPr>
            <a:r>
              <a:rPr b="1" lang="en">
                <a:solidFill>
                  <a:schemeClr val="dk1"/>
                </a:solidFill>
              </a:rPr>
              <a:t>Topological distortions</a:t>
            </a:r>
            <a:r>
              <a:rPr lang="en">
                <a:solidFill>
                  <a:schemeClr val="dk1"/>
                </a:solidFill>
              </a:rPr>
              <a:t> that alter the scientific meaning of the data. </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Each of these can independently break correctness — and together, they make reliable lossy compression extremely challenging.</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9eb50ecb1b_0_3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9eb50ecb1b_0_3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Our first line of defense is </a:t>
            </a:r>
            <a:r>
              <a:rPr b="1" lang="en">
                <a:solidFill>
                  <a:schemeClr val="dk1"/>
                </a:solidFill>
              </a:rPr>
              <a:t>formal verification</a:t>
            </a:r>
            <a:r>
              <a:rPr lang="en">
                <a:solidFill>
                  <a:schemeClr val="dk1"/>
                </a:solidFill>
              </a:rPr>
              <a:t> using </a:t>
            </a:r>
            <a:r>
              <a:rPr i="1" lang="en">
                <a:solidFill>
                  <a:schemeClr val="dk1"/>
                </a:solidFill>
              </a:rPr>
              <a:t>Verus</a:t>
            </a:r>
            <a:r>
              <a:rPr lang="en">
                <a:solidFill>
                  <a:schemeClr val="dk1"/>
                </a:solidFill>
              </a:rPr>
              <a:t>, a Rust-based verification framework.</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By expressing preconditions and postconditions in the compression kernel, we can </a:t>
            </a:r>
            <a:r>
              <a:rPr b="1" lang="en">
                <a:solidFill>
                  <a:schemeClr val="dk1"/>
                </a:solidFill>
              </a:rPr>
              <a:t>mathematically prove</a:t>
            </a:r>
            <a:r>
              <a:rPr lang="en">
                <a:solidFill>
                  <a:schemeClr val="dk1"/>
                </a:solidFill>
              </a:rPr>
              <a:t> that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Error bound always holds — for all valid inputs.</a:t>
            </a:r>
            <a:endParaRPr>
              <a:solidFill>
                <a:schemeClr val="dk1"/>
              </a:solidFill>
            </a:endParaRPr>
          </a:p>
          <a:p>
            <a:pPr indent="0" lvl="0" marL="0" rtl="0" algn="l">
              <a:spcBef>
                <a:spcPts val="0"/>
              </a:spcBef>
              <a:spcAft>
                <a:spcPts val="0"/>
              </a:spcAft>
              <a:buNone/>
            </a:pPr>
            <a:r>
              <a:rPr lang="en">
                <a:solidFill>
                  <a:schemeClr val="dk1"/>
                </a:solidFill>
              </a:rPr>
              <a:t>This ensures that decompression is both </a:t>
            </a:r>
            <a:r>
              <a:rPr b="1" lang="en">
                <a:solidFill>
                  <a:schemeClr val="dk1"/>
                </a:solidFill>
              </a:rPr>
              <a:t>correct and deterministic</a:t>
            </a:r>
            <a:r>
              <a:rPr lang="en">
                <a:solidFill>
                  <a:schemeClr val="dk1"/>
                </a:solidFill>
              </a:rPr>
              <a:t>, not just empirically accurate.”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9eb50ecb1b_0_3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9eb50ecb1b_0_3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With Verus, we also eliminate </a:t>
            </a:r>
            <a:r>
              <a:rPr b="1" lang="en">
                <a:solidFill>
                  <a:schemeClr val="dk1"/>
                </a:solidFill>
              </a:rPr>
              <a:t>race conditions</a:t>
            </a:r>
            <a:r>
              <a:rPr lang="en">
                <a:solidFill>
                  <a:schemeClr val="dk1"/>
                </a:solidFill>
              </a:rPr>
              <a:t> through its ownership and permission-based reasoning model.</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9eb50ecb1b_0_3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9eb50ecb1b_0_3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Finally, we address the structural integrity of scientific data.</a:t>
            </a:r>
            <a:endParaRPr>
              <a:solidFill>
                <a:schemeClr val="dk1"/>
              </a:solidFill>
            </a:endParaRPr>
          </a:p>
          <a:p>
            <a:pPr indent="0" lvl="0" marL="0" rtl="0" algn="l">
              <a:spcBef>
                <a:spcPts val="0"/>
              </a:spcBef>
              <a:spcAft>
                <a:spcPts val="0"/>
              </a:spcAft>
              <a:buNone/>
            </a:pPr>
            <a:r>
              <a:rPr lang="en">
                <a:solidFill>
                  <a:schemeClr val="dk1"/>
                </a:solidFill>
              </a:rPr>
              <a:t>Our </a:t>
            </a:r>
            <a:r>
              <a:rPr b="1" lang="en">
                <a:solidFill>
                  <a:schemeClr val="dk1"/>
                </a:solidFill>
              </a:rPr>
              <a:t>single-pass topology preservation</a:t>
            </a:r>
            <a:r>
              <a:rPr lang="en">
                <a:solidFill>
                  <a:schemeClr val="dk1"/>
                </a:solidFill>
              </a:rPr>
              <a:t> method captures critical points — maxima, minima, and saddles — directly during compression, along with their connectivity in the merge tree.</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9eb50ecb1b_0_3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9eb50ecb1b_0_3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Together, these components will form a comprehensive correct framework for lossy compressors like SZ and ZFP</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9eb50ecb1b_0_3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9eb50ecb1b_0_3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2.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szcompressor.org/" TargetMode="External"/><Relationship Id="rId4" Type="http://schemas.openxmlformats.org/officeDocument/2006/relationships/hyperlink" Target="https://computing.llnl.gov/projects/zfp" TargetMode="External"/><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github.com/verus-lang/verus" TargetMode="External"/><Relationship Id="rId4" Type="http://schemas.openxmlformats.org/officeDocument/2006/relationships/image" Target="../media/image1.png"/><Relationship Id="rId5"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311700" y="962325"/>
            <a:ext cx="8520600" cy="2340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chemeClr val="dk1"/>
                </a:solidFill>
              </a:rPr>
              <a:t>Formal </a:t>
            </a:r>
            <a:r>
              <a:rPr lang="en">
                <a:solidFill>
                  <a:schemeClr val="dk1"/>
                </a:solidFill>
              </a:rPr>
              <a:t>Guarantees</a:t>
            </a:r>
            <a:r>
              <a:rPr lang="en">
                <a:solidFill>
                  <a:schemeClr val="dk1"/>
                </a:solidFill>
              </a:rPr>
              <a:t> of Error-bounded Lossy Compression</a:t>
            </a:r>
            <a:endParaRPr>
              <a:solidFill>
                <a:schemeClr val="dk1"/>
              </a:solidFill>
            </a:endParaRPr>
          </a:p>
        </p:txBody>
      </p:sp>
      <p:sp>
        <p:nvSpPr>
          <p:cNvPr id="60" name="Google Shape;60;p13"/>
          <p:cNvSpPr txBox="1"/>
          <p:nvPr/>
        </p:nvSpPr>
        <p:spPr>
          <a:xfrm>
            <a:off x="754525" y="3645075"/>
            <a:ext cx="7725900" cy="520800"/>
          </a:xfrm>
          <a:prstGeom prst="rect">
            <a:avLst/>
          </a:prstGeom>
          <a:noFill/>
          <a:ln>
            <a:noFill/>
          </a:ln>
        </p:spPr>
        <p:txBody>
          <a:bodyPr anchorCtr="0" anchor="t" bIns="91425" lIns="91425" spcFirstLastPara="1" rIns="91425" wrap="square" tIns="91425">
            <a:noAutofit/>
          </a:bodyPr>
          <a:lstStyle/>
          <a:p>
            <a:pPr indent="457200" lvl="0" marL="914400" rtl="0" algn="l">
              <a:spcBef>
                <a:spcPts val="0"/>
              </a:spcBef>
              <a:spcAft>
                <a:spcPts val="0"/>
              </a:spcAft>
              <a:buNone/>
            </a:pPr>
            <a:r>
              <a:rPr b="1" lang="en" sz="1800">
                <a:solidFill>
                  <a:schemeClr val="dk1"/>
                </a:solidFill>
                <a:latin typeface="Old Standard TT"/>
                <a:ea typeface="Old Standard TT"/>
                <a:cs typeface="Old Standard TT"/>
                <a:sym typeface="Old Standard TT"/>
              </a:rPr>
              <a:t>Tripti Agarwal</a:t>
            </a:r>
            <a:r>
              <a:rPr lang="en" sz="1800">
                <a:solidFill>
                  <a:schemeClr val="dk1"/>
                </a:solidFill>
                <a:latin typeface="Old Standard TT"/>
                <a:ea typeface="Old Standard TT"/>
                <a:cs typeface="Old Standard TT"/>
                <a:sym typeface="Old Standard TT"/>
              </a:rPr>
              <a:t>, Ganesh </a:t>
            </a:r>
            <a:r>
              <a:rPr lang="en" sz="1800">
                <a:solidFill>
                  <a:schemeClr val="dk1"/>
                </a:solidFill>
                <a:latin typeface="Old Standard TT"/>
                <a:ea typeface="Old Standard TT"/>
                <a:cs typeface="Old Standard TT"/>
                <a:sym typeface="Old Standard TT"/>
              </a:rPr>
              <a:t>Gopalakrishnan</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pic>
        <p:nvPicPr>
          <p:cNvPr id="61" name="Google Shape;61;p13"/>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Large Scientific Data </a:t>
            </a:r>
            <a:endParaRPr/>
          </a:p>
        </p:txBody>
      </p:sp>
      <p:sp>
        <p:nvSpPr>
          <p:cNvPr id="67" name="Google Shape;67;p14"/>
          <p:cNvSpPr txBox="1"/>
          <p:nvPr>
            <p:ph idx="1" type="body"/>
          </p:nvPr>
        </p:nvSpPr>
        <p:spPr>
          <a:xfrm>
            <a:off x="311700" y="1171600"/>
            <a:ext cx="8520600" cy="3397200"/>
          </a:xfrm>
          <a:prstGeom prst="rect">
            <a:avLst/>
          </a:prstGeom>
          <a:ln cap="flat" cmpd="sng" w="9525">
            <a:solidFill>
              <a:schemeClr val="accen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200"/>
              </a:spcBef>
              <a:spcAft>
                <a:spcPts val="0"/>
              </a:spcAft>
              <a:buNone/>
            </a:pPr>
            <a:r>
              <a:rPr lang="en"/>
              <a:t>Today's scientific research relies on </a:t>
            </a:r>
            <a:r>
              <a:rPr b="1" lang="en"/>
              <a:t>simulations and instruments</a:t>
            </a:r>
            <a:r>
              <a:rPr lang="en"/>
              <a:t> that </a:t>
            </a:r>
            <a:r>
              <a:rPr b="1" lang="en"/>
              <a:t>generate extremely large datasets</a:t>
            </a:r>
            <a:r>
              <a:rPr lang="en"/>
              <a:t> for processing and analysis.</a:t>
            </a:r>
            <a:endParaRPr/>
          </a:p>
          <a:p>
            <a:pPr indent="0" lvl="0" marL="457200" rtl="0" algn="l">
              <a:spcBef>
                <a:spcPts val="1200"/>
              </a:spcBef>
              <a:spcAft>
                <a:spcPts val="1200"/>
              </a:spcAft>
              <a:buNone/>
            </a:pPr>
            <a:r>
              <a:t/>
            </a:r>
            <a:endParaRPr/>
          </a:p>
        </p:txBody>
      </p:sp>
      <p:sp>
        <p:nvSpPr>
          <p:cNvPr id="68" name="Google Shape;68;p14"/>
          <p:cNvSpPr txBox="1"/>
          <p:nvPr/>
        </p:nvSpPr>
        <p:spPr>
          <a:xfrm>
            <a:off x="42600" y="4632350"/>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Image source: https://szcompressor.org/tabs/application/#weather</a:t>
            </a:r>
            <a:endParaRPr sz="800">
              <a:solidFill>
                <a:schemeClr val="dk1"/>
              </a:solidFill>
              <a:latin typeface="Old Standard TT"/>
              <a:ea typeface="Old Standard TT"/>
              <a:cs typeface="Old Standard TT"/>
              <a:sym typeface="Old Standard TT"/>
            </a:endParaRPr>
          </a:p>
        </p:txBody>
      </p:sp>
      <p:pic>
        <p:nvPicPr>
          <p:cNvPr id="69" name="Google Shape;69;p14"/>
          <p:cNvPicPr preferRelativeResize="0"/>
          <p:nvPr/>
        </p:nvPicPr>
        <p:blipFill>
          <a:blip r:embed="rId3">
            <a:alphaModFix/>
          </a:blip>
          <a:stretch>
            <a:fillRect/>
          </a:stretch>
        </p:blipFill>
        <p:spPr>
          <a:xfrm>
            <a:off x="6204725" y="1766925"/>
            <a:ext cx="2270675" cy="2156725"/>
          </a:xfrm>
          <a:prstGeom prst="rect">
            <a:avLst/>
          </a:prstGeom>
          <a:noFill/>
          <a:ln>
            <a:noFill/>
          </a:ln>
        </p:spPr>
      </p:pic>
      <p:pic>
        <p:nvPicPr>
          <p:cNvPr id="70" name="Google Shape;70;p14"/>
          <p:cNvPicPr preferRelativeResize="0"/>
          <p:nvPr/>
        </p:nvPicPr>
        <p:blipFill>
          <a:blip r:embed="rId4">
            <a:alphaModFix/>
          </a:blip>
          <a:stretch>
            <a:fillRect/>
          </a:stretch>
        </p:blipFill>
        <p:spPr>
          <a:xfrm>
            <a:off x="6036675" y="1661250"/>
            <a:ext cx="2714874" cy="2262400"/>
          </a:xfrm>
          <a:prstGeom prst="rect">
            <a:avLst/>
          </a:prstGeom>
          <a:noFill/>
          <a:ln>
            <a:noFill/>
          </a:ln>
        </p:spPr>
      </p:pic>
      <p:pic>
        <p:nvPicPr>
          <p:cNvPr id="71" name="Google Shape;71;p14"/>
          <p:cNvPicPr preferRelativeResize="0"/>
          <p:nvPr/>
        </p:nvPicPr>
        <p:blipFill>
          <a:blip r:embed="rId5">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Large Scientific Data </a:t>
            </a:r>
            <a:endParaRPr/>
          </a:p>
          <a:p>
            <a:pPr indent="0" lvl="0" marL="0" rtl="0" algn="l">
              <a:spcBef>
                <a:spcPts val="0"/>
              </a:spcBef>
              <a:spcAft>
                <a:spcPts val="0"/>
              </a:spcAft>
              <a:buNone/>
            </a:pPr>
            <a:r>
              <a:t/>
            </a:r>
            <a:endParaRPr/>
          </a:p>
        </p:txBody>
      </p:sp>
      <p:sp>
        <p:nvSpPr>
          <p:cNvPr id="77" name="Google Shape;77;p15"/>
          <p:cNvSpPr txBox="1"/>
          <p:nvPr>
            <p:ph idx="1" type="body"/>
          </p:nvPr>
        </p:nvSpPr>
        <p:spPr>
          <a:xfrm>
            <a:off x="311700" y="1171600"/>
            <a:ext cx="8520600" cy="3397200"/>
          </a:xfrm>
          <a:prstGeom prst="rect">
            <a:avLst/>
          </a:prstGeom>
          <a:ln cap="flat" cmpd="sng" w="9525">
            <a:solidFill>
              <a:schemeClr val="accen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200"/>
              </a:spcBef>
              <a:spcAft>
                <a:spcPts val="0"/>
              </a:spcAft>
              <a:buNone/>
            </a:pPr>
            <a:r>
              <a:rPr lang="en"/>
              <a:t>Today's scientific research relies on </a:t>
            </a:r>
            <a:r>
              <a:rPr b="1" lang="en"/>
              <a:t>simulations and instruments</a:t>
            </a:r>
            <a:r>
              <a:rPr lang="en"/>
              <a:t> that </a:t>
            </a:r>
            <a:r>
              <a:rPr b="1" lang="en"/>
              <a:t>generate extremely large datasets</a:t>
            </a:r>
            <a:r>
              <a:rPr lang="en"/>
              <a:t> for processing and analysis.</a:t>
            </a:r>
            <a:endParaRPr/>
          </a:p>
          <a:p>
            <a:pPr indent="-342900" lvl="0" marL="457200" rtl="0" algn="l">
              <a:spcBef>
                <a:spcPts val="1200"/>
              </a:spcBef>
              <a:spcAft>
                <a:spcPts val="0"/>
              </a:spcAft>
              <a:buSzPts val="1800"/>
              <a:buChar char="●"/>
            </a:pPr>
            <a:r>
              <a:rPr b="1" lang="en"/>
              <a:t>Climate Simulation</a:t>
            </a:r>
            <a:endParaRPr b="1"/>
          </a:p>
          <a:p>
            <a:pPr indent="-317500" lvl="1" marL="914400" rtl="0" algn="l">
              <a:spcBef>
                <a:spcPts val="0"/>
              </a:spcBef>
              <a:spcAft>
                <a:spcPts val="0"/>
              </a:spcAft>
              <a:buSzPts val="1400"/>
              <a:buChar char="○"/>
            </a:pPr>
            <a:r>
              <a:rPr lang="en"/>
              <a:t>High resolution CESM simulation</a:t>
            </a:r>
            <a:endParaRPr/>
          </a:p>
          <a:p>
            <a:pPr indent="-317500" lvl="1" marL="914400" rtl="0" algn="l">
              <a:spcBef>
                <a:spcPts val="0"/>
              </a:spcBef>
              <a:spcAft>
                <a:spcPts val="0"/>
              </a:spcAft>
              <a:buClr>
                <a:srgbClr val="980000"/>
              </a:buClr>
              <a:buSzPts val="1400"/>
              <a:buChar char="○"/>
            </a:pPr>
            <a:r>
              <a:rPr b="1" lang="en">
                <a:solidFill>
                  <a:srgbClr val="980000"/>
                </a:solidFill>
              </a:rPr>
              <a:t>1 TB of data generated per compute day</a:t>
            </a:r>
            <a:endParaRPr b="1">
              <a:solidFill>
                <a:srgbClr val="980000"/>
              </a:solidFill>
            </a:endParaRPr>
          </a:p>
          <a:p>
            <a:pPr indent="-317500" lvl="1" marL="914400" rtl="0" algn="l">
              <a:spcBef>
                <a:spcPts val="0"/>
              </a:spcBef>
              <a:spcAft>
                <a:spcPts val="0"/>
              </a:spcAft>
              <a:buSzPts val="1400"/>
              <a:buChar char="○"/>
            </a:pPr>
            <a:r>
              <a:rPr lang="en"/>
              <a:t>Current NCAR platform (2017) : ~50% of hardware budget</a:t>
            </a:r>
            <a:endParaRPr/>
          </a:p>
          <a:p>
            <a:pPr indent="0" lvl="0" marL="457200" rtl="0" algn="l">
              <a:spcBef>
                <a:spcPts val="1200"/>
              </a:spcBef>
              <a:spcAft>
                <a:spcPts val="1200"/>
              </a:spcAft>
              <a:buNone/>
            </a:pPr>
            <a:r>
              <a:t/>
            </a:r>
            <a:endParaRPr/>
          </a:p>
        </p:txBody>
      </p:sp>
      <p:sp>
        <p:nvSpPr>
          <p:cNvPr id="78" name="Google Shape;78;p15"/>
          <p:cNvSpPr txBox="1"/>
          <p:nvPr/>
        </p:nvSpPr>
        <p:spPr>
          <a:xfrm>
            <a:off x="42600" y="4632350"/>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Image source: https://szcompressor.org/tabs/application/#climate</a:t>
            </a:r>
            <a:endParaRPr sz="800">
              <a:solidFill>
                <a:schemeClr val="dk1"/>
              </a:solidFill>
              <a:latin typeface="Old Standard TT"/>
              <a:ea typeface="Old Standard TT"/>
              <a:cs typeface="Old Standard TT"/>
              <a:sym typeface="Old Standard TT"/>
            </a:endParaRPr>
          </a:p>
        </p:txBody>
      </p:sp>
      <p:pic>
        <p:nvPicPr>
          <p:cNvPr id="79" name="Google Shape;79;p15"/>
          <p:cNvPicPr preferRelativeResize="0"/>
          <p:nvPr/>
        </p:nvPicPr>
        <p:blipFill>
          <a:blip r:embed="rId3">
            <a:alphaModFix/>
          </a:blip>
          <a:stretch>
            <a:fillRect/>
          </a:stretch>
        </p:blipFill>
        <p:spPr>
          <a:xfrm>
            <a:off x="6204725" y="1766925"/>
            <a:ext cx="2270675" cy="2156725"/>
          </a:xfrm>
          <a:prstGeom prst="rect">
            <a:avLst/>
          </a:prstGeom>
          <a:noFill/>
          <a:ln>
            <a:noFill/>
          </a:ln>
        </p:spPr>
      </p:pic>
      <p:pic>
        <p:nvPicPr>
          <p:cNvPr id="80" name="Google Shape;80;p15"/>
          <p:cNvPicPr preferRelativeResize="0"/>
          <p:nvPr/>
        </p:nvPicPr>
        <p:blipFill>
          <a:blip r:embed="rId4">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Large Scientific Data </a:t>
            </a:r>
            <a:endParaRPr/>
          </a:p>
          <a:p>
            <a:pPr indent="0" lvl="0" marL="0" rtl="0" algn="l">
              <a:spcBef>
                <a:spcPts val="0"/>
              </a:spcBef>
              <a:spcAft>
                <a:spcPts val="0"/>
              </a:spcAft>
              <a:buNone/>
            </a:pPr>
            <a:r>
              <a:t/>
            </a:r>
            <a:endParaRPr/>
          </a:p>
        </p:txBody>
      </p:sp>
      <p:sp>
        <p:nvSpPr>
          <p:cNvPr id="86" name="Google Shape;86;p16"/>
          <p:cNvSpPr txBox="1"/>
          <p:nvPr>
            <p:ph idx="1" type="body"/>
          </p:nvPr>
        </p:nvSpPr>
        <p:spPr>
          <a:xfrm>
            <a:off x="311700" y="1171600"/>
            <a:ext cx="8520600" cy="3397200"/>
          </a:xfrm>
          <a:prstGeom prst="rect">
            <a:avLst/>
          </a:prstGeom>
          <a:ln cap="flat" cmpd="sng" w="9525">
            <a:solidFill>
              <a:schemeClr val="accen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200"/>
              </a:spcBef>
              <a:spcAft>
                <a:spcPts val="0"/>
              </a:spcAft>
              <a:buNone/>
            </a:pPr>
            <a:r>
              <a:rPr lang="en"/>
              <a:t>Today's scientific research relies on </a:t>
            </a:r>
            <a:r>
              <a:rPr b="1" lang="en"/>
              <a:t>simulations and instruments</a:t>
            </a:r>
            <a:r>
              <a:rPr lang="en"/>
              <a:t> that </a:t>
            </a:r>
            <a:r>
              <a:rPr b="1" lang="en"/>
              <a:t>generate extremely large datasets</a:t>
            </a:r>
            <a:r>
              <a:rPr lang="en"/>
              <a:t> for processing and analysis.</a:t>
            </a:r>
            <a:endParaRPr/>
          </a:p>
          <a:p>
            <a:pPr indent="-342900" lvl="0" marL="457200" rtl="0" algn="l">
              <a:spcBef>
                <a:spcPts val="1200"/>
              </a:spcBef>
              <a:spcAft>
                <a:spcPts val="0"/>
              </a:spcAft>
              <a:buSzPts val="1800"/>
              <a:buChar char="●"/>
            </a:pPr>
            <a:r>
              <a:rPr b="1" lang="en"/>
              <a:t>Climate Simulation</a:t>
            </a:r>
            <a:endParaRPr b="1"/>
          </a:p>
          <a:p>
            <a:pPr indent="-317500" lvl="1" marL="914400" rtl="0" algn="l">
              <a:spcBef>
                <a:spcPts val="0"/>
              </a:spcBef>
              <a:spcAft>
                <a:spcPts val="0"/>
              </a:spcAft>
              <a:buSzPts val="1400"/>
              <a:buChar char="○"/>
            </a:pPr>
            <a:r>
              <a:rPr lang="en"/>
              <a:t>High resolution CESM simulation </a:t>
            </a:r>
            <a:endParaRPr/>
          </a:p>
          <a:p>
            <a:pPr indent="-317500" lvl="1" marL="914400" rtl="0" algn="l">
              <a:spcBef>
                <a:spcPts val="0"/>
              </a:spcBef>
              <a:spcAft>
                <a:spcPts val="0"/>
              </a:spcAft>
              <a:buClr>
                <a:srgbClr val="980000"/>
              </a:buClr>
              <a:buSzPts val="1400"/>
              <a:buChar char="○"/>
            </a:pPr>
            <a:r>
              <a:rPr b="1" lang="en">
                <a:solidFill>
                  <a:srgbClr val="980000"/>
                </a:solidFill>
              </a:rPr>
              <a:t>1 TB of data generated per compute day</a:t>
            </a:r>
            <a:endParaRPr b="1">
              <a:solidFill>
                <a:srgbClr val="980000"/>
              </a:solidFill>
            </a:endParaRPr>
          </a:p>
          <a:p>
            <a:pPr indent="-317500" lvl="1" marL="914400" rtl="0" algn="l">
              <a:spcBef>
                <a:spcPts val="0"/>
              </a:spcBef>
              <a:spcAft>
                <a:spcPts val="0"/>
              </a:spcAft>
              <a:buSzPts val="1400"/>
              <a:buChar char="○"/>
            </a:pPr>
            <a:r>
              <a:rPr lang="en"/>
              <a:t>Current NCAR platform (2017) : ~50% of hardware budget</a:t>
            </a:r>
            <a:endParaRPr/>
          </a:p>
          <a:p>
            <a:pPr indent="-342900" lvl="0" marL="457200" rtl="0" algn="l">
              <a:spcBef>
                <a:spcPts val="0"/>
              </a:spcBef>
              <a:spcAft>
                <a:spcPts val="0"/>
              </a:spcAft>
              <a:buSzPts val="1800"/>
              <a:buChar char="●"/>
            </a:pPr>
            <a:r>
              <a:rPr b="1" lang="en"/>
              <a:t>Other datasets :</a:t>
            </a:r>
            <a:endParaRPr b="1"/>
          </a:p>
          <a:p>
            <a:pPr indent="-317500" lvl="1" marL="914400" rtl="0" algn="l">
              <a:spcBef>
                <a:spcPts val="0"/>
              </a:spcBef>
              <a:spcAft>
                <a:spcPts val="0"/>
              </a:spcAft>
              <a:buSzPts val="1400"/>
              <a:buChar char="○"/>
            </a:pPr>
            <a:r>
              <a:rPr b="1" lang="en"/>
              <a:t>Cosmology Simulation:</a:t>
            </a:r>
            <a:r>
              <a:rPr lang="en"/>
              <a:t> a total of </a:t>
            </a:r>
            <a:r>
              <a:rPr b="1" lang="en">
                <a:solidFill>
                  <a:srgbClr val="980000"/>
                </a:solidFill>
              </a:rPr>
              <a:t>&gt;20PB</a:t>
            </a:r>
            <a:r>
              <a:rPr lang="en"/>
              <a:t> of data when simulating trillion of particles</a:t>
            </a:r>
            <a:endParaRPr/>
          </a:p>
          <a:p>
            <a:pPr indent="-317500" lvl="1" marL="914400" rtl="0" algn="l">
              <a:spcBef>
                <a:spcPts val="0"/>
              </a:spcBef>
              <a:spcAft>
                <a:spcPts val="0"/>
              </a:spcAft>
              <a:buSzPts val="1400"/>
              <a:buChar char="○"/>
            </a:pPr>
            <a:r>
              <a:rPr b="1" lang="en"/>
              <a:t>High energy x-ray beams experiments:</a:t>
            </a:r>
            <a:r>
              <a:rPr lang="en"/>
              <a:t> </a:t>
            </a:r>
            <a:r>
              <a:rPr b="1" lang="en">
                <a:solidFill>
                  <a:srgbClr val="980000"/>
                </a:solidFill>
              </a:rPr>
              <a:t>1TB/s</a:t>
            </a:r>
            <a:r>
              <a:rPr lang="en"/>
              <a:t> of streaming intensity</a:t>
            </a:r>
            <a:endParaRPr/>
          </a:p>
        </p:txBody>
      </p:sp>
      <p:pic>
        <p:nvPicPr>
          <p:cNvPr id="87" name="Google Shape;87;p16"/>
          <p:cNvPicPr preferRelativeResize="0"/>
          <p:nvPr/>
        </p:nvPicPr>
        <p:blipFill>
          <a:blip r:embed="rId3">
            <a:alphaModFix/>
          </a:blip>
          <a:stretch>
            <a:fillRect/>
          </a:stretch>
        </p:blipFill>
        <p:spPr>
          <a:xfrm>
            <a:off x="6671050" y="1650800"/>
            <a:ext cx="1802025" cy="1682376"/>
          </a:xfrm>
          <a:prstGeom prst="rect">
            <a:avLst/>
          </a:prstGeom>
          <a:noFill/>
          <a:ln>
            <a:noFill/>
          </a:ln>
        </p:spPr>
      </p:pic>
      <p:sp>
        <p:nvSpPr>
          <p:cNvPr id="88" name="Google Shape;88;p16"/>
          <p:cNvSpPr txBox="1"/>
          <p:nvPr/>
        </p:nvSpPr>
        <p:spPr>
          <a:xfrm>
            <a:off x="42600" y="4632350"/>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Image source: https://szcompressor.org/tabs/application/#</a:t>
            </a:r>
            <a:r>
              <a:rPr lang="en" sz="800">
                <a:solidFill>
                  <a:schemeClr val="dk1"/>
                </a:solidFill>
                <a:latin typeface="Old Standard TT"/>
                <a:ea typeface="Old Standard TT"/>
                <a:cs typeface="Old Standard TT"/>
                <a:sym typeface="Old Standard TT"/>
              </a:rPr>
              <a:t>cosmology</a:t>
            </a:r>
            <a:endParaRPr sz="800">
              <a:solidFill>
                <a:schemeClr val="dk1"/>
              </a:solidFill>
              <a:latin typeface="Old Standard TT"/>
              <a:ea typeface="Old Standard TT"/>
              <a:cs typeface="Old Standard TT"/>
              <a:sym typeface="Old Standard TT"/>
            </a:endParaRPr>
          </a:p>
        </p:txBody>
      </p:sp>
      <p:pic>
        <p:nvPicPr>
          <p:cNvPr id="89" name="Google Shape;89;p16"/>
          <p:cNvPicPr preferRelativeResize="0"/>
          <p:nvPr/>
        </p:nvPicPr>
        <p:blipFill>
          <a:blip r:embed="rId4">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Large Scientific Data </a:t>
            </a:r>
            <a:endParaRPr/>
          </a:p>
          <a:p>
            <a:pPr indent="0" lvl="0" marL="0" rtl="0" algn="l">
              <a:spcBef>
                <a:spcPts val="0"/>
              </a:spcBef>
              <a:spcAft>
                <a:spcPts val="0"/>
              </a:spcAft>
              <a:buNone/>
            </a:pPr>
            <a:r>
              <a:t/>
            </a:r>
            <a:endParaRPr/>
          </a:p>
        </p:txBody>
      </p:sp>
      <p:sp>
        <p:nvSpPr>
          <p:cNvPr id="95" name="Google Shape;95;p17"/>
          <p:cNvSpPr txBox="1"/>
          <p:nvPr>
            <p:ph idx="1" type="body"/>
          </p:nvPr>
        </p:nvSpPr>
        <p:spPr>
          <a:xfrm>
            <a:off x="311700" y="1171600"/>
            <a:ext cx="8520600" cy="3397200"/>
          </a:xfrm>
          <a:prstGeom prst="rect">
            <a:avLst/>
          </a:prstGeom>
          <a:ln cap="flat" cmpd="sng" w="9525">
            <a:solidFill>
              <a:schemeClr val="accent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200"/>
              </a:spcBef>
              <a:spcAft>
                <a:spcPts val="0"/>
              </a:spcAft>
              <a:buNone/>
            </a:pPr>
            <a:r>
              <a:rPr lang="en">
                <a:solidFill>
                  <a:srgbClr val="D9D9D9"/>
                </a:solidFill>
              </a:rPr>
              <a:t>Today's scientific research relies on </a:t>
            </a:r>
            <a:r>
              <a:rPr b="1" lang="en">
                <a:solidFill>
                  <a:srgbClr val="D9D9D9"/>
                </a:solidFill>
              </a:rPr>
              <a:t>simulations and instruments</a:t>
            </a:r>
            <a:r>
              <a:rPr lang="en">
                <a:solidFill>
                  <a:srgbClr val="D9D9D9"/>
                </a:solidFill>
              </a:rPr>
              <a:t> that </a:t>
            </a:r>
            <a:r>
              <a:rPr b="1" lang="en">
                <a:solidFill>
                  <a:srgbClr val="D9D9D9"/>
                </a:solidFill>
              </a:rPr>
              <a:t>generate extremely large datasets</a:t>
            </a:r>
            <a:r>
              <a:rPr lang="en">
                <a:solidFill>
                  <a:srgbClr val="D9D9D9"/>
                </a:solidFill>
              </a:rPr>
              <a:t> for processing and analysis.</a:t>
            </a:r>
            <a:endParaRPr>
              <a:solidFill>
                <a:srgbClr val="D9D9D9"/>
              </a:solidFill>
            </a:endParaRPr>
          </a:p>
          <a:p>
            <a:pPr indent="-342900" lvl="0" marL="457200" rtl="0" algn="l">
              <a:spcBef>
                <a:spcPts val="1200"/>
              </a:spcBef>
              <a:spcAft>
                <a:spcPts val="0"/>
              </a:spcAft>
              <a:buClr>
                <a:srgbClr val="D9D9D9"/>
              </a:buClr>
              <a:buSzPts val="1800"/>
              <a:buChar char="●"/>
            </a:pPr>
            <a:r>
              <a:rPr b="1" lang="en">
                <a:solidFill>
                  <a:srgbClr val="D9D9D9"/>
                </a:solidFill>
              </a:rPr>
              <a:t>Climate Simulation</a:t>
            </a:r>
            <a:endParaRPr b="1">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High resolution CESM simulation </a:t>
            </a:r>
            <a:endParaRPr>
              <a:solidFill>
                <a:srgbClr val="D9D9D9"/>
              </a:solidFill>
            </a:endParaRPr>
          </a:p>
          <a:p>
            <a:pPr indent="-317500" lvl="1" marL="914400" rtl="0" algn="l">
              <a:spcBef>
                <a:spcPts val="0"/>
              </a:spcBef>
              <a:spcAft>
                <a:spcPts val="0"/>
              </a:spcAft>
              <a:buClr>
                <a:srgbClr val="D9D9D9"/>
              </a:buClr>
              <a:buSzPts val="1400"/>
              <a:buChar char="○"/>
            </a:pPr>
            <a:r>
              <a:rPr b="1" lang="en">
                <a:solidFill>
                  <a:srgbClr val="D9D9D9"/>
                </a:solidFill>
              </a:rPr>
              <a:t>1 TB of data generated per compute day</a:t>
            </a:r>
            <a:endParaRPr b="1">
              <a:solidFill>
                <a:srgbClr val="D9D9D9"/>
              </a:solidFill>
            </a:endParaRPr>
          </a:p>
          <a:p>
            <a:pPr indent="-317500" lvl="1" marL="914400" rtl="0" algn="l">
              <a:spcBef>
                <a:spcPts val="0"/>
              </a:spcBef>
              <a:spcAft>
                <a:spcPts val="0"/>
              </a:spcAft>
              <a:buClr>
                <a:srgbClr val="D9D9D9"/>
              </a:buClr>
              <a:buSzPts val="1400"/>
              <a:buChar char="○"/>
            </a:pPr>
            <a:r>
              <a:rPr lang="en">
                <a:solidFill>
                  <a:srgbClr val="D9D9D9"/>
                </a:solidFill>
              </a:rPr>
              <a:t>Current NCAR platform (2017) : ~50% of hardware budget</a:t>
            </a:r>
            <a:endParaRPr>
              <a:solidFill>
                <a:srgbClr val="D9D9D9"/>
              </a:solidFill>
            </a:endParaRPr>
          </a:p>
          <a:p>
            <a:pPr indent="-342900" lvl="0" marL="457200" rtl="0" algn="l">
              <a:spcBef>
                <a:spcPts val="0"/>
              </a:spcBef>
              <a:spcAft>
                <a:spcPts val="0"/>
              </a:spcAft>
              <a:buClr>
                <a:srgbClr val="D9D9D9"/>
              </a:buClr>
              <a:buSzPts val="1800"/>
              <a:buChar char="●"/>
            </a:pPr>
            <a:r>
              <a:rPr b="1" lang="en">
                <a:solidFill>
                  <a:srgbClr val="D9D9D9"/>
                </a:solidFill>
              </a:rPr>
              <a:t>Other datasets :</a:t>
            </a:r>
            <a:endParaRPr b="1">
              <a:solidFill>
                <a:srgbClr val="D9D9D9"/>
              </a:solidFill>
            </a:endParaRPr>
          </a:p>
          <a:p>
            <a:pPr indent="-317500" lvl="1" marL="914400" rtl="0" algn="l">
              <a:spcBef>
                <a:spcPts val="0"/>
              </a:spcBef>
              <a:spcAft>
                <a:spcPts val="0"/>
              </a:spcAft>
              <a:buClr>
                <a:srgbClr val="D9D9D9"/>
              </a:buClr>
              <a:buSzPts val="1400"/>
              <a:buChar char="○"/>
            </a:pPr>
            <a:r>
              <a:rPr b="1" lang="en">
                <a:solidFill>
                  <a:srgbClr val="D9D9D9"/>
                </a:solidFill>
              </a:rPr>
              <a:t>Cosmology Simulation:</a:t>
            </a:r>
            <a:r>
              <a:rPr lang="en">
                <a:solidFill>
                  <a:srgbClr val="D9D9D9"/>
                </a:solidFill>
              </a:rPr>
              <a:t> a total of </a:t>
            </a:r>
            <a:r>
              <a:rPr b="1" lang="en">
                <a:solidFill>
                  <a:srgbClr val="D9D9D9"/>
                </a:solidFill>
              </a:rPr>
              <a:t>&gt;20PB</a:t>
            </a:r>
            <a:r>
              <a:rPr lang="en">
                <a:solidFill>
                  <a:srgbClr val="D9D9D9"/>
                </a:solidFill>
              </a:rPr>
              <a:t> of data when simulating trillion of particles</a:t>
            </a:r>
            <a:endParaRPr>
              <a:solidFill>
                <a:srgbClr val="D9D9D9"/>
              </a:solidFill>
            </a:endParaRPr>
          </a:p>
          <a:p>
            <a:pPr indent="-317500" lvl="1" marL="914400" rtl="0" algn="l">
              <a:spcBef>
                <a:spcPts val="0"/>
              </a:spcBef>
              <a:spcAft>
                <a:spcPts val="0"/>
              </a:spcAft>
              <a:buClr>
                <a:srgbClr val="D9D9D9"/>
              </a:buClr>
              <a:buSzPts val="1400"/>
              <a:buChar char="○"/>
            </a:pPr>
            <a:r>
              <a:rPr b="1" lang="en">
                <a:solidFill>
                  <a:srgbClr val="D9D9D9"/>
                </a:solidFill>
              </a:rPr>
              <a:t>High energy x-ray beams experiments:</a:t>
            </a:r>
            <a:r>
              <a:rPr lang="en">
                <a:solidFill>
                  <a:srgbClr val="D9D9D9"/>
                </a:solidFill>
              </a:rPr>
              <a:t> </a:t>
            </a:r>
            <a:r>
              <a:rPr b="1" lang="en">
                <a:solidFill>
                  <a:srgbClr val="D9D9D9"/>
                </a:solidFill>
              </a:rPr>
              <a:t>1TB/s</a:t>
            </a:r>
            <a:r>
              <a:rPr lang="en">
                <a:solidFill>
                  <a:srgbClr val="D9D9D9"/>
                </a:solidFill>
              </a:rPr>
              <a:t> of streaming intensity</a:t>
            </a:r>
            <a:endParaRPr>
              <a:solidFill>
                <a:srgbClr val="D9D9D9"/>
              </a:solidFill>
            </a:endParaRPr>
          </a:p>
        </p:txBody>
      </p:sp>
      <p:pic>
        <p:nvPicPr>
          <p:cNvPr id="96" name="Google Shape;96;p17"/>
          <p:cNvPicPr preferRelativeResize="0"/>
          <p:nvPr/>
        </p:nvPicPr>
        <p:blipFill>
          <a:blip r:embed="rId3">
            <a:alphaModFix amt="14000"/>
          </a:blip>
          <a:stretch>
            <a:fillRect/>
          </a:stretch>
        </p:blipFill>
        <p:spPr>
          <a:xfrm>
            <a:off x="6671050" y="1650800"/>
            <a:ext cx="1802025" cy="1682376"/>
          </a:xfrm>
          <a:prstGeom prst="rect">
            <a:avLst/>
          </a:prstGeom>
          <a:noFill/>
          <a:ln>
            <a:noFill/>
          </a:ln>
        </p:spPr>
      </p:pic>
      <p:sp>
        <p:nvSpPr>
          <p:cNvPr id="97" name="Google Shape;97;p17"/>
          <p:cNvSpPr txBox="1"/>
          <p:nvPr/>
        </p:nvSpPr>
        <p:spPr>
          <a:xfrm>
            <a:off x="42600" y="4632350"/>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Image source: https://szcompressor.org/tabs/application/#cosmology</a:t>
            </a:r>
            <a:endParaRPr sz="800">
              <a:solidFill>
                <a:schemeClr val="dk1"/>
              </a:solidFill>
              <a:latin typeface="Old Standard TT"/>
              <a:ea typeface="Old Standard TT"/>
              <a:cs typeface="Old Standard TT"/>
              <a:sym typeface="Old Standard TT"/>
            </a:endParaRPr>
          </a:p>
        </p:txBody>
      </p:sp>
      <p:pic>
        <p:nvPicPr>
          <p:cNvPr id="98" name="Google Shape;98;p17"/>
          <p:cNvPicPr preferRelativeResize="0"/>
          <p:nvPr/>
        </p:nvPicPr>
        <p:blipFill>
          <a:blip r:embed="rId4">
            <a:alphaModFix/>
          </a:blip>
          <a:stretch>
            <a:fillRect/>
          </a:stretch>
        </p:blipFill>
        <p:spPr>
          <a:xfrm>
            <a:off x="8013742" y="4507725"/>
            <a:ext cx="1130255" cy="635774"/>
          </a:xfrm>
          <a:prstGeom prst="rect">
            <a:avLst/>
          </a:prstGeom>
          <a:noFill/>
          <a:ln>
            <a:noFill/>
          </a:ln>
        </p:spPr>
      </p:pic>
      <p:sp>
        <p:nvSpPr>
          <p:cNvPr id="99" name="Google Shape;99;p17"/>
          <p:cNvSpPr txBox="1"/>
          <p:nvPr/>
        </p:nvSpPr>
        <p:spPr>
          <a:xfrm>
            <a:off x="912804" y="1804075"/>
            <a:ext cx="7500900" cy="13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rgbClr val="980000"/>
                </a:solidFill>
                <a:latin typeface="Old Standard TT"/>
                <a:ea typeface="Old Standard TT"/>
                <a:cs typeface="Old Standard TT"/>
                <a:sym typeface="Old Standard TT"/>
              </a:rPr>
              <a:t>How to reduce the data without losing important information?</a:t>
            </a:r>
            <a:endParaRPr b="1" sz="2900">
              <a:solidFill>
                <a:srgbClr val="980000"/>
              </a:solidFill>
              <a:latin typeface="Old Standard TT"/>
              <a:ea typeface="Old Standard TT"/>
              <a:cs typeface="Old Standard TT"/>
              <a:sym typeface="Old Standard T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reduce data: Lossless</a:t>
            </a:r>
            <a:endParaRPr/>
          </a:p>
        </p:txBody>
      </p:sp>
      <p:sp>
        <p:nvSpPr>
          <p:cNvPr id="105" name="Google Shape;105;p18"/>
          <p:cNvSpPr txBox="1"/>
          <p:nvPr>
            <p:ph idx="1" type="body"/>
          </p:nvPr>
        </p:nvSpPr>
        <p:spPr>
          <a:xfrm>
            <a:off x="311700" y="11205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exploit the fact that </a:t>
            </a:r>
            <a:r>
              <a:rPr b="1" lang="en"/>
              <a:t>data has redundancy</a:t>
            </a:r>
            <a:endParaRPr b="1"/>
          </a:p>
          <a:p>
            <a:pPr indent="-342900" lvl="0" marL="457200" rtl="0" algn="l">
              <a:spcBef>
                <a:spcPts val="0"/>
              </a:spcBef>
              <a:spcAft>
                <a:spcPts val="0"/>
              </a:spcAft>
              <a:buSzPts val="1800"/>
              <a:buChar char="●"/>
            </a:pPr>
            <a:r>
              <a:rPr lang="en"/>
              <a:t>Similarities, Autocorrelation, Smoothness</a:t>
            </a:r>
            <a:endParaRPr/>
          </a:p>
        </p:txBody>
      </p:sp>
      <p:pic>
        <p:nvPicPr>
          <p:cNvPr id="106" name="Google Shape;106;p18"/>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reduce data: Lossless</a:t>
            </a:r>
            <a:endParaRPr/>
          </a:p>
        </p:txBody>
      </p:sp>
      <p:sp>
        <p:nvSpPr>
          <p:cNvPr id="112" name="Google Shape;112;p19"/>
          <p:cNvSpPr txBox="1"/>
          <p:nvPr>
            <p:ph idx="1" type="body"/>
          </p:nvPr>
        </p:nvSpPr>
        <p:spPr>
          <a:xfrm>
            <a:off x="311700" y="11205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exploit the fact that </a:t>
            </a:r>
            <a:r>
              <a:rPr b="1" lang="en"/>
              <a:t>data has redundancy</a:t>
            </a:r>
            <a:endParaRPr b="1"/>
          </a:p>
          <a:p>
            <a:pPr indent="-342900" lvl="0" marL="457200" rtl="0" algn="l">
              <a:spcBef>
                <a:spcPts val="0"/>
              </a:spcBef>
              <a:spcAft>
                <a:spcPts val="0"/>
              </a:spcAft>
              <a:buSzPts val="1800"/>
              <a:buChar char="●"/>
            </a:pPr>
            <a:r>
              <a:rPr lang="en"/>
              <a:t>Similarities, Autocorrelation, Smoothness</a:t>
            </a:r>
            <a:endParaRPr/>
          </a:p>
        </p:txBody>
      </p:sp>
      <p:sp>
        <p:nvSpPr>
          <p:cNvPr id="113" name="Google Shape;113;p19"/>
          <p:cNvSpPr/>
          <p:nvPr/>
        </p:nvSpPr>
        <p:spPr>
          <a:xfrm>
            <a:off x="1650600" y="2646400"/>
            <a:ext cx="937200" cy="244800"/>
          </a:xfrm>
          <a:prstGeom prst="right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9"/>
          <p:cNvSpPr/>
          <p:nvPr/>
        </p:nvSpPr>
        <p:spPr>
          <a:xfrm>
            <a:off x="425975" y="2428000"/>
            <a:ext cx="1139400" cy="6816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data</a:t>
            </a:r>
            <a:endParaRPr/>
          </a:p>
        </p:txBody>
      </p:sp>
      <p:sp>
        <p:nvSpPr>
          <p:cNvPr id="115" name="Google Shape;115;p19"/>
          <p:cNvSpPr/>
          <p:nvPr/>
        </p:nvSpPr>
        <p:spPr>
          <a:xfrm>
            <a:off x="2673025" y="2252350"/>
            <a:ext cx="1693200" cy="10329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Preprocess</a:t>
            </a:r>
            <a:endParaRPr/>
          </a:p>
          <a:p>
            <a:pPr indent="0" lvl="0" marL="0" rtl="0" algn="ctr">
              <a:spcBef>
                <a:spcPts val="0"/>
              </a:spcBef>
              <a:spcAft>
                <a:spcPts val="0"/>
              </a:spcAft>
              <a:buNone/>
            </a:pPr>
            <a:r>
              <a:rPr lang="en"/>
              <a:t>(Transform, Prediction, Decomposition, etc.) </a:t>
            </a:r>
            <a:endParaRPr/>
          </a:p>
        </p:txBody>
      </p:sp>
      <p:sp>
        <p:nvSpPr>
          <p:cNvPr id="116" name="Google Shape;116;p19"/>
          <p:cNvSpPr/>
          <p:nvPr/>
        </p:nvSpPr>
        <p:spPr>
          <a:xfrm>
            <a:off x="4451450" y="2646400"/>
            <a:ext cx="937200" cy="244800"/>
          </a:xfrm>
          <a:prstGeom prst="right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9"/>
          <p:cNvSpPr/>
          <p:nvPr/>
        </p:nvSpPr>
        <p:spPr>
          <a:xfrm>
            <a:off x="5473875" y="2346125"/>
            <a:ext cx="1139400" cy="681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Entropy encoding</a:t>
            </a:r>
            <a:endParaRPr/>
          </a:p>
        </p:txBody>
      </p:sp>
      <p:sp>
        <p:nvSpPr>
          <p:cNvPr id="118" name="Google Shape;118;p19"/>
          <p:cNvSpPr/>
          <p:nvPr/>
        </p:nvSpPr>
        <p:spPr>
          <a:xfrm>
            <a:off x="6666553" y="2564525"/>
            <a:ext cx="937200" cy="244800"/>
          </a:xfrm>
          <a:prstGeom prst="right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9"/>
          <p:cNvSpPr/>
          <p:nvPr/>
        </p:nvSpPr>
        <p:spPr>
          <a:xfrm>
            <a:off x="7678296" y="2255840"/>
            <a:ext cx="1366800" cy="866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a:t>
            </a:r>
            <a:endParaRPr/>
          </a:p>
          <a:p>
            <a:pPr indent="0" lvl="0" marL="0" rtl="0" algn="ctr">
              <a:spcBef>
                <a:spcPts val="0"/>
              </a:spcBef>
              <a:spcAft>
                <a:spcPts val="0"/>
              </a:spcAft>
              <a:buNone/>
            </a:pPr>
            <a:r>
              <a:rPr lang="en"/>
              <a:t>(Compressed data)</a:t>
            </a:r>
            <a:endParaRPr/>
          </a:p>
        </p:txBody>
      </p:sp>
      <p:sp>
        <p:nvSpPr>
          <p:cNvPr id="120" name="Google Shape;120;p19"/>
          <p:cNvSpPr txBox="1"/>
          <p:nvPr/>
        </p:nvSpPr>
        <p:spPr>
          <a:xfrm>
            <a:off x="2673025" y="3285250"/>
            <a:ext cx="1917000" cy="866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b="1" lang="en">
                <a:solidFill>
                  <a:schemeClr val="dk2"/>
                </a:solidFill>
              </a:rPr>
              <a:t>Lz77</a:t>
            </a:r>
            <a:endParaRPr b="1">
              <a:solidFill>
                <a:schemeClr val="dk2"/>
              </a:solidFill>
            </a:endParaRPr>
          </a:p>
          <a:p>
            <a:pPr indent="-317500" lvl="0" marL="457200" rtl="0" algn="l">
              <a:spcBef>
                <a:spcPts val="0"/>
              </a:spcBef>
              <a:spcAft>
                <a:spcPts val="0"/>
              </a:spcAft>
              <a:buClr>
                <a:schemeClr val="dk2"/>
              </a:buClr>
              <a:buSzPts val="1400"/>
              <a:buChar char="●"/>
            </a:pPr>
            <a:r>
              <a:rPr b="1" lang="en">
                <a:solidFill>
                  <a:schemeClr val="dk2"/>
                </a:solidFill>
              </a:rPr>
              <a:t>Snappy</a:t>
            </a:r>
            <a:endParaRPr b="1">
              <a:solidFill>
                <a:schemeClr val="dk2"/>
              </a:solidFill>
            </a:endParaRPr>
          </a:p>
          <a:p>
            <a:pPr indent="-317500" lvl="0" marL="457200" rtl="0" algn="l">
              <a:spcBef>
                <a:spcPts val="0"/>
              </a:spcBef>
              <a:spcAft>
                <a:spcPts val="0"/>
              </a:spcAft>
              <a:buClr>
                <a:schemeClr val="dk2"/>
              </a:buClr>
              <a:buSzPts val="1400"/>
              <a:buChar char="●"/>
            </a:pPr>
            <a:r>
              <a:rPr b="1" lang="en">
                <a:solidFill>
                  <a:schemeClr val="dk2"/>
                </a:solidFill>
              </a:rPr>
              <a:t>Zlib</a:t>
            </a:r>
            <a:endParaRPr b="1">
              <a:solidFill>
                <a:schemeClr val="dk2"/>
              </a:solidFill>
            </a:endParaRPr>
          </a:p>
        </p:txBody>
      </p:sp>
      <p:sp>
        <p:nvSpPr>
          <p:cNvPr id="121" name="Google Shape;121;p19"/>
          <p:cNvSpPr txBox="1"/>
          <p:nvPr/>
        </p:nvSpPr>
        <p:spPr>
          <a:xfrm>
            <a:off x="5295875" y="3027725"/>
            <a:ext cx="19170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Huffman Encoding</a:t>
            </a:r>
            <a:endParaRPr b="1">
              <a:solidFill>
                <a:schemeClr val="dk2"/>
              </a:solidFill>
            </a:endParaRPr>
          </a:p>
        </p:txBody>
      </p:sp>
      <p:sp>
        <p:nvSpPr>
          <p:cNvPr id="122" name="Google Shape;122;p19"/>
          <p:cNvSpPr txBox="1"/>
          <p:nvPr/>
        </p:nvSpPr>
        <p:spPr>
          <a:xfrm>
            <a:off x="1593325" y="2399375"/>
            <a:ext cx="10797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Lossless</a:t>
            </a:r>
            <a:endParaRPr b="1">
              <a:solidFill>
                <a:schemeClr val="dk2"/>
              </a:solidFill>
            </a:endParaRPr>
          </a:p>
        </p:txBody>
      </p:sp>
      <p:pic>
        <p:nvPicPr>
          <p:cNvPr id="123" name="Google Shape;123;p19"/>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reduce data: Lossless</a:t>
            </a:r>
            <a:endParaRPr/>
          </a:p>
        </p:txBody>
      </p:sp>
      <p:sp>
        <p:nvSpPr>
          <p:cNvPr id="129" name="Google Shape;129;p20"/>
          <p:cNvSpPr txBox="1"/>
          <p:nvPr>
            <p:ph idx="1" type="body"/>
          </p:nvPr>
        </p:nvSpPr>
        <p:spPr>
          <a:xfrm>
            <a:off x="311700" y="11205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exploit the fact that </a:t>
            </a:r>
            <a:r>
              <a:rPr b="1" lang="en"/>
              <a:t>data has redundancy</a:t>
            </a:r>
            <a:endParaRPr b="1"/>
          </a:p>
          <a:p>
            <a:pPr indent="-342900" lvl="0" marL="457200" rtl="0" algn="l">
              <a:spcBef>
                <a:spcPts val="0"/>
              </a:spcBef>
              <a:spcAft>
                <a:spcPts val="0"/>
              </a:spcAft>
              <a:buSzPts val="1800"/>
              <a:buChar char="●"/>
            </a:pPr>
            <a:r>
              <a:rPr lang="en"/>
              <a:t>Similarities, Autocorrelation, Smoothness</a:t>
            </a:r>
            <a:endParaRPr/>
          </a:p>
        </p:txBody>
      </p:sp>
      <p:sp>
        <p:nvSpPr>
          <p:cNvPr id="130" name="Google Shape;130;p20"/>
          <p:cNvSpPr/>
          <p:nvPr/>
        </p:nvSpPr>
        <p:spPr>
          <a:xfrm>
            <a:off x="1650600" y="2646400"/>
            <a:ext cx="937200" cy="244800"/>
          </a:xfrm>
          <a:prstGeom prst="right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20"/>
          <p:cNvSpPr/>
          <p:nvPr/>
        </p:nvSpPr>
        <p:spPr>
          <a:xfrm>
            <a:off x="425975" y="2428000"/>
            <a:ext cx="1139400" cy="6816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data</a:t>
            </a:r>
            <a:endParaRPr/>
          </a:p>
        </p:txBody>
      </p:sp>
      <p:sp>
        <p:nvSpPr>
          <p:cNvPr id="132" name="Google Shape;132;p20"/>
          <p:cNvSpPr/>
          <p:nvPr/>
        </p:nvSpPr>
        <p:spPr>
          <a:xfrm>
            <a:off x="2673025" y="2252350"/>
            <a:ext cx="1693200" cy="10329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Preprocess</a:t>
            </a:r>
            <a:endParaRPr/>
          </a:p>
          <a:p>
            <a:pPr indent="0" lvl="0" marL="0" rtl="0" algn="ctr">
              <a:spcBef>
                <a:spcPts val="0"/>
              </a:spcBef>
              <a:spcAft>
                <a:spcPts val="0"/>
              </a:spcAft>
              <a:buNone/>
            </a:pPr>
            <a:r>
              <a:rPr lang="en"/>
              <a:t>(Transform, Prediction, Decomposition, etc.) </a:t>
            </a:r>
            <a:endParaRPr/>
          </a:p>
        </p:txBody>
      </p:sp>
      <p:sp>
        <p:nvSpPr>
          <p:cNvPr id="133" name="Google Shape;133;p20"/>
          <p:cNvSpPr/>
          <p:nvPr/>
        </p:nvSpPr>
        <p:spPr>
          <a:xfrm>
            <a:off x="4451450" y="2646400"/>
            <a:ext cx="937200" cy="244800"/>
          </a:xfrm>
          <a:prstGeom prst="right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0"/>
          <p:cNvSpPr/>
          <p:nvPr/>
        </p:nvSpPr>
        <p:spPr>
          <a:xfrm>
            <a:off x="5473875" y="2346125"/>
            <a:ext cx="1139400" cy="681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Entropy encoding</a:t>
            </a:r>
            <a:endParaRPr/>
          </a:p>
        </p:txBody>
      </p:sp>
      <p:sp>
        <p:nvSpPr>
          <p:cNvPr id="135" name="Google Shape;135;p20"/>
          <p:cNvSpPr/>
          <p:nvPr/>
        </p:nvSpPr>
        <p:spPr>
          <a:xfrm>
            <a:off x="6666553" y="2564525"/>
            <a:ext cx="937200" cy="244800"/>
          </a:xfrm>
          <a:prstGeom prst="right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0"/>
          <p:cNvSpPr/>
          <p:nvPr/>
        </p:nvSpPr>
        <p:spPr>
          <a:xfrm>
            <a:off x="7678296" y="2255840"/>
            <a:ext cx="1366800" cy="866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a:t>
            </a:r>
            <a:endParaRPr/>
          </a:p>
          <a:p>
            <a:pPr indent="0" lvl="0" marL="0" rtl="0" algn="ctr">
              <a:spcBef>
                <a:spcPts val="0"/>
              </a:spcBef>
              <a:spcAft>
                <a:spcPts val="0"/>
              </a:spcAft>
              <a:buNone/>
            </a:pPr>
            <a:r>
              <a:rPr lang="en"/>
              <a:t>(Compressed data)</a:t>
            </a:r>
            <a:endParaRPr/>
          </a:p>
        </p:txBody>
      </p:sp>
      <p:sp>
        <p:nvSpPr>
          <p:cNvPr id="137" name="Google Shape;137;p20"/>
          <p:cNvSpPr txBox="1"/>
          <p:nvPr/>
        </p:nvSpPr>
        <p:spPr>
          <a:xfrm>
            <a:off x="2673025" y="3285250"/>
            <a:ext cx="1917000" cy="866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b="1" lang="en">
                <a:solidFill>
                  <a:schemeClr val="dk2"/>
                </a:solidFill>
              </a:rPr>
              <a:t>Lz77</a:t>
            </a:r>
            <a:endParaRPr b="1">
              <a:solidFill>
                <a:schemeClr val="dk2"/>
              </a:solidFill>
            </a:endParaRPr>
          </a:p>
          <a:p>
            <a:pPr indent="-317500" lvl="0" marL="457200" rtl="0" algn="l">
              <a:spcBef>
                <a:spcPts val="0"/>
              </a:spcBef>
              <a:spcAft>
                <a:spcPts val="0"/>
              </a:spcAft>
              <a:buClr>
                <a:schemeClr val="dk2"/>
              </a:buClr>
              <a:buSzPts val="1400"/>
              <a:buChar char="●"/>
            </a:pPr>
            <a:r>
              <a:rPr b="1" lang="en">
                <a:solidFill>
                  <a:schemeClr val="dk2"/>
                </a:solidFill>
              </a:rPr>
              <a:t>Snappy</a:t>
            </a:r>
            <a:endParaRPr b="1">
              <a:solidFill>
                <a:schemeClr val="dk2"/>
              </a:solidFill>
            </a:endParaRPr>
          </a:p>
          <a:p>
            <a:pPr indent="-317500" lvl="0" marL="457200" rtl="0" algn="l">
              <a:spcBef>
                <a:spcPts val="0"/>
              </a:spcBef>
              <a:spcAft>
                <a:spcPts val="0"/>
              </a:spcAft>
              <a:buClr>
                <a:schemeClr val="dk2"/>
              </a:buClr>
              <a:buSzPts val="1400"/>
              <a:buChar char="●"/>
            </a:pPr>
            <a:r>
              <a:rPr b="1" lang="en">
                <a:solidFill>
                  <a:schemeClr val="dk2"/>
                </a:solidFill>
              </a:rPr>
              <a:t>Zlib</a:t>
            </a:r>
            <a:endParaRPr b="1">
              <a:solidFill>
                <a:schemeClr val="dk2"/>
              </a:solidFill>
            </a:endParaRPr>
          </a:p>
        </p:txBody>
      </p:sp>
      <p:sp>
        <p:nvSpPr>
          <p:cNvPr id="138" name="Google Shape;138;p20"/>
          <p:cNvSpPr txBox="1"/>
          <p:nvPr/>
        </p:nvSpPr>
        <p:spPr>
          <a:xfrm>
            <a:off x="5295875" y="3027725"/>
            <a:ext cx="19170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Huffman Encoding</a:t>
            </a:r>
            <a:endParaRPr b="1">
              <a:solidFill>
                <a:schemeClr val="dk2"/>
              </a:solidFill>
            </a:endParaRPr>
          </a:p>
        </p:txBody>
      </p:sp>
      <p:sp>
        <p:nvSpPr>
          <p:cNvPr id="139" name="Google Shape;139;p20"/>
          <p:cNvSpPr txBox="1"/>
          <p:nvPr/>
        </p:nvSpPr>
        <p:spPr>
          <a:xfrm>
            <a:off x="365375" y="438030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80000"/>
                </a:solidFill>
              </a:rPr>
              <a:t>Lossless compression is limited to a ratio of 2 for scientific data </a:t>
            </a:r>
            <a:endParaRPr b="1" sz="1800">
              <a:solidFill>
                <a:srgbClr val="980000"/>
              </a:solidFill>
            </a:endParaRPr>
          </a:p>
        </p:txBody>
      </p:sp>
      <p:sp>
        <p:nvSpPr>
          <p:cNvPr id="140" name="Google Shape;140;p20"/>
          <p:cNvSpPr txBox="1"/>
          <p:nvPr/>
        </p:nvSpPr>
        <p:spPr>
          <a:xfrm>
            <a:off x="1593325" y="2399375"/>
            <a:ext cx="10797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Lossless</a:t>
            </a:r>
            <a:endParaRPr b="1">
              <a:solidFill>
                <a:schemeClr val="dk2"/>
              </a:solidFill>
            </a:endParaRPr>
          </a:p>
        </p:txBody>
      </p:sp>
      <p:pic>
        <p:nvPicPr>
          <p:cNvPr id="141" name="Google Shape;141;p20"/>
          <p:cNvPicPr preferRelativeResize="0"/>
          <p:nvPr/>
        </p:nvPicPr>
        <p:blipFill>
          <a:blip r:embed="rId3">
            <a:alphaModFix/>
          </a:blip>
          <a:stretch>
            <a:fillRect/>
          </a:stretch>
        </p:blipFill>
        <p:spPr>
          <a:xfrm>
            <a:off x="8013742" y="4507725"/>
            <a:ext cx="1130255" cy="635774"/>
          </a:xfrm>
          <a:prstGeom prst="rect">
            <a:avLst/>
          </a:prstGeom>
          <a:noFill/>
          <a:ln>
            <a:noFill/>
          </a:ln>
        </p:spPr>
      </p:pic>
      <p:sp>
        <p:nvSpPr>
          <p:cNvPr id="142" name="Google Shape;142;p20"/>
          <p:cNvSpPr txBox="1"/>
          <p:nvPr/>
        </p:nvSpPr>
        <p:spPr>
          <a:xfrm>
            <a:off x="4387687" y="2384167"/>
            <a:ext cx="10797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Lossless</a:t>
            </a:r>
            <a:endParaRPr b="1">
              <a:solidFill>
                <a:schemeClr val="dk2"/>
              </a:solidFill>
            </a:endParaRPr>
          </a:p>
        </p:txBody>
      </p:sp>
      <p:sp>
        <p:nvSpPr>
          <p:cNvPr id="143" name="Google Shape;143;p20"/>
          <p:cNvSpPr txBox="1"/>
          <p:nvPr/>
        </p:nvSpPr>
        <p:spPr>
          <a:xfrm>
            <a:off x="6619787" y="2321988"/>
            <a:ext cx="10797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Lossless</a:t>
            </a:r>
            <a:endParaRPr b="1">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Lossy compression</a:t>
            </a:r>
            <a:endParaRPr/>
          </a:p>
        </p:txBody>
      </p:sp>
      <p:sp>
        <p:nvSpPr>
          <p:cNvPr id="149" name="Google Shape;149;p21"/>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Reducing data by </a:t>
            </a:r>
            <a:r>
              <a:rPr b="1" lang="en">
                <a:solidFill>
                  <a:srgbClr val="980000"/>
                </a:solidFill>
              </a:rPr>
              <a:t>more</a:t>
            </a:r>
            <a:r>
              <a:rPr b="1" lang="en"/>
              <a:t> than ratio of 2</a:t>
            </a:r>
            <a:endParaRPr b="1"/>
          </a:p>
        </p:txBody>
      </p:sp>
      <p:sp>
        <p:nvSpPr>
          <p:cNvPr id="150" name="Google Shape;150;p21"/>
          <p:cNvSpPr/>
          <p:nvPr/>
        </p:nvSpPr>
        <p:spPr>
          <a:xfrm>
            <a:off x="4095625" y="3628763"/>
            <a:ext cx="1469400" cy="7761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Approximation</a:t>
            </a:r>
            <a:endParaRPr/>
          </a:p>
          <a:p>
            <a:pPr indent="0" lvl="0" marL="0" rtl="0" algn="ctr">
              <a:spcBef>
                <a:spcPts val="0"/>
              </a:spcBef>
              <a:spcAft>
                <a:spcPts val="0"/>
              </a:spcAft>
              <a:buNone/>
            </a:pPr>
            <a:r>
              <a:rPr lang="en"/>
              <a:t>(Quantization)</a:t>
            </a:r>
            <a:endParaRPr/>
          </a:p>
        </p:txBody>
      </p:sp>
      <p:sp>
        <p:nvSpPr>
          <p:cNvPr id="151" name="Google Shape;151;p21"/>
          <p:cNvSpPr/>
          <p:nvPr/>
        </p:nvSpPr>
        <p:spPr>
          <a:xfrm rot="-3520278">
            <a:off x="5587806" y="3459323"/>
            <a:ext cx="565442" cy="236260"/>
          </a:xfrm>
          <a:prstGeom prst="rightArrow">
            <a:avLst>
              <a:gd fmla="val 61417"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21"/>
          <p:cNvSpPr/>
          <p:nvPr/>
        </p:nvSpPr>
        <p:spPr>
          <a:xfrm rot="2379485">
            <a:off x="3362908" y="3506788"/>
            <a:ext cx="761041" cy="186026"/>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1"/>
          <p:cNvSpPr txBox="1"/>
          <p:nvPr/>
        </p:nvSpPr>
        <p:spPr>
          <a:xfrm>
            <a:off x="4095625" y="4404875"/>
            <a:ext cx="2730300" cy="62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80000"/>
                </a:solidFill>
              </a:rPr>
              <a:t>Compression error is </a:t>
            </a:r>
            <a:endParaRPr b="1" sz="1800">
              <a:solidFill>
                <a:srgbClr val="980000"/>
              </a:solidFill>
            </a:endParaRPr>
          </a:p>
          <a:p>
            <a:pPr indent="0" lvl="0" marL="0" rtl="0" algn="l">
              <a:spcBef>
                <a:spcPts val="0"/>
              </a:spcBef>
              <a:spcAft>
                <a:spcPts val="0"/>
              </a:spcAft>
              <a:buNone/>
            </a:pPr>
            <a:r>
              <a:rPr b="1" lang="en" sz="1800">
                <a:solidFill>
                  <a:srgbClr val="980000"/>
                </a:solidFill>
              </a:rPr>
              <a:t>introduced here</a:t>
            </a:r>
            <a:endParaRPr b="1" sz="1800">
              <a:solidFill>
                <a:srgbClr val="980000"/>
              </a:solidFill>
            </a:endParaRPr>
          </a:p>
        </p:txBody>
      </p:sp>
      <p:sp>
        <p:nvSpPr>
          <p:cNvPr id="154" name="Google Shape;154;p21"/>
          <p:cNvSpPr/>
          <p:nvPr/>
        </p:nvSpPr>
        <p:spPr>
          <a:xfrm>
            <a:off x="1650600" y="2646400"/>
            <a:ext cx="937200" cy="244800"/>
          </a:xfrm>
          <a:prstGeom prst="right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1"/>
          <p:cNvSpPr/>
          <p:nvPr/>
        </p:nvSpPr>
        <p:spPr>
          <a:xfrm>
            <a:off x="425975" y="2428000"/>
            <a:ext cx="1139400" cy="6816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data</a:t>
            </a:r>
            <a:endParaRPr/>
          </a:p>
        </p:txBody>
      </p:sp>
      <p:sp>
        <p:nvSpPr>
          <p:cNvPr id="156" name="Google Shape;156;p21"/>
          <p:cNvSpPr/>
          <p:nvPr/>
        </p:nvSpPr>
        <p:spPr>
          <a:xfrm>
            <a:off x="2673025" y="2252350"/>
            <a:ext cx="1693200" cy="10329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Preprocess</a:t>
            </a:r>
            <a:endParaRPr/>
          </a:p>
          <a:p>
            <a:pPr indent="0" lvl="0" marL="0" rtl="0" algn="ctr">
              <a:spcBef>
                <a:spcPts val="0"/>
              </a:spcBef>
              <a:spcAft>
                <a:spcPts val="0"/>
              </a:spcAft>
              <a:buNone/>
            </a:pPr>
            <a:r>
              <a:rPr lang="en"/>
              <a:t>(Transform, Prediction, Decomposition, etc.) </a:t>
            </a:r>
            <a:endParaRPr/>
          </a:p>
        </p:txBody>
      </p:sp>
      <p:sp>
        <p:nvSpPr>
          <p:cNvPr id="157" name="Google Shape;157;p21"/>
          <p:cNvSpPr/>
          <p:nvPr/>
        </p:nvSpPr>
        <p:spPr>
          <a:xfrm>
            <a:off x="5473875" y="2346125"/>
            <a:ext cx="1139400" cy="681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Entropy encoding</a:t>
            </a:r>
            <a:endParaRPr/>
          </a:p>
        </p:txBody>
      </p:sp>
      <p:sp>
        <p:nvSpPr>
          <p:cNvPr id="158" name="Google Shape;158;p21"/>
          <p:cNvSpPr/>
          <p:nvPr/>
        </p:nvSpPr>
        <p:spPr>
          <a:xfrm>
            <a:off x="6666553" y="2564525"/>
            <a:ext cx="937200" cy="244800"/>
          </a:xfrm>
          <a:prstGeom prst="right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1"/>
          <p:cNvSpPr/>
          <p:nvPr/>
        </p:nvSpPr>
        <p:spPr>
          <a:xfrm>
            <a:off x="7678296" y="2255840"/>
            <a:ext cx="1366800" cy="866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Output</a:t>
            </a:r>
            <a:endParaRPr/>
          </a:p>
          <a:p>
            <a:pPr indent="0" lvl="0" marL="0" rtl="0" algn="ctr">
              <a:spcBef>
                <a:spcPts val="0"/>
              </a:spcBef>
              <a:spcAft>
                <a:spcPts val="0"/>
              </a:spcAft>
              <a:buNone/>
            </a:pPr>
            <a:r>
              <a:rPr lang="en"/>
              <a:t>(Compressed data)</a:t>
            </a:r>
            <a:endParaRPr/>
          </a:p>
        </p:txBody>
      </p:sp>
      <p:sp>
        <p:nvSpPr>
          <p:cNvPr id="160" name="Google Shape;160;p21"/>
          <p:cNvSpPr txBox="1"/>
          <p:nvPr/>
        </p:nvSpPr>
        <p:spPr>
          <a:xfrm>
            <a:off x="5295875" y="3027725"/>
            <a:ext cx="19170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Huffman Encoding</a:t>
            </a:r>
            <a:endParaRPr b="1">
              <a:solidFill>
                <a:schemeClr val="dk2"/>
              </a:solidFill>
            </a:endParaRPr>
          </a:p>
        </p:txBody>
      </p:sp>
      <p:sp>
        <p:nvSpPr>
          <p:cNvPr id="161" name="Google Shape;161;p21"/>
          <p:cNvSpPr txBox="1"/>
          <p:nvPr/>
        </p:nvSpPr>
        <p:spPr>
          <a:xfrm>
            <a:off x="1593325" y="2399375"/>
            <a:ext cx="10797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Lossless</a:t>
            </a:r>
            <a:endParaRPr b="1">
              <a:solidFill>
                <a:schemeClr val="dk2"/>
              </a:solidFill>
            </a:endParaRPr>
          </a:p>
        </p:txBody>
      </p:sp>
      <p:sp>
        <p:nvSpPr>
          <p:cNvPr id="162" name="Google Shape;162;p21"/>
          <p:cNvSpPr txBox="1"/>
          <p:nvPr/>
        </p:nvSpPr>
        <p:spPr>
          <a:xfrm rot="2370603">
            <a:off x="3153430" y="3656665"/>
            <a:ext cx="1079826" cy="376779"/>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980000"/>
                </a:solidFill>
              </a:rPr>
              <a:t>Lossy</a:t>
            </a:r>
            <a:endParaRPr b="1">
              <a:solidFill>
                <a:srgbClr val="980000"/>
              </a:solidFill>
            </a:endParaRPr>
          </a:p>
        </p:txBody>
      </p:sp>
      <p:pic>
        <p:nvPicPr>
          <p:cNvPr id="163" name="Google Shape;163;p21"/>
          <p:cNvPicPr preferRelativeResize="0"/>
          <p:nvPr/>
        </p:nvPicPr>
        <p:blipFill>
          <a:blip r:embed="rId3">
            <a:alphaModFix/>
          </a:blip>
          <a:stretch>
            <a:fillRect/>
          </a:stretch>
        </p:blipFill>
        <p:spPr>
          <a:xfrm>
            <a:off x="8013742" y="4507725"/>
            <a:ext cx="1130255" cy="635774"/>
          </a:xfrm>
          <a:prstGeom prst="rect">
            <a:avLst/>
          </a:prstGeom>
          <a:noFill/>
          <a:ln>
            <a:noFill/>
          </a:ln>
        </p:spPr>
      </p:pic>
      <p:sp>
        <p:nvSpPr>
          <p:cNvPr id="164" name="Google Shape;164;p21"/>
          <p:cNvSpPr txBox="1"/>
          <p:nvPr/>
        </p:nvSpPr>
        <p:spPr>
          <a:xfrm>
            <a:off x="4387687" y="2384167"/>
            <a:ext cx="10797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Lossless</a:t>
            </a:r>
            <a:endParaRPr b="1">
              <a:solidFill>
                <a:schemeClr val="dk2"/>
              </a:solidFill>
            </a:endParaRPr>
          </a:p>
        </p:txBody>
      </p:sp>
      <p:sp>
        <p:nvSpPr>
          <p:cNvPr id="165" name="Google Shape;165;p21"/>
          <p:cNvSpPr/>
          <p:nvPr/>
        </p:nvSpPr>
        <p:spPr>
          <a:xfrm>
            <a:off x="4451450" y="2652156"/>
            <a:ext cx="937200" cy="244800"/>
          </a:xfrm>
          <a:prstGeom prst="right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1"/>
          <p:cNvSpPr txBox="1"/>
          <p:nvPr/>
        </p:nvSpPr>
        <p:spPr>
          <a:xfrm>
            <a:off x="6619787" y="2321988"/>
            <a:ext cx="10797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rPr>
              <a:t>Lossless</a:t>
            </a:r>
            <a:endParaRPr b="1">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Lossy compression requirements</a:t>
            </a:r>
            <a:endParaRPr/>
          </a:p>
        </p:txBody>
      </p:sp>
      <p:sp>
        <p:nvSpPr>
          <p:cNvPr id="172" name="Google Shape;172;p22"/>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Reduce data accuracy</a:t>
            </a:r>
            <a:r>
              <a:rPr lang="en"/>
              <a:t> to reach </a:t>
            </a:r>
            <a:r>
              <a:rPr b="1" lang="en"/>
              <a:t>higher compression ratio</a:t>
            </a:r>
            <a:endParaRPr b="1"/>
          </a:p>
          <a:p>
            <a:pPr indent="-342900" lvl="0" marL="457200" rtl="0" algn="l">
              <a:spcBef>
                <a:spcPts val="0"/>
              </a:spcBef>
              <a:spcAft>
                <a:spcPts val="0"/>
              </a:spcAft>
              <a:buSzPts val="1800"/>
              <a:buChar char="●"/>
            </a:pPr>
            <a:r>
              <a:rPr lang="en"/>
              <a:t>Tradeoff between data size and data accuracy</a:t>
            </a:r>
            <a:endParaRPr/>
          </a:p>
          <a:p>
            <a:pPr indent="0" lvl="0" marL="457200" rtl="0" algn="l">
              <a:spcBef>
                <a:spcPts val="1200"/>
              </a:spcBef>
              <a:spcAft>
                <a:spcPts val="0"/>
              </a:spcAft>
              <a:buNone/>
            </a:pPr>
            <a:r>
              <a:t/>
            </a:r>
            <a:endParaRPr sz="1600"/>
          </a:p>
          <a:p>
            <a:pPr indent="0" lvl="0" marL="0" rtl="0" algn="l">
              <a:spcBef>
                <a:spcPts val="1200"/>
              </a:spcBef>
              <a:spcAft>
                <a:spcPts val="1200"/>
              </a:spcAft>
              <a:buNone/>
            </a:pPr>
            <a:r>
              <a:t/>
            </a:r>
            <a:endParaRPr/>
          </a:p>
        </p:txBody>
      </p:sp>
      <p:pic>
        <p:nvPicPr>
          <p:cNvPr id="173" name="Google Shape;173;p22"/>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Lossy compression requirements</a:t>
            </a:r>
            <a:endParaRPr/>
          </a:p>
        </p:txBody>
      </p:sp>
      <p:sp>
        <p:nvSpPr>
          <p:cNvPr id="179" name="Google Shape;179;p23"/>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Reduce data accuracy</a:t>
            </a:r>
            <a:r>
              <a:rPr lang="en"/>
              <a:t> to reach </a:t>
            </a:r>
            <a:r>
              <a:rPr b="1" lang="en"/>
              <a:t>higher compression ratio</a:t>
            </a:r>
            <a:endParaRPr b="1"/>
          </a:p>
          <a:p>
            <a:pPr indent="-342900" lvl="0" marL="457200" rtl="0" algn="l">
              <a:spcBef>
                <a:spcPts val="0"/>
              </a:spcBef>
              <a:spcAft>
                <a:spcPts val="0"/>
              </a:spcAft>
              <a:buSzPts val="1800"/>
              <a:buChar char="●"/>
            </a:pPr>
            <a:r>
              <a:rPr lang="en"/>
              <a:t>Tradeoff between data size and data accuracy</a:t>
            </a:r>
            <a:endParaRPr/>
          </a:p>
          <a:p>
            <a:pPr indent="-342900" lvl="0" marL="457200" rtl="0" algn="l">
              <a:spcBef>
                <a:spcPts val="0"/>
              </a:spcBef>
              <a:spcAft>
                <a:spcPts val="0"/>
              </a:spcAft>
              <a:buSzPts val="1800"/>
              <a:buChar char="●"/>
            </a:pPr>
            <a:r>
              <a:rPr b="1" lang="en"/>
              <a:t>Different metrics exists to quantify lossy compression effect</a:t>
            </a:r>
            <a:endParaRPr b="1"/>
          </a:p>
          <a:p>
            <a:pPr indent="-330200" lvl="1" marL="914400" rtl="0" algn="l">
              <a:spcBef>
                <a:spcPts val="0"/>
              </a:spcBef>
              <a:spcAft>
                <a:spcPts val="0"/>
              </a:spcAft>
              <a:buSzPts val="1600"/>
              <a:buChar char="○"/>
            </a:pPr>
            <a:r>
              <a:rPr b="1" lang="en" sz="1600">
                <a:solidFill>
                  <a:srgbClr val="A61C00"/>
                </a:solidFill>
              </a:rPr>
              <a:t>Quantitative</a:t>
            </a:r>
            <a:r>
              <a:rPr lang="en" sz="1600"/>
              <a:t> - error bounds, PSNR, SSIM </a:t>
            </a:r>
            <a:endParaRPr sz="1600"/>
          </a:p>
          <a:p>
            <a:pPr indent="-330200" lvl="1" marL="914400" rtl="0" algn="l">
              <a:spcBef>
                <a:spcPts val="0"/>
              </a:spcBef>
              <a:spcAft>
                <a:spcPts val="0"/>
              </a:spcAft>
              <a:buSzPts val="1600"/>
              <a:buChar char="○"/>
            </a:pPr>
            <a:r>
              <a:rPr b="1" lang="en" sz="1600">
                <a:solidFill>
                  <a:srgbClr val="A61C00"/>
                </a:solidFill>
              </a:rPr>
              <a:t>Visualization</a:t>
            </a:r>
            <a:r>
              <a:rPr lang="en" sz="1600"/>
              <a:t> - critical points, merge trees,...</a:t>
            </a:r>
            <a:endParaRPr sz="1600"/>
          </a:p>
          <a:p>
            <a:pPr indent="0" lvl="0" marL="0" rtl="0" algn="l">
              <a:spcBef>
                <a:spcPts val="1200"/>
              </a:spcBef>
              <a:spcAft>
                <a:spcPts val="1200"/>
              </a:spcAft>
              <a:buNone/>
            </a:pPr>
            <a:r>
              <a:t/>
            </a:r>
            <a:endParaRPr/>
          </a:p>
        </p:txBody>
      </p:sp>
      <p:pic>
        <p:nvPicPr>
          <p:cNvPr id="180" name="Google Shape;180;p23"/>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Lossy compression requirements</a:t>
            </a:r>
            <a:endParaRPr/>
          </a:p>
        </p:txBody>
      </p:sp>
      <p:sp>
        <p:nvSpPr>
          <p:cNvPr id="186" name="Google Shape;186;p2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Reduce data accuracy</a:t>
            </a:r>
            <a:r>
              <a:rPr lang="en"/>
              <a:t> to reach </a:t>
            </a:r>
            <a:r>
              <a:rPr b="1" lang="en"/>
              <a:t>higher compression ratio</a:t>
            </a:r>
            <a:endParaRPr b="1"/>
          </a:p>
          <a:p>
            <a:pPr indent="-342900" lvl="0" marL="457200" rtl="0" algn="l">
              <a:spcBef>
                <a:spcPts val="0"/>
              </a:spcBef>
              <a:spcAft>
                <a:spcPts val="0"/>
              </a:spcAft>
              <a:buSzPts val="1800"/>
              <a:buChar char="●"/>
            </a:pPr>
            <a:r>
              <a:rPr lang="en"/>
              <a:t>Tradeoff between data size and data accuracy</a:t>
            </a:r>
            <a:endParaRPr/>
          </a:p>
          <a:p>
            <a:pPr indent="-342900" lvl="0" marL="457200" rtl="0" algn="l">
              <a:spcBef>
                <a:spcPts val="0"/>
              </a:spcBef>
              <a:spcAft>
                <a:spcPts val="0"/>
              </a:spcAft>
              <a:buSzPts val="1800"/>
              <a:buChar char="●"/>
            </a:pPr>
            <a:r>
              <a:rPr b="1" lang="en"/>
              <a:t>Different metrics exists to quantify lossy compression effect</a:t>
            </a:r>
            <a:endParaRPr b="1"/>
          </a:p>
          <a:p>
            <a:pPr indent="-330200" lvl="1" marL="914400" rtl="0" algn="l">
              <a:spcBef>
                <a:spcPts val="0"/>
              </a:spcBef>
              <a:spcAft>
                <a:spcPts val="0"/>
              </a:spcAft>
              <a:buSzPts val="1600"/>
              <a:buChar char="○"/>
            </a:pPr>
            <a:r>
              <a:rPr b="1" lang="en" sz="1600">
                <a:solidFill>
                  <a:srgbClr val="A61C00"/>
                </a:solidFill>
              </a:rPr>
              <a:t>Quantitative</a:t>
            </a:r>
            <a:r>
              <a:rPr lang="en" sz="1600"/>
              <a:t> - error bounds, PSNR, SSIM </a:t>
            </a:r>
            <a:endParaRPr sz="1600"/>
          </a:p>
          <a:p>
            <a:pPr indent="-330200" lvl="1" marL="914400" rtl="0" algn="l">
              <a:spcBef>
                <a:spcPts val="0"/>
              </a:spcBef>
              <a:spcAft>
                <a:spcPts val="0"/>
              </a:spcAft>
              <a:buSzPts val="1600"/>
              <a:buChar char="○"/>
            </a:pPr>
            <a:r>
              <a:rPr b="1" lang="en" sz="1600">
                <a:solidFill>
                  <a:srgbClr val="A61C00"/>
                </a:solidFill>
              </a:rPr>
              <a:t>Visualization</a:t>
            </a:r>
            <a:r>
              <a:rPr lang="en" sz="1600"/>
              <a:t> - critical points, merge trees,...</a:t>
            </a:r>
            <a:endParaRPr sz="1600"/>
          </a:p>
          <a:p>
            <a:pPr indent="0" lvl="0" marL="0" rtl="0" algn="l">
              <a:spcBef>
                <a:spcPts val="1200"/>
              </a:spcBef>
              <a:spcAft>
                <a:spcPts val="1200"/>
              </a:spcAft>
              <a:buNone/>
            </a:pPr>
            <a:r>
              <a:t/>
            </a:r>
            <a:endParaRPr/>
          </a:p>
        </p:txBody>
      </p:sp>
      <p:pic>
        <p:nvPicPr>
          <p:cNvPr id="187" name="Google Shape;187;p24"/>
          <p:cNvPicPr preferRelativeResize="0"/>
          <p:nvPr/>
        </p:nvPicPr>
        <p:blipFill>
          <a:blip r:embed="rId3">
            <a:alphaModFix/>
          </a:blip>
          <a:stretch>
            <a:fillRect/>
          </a:stretch>
        </p:blipFill>
        <p:spPr>
          <a:xfrm>
            <a:off x="333000" y="2744125"/>
            <a:ext cx="4114899" cy="1909525"/>
          </a:xfrm>
          <a:prstGeom prst="rect">
            <a:avLst/>
          </a:prstGeom>
          <a:noFill/>
          <a:ln>
            <a:noFill/>
          </a:ln>
        </p:spPr>
      </p:pic>
      <p:pic>
        <p:nvPicPr>
          <p:cNvPr id="188" name="Google Shape;188;p24"/>
          <p:cNvPicPr preferRelativeResize="0"/>
          <p:nvPr/>
        </p:nvPicPr>
        <p:blipFill>
          <a:blip r:embed="rId4">
            <a:alphaModFix/>
          </a:blip>
          <a:stretch>
            <a:fillRect/>
          </a:stretch>
        </p:blipFill>
        <p:spPr>
          <a:xfrm>
            <a:off x="4572000" y="2715975"/>
            <a:ext cx="4310450" cy="1909525"/>
          </a:xfrm>
          <a:prstGeom prst="rect">
            <a:avLst/>
          </a:prstGeom>
          <a:noFill/>
          <a:ln>
            <a:noFill/>
          </a:ln>
        </p:spPr>
      </p:pic>
      <p:sp>
        <p:nvSpPr>
          <p:cNvPr id="189" name="Google Shape;189;p24"/>
          <p:cNvSpPr txBox="1"/>
          <p:nvPr/>
        </p:nvSpPr>
        <p:spPr>
          <a:xfrm>
            <a:off x="42600" y="4797300"/>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Image source: https://szcompressor.org/tabs/performance/</a:t>
            </a:r>
            <a:endParaRPr sz="800">
              <a:solidFill>
                <a:schemeClr val="dk1"/>
              </a:solidFill>
              <a:latin typeface="Old Standard TT"/>
              <a:ea typeface="Old Standard TT"/>
              <a:cs typeface="Old Standard TT"/>
              <a:sym typeface="Old Standard TT"/>
            </a:endParaRPr>
          </a:p>
        </p:txBody>
      </p:sp>
      <p:sp>
        <p:nvSpPr>
          <p:cNvPr id="190" name="Google Shape;190;p24"/>
          <p:cNvSpPr txBox="1"/>
          <p:nvPr/>
        </p:nvSpPr>
        <p:spPr>
          <a:xfrm>
            <a:off x="2087200" y="4568800"/>
            <a:ext cx="6069900" cy="2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                    Hurricane CLOUDf: slice 50, CR=66.1</a:t>
            </a:r>
            <a:endParaRPr>
              <a:solidFill>
                <a:schemeClr val="dk1"/>
              </a:solidFill>
              <a:latin typeface="Old Standard TT"/>
              <a:ea typeface="Old Standard TT"/>
              <a:cs typeface="Old Standard TT"/>
              <a:sym typeface="Old Standard TT"/>
            </a:endParaRPr>
          </a:p>
        </p:txBody>
      </p:sp>
      <p:pic>
        <p:nvPicPr>
          <p:cNvPr id="191" name="Google Shape;191;p24"/>
          <p:cNvPicPr preferRelativeResize="0"/>
          <p:nvPr/>
        </p:nvPicPr>
        <p:blipFill>
          <a:blip r:embed="rId5">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Quantitative </a:t>
            </a:r>
            <a:r>
              <a:rPr lang="en"/>
              <a:t>assessment</a:t>
            </a:r>
            <a:r>
              <a:rPr lang="en"/>
              <a:t> of lossy compressor errors</a:t>
            </a:r>
            <a:endParaRPr/>
          </a:p>
          <a:p>
            <a:pPr indent="0" lvl="0" marL="0" rtl="0" algn="l">
              <a:spcBef>
                <a:spcPts val="0"/>
              </a:spcBef>
              <a:spcAft>
                <a:spcPts val="0"/>
              </a:spcAft>
              <a:buNone/>
            </a:pPr>
            <a:r>
              <a:t/>
            </a:r>
            <a:endParaRPr/>
          </a:p>
        </p:txBody>
      </p:sp>
      <p:sp>
        <p:nvSpPr>
          <p:cNvPr id="197" name="Google Shape;197;p2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Error metrics (amount of error)</a:t>
            </a:r>
            <a:endParaRPr/>
          </a:p>
          <a:p>
            <a:pPr indent="-317500" lvl="1" marL="914400" rtl="0" algn="l">
              <a:spcBef>
                <a:spcPts val="0"/>
              </a:spcBef>
              <a:spcAft>
                <a:spcPts val="0"/>
              </a:spcAft>
              <a:buClr>
                <a:srgbClr val="980000"/>
              </a:buClr>
              <a:buSzPts val="1400"/>
              <a:buChar char="○"/>
            </a:pPr>
            <a:r>
              <a:rPr b="1" lang="en">
                <a:solidFill>
                  <a:srgbClr val="980000"/>
                </a:solidFill>
              </a:rPr>
              <a:t>Error bounds - point wise metrics</a:t>
            </a:r>
            <a:endParaRPr b="1">
              <a:solidFill>
                <a:srgbClr val="980000"/>
              </a:solidFill>
            </a:endParaRPr>
          </a:p>
          <a:p>
            <a:pPr indent="-317500" lvl="1" marL="914400" rtl="0" algn="l">
              <a:spcBef>
                <a:spcPts val="0"/>
              </a:spcBef>
              <a:spcAft>
                <a:spcPts val="0"/>
              </a:spcAft>
              <a:buSzPts val="1400"/>
              <a:buChar char="○"/>
            </a:pPr>
            <a:r>
              <a:rPr lang="en"/>
              <a:t>RMSE </a:t>
            </a:r>
            <a:endParaRPr/>
          </a:p>
          <a:p>
            <a:pPr indent="-317500" lvl="1" marL="914400" rtl="0" algn="l">
              <a:spcBef>
                <a:spcPts val="0"/>
              </a:spcBef>
              <a:spcAft>
                <a:spcPts val="0"/>
              </a:spcAft>
              <a:buSzPts val="1400"/>
              <a:buChar char="○"/>
            </a:pPr>
            <a:r>
              <a:rPr lang="en"/>
              <a:t>PSNR </a:t>
            </a:r>
            <a:endParaRPr sz="4800"/>
          </a:p>
          <a:p>
            <a:pPr indent="-317500" lvl="1" marL="914400" rtl="0" algn="l">
              <a:spcBef>
                <a:spcPts val="0"/>
              </a:spcBef>
              <a:spcAft>
                <a:spcPts val="0"/>
              </a:spcAft>
              <a:buSzPts val="1400"/>
              <a:buChar char="○"/>
            </a:pPr>
            <a:r>
              <a:rPr lang="en"/>
              <a:t>Rate distortion</a:t>
            </a:r>
            <a:endParaRPr/>
          </a:p>
        </p:txBody>
      </p:sp>
      <p:pic>
        <p:nvPicPr>
          <p:cNvPr id="198" name="Google Shape;198;p25"/>
          <p:cNvPicPr preferRelativeResize="0"/>
          <p:nvPr/>
        </p:nvPicPr>
        <p:blipFill>
          <a:blip r:embed="rId3">
            <a:alphaModFix/>
          </a:blip>
          <a:stretch>
            <a:fillRect/>
          </a:stretch>
        </p:blipFill>
        <p:spPr>
          <a:xfrm>
            <a:off x="333000" y="2744125"/>
            <a:ext cx="4114899" cy="1909525"/>
          </a:xfrm>
          <a:prstGeom prst="rect">
            <a:avLst/>
          </a:prstGeom>
          <a:noFill/>
          <a:ln>
            <a:noFill/>
          </a:ln>
        </p:spPr>
      </p:pic>
      <p:pic>
        <p:nvPicPr>
          <p:cNvPr id="199" name="Google Shape;199;p25"/>
          <p:cNvPicPr preferRelativeResize="0"/>
          <p:nvPr/>
        </p:nvPicPr>
        <p:blipFill>
          <a:blip r:embed="rId4">
            <a:alphaModFix/>
          </a:blip>
          <a:stretch>
            <a:fillRect/>
          </a:stretch>
        </p:blipFill>
        <p:spPr>
          <a:xfrm>
            <a:off x="4572000" y="2715975"/>
            <a:ext cx="4310450" cy="1909525"/>
          </a:xfrm>
          <a:prstGeom prst="rect">
            <a:avLst/>
          </a:prstGeom>
          <a:noFill/>
          <a:ln>
            <a:noFill/>
          </a:ln>
        </p:spPr>
      </p:pic>
      <p:sp>
        <p:nvSpPr>
          <p:cNvPr id="200" name="Google Shape;200;p25"/>
          <p:cNvSpPr txBox="1"/>
          <p:nvPr/>
        </p:nvSpPr>
        <p:spPr>
          <a:xfrm>
            <a:off x="42600" y="4797300"/>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Image source: https://szcompressor.org/tabs/performance/</a:t>
            </a:r>
            <a:endParaRPr sz="800">
              <a:solidFill>
                <a:schemeClr val="dk1"/>
              </a:solidFill>
              <a:latin typeface="Old Standard TT"/>
              <a:ea typeface="Old Standard TT"/>
              <a:cs typeface="Old Standard TT"/>
              <a:sym typeface="Old Standard TT"/>
            </a:endParaRPr>
          </a:p>
        </p:txBody>
      </p:sp>
      <p:sp>
        <p:nvSpPr>
          <p:cNvPr id="201" name="Google Shape;201;p25"/>
          <p:cNvSpPr txBox="1"/>
          <p:nvPr/>
        </p:nvSpPr>
        <p:spPr>
          <a:xfrm>
            <a:off x="2087200" y="4568800"/>
            <a:ext cx="6069900" cy="2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              </a:t>
            </a:r>
            <a:r>
              <a:rPr lang="en">
                <a:solidFill>
                  <a:schemeClr val="dk1"/>
                </a:solidFill>
                <a:latin typeface="Old Standard TT"/>
                <a:ea typeface="Old Standard TT"/>
                <a:cs typeface="Old Standard TT"/>
                <a:sym typeface="Old Standard TT"/>
              </a:rPr>
              <a:t>Hurricane CLOUDf: slice 50, CR=66.1</a:t>
            </a:r>
            <a:endParaRPr>
              <a:solidFill>
                <a:schemeClr val="dk1"/>
              </a:solidFill>
              <a:latin typeface="Old Standard TT"/>
              <a:ea typeface="Old Standard TT"/>
              <a:cs typeface="Old Standard TT"/>
              <a:sym typeface="Old Standard TT"/>
            </a:endParaRPr>
          </a:p>
        </p:txBody>
      </p:sp>
      <p:sp>
        <p:nvSpPr>
          <p:cNvPr id="202" name="Google Shape;202;p25"/>
          <p:cNvSpPr txBox="1"/>
          <p:nvPr/>
        </p:nvSpPr>
        <p:spPr>
          <a:xfrm>
            <a:off x="1384350" y="1597372"/>
            <a:ext cx="1405800" cy="713400"/>
          </a:xfrm>
          <a:prstGeom prst="rect">
            <a:avLst/>
          </a:prstGeom>
          <a:noFill/>
          <a:ln>
            <a:noFill/>
          </a:ln>
        </p:spPr>
        <p:txBody>
          <a:bodyPr anchorCtr="0" anchor="t" bIns="91425" lIns="91425" spcFirstLastPara="1" rIns="91425" wrap="square" tIns="91425">
            <a:noAutofit/>
          </a:bodyPr>
          <a:lstStyle/>
          <a:p>
            <a:pPr indent="0" lvl="0" marL="914400" rtl="0" algn="l">
              <a:lnSpc>
                <a:spcPct val="115000"/>
              </a:lnSpc>
              <a:spcBef>
                <a:spcPts val="0"/>
              </a:spcBef>
              <a:spcAft>
                <a:spcPts val="0"/>
              </a:spcAft>
              <a:buNone/>
            </a:pPr>
            <a:r>
              <a:rPr lang="en" sz="5900">
                <a:solidFill>
                  <a:srgbClr val="434343"/>
                </a:solidFill>
                <a:latin typeface="Old Standard TT"/>
                <a:ea typeface="Old Standard TT"/>
                <a:cs typeface="Old Standard TT"/>
                <a:sym typeface="Old Standard TT"/>
              </a:rPr>
              <a:t>}</a:t>
            </a:r>
            <a:endParaRPr sz="5900">
              <a:solidFill>
                <a:srgbClr val="434343"/>
              </a:solidFill>
              <a:latin typeface="Old Standard TT"/>
              <a:ea typeface="Old Standard TT"/>
              <a:cs typeface="Old Standard TT"/>
              <a:sym typeface="Old Standard TT"/>
            </a:endParaRPr>
          </a:p>
          <a:p>
            <a:pPr indent="0" lvl="0" marL="0" rtl="0" algn="l">
              <a:spcBef>
                <a:spcPts val="1200"/>
              </a:spcBef>
              <a:spcAft>
                <a:spcPts val="0"/>
              </a:spcAft>
              <a:buNone/>
            </a:pPr>
            <a:r>
              <a:t/>
            </a:r>
            <a:endParaRPr sz="1800">
              <a:solidFill>
                <a:schemeClr val="dk1"/>
              </a:solidFill>
              <a:latin typeface="Old Standard TT"/>
              <a:ea typeface="Old Standard TT"/>
              <a:cs typeface="Old Standard TT"/>
              <a:sym typeface="Old Standard TT"/>
            </a:endParaRPr>
          </a:p>
        </p:txBody>
      </p:sp>
      <p:sp>
        <p:nvSpPr>
          <p:cNvPr id="203" name="Google Shape;203;p25"/>
          <p:cNvSpPr txBox="1"/>
          <p:nvPr/>
        </p:nvSpPr>
        <p:spPr>
          <a:xfrm>
            <a:off x="2662275" y="1959475"/>
            <a:ext cx="26517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Statistical metrics</a:t>
            </a:r>
            <a:endParaRPr sz="1800">
              <a:solidFill>
                <a:schemeClr val="dk1"/>
              </a:solidFill>
              <a:latin typeface="Old Standard TT"/>
              <a:ea typeface="Old Standard TT"/>
              <a:cs typeface="Old Standard TT"/>
              <a:sym typeface="Old Standard TT"/>
            </a:endParaRPr>
          </a:p>
        </p:txBody>
      </p:sp>
      <p:pic>
        <p:nvPicPr>
          <p:cNvPr id="204" name="Google Shape;204;p25"/>
          <p:cNvPicPr preferRelativeResize="0"/>
          <p:nvPr/>
        </p:nvPicPr>
        <p:blipFill>
          <a:blip r:embed="rId5">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Error bounds calculation </a:t>
            </a:r>
            <a:endParaRPr/>
          </a:p>
        </p:txBody>
      </p:sp>
      <p:sp>
        <p:nvSpPr>
          <p:cNvPr id="210" name="Google Shape;210;p2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Lossy compressors (SZ</a:t>
            </a:r>
            <a:r>
              <a:rPr baseline="30000" lang="en"/>
              <a:t>1</a:t>
            </a:r>
            <a:r>
              <a:rPr lang="en"/>
              <a:t>, ZFP</a:t>
            </a:r>
            <a:r>
              <a:rPr baseline="30000" lang="en"/>
              <a:t>2</a:t>
            </a:r>
            <a:r>
              <a:rPr lang="en"/>
              <a:t>) </a:t>
            </a:r>
            <a:r>
              <a:rPr lang="en"/>
              <a:t>provides</a:t>
            </a:r>
            <a:r>
              <a:rPr lang="en"/>
              <a:t> point wise error controls</a:t>
            </a:r>
            <a:endParaRPr/>
          </a:p>
          <a:p>
            <a:pPr indent="-342900" lvl="0" marL="457200" rtl="0" algn="l">
              <a:spcBef>
                <a:spcPts val="0"/>
              </a:spcBef>
              <a:spcAft>
                <a:spcPts val="0"/>
              </a:spcAft>
              <a:buSzPts val="1800"/>
              <a:buChar char="●"/>
            </a:pPr>
            <a:r>
              <a:rPr lang="en"/>
              <a:t>Two main types of error bounds </a:t>
            </a:r>
            <a:endParaRPr sz="1400">
              <a:solidFill>
                <a:schemeClr val="dk1"/>
              </a:solidFill>
            </a:endParaRPr>
          </a:p>
        </p:txBody>
      </p:sp>
      <p:pic>
        <p:nvPicPr>
          <p:cNvPr id="211" name="Google Shape;211;p26"/>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Error bounds calculation </a:t>
            </a:r>
            <a:endParaRPr/>
          </a:p>
        </p:txBody>
      </p:sp>
      <p:sp>
        <p:nvSpPr>
          <p:cNvPr id="217" name="Google Shape;217;p2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Lossy compressors (SZ</a:t>
            </a:r>
            <a:r>
              <a:rPr baseline="30000" lang="en"/>
              <a:t>1</a:t>
            </a:r>
            <a:r>
              <a:rPr lang="en"/>
              <a:t>, ZFP</a:t>
            </a:r>
            <a:r>
              <a:rPr baseline="30000" lang="en"/>
              <a:t>2</a:t>
            </a:r>
            <a:r>
              <a:rPr lang="en"/>
              <a:t>) provides point wise error controls</a:t>
            </a:r>
            <a:endParaRPr/>
          </a:p>
          <a:p>
            <a:pPr indent="-342900" lvl="0" marL="457200" rtl="0" algn="l">
              <a:spcBef>
                <a:spcPts val="0"/>
              </a:spcBef>
              <a:spcAft>
                <a:spcPts val="0"/>
              </a:spcAft>
              <a:buSzPts val="1800"/>
              <a:buChar char="●"/>
            </a:pPr>
            <a:r>
              <a:rPr lang="en"/>
              <a:t>Two main types of error bounds </a:t>
            </a:r>
            <a:endParaRPr/>
          </a:p>
          <a:p>
            <a:pPr indent="-317500" lvl="1" marL="914400" rtl="0" algn="l">
              <a:spcBef>
                <a:spcPts val="0"/>
              </a:spcBef>
              <a:spcAft>
                <a:spcPts val="0"/>
              </a:spcAft>
              <a:buClr>
                <a:srgbClr val="980000"/>
              </a:buClr>
              <a:buSzPts val="1400"/>
              <a:buChar char="○"/>
            </a:pPr>
            <a:r>
              <a:rPr b="1" lang="en">
                <a:solidFill>
                  <a:srgbClr val="980000"/>
                </a:solidFill>
              </a:rPr>
              <a:t>Absolute error bound</a:t>
            </a:r>
            <a:endParaRPr b="1">
              <a:solidFill>
                <a:srgbClr val="980000"/>
              </a:solidFill>
            </a:endParaRPr>
          </a:p>
          <a:p>
            <a:pPr indent="-317500" lvl="2" marL="1371600" rtl="0" algn="l">
              <a:spcBef>
                <a:spcPts val="0"/>
              </a:spcBef>
              <a:spcAft>
                <a:spcPts val="0"/>
              </a:spcAft>
              <a:buSzPts val="1400"/>
              <a:buChar char="■"/>
            </a:pPr>
            <a:r>
              <a:rPr lang="en"/>
              <a:t>E</a:t>
            </a:r>
            <a:r>
              <a:rPr baseline="-25000" lang="en"/>
              <a:t>a </a:t>
            </a:r>
            <a:r>
              <a:rPr lang="en"/>
              <a:t>= | V - V</a:t>
            </a:r>
            <a:r>
              <a:rPr lang="en">
                <a:solidFill>
                  <a:schemeClr val="dk1"/>
                </a:solidFill>
              </a:rPr>
              <a:t>’</a:t>
            </a:r>
            <a:r>
              <a:rPr lang="en"/>
              <a:t> |</a:t>
            </a:r>
            <a:endParaRPr/>
          </a:p>
          <a:p>
            <a:pPr indent="-317500" lvl="1" marL="914400" rtl="0" algn="l">
              <a:spcBef>
                <a:spcPts val="0"/>
              </a:spcBef>
              <a:spcAft>
                <a:spcPts val="0"/>
              </a:spcAft>
              <a:buClr>
                <a:srgbClr val="A61C00"/>
              </a:buClr>
              <a:buSzPts val="1400"/>
              <a:buChar char="○"/>
            </a:pPr>
            <a:r>
              <a:rPr b="1" lang="en">
                <a:solidFill>
                  <a:srgbClr val="A61C00"/>
                </a:solidFill>
              </a:rPr>
              <a:t>Relative error bound</a:t>
            </a:r>
            <a:endParaRPr b="1">
              <a:solidFill>
                <a:srgbClr val="A61C00"/>
              </a:solidFill>
            </a:endParaRPr>
          </a:p>
          <a:p>
            <a:pPr indent="-317500" lvl="2" marL="1371600" rtl="0" algn="l">
              <a:spcBef>
                <a:spcPts val="0"/>
              </a:spcBef>
              <a:spcAft>
                <a:spcPts val="0"/>
              </a:spcAft>
              <a:buSzPts val="1400"/>
              <a:buChar char="■"/>
            </a:pPr>
            <a:r>
              <a:rPr lang="en"/>
              <a:t>E</a:t>
            </a:r>
            <a:r>
              <a:rPr baseline="-25000" lang="en"/>
              <a:t>r </a:t>
            </a:r>
            <a:r>
              <a:rPr lang="en"/>
              <a:t>=</a:t>
            </a:r>
            <a:r>
              <a:rPr lang="en">
                <a:solidFill>
                  <a:srgbClr val="666666"/>
                </a:solidFill>
              </a:rPr>
              <a:t> </a:t>
            </a:r>
            <a:r>
              <a:rPr lang="en" u="sng">
                <a:solidFill>
                  <a:srgbClr val="434343"/>
                </a:solidFill>
              </a:rPr>
              <a:t>| V – V’ | </a:t>
            </a:r>
            <a:br>
              <a:rPr lang="en">
                <a:solidFill>
                  <a:srgbClr val="434343"/>
                </a:solidFill>
              </a:rPr>
            </a:br>
            <a:r>
              <a:rPr lang="en">
                <a:solidFill>
                  <a:srgbClr val="434343"/>
                </a:solidFill>
              </a:rPr>
              <a:t>              V</a:t>
            </a:r>
            <a:endParaRPr>
              <a:solidFill>
                <a:srgbClr val="434343"/>
              </a:solidFill>
            </a:endParaRPr>
          </a:p>
          <a:p>
            <a:pPr indent="0" lvl="0" marL="0" rtl="0" algn="l">
              <a:spcBef>
                <a:spcPts val="1200"/>
              </a:spcBef>
              <a:spcAft>
                <a:spcPts val="0"/>
              </a:spcAft>
              <a:buNone/>
            </a:pPr>
            <a:r>
              <a:rPr lang="en" sz="1400">
                <a:solidFill>
                  <a:srgbClr val="434343"/>
                </a:solidFill>
              </a:rPr>
              <a:t>          where, E: error bound, V: initial dataset, V’: decompressed dataset</a:t>
            </a:r>
            <a:endParaRPr sz="2800">
              <a:solidFill>
                <a:srgbClr val="434343"/>
              </a:solidFill>
              <a:latin typeface="Calibri"/>
              <a:ea typeface="Calibri"/>
              <a:cs typeface="Calibri"/>
              <a:sym typeface="Calibri"/>
            </a:endParaRPr>
          </a:p>
          <a:p>
            <a:pPr indent="0" lvl="0" marL="0" rtl="0" algn="l">
              <a:spcBef>
                <a:spcPts val="1200"/>
              </a:spcBef>
              <a:spcAft>
                <a:spcPts val="1200"/>
              </a:spcAft>
              <a:buNone/>
            </a:pPr>
            <a:r>
              <a:t/>
            </a:r>
            <a:endParaRPr sz="1400">
              <a:solidFill>
                <a:schemeClr val="dk1"/>
              </a:solidFill>
            </a:endParaRPr>
          </a:p>
        </p:txBody>
      </p:sp>
      <p:sp>
        <p:nvSpPr>
          <p:cNvPr id="218" name="Google Shape;218;p27"/>
          <p:cNvSpPr txBox="1"/>
          <p:nvPr/>
        </p:nvSpPr>
        <p:spPr>
          <a:xfrm>
            <a:off x="42600" y="4632350"/>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[1] </a:t>
            </a:r>
            <a:r>
              <a:rPr lang="en" sz="800" u="sng">
                <a:solidFill>
                  <a:schemeClr val="hlink"/>
                </a:solidFill>
                <a:latin typeface="Old Standard TT"/>
                <a:ea typeface="Old Standard TT"/>
                <a:cs typeface="Old Standard TT"/>
                <a:sym typeface="Old Standard TT"/>
                <a:hlinkClick r:id="rId3"/>
              </a:rPr>
              <a:t>https://szcompressor.org/</a:t>
            </a:r>
            <a:endParaRPr sz="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[2] </a:t>
            </a:r>
            <a:r>
              <a:rPr lang="en" sz="800" u="sng">
                <a:solidFill>
                  <a:schemeClr val="hlink"/>
                </a:solidFill>
                <a:latin typeface="Old Standard TT"/>
                <a:ea typeface="Old Standard TT"/>
                <a:cs typeface="Old Standard TT"/>
                <a:sym typeface="Old Standard TT"/>
                <a:hlinkClick r:id="rId4"/>
              </a:rPr>
              <a:t>https://computing.llnl.gov/projects/zfp</a:t>
            </a:r>
            <a:endParaRPr sz="800">
              <a:solidFill>
                <a:schemeClr val="dk1"/>
              </a:solidFill>
              <a:latin typeface="Old Standard TT"/>
              <a:ea typeface="Old Standard TT"/>
              <a:cs typeface="Old Standard TT"/>
              <a:sym typeface="Old Standard TT"/>
            </a:endParaRPr>
          </a:p>
        </p:txBody>
      </p:sp>
      <p:pic>
        <p:nvPicPr>
          <p:cNvPr id="219" name="Google Shape;219;p27"/>
          <p:cNvPicPr preferRelativeResize="0"/>
          <p:nvPr/>
        </p:nvPicPr>
        <p:blipFill>
          <a:blip r:embed="rId5">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Lossy compression error - effect on data</a:t>
            </a:r>
            <a:endParaRPr/>
          </a:p>
        </p:txBody>
      </p:sp>
      <p:sp>
        <p:nvSpPr>
          <p:cNvPr id="225" name="Google Shape;225;p2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
              <a:t>Ideally</a:t>
            </a:r>
            <a:r>
              <a:rPr lang="en"/>
              <a:t>, we can </a:t>
            </a:r>
            <a:r>
              <a:rPr b="1" lang="en">
                <a:solidFill>
                  <a:srgbClr val="980000"/>
                </a:solidFill>
              </a:rPr>
              <a:t>formalize the compression error</a:t>
            </a:r>
            <a:r>
              <a:rPr lang="en"/>
              <a:t> and </a:t>
            </a:r>
            <a:r>
              <a:rPr lang="en"/>
              <a:t>propagate</a:t>
            </a:r>
            <a:r>
              <a:rPr lang="en"/>
              <a:t> them in the simulation equations</a:t>
            </a:r>
            <a:endParaRPr/>
          </a:p>
          <a:p>
            <a:pPr indent="-342900" lvl="0" marL="457200" rtl="0" algn="l">
              <a:lnSpc>
                <a:spcPct val="200000"/>
              </a:lnSpc>
              <a:spcBef>
                <a:spcPts val="1000"/>
              </a:spcBef>
              <a:spcAft>
                <a:spcPts val="0"/>
              </a:spcAft>
              <a:buSzPts val="1800"/>
              <a:buChar char="●"/>
            </a:pPr>
            <a:r>
              <a:rPr b="1" lang="en"/>
              <a:t>In reality</a:t>
            </a:r>
            <a:r>
              <a:rPr lang="en"/>
              <a:t>, it is </a:t>
            </a:r>
            <a:r>
              <a:rPr b="1" lang="en">
                <a:solidFill>
                  <a:srgbClr val="980000"/>
                </a:solidFill>
              </a:rPr>
              <a:t>very difficult</a:t>
            </a:r>
            <a:endParaRPr b="1">
              <a:solidFill>
                <a:srgbClr val="980000"/>
              </a:solidFill>
            </a:endParaRPr>
          </a:p>
          <a:p>
            <a:pPr indent="-342900" lvl="0" marL="457200" rtl="0" algn="l">
              <a:lnSpc>
                <a:spcPct val="200000"/>
              </a:lnSpc>
              <a:spcBef>
                <a:spcPts val="0"/>
              </a:spcBef>
              <a:spcAft>
                <a:spcPts val="0"/>
              </a:spcAft>
              <a:buSzPts val="1800"/>
              <a:buChar char="●"/>
            </a:pPr>
            <a:r>
              <a:rPr b="1" lang="en"/>
              <a:t>Lack</a:t>
            </a:r>
            <a:r>
              <a:rPr lang="en"/>
              <a:t> a profound </a:t>
            </a:r>
            <a:r>
              <a:rPr b="1" lang="en">
                <a:solidFill>
                  <a:srgbClr val="980000"/>
                </a:solidFill>
              </a:rPr>
              <a:t>understanding of lossy compression errors</a:t>
            </a:r>
            <a:r>
              <a:rPr lang="en"/>
              <a:t> effects</a:t>
            </a:r>
            <a:endParaRPr/>
          </a:p>
          <a:p>
            <a:pPr indent="0" lvl="0" marL="457200" rtl="0" algn="l">
              <a:spcBef>
                <a:spcPts val="1200"/>
              </a:spcBef>
              <a:spcAft>
                <a:spcPts val="1200"/>
              </a:spcAft>
              <a:buNone/>
            </a:pPr>
            <a:r>
              <a:t/>
            </a:r>
            <a:endParaRPr/>
          </a:p>
        </p:txBody>
      </p:sp>
      <p:pic>
        <p:nvPicPr>
          <p:cNvPr id="226" name="Google Shape;226;p28"/>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Error bound - Floating point arithmetics</a:t>
            </a:r>
            <a:endParaRPr/>
          </a:p>
        </p:txBody>
      </p:sp>
      <p:sp>
        <p:nvSpPr>
          <p:cNvPr id="232" name="Google Shape;232;p29"/>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Floating-point values cannot precisely represents all numbers</a:t>
            </a:r>
            <a:endParaRPr b="1"/>
          </a:p>
          <a:p>
            <a:pPr indent="-342900" lvl="0" marL="457200" rtl="0" algn="l">
              <a:spcBef>
                <a:spcPts val="0"/>
              </a:spcBef>
              <a:spcAft>
                <a:spcPts val="0"/>
              </a:spcAft>
              <a:buSzPts val="1800"/>
              <a:buChar char="●"/>
            </a:pPr>
            <a:r>
              <a:rPr lang="en"/>
              <a:t>Values that cannot be represented are rounded to a representable value</a:t>
            </a:r>
            <a:endParaRPr/>
          </a:p>
          <a:p>
            <a:pPr indent="0" lvl="0" marL="457200" rtl="0" algn="l">
              <a:spcBef>
                <a:spcPts val="1200"/>
              </a:spcBef>
              <a:spcAft>
                <a:spcPts val="1200"/>
              </a:spcAft>
              <a:buNone/>
            </a:pPr>
            <a:r>
              <a:t/>
            </a:r>
            <a:endParaRPr/>
          </a:p>
        </p:txBody>
      </p:sp>
      <p:pic>
        <p:nvPicPr>
          <p:cNvPr id="233" name="Google Shape;233;p29"/>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Error bound - Floating point arithmetics</a:t>
            </a:r>
            <a:endParaRPr/>
          </a:p>
        </p:txBody>
      </p:sp>
      <p:sp>
        <p:nvSpPr>
          <p:cNvPr id="239" name="Google Shape;239;p30"/>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Floating-point values cannot precisely represents all numbers</a:t>
            </a:r>
            <a:endParaRPr b="1"/>
          </a:p>
          <a:p>
            <a:pPr indent="-342900" lvl="0" marL="457200" rtl="0" algn="l">
              <a:spcBef>
                <a:spcPts val="0"/>
              </a:spcBef>
              <a:spcAft>
                <a:spcPts val="0"/>
              </a:spcAft>
              <a:buSzPts val="1800"/>
              <a:buChar char="●"/>
            </a:pPr>
            <a:r>
              <a:rPr lang="en"/>
              <a:t>Values that cannot be represented are rounded to a representable value</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b="1" lang="en">
                <a:solidFill>
                  <a:srgbClr val="980000"/>
                </a:solidFill>
              </a:rPr>
              <a:t>ABS error</a:t>
            </a:r>
            <a:r>
              <a:rPr lang="en"/>
              <a:t>: assigns value to the nearest bin</a:t>
            </a:r>
            <a:endParaRPr/>
          </a:p>
          <a:p>
            <a:pPr indent="-317500" lvl="1" marL="914400" rtl="0" algn="l">
              <a:lnSpc>
                <a:spcPct val="100000"/>
              </a:lnSpc>
              <a:spcBef>
                <a:spcPts val="0"/>
              </a:spcBef>
              <a:spcAft>
                <a:spcPts val="0"/>
              </a:spcAft>
              <a:buSzPts val="1400"/>
              <a:buChar char="○"/>
            </a:pPr>
            <a:r>
              <a:rPr lang="en"/>
              <a:t>Rounding near bin borders may misplace values to the</a:t>
            </a:r>
            <a:endParaRPr/>
          </a:p>
          <a:p>
            <a:pPr indent="0" lvl="0" marL="914400" rtl="0" algn="l">
              <a:lnSpc>
                <a:spcPct val="100000"/>
              </a:lnSpc>
              <a:spcBef>
                <a:spcPts val="0"/>
              </a:spcBef>
              <a:spcAft>
                <a:spcPts val="0"/>
              </a:spcAft>
              <a:buNone/>
            </a:pPr>
            <a:r>
              <a:rPr lang="en" sz="1400"/>
              <a:t>adjacent</a:t>
            </a:r>
            <a:r>
              <a:rPr lang="en"/>
              <a:t> </a:t>
            </a:r>
            <a:r>
              <a:rPr lang="en" sz="1400"/>
              <a:t>bin</a:t>
            </a:r>
            <a:endParaRPr sz="1400"/>
          </a:p>
        </p:txBody>
      </p:sp>
      <p:pic>
        <p:nvPicPr>
          <p:cNvPr id="240" name="Google Shape;240;p30"/>
          <p:cNvPicPr preferRelativeResize="0"/>
          <p:nvPr/>
        </p:nvPicPr>
        <p:blipFill>
          <a:blip r:embed="rId3">
            <a:alphaModFix/>
          </a:blip>
          <a:stretch>
            <a:fillRect/>
          </a:stretch>
        </p:blipFill>
        <p:spPr>
          <a:xfrm>
            <a:off x="8013742" y="4507725"/>
            <a:ext cx="1130255" cy="635774"/>
          </a:xfrm>
          <a:prstGeom prst="rect">
            <a:avLst/>
          </a:prstGeom>
          <a:noFill/>
          <a:ln>
            <a:noFill/>
          </a:ln>
        </p:spPr>
      </p:pic>
      <p:pic>
        <p:nvPicPr>
          <p:cNvPr id="241" name="Google Shape;241;p30"/>
          <p:cNvPicPr preferRelativeResize="0"/>
          <p:nvPr/>
        </p:nvPicPr>
        <p:blipFill>
          <a:blip r:embed="rId4">
            <a:alphaModFix/>
          </a:blip>
          <a:stretch>
            <a:fillRect/>
          </a:stretch>
        </p:blipFill>
        <p:spPr>
          <a:xfrm>
            <a:off x="5894925" y="1878325"/>
            <a:ext cx="3249075" cy="2306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Error bound - Floating point arithmetics</a:t>
            </a:r>
            <a:endParaRPr/>
          </a:p>
        </p:txBody>
      </p:sp>
      <p:sp>
        <p:nvSpPr>
          <p:cNvPr id="247" name="Google Shape;247;p31"/>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Floating-point values cannot precisely represents all numbers</a:t>
            </a:r>
            <a:endParaRPr b="1"/>
          </a:p>
          <a:p>
            <a:pPr indent="-342900" lvl="0" marL="457200" rtl="0" algn="l">
              <a:spcBef>
                <a:spcPts val="0"/>
              </a:spcBef>
              <a:spcAft>
                <a:spcPts val="0"/>
              </a:spcAft>
              <a:buSzPts val="1800"/>
              <a:buChar char="●"/>
            </a:pPr>
            <a:r>
              <a:rPr lang="en"/>
              <a:t>Values that cannot be represented are rounded to a representable value</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b="1" lang="en">
                <a:solidFill>
                  <a:srgbClr val="980000"/>
                </a:solidFill>
              </a:rPr>
              <a:t>ABS error</a:t>
            </a:r>
            <a:r>
              <a:rPr lang="en"/>
              <a:t>: assigns value to the nearest bin</a:t>
            </a:r>
            <a:endParaRPr/>
          </a:p>
          <a:p>
            <a:pPr indent="-317500" lvl="1" marL="914400" rtl="0" algn="l">
              <a:lnSpc>
                <a:spcPct val="100000"/>
              </a:lnSpc>
              <a:spcBef>
                <a:spcPts val="0"/>
              </a:spcBef>
              <a:spcAft>
                <a:spcPts val="0"/>
              </a:spcAft>
              <a:buSzPts val="1400"/>
              <a:buChar char="○"/>
            </a:pPr>
            <a:r>
              <a:rPr lang="en"/>
              <a:t>Rounding near bin borders may misplace values to the</a:t>
            </a:r>
            <a:endParaRPr/>
          </a:p>
          <a:p>
            <a:pPr indent="0" lvl="0" marL="914400" rtl="0" algn="l">
              <a:lnSpc>
                <a:spcPct val="100000"/>
              </a:lnSpc>
              <a:spcBef>
                <a:spcPts val="0"/>
              </a:spcBef>
              <a:spcAft>
                <a:spcPts val="0"/>
              </a:spcAft>
              <a:buNone/>
            </a:pPr>
            <a:r>
              <a:rPr lang="en" sz="1400"/>
              <a:t>adjacent</a:t>
            </a:r>
            <a:r>
              <a:rPr lang="en"/>
              <a:t> </a:t>
            </a:r>
            <a:r>
              <a:rPr lang="en" sz="1400"/>
              <a:t>bin</a:t>
            </a:r>
            <a:endParaRPr/>
          </a:p>
          <a:p>
            <a:pPr indent="-342900" lvl="0" marL="457200" rtl="0" algn="l">
              <a:spcBef>
                <a:spcPts val="0"/>
              </a:spcBef>
              <a:spcAft>
                <a:spcPts val="0"/>
              </a:spcAft>
              <a:buSzPts val="1800"/>
              <a:buChar char="●"/>
            </a:pPr>
            <a:r>
              <a:rPr b="1" lang="en">
                <a:solidFill>
                  <a:srgbClr val="980000"/>
                </a:solidFill>
              </a:rPr>
              <a:t>INF/ NaN</a:t>
            </a:r>
            <a:r>
              <a:rPr lang="en"/>
              <a:t> : propagate during computation </a:t>
            </a:r>
            <a:endParaRPr/>
          </a:p>
          <a:p>
            <a:pPr indent="0" lvl="0" marL="0" rtl="0" algn="l">
              <a:spcBef>
                <a:spcPts val="1200"/>
              </a:spcBef>
              <a:spcAft>
                <a:spcPts val="1200"/>
              </a:spcAft>
              <a:buNone/>
            </a:pPr>
            <a:r>
              <a:t/>
            </a:r>
            <a:endParaRPr/>
          </a:p>
        </p:txBody>
      </p:sp>
      <p:pic>
        <p:nvPicPr>
          <p:cNvPr id="248" name="Google Shape;248;p31"/>
          <p:cNvPicPr preferRelativeResize="0"/>
          <p:nvPr/>
        </p:nvPicPr>
        <p:blipFill>
          <a:blip r:embed="rId3">
            <a:alphaModFix/>
          </a:blip>
          <a:stretch>
            <a:fillRect/>
          </a:stretch>
        </p:blipFill>
        <p:spPr>
          <a:xfrm>
            <a:off x="8013742" y="4507725"/>
            <a:ext cx="1130255" cy="635774"/>
          </a:xfrm>
          <a:prstGeom prst="rect">
            <a:avLst/>
          </a:prstGeom>
          <a:noFill/>
          <a:ln>
            <a:noFill/>
          </a:ln>
        </p:spPr>
      </p:pic>
      <p:pic>
        <p:nvPicPr>
          <p:cNvPr id="249" name="Google Shape;249;p31"/>
          <p:cNvPicPr preferRelativeResize="0"/>
          <p:nvPr/>
        </p:nvPicPr>
        <p:blipFill>
          <a:blip r:embed="rId4">
            <a:alphaModFix/>
          </a:blip>
          <a:stretch>
            <a:fillRect/>
          </a:stretch>
        </p:blipFill>
        <p:spPr>
          <a:xfrm>
            <a:off x="5894925" y="1878325"/>
            <a:ext cx="3249075" cy="2306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Error bound - Floating point arithmetics</a:t>
            </a:r>
            <a:endParaRPr/>
          </a:p>
        </p:txBody>
      </p:sp>
      <p:sp>
        <p:nvSpPr>
          <p:cNvPr id="255" name="Google Shape;255;p32"/>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Floating-point values cannot precisely represents all numbers</a:t>
            </a:r>
            <a:endParaRPr b="1"/>
          </a:p>
          <a:p>
            <a:pPr indent="-342900" lvl="0" marL="457200" rtl="0" algn="l">
              <a:spcBef>
                <a:spcPts val="0"/>
              </a:spcBef>
              <a:spcAft>
                <a:spcPts val="0"/>
              </a:spcAft>
              <a:buSzPts val="1800"/>
              <a:buChar char="●"/>
            </a:pPr>
            <a:r>
              <a:rPr lang="en"/>
              <a:t>Values that cannot be represented are rounded to a representable value</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b="1" lang="en">
                <a:solidFill>
                  <a:srgbClr val="980000"/>
                </a:solidFill>
              </a:rPr>
              <a:t>ABS error</a:t>
            </a:r>
            <a:r>
              <a:rPr lang="en"/>
              <a:t>: assigns value to the nearest bin</a:t>
            </a:r>
            <a:endParaRPr/>
          </a:p>
          <a:p>
            <a:pPr indent="-317500" lvl="1" marL="914400" rtl="0" algn="l">
              <a:lnSpc>
                <a:spcPct val="100000"/>
              </a:lnSpc>
              <a:spcBef>
                <a:spcPts val="0"/>
              </a:spcBef>
              <a:spcAft>
                <a:spcPts val="0"/>
              </a:spcAft>
              <a:buSzPts val="1400"/>
              <a:buChar char="○"/>
            </a:pPr>
            <a:r>
              <a:rPr lang="en"/>
              <a:t>Rounding near bin borders may misplace values to the</a:t>
            </a:r>
            <a:endParaRPr/>
          </a:p>
          <a:p>
            <a:pPr indent="0" lvl="0" marL="914400" rtl="0" algn="l">
              <a:lnSpc>
                <a:spcPct val="100000"/>
              </a:lnSpc>
              <a:spcBef>
                <a:spcPts val="0"/>
              </a:spcBef>
              <a:spcAft>
                <a:spcPts val="0"/>
              </a:spcAft>
              <a:buNone/>
            </a:pPr>
            <a:r>
              <a:rPr lang="en" sz="1400"/>
              <a:t>adjacent</a:t>
            </a:r>
            <a:r>
              <a:rPr lang="en"/>
              <a:t> </a:t>
            </a:r>
            <a:r>
              <a:rPr lang="en" sz="1400"/>
              <a:t>bin</a:t>
            </a:r>
            <a:endParaRPr/>
          </a:p>
          <a:p>
            <a:pPr indent="-342900" lvl="0" marL="457200" rtl="0" algn="l">
              <a:spcBef>
                <a:spcPts val="0"/>
              </a:spcBef>
              <a:spcAft>
                <a:spcPts val="0"/>
              </a:spcAft>
              <a:buSzPts val="1800"/>
              <a:buChar char="●"/>
            </a:pPr>
            <a:r>
              <a:rPr b="1" lang="en">
                <a:solidFill>
                  <a:srgbClr val="980000"/>
                </a:solidFill>
              </a:rPr>
              <a:t>INF/ NaN</a:t>
            </a:r>
            <a:r>
              <a:rPr lang="en"/>
              <a:t> : propagate during computation </a:t>
            </a:r>
            <a:endParaRPr/>
          </a:p>
          <a:p>
            <a:pPr indent="-342900" lvl="0" marL="457200" rtl="0" algn="l">
              <a:spcBef>
                <a:spcPts val="0"/>
              </a:spcBef>
              <a:spcAft>
                <a:spcPts val="0"/>
              </a:spcAft>
              <a:buSzPts val="1800"/>
              <a:buChar char="●"/>
            </a:pPr>
            <a:r>
              <a:rPr b="1" lang="en">
                <a:solidFill>
                  <a:srgbClr val="980000"/>
                </a:solidFill>
              </a:rPr>
              <a:t>Denormals</a:t>
            </a:r>
            <a:r>
              <a:rPr lang="en"/>
              <a:t>: lower precision, highly sensitive to </a:t>
            </a:r>
            <a:endParaRPr/>
          </a:p>
          <a:p>
            <a:pPr indent="0" lvl="0" marL="457200" rtl="0" algn="l">
              <a:spcBef>
                <a:spcPts val="0"/>
              </a:spcBef>
              <a:spcAft>
                <a:spcPts val="0"/>
              </a:spcAft>
              <a:buNone/>
            </a:pPr>
            <a:r>
              <a:rPr lang="en"/>
              <a:t>rounding</a:t>
            </a:r>
            <a:endParaRPr/>
          </a:p>
          <a:p>
            <a:pPr indent="0" lvl="0" marL="457200" rtl="0" algn="l">
              <a:spcBef>
                <a:spcPts val="0"/>
              </a:spcBef>
              <a:spcAft>
                <a:spcPts val="1200"/>
              </a:spcAft>
              <a:buNone/>
            </a:pPr>
            <a:r>
              <a:t/>
            </a:r>
            <a:endParaRPr/>
          </a:p>
        </p:txBody>
      </p:sp>
      <p:pic>
        <p:nvPicPr>
          <p:cNvPr id="256" name="Google Shape;256;p32"/>
          <p:cNvPicPr preferRelativeResize="0"/>
          <p:nvPr/>
        </p:nvPicPr>
        <p:blipFill>
          <a:blip r:embed="rId3">
            <a:alphaModFix/>
          </a:blip>
          <a:stretch>
            <a:fillRect/>
          </a:stretch>
        </p:blipFill>
        <p:spPr>
          <a:xfrm>
            <a:off x="8013742" y="4507725"/>
            <a:ext cx="1130255" cy="635774"/>
          </a:xfrm>
          <a:prstGeom prst="rect">
            <a:avLst/>
          </a:prstGeom>
          <a:noFill/>
          <a:ln>
            <a:noFill/>
          </a:ln>
        </p:spPr>
      </p:pic>
      <p:pic>
        <p:nvPicPr>
          <p:cNvPr id="257" name="Google Shape;257;p32"/>
          <p:cNvPicPr preferRelativeResize="0"/>
          <p:nvPr/>
        </p:nvPicPr>
        <p:blipFill>
          <a:blip r:embed="rId4">
            <a:alphaModFix/>
          </a:blip>
          <a:stretch>
            <a:fillRect/>
          </a:stretch>
        </p:blipFill>
        <p:spPr>
          <a:xfrm>
            <a:off x="5894925" y="1878325"/>
            <a:ext cx="3249075" cy="2306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solution</a:t>
            </a:r>
            <a:endParaRPr/>
          </a:p>
        </p:txBody>
      </p:sp>
      <p:sp>
        <p:nvSpPr>
          <p:cNvPr id="263" name="Google Shape;263;p33"/>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Goal</a:t>
            </a:r>
            <a:r>
              <a:rPr lang="en"/>
              <a:t>: Ensure </a:t>
            </a:r>
            <a:r>
              <a:rPr b="1" lang="en"/>
              <a:t>no error-bound violation</a:t>
            </a:r>
            <a:r>
              <a:rPr lang="en"/>
              <a:t>, </a:t>
            </a:r>
            <a:r>
              <a:rPr b="1" lang="en"/>
              <a:t>no undefined floating-point behavior </a:t>
            </a:r>
            <a:r>
              <a:rPr lang="en"/>
              <a:t>during compression or reconstruction</a:t>
            </a:r>
            <a:endParaRPr/>
          </a:p>
          <a:p>
            <a:pPr indent="0" lvl="0" marL="457200" rtl="0" algn="l">
              <a:spcBef>
                <a:spcPts val="1200"/>
              </a:spcBef>
              <a:spcAft>
                <a:spcPts val="1200"/>
              </a:spcAft>
              <a:buNone/>
            </a:pPr>
            <a:r>
              <a:t/>
            </a:r>
            <a:endParaRPr/>
          </a:p>
        </p:txBody>
      </p:sp>
      <p:pic>
        <p:nvPicPr>
          <p:cNvPr id="264" name="Google Shape;264;p33"/>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solution</a:t>
            </a:r>
            <a:endParaRPr/>
          </a:p>
        </p:txBody>
      </p:sp>
      <p:sp>
        <p:nvSpPr>
          <p:cNvPr id="270" name="Google Shape;270;p3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Goal</a:t>
            </a:r>
            <a:r>
              <a:rPr lang="en"/>
              <a:t>: Ensure </a:t>
            </a:r>
            <a:r>
              <a:rPr b="1" lang="en"/>
              <a:t>no error-bound violation</a:t>
            </a:r>
            <a:r>
              <a:rPr lang="en"/>
              <a:t>, </a:t>
            </a:r>
            <a:r>
              <a:rPr b="1" lang="en"/>
              <a:t>no undefined floating-point behavior </a:t>
            </a:r>
            <a:r>
              <a:rPr lang="en"/>
              <a:t>during compression or reconstruction</a:t>
            </a:r>
            <a:endParaRPr/>
          </a:p>
          <a:p>
            <a:pPr indent="-342900" lvl="0" marL="457200" rtl="0" algn="l">
              <a:spcBef>
                <a:spcPts val="0"/>
              </a:spcBef>
              <a:spcAft>
                <a:spcPts val="0"/>
              </a:spcAft>
              <a:buSzPts val="1800"/>
              <a:buChar char="●"/>
            </a:pPr>
            <a:r>
              <a:rPr lang="en"/>
              <a:t>Specification-level guarantees:</a:t>
            </a:r>
            <a:endParaRPr/>
          </a:p>
          <a:p>
            <a:pPr indent="-317500" lvl="1" marL="914400" rtl="0" algn="l">
              <a:spcBef>
                <a:spcPts val="0"/>
              </a:spcBef>
              <a:spcAft>
                <a:spcPts val="0"/>
              </a:spcAft>
              <a:buSzPts val="1400"/>
              <a:buChar char="○"/>
            </a:pPr>
            <a:r>
              <a:rPr lang="en"/>
              <a:t>Define contracts:</a:t>
            </a:r>
            <a:endParaRPr/>
          </a:p>
          <a:p>
            <a:pPr indent="-317500" lvl="2" marL="1371600" rtl="0" algn="l">
              <a:spcBef>
                <a:spcPts val="0"/>
              </a:spcBef>
              <a:spcAft>
                <a:spcPts val="0"/>
              </a:spcAft>
              <a:buSzPts val="1400"/>
              <a:buChar char="■"/>
            </a:pPr>
            <a:r>
              <a:rPr lang="en"/>
              <a:t> | V - V’ | ≤ E for all finite V</a:t>
            </a:r>
            <a:endParaRPr/>
          </a:p>
          <a:p>
            <a:pPr indent="-317500" lvl="2" marL="1371600" rtl="0" algn="l">
              <a:spcBef>
                <a:spcPts val="0"/>
              </a:spcBef>
              <a:spcAft>
                <a:spcPts val="0"/>
              </a:spcAft>
              <a:buClr>
                <a:srgbClr val="980000"/>
              </a:buClr>
              <a:buSzPts val="1400"/>
              <a:buChar char="■"/>
            </a:pPr>
            <a:r>
              <a:rPr lang="en">
                <a:solidFill>
                  <a:srgbClr val="980000"/>
                </a:solidFill>
              </a:rPr>
              <a:t>Quantization must be monotonic, bounded and terminating</a:t>
            </a:r>
            <a:endParaRPr>
              <a:solidFill>
                <a:srgbClr val="980000"/>
              </a:solidFill>
            </a:endParaRPr>
          </a:p>
          <a:p>
            <a:pPr indent="0" lvl="0" marL="457200" rtl="0" algn="l">
              <a:spcBef>
                <a:spcPts val="1200"/>
              </a:spcBef>
              <a:spcAft>
                <a:spcPts val="1200"/>
              </a:spcAft>
              <a:buNone/>
            </a:pPr>
            <a:r>
              <a:t/>
            </a:r>
            <a:endParaRPr/>
          </a:p>
        </p:txBody>
      </p:sp>
      <p:pic>
        <p:nvPicPr>
          <p:cNvPr id="271" name="Google Shape;271;p34"/>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solution</a:t>
            </a:r>
            <a:endParaRPr/>
          </a:p>
        </p:txBody>
      </p:sp>
      <p:sp>
        <p:nvSpPr>
          <p:cNvPr id="277" name="Google Shape;277;p3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Goal</a:t>
            </a:r>
            <a:r>
              <a:rPr lang="en"/>
              <a:t>: Ensure </a:t>
            </a:r>
            <a:r>
              <a:rPr b="1" lang="en"/>
              <a:t>no error-bound violation</a:t>
            </a:r>
            <a:r>
              <a:rPr lang="en"/>
              <a:t>, </a:t>
            </a:r>
            <a:r>
              <a:rPr b="1" lang="en"/>
              <a:t>no undefined floating-point behavior </a:t>
            </a:r>
            <a:r>
              <a:rPr lang="en"/>
              <a:t>during compression or reconstruction</a:t>
            </a:r>
            <a:endParaRPr/>
          </a:p>
          <a:p>
            <a:pPr indent="-342900" lvl="0" marL="457200" rtl="0" algn="l">
              <a:spcBef>
                <a:spcPts val="0"/>
              </a:spcBef>
              <a:spcAft>
                <a:spcPts val="0"/>
              </a:spcAft>
              <a:buSzPts val="1800"/>
              <a:buChar char="●"/>
            </a:pPr>
            <a:r>
              <a:rPr lang="en"/>
              <a:t>Specification-level guarantees:</a:t>
            </a:r>
            <a:endParaRPr/>
          </a:p>
          <a:p>
            <a:pPr indent="-317500" lvl="1" marL="914400" rtl="0" algn="l">
              <a:spcBef>
                <a:spcPts val="0"/>
              </a:spcBef>
              <a:spcAft>
                <a:spcPts val="0"/>
              </a:spcAft>
              <a:buSzPts val="1400"/>
              <a:buChar char="○"/>
            </a:pPr>
            <a:r>
              <a:rPr lang="en"/>
              <a:t>Define contracts:</a:t>
            </a:r>
            <a:endParaRPr/>
          </a:p>
          <a:p>
            <a:pPr indent="-317500" lvl="2" marL="1371600" rtl="0" algn="l">
              <a:spcBef>
                <a:spcPts val="0"/>
              </a:spcBef>
              <a:spcAft>
                <a:spcPts val="0"/>
              </a:spcAft>
              <a:buSzPts val="1400"/>
              <a:buChar char="■"/>
            </a:pPr>
            <a:r>
              <a:rPr lang="en"/>
              <a:t> | V - V’ | ≤ E for all finite V</a:t>
            </a:r>
            <a:endParaRPr/>
          </a:p>
          <a:p>
            <a:pPr indent="-317500" lvl="2" marL="1371600" rtl="0" algn="l">
              <a:spcBef>
                <a:spcPts val="0"/>
              </a:spcBef>
              <a:spcAft>
                <a:spcPts val="0"/>
              </a:spcAft>
              <a:buClr>
                <a:srgbClr val="980000"/>
              </a:buClr>
              <a:buSzPts val="1400"/>
              <a:buChar char="■"/>
            </a:pPr>
            <a:r>
              <a:rPr lang="en">
                <a:solidFill>
                  <a:srgbClr val="980000"/>
                </a:solidFill>
              </a:rPr>
              <a:t>Quantization must be monotonic, bounded and terminating</a:t>
            </a:r>
            <a:endParaRPr>
              <a:solidFill>
                <a:srgbClr val="980000"/>
              </a:solidFill>
            </a:endParaRPr>
          </a:p>
          <a:p>
            <a:pPr indent="-342900" lvl="0" marL="457200" rtl="0" algn="l">
              <a:spcBef>
                <a:spcPts val="0"/>
              </a:spcBef>
              <a:spcAft>
                <a:spcPts val="0"/>
              </a:spcAft>
              <a:buSzPts val="1800"/>
              <a:buChar char="●"/>
            </a:pPr>
            <a:r>
              <a:rPr lang="en"/>
              <a:t>Use </a:t>
            </a:r>
            <a:r>
              <a:rPr b="1" lang="en"/>
              <a:t>Verus</a:t>
            </a:r>
            <a:r>
              <a:rPr b="1" baseline="30000" lang="en"/>
              <a:t>1</a:t>
            </a:r>
            <a:r>
              <a:rPr lang="en"/>
              <a:t> and </a:t>
            </a:r>
            <a:r>
              <a:rPr b="1" lang="en">
                <a:solidFill>
                  <a:srgbClr val="980000"/>
                </a:solidFill>
              </a:rPr>
              <a:t>express pre/postconditions and invariants for quantization kernels</a:t>
            </a:r>
            <a:endParaRPr b="1">
              <a:solidFill>
                <a:srgbClr val="980000"/>
              </a:solidFill>
            </a:endParaRPr>
          </a:p>
          <a:p>
            <a:pPr indent="-342900" lvl="0" marL="457200" rtl="0" algn="l">
              <a:spcBef>
                <a:spcPts val="0"/>
              </a:spcBef>
              <a:spcAft>
                <a:spcPts val="0"/>
              </a:spcAft>
              <a:buSzPts val="1800"/>
              <a:buChar char="●"/>
            </a:pPr>
            <a:r>
              <a:rPr lang="en"/>
              <a:t>Verus is a Rust based verification language</a:t>
            </a:r>
            <a:endParaRPr/>
          </a:p>
        </p:txBody>
      </p:sp>
      <p:sp>
        <p:nvSpPr>
          <p:cNvPr id="278" name="Google Shape;278;p35"/>
          <p:cNvSpPr txBox="1"/>
          <p:nvPr/>
        </p:nvSpPr>
        <p:spPr>
          <a:xfrm>
            <a:off x="42600" y="4632350"/>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[1] </a:t>
            </a:r>
            <a:r>
              <a:rPr lang="en" sz="800" u="sng">
                <a:solidFill>
                  <a:schemeClr val="hlink"/>
                </a:solidFill>
                <a:latin typeface="Old Standard TT"/>
                <a:ea typeface="Old Standard TT"/>
                <a:cs typeface="Old Standard TT"/>
                <a:sym typeface="Old Standard TT"/>
                <a:hlinkClick r:id="rId3"/>
              </a:rPr>
              <a:t>https://github.com/verus-lang/verus</a:t>
            </a:r>
            <a:endParaRPr sz="800">
              <a:solidFill>
                <a:schemeClr val="dk1"/>
              </a:solidFill>
              <a:latin typeface="Old Standard TT"/>
              <a:ea typeface="Old Standard TT"/>
              <a:cs typeface="Old Standard TT"/>
              <a:sym typeface="Old Standard TT"/>
            </a:endParaRPr>
          </a:p>
        </p:txBody>
      </p:sp>
      <p:pic>
        <p:nvPicPr>
          <p:cNvPr id="279" name="Google Shape;279;p35"/>
          <p:cNvPicPr preferRelativeResize="0"/>
          <p:nvPr/>
        </p:nvPicPr>
        <p:blipFill>
          <a:blip r:embed="rId4">
            <a:alphaModFix/>
          </a:blip>
          <a:stretch>
            <a:fillRect/>
          </a:stretch>
        </p:blipFill>
        <p:spPr>
          <a:xfrm>
            <a:off x="8013742" y="4507725"/>
            <a:ext cx="1130255" cy="635774"/>
          </a:xfrm>
          <a:prstGeom prst="rect">
            <a:avLst/>
          </a:prstGeom>
          <a:noFill/>
          <a:ln>
            <a:noFill/>
          </a:ln>
        </p:spPr>
      </p:pic>
      <p:pic>
        <p:nvPicPr>
          <p:cNvPr id="280" name="Google Shape;280;p35"/>
          <p:cNvPicPr preferRelativeResize="0"/>
          <p:nvPr/>
        </p:nvPicPr>
        <p:blipFill>
          <a:blip r:embed="rId5">
            <a:alphaModFix/>
          </a:blip>
          <a:stretch>
            <a:fillRect/>
          </a:stretch>
        </p:blipFill>
        <p:spPr>
          <a:xfrm>
            <a:off x="7051168" y="1563693"/>
            <a:ext cx="1320275" cy="1320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Race condition elimination</a:t>
            </a:r>
            <a:endParaRPr/>
          </a:p>
        </p:txBody>
      </p:sp>
      <p:sp>
        <p:nvSpPr>
          <p:cNvPr id="286" name="Google Shape;286;p3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Why race condition matters?</a:t>
            </a:r>
            <a:endParaRPr/>
          </a:p>
          <a:p>
            <a:pPr indent="-317500" lvl="1" marL="914400" rtl="0" algn="l">
              <a:spcBef>
                <a:spcPts val="0"/>
              </a:spcBef>
              <a:spcAft>
                <a:spcPts val="0"/>
              </a:spcAft>
              <a:buSzPts val="1400"/>
              <a:buChar char="○"/>
            </a:pPr>
            <a:r>
              <a:rPr lang="en"/>
              <a:t>Parallel compressors (OpenMP/CUDA) are fast but risk data races in shared states</a:t>
            </a:r>
            <a:endParaRPr/>
          </a:p>
          <a:p>
            <a:pPr indent="-317500" lvl="1" marL="914400" rtl="0" algn="l">
              <a:spcBef>
                <a:spcPts val="0"/>
              </a:spcBef>
              <a:spcAft>
                <a:spcPts val="0"/>
              </a:spcAft>
              <a:buSzPts val="1400"/>
              <a:buChar char="○"/>
            </a:pPr>
            <a:r>
              <a:rPr b="1" lang="en"/>
              <a:t>Race conditions → Non-deterministic behavior → break correctness guarantees</a:t>
            </a:r>
            <a:endParaRPr b="1"/>
          </a:p>
          <a:p>
            <a:pPr indent="0" lvl="0" marL="0" rtl="0" algn="l">
              <a:spcBef>
                <a:spcPts val="1200"/>
              </a:spcBef>
              <a:spcAft>
                <a:spcPts val="1200"/>
              </a:spcAft>
              <a:buNone/>
            </a:pPr>
            <a:r>
              <a:t/>
            </a:r>
            <a:endParaRPr/>
          </a:p>
        </p:txBody>
      </p:sp>
      <p:pic>
        <p:nvPicPr>
          <p:cNvPr id="287" name="Google Shape;287;p36"/>
          <p:cNvPicPr preferRelativeResize="0"/>
          <p:nvPr/>
        </p:nvPicPr>
        <p:blipFill>
          <a:blip r:embed="rId3">
            <a:alphaModFix/>
          </a:blip>
          <a:stretch>
            <a:fillRect/>
          </a:stretch>
        </p:blipFill>
        <p:spPr>
          <a:xfrm>
            <a:off x="8013742" y="4507725"/>
            <a:ext cx="1130255" cy="635774"/>
          </a:xfrm>
          <a:prstGeom prst="rect">
            <a:avLst/>
          </a:prstGeom>
          <a:noFill/>
          <a:ln>
            <a:noFill/>
          </a:ln>
        </p:spPr>
      </p:pic>
      <p:pic>
        <p:nvPicPr>
          <p:cNvPr id="288" name="Google Shape;288;p36"/>
          <p:cNvPicPr preferRelativeResize="0"/>
          <p:nvPr/>
        </p:nvPicPr>
        <p:blipFill>
          <a:blip r:embed="rId4">
            <a:alphaModFix/>
          </a:blip>
          <a:stretch>
            <a:fillRect/>
          </a:stretch>
        </p:blipFill>
        <p:spPr>
          <a:xfrm>
            <a:off x="7143768" y="2210068"/>
            <a:ext cx="1320275" cy="1320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Race condition elimination</a:t>
            </a:r>
            <a:endParaRPr/>
          </a:p>
        </p:txBody>
      </p:sp>
      <p:sp>
        <p:nvSpPr>
          <p:cNvPr id="294" name="Google Shape;294;p3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Why race condition matters?</a:t>
            </a:r>
            <a:endParaRPr/>
          </a:p>
          <a:p>
            <a:pPr indent="-317500" lvl="1" marL="914400" rtl="0" algn="l">
              <a:spcBef>
                <a:spcPts val="0"/>
              </a:spcBef>
              <a:spcAft>
                <a:spcPts val="0"/>
              </a:spcAft>
              <a:buSzPts val="1400"/>
              <a:buChar char="○"/>
            </a:pPr>
            <a:r>
              <a:rPr lang="en"/>
              <a:t>Parallel compressors (OpenMP/CUDA) are fast but risk data races in shared states</a:t>
            </a:r>
            <a:endParaRPr/>
          </a:p>
          <a:p>
            <a:pPr indent="-317500" lvl="1" marL="914400" rtl="0" algn="l">
              <a:spcBef>
                <a:spcPts val="0"/>
              </a:spcBef>
              <a:spcAft>
                <a:spcPts val="0"/>
              </a:spcAft>
              <a:buSzPts val="1400"/>
              <a:buChar char="○"/>
            </a:pPr>
            <a:r>
              <a:rPr b="1" lang="en"/>
              <a:t>Race conditions → Non-deterministic behavior → break correctness guarantees</a:t>
            </a:r>
            <a:endParaRPr b="1"/>
          </a:p>
          <a:p>
            <a:pPr indent="-342900" lvl="0" marL="457200" rtl="0" algn="l">
              <a:spcBef>
                <a:spcPts val="0"/>
              </a:spcBef>
              <a:spcAft>
                <a:spcPts val="0"/>
              </a:spcAft>
              <a:buSzPts val="1800"/>
              <a:buChar char="●"/>
            </a:pPr>
            <a:r>
              <a:rPr lang="en"/>
              <a:t>How using Verus is helpful</a:t>
            </a:r>
            <a:endParaRPr/>
          </a:p>
          <a:p>
            <a:pPr indent="-317500" lvl="1" marL="914400" rtl="0" algn="l">
              <a:spcBef>
                <a:spcPts val="0"/>
              </a:spcBef>
              <a:spcAft>
                <a:spcPts val="0"/>
              </a:spcAft>
              <a:buClr>
                <a:srgbClr val="980000"/>
              </a:buClr>
              <a:buSzPts val="1400"/>
              <a:buChar char="○"/>
            </a:pPr>
            <a:r>
              <a:rPr b="1" lang="en">
                <a:solidFill>
                  <a:srgbClr val="980000"/>
                </a:solidFill>
              </a:rPr>
              <a:t>Ownership and borrowing models</a:t>
            </a:r>
            <a:endParaRPr b="1">
              <a:solidFill>
                <a:srgbClr val="980000"/>
              </a:solidFill>
            </a:endParaRPr>
          </a:p>
          <a:p>
            <a:pPr indent="-317500" lvl="2" marL="1371600" rtl="0" algn="l">
              <a:spcBef>
                <a:spcPts val="0"/>
              </a:spcBef>
              <a:spcAft>
                <a:spcPts val="0"/>
              </a:spcAft>
              <a:buSzPts val="1400"/>
              <a:buChar char="■"/>
            </a:pPr>
            <a:r>
              <a:rPr lang="en"/>
              <a:t>Each thread operates on disjoint memory segments</a:t>
            </a:r>
            <a:endParaRPr/>
          </a:p>
          <a:p>
            <a:pPr indent="-317500" lvl="1" marL="914400" rtl="0" algn="l">
              <a:spcBef>
                <a:spcPts val="0"/>
              </a:spcBef>
              <a:spcAft>
                <a:spcPts val="0"/>
              </a:spcAft>
              <a:buClr>
                <a:srgbClr val="980000"/>
              </a:buClr>
              <a:buSzPts val="1400"/>
              <a:buChar char="○"/>
            </a:pPr>
            <a:r>
              <a:rPr b="1" lang="en">
                <a:solidFill>
                  <a:srgbClr val="980000"/>
                </a:solidFill>
              </a:rPr>
              <a:t>Permission based reasoning</a:t>
            </a:r>
            <a:endParaRPr b="1">
              <a:solidFill>
                <a:srgbClr val="980000"/>
              </a:solidFill>
            </a:endParaRPr>
          </a:p>
          <a:p>
            <a:pPr indent="-317500" lvl="2" marL="1371600" rtl="0" algn="l">
              <a:spcBef>
                <a:spcPts val="0"/>
              </a:spcBef>
              <a:spcAft>
                <a:spcPts val="0"/>
              </a:spcAft>
              <a:buSzPts val="1400"/>
              <a:buChar char="■"/>
            </a:pPr>
            <a:r>
              <a:rPr lang="en"/>
              <a:t>No two threads write in the same memory cell simultaneously</a:t>
            </a:r>
            <a:endParaRPr/>
          </a:p>
          <a:p>
            <a:pPr indent="0" lvl="0" marL="914400" rtl="0" algn="l">
              <a:spcBef>
                <a:spcPts val="1200"/>
              </a:spcBef>
              <a:spcAft>
                <a:spcPts val="1200"/>
              </a:spcAft>
              <a:buNone/>
            </a:pPr>
            <a:r>
              <a:t/>
            </a:r>
            <a:endParaRPr/>
          </a:p>
        </p:txBody>
      </p:sp>
      <p:pic>
        <p:nvPicPr>
          <p:cNvPr id="295" name="Google Shape;295;p37"/>
          <p:cNvPicPr preferRelativeResize="0"/>
          <p:nvPr/>
        </p:nvPicPr>
        <p:blipFill>
          <a:blip r:embed="rId3">
            <a:alphaModFix/>
          </a:blip>
          <a:stretch>
            <a:fillRect/>
          </a:stretch>
        </p:blipFill>
        <p:spPr>
          <a:xfrm>
            <a:off x="8013742" y="4507725"/>
            <a:ext cx="1130255" cy="635774"/>
          </a:xfrm>
          <a:prstGeom prst="rect">
            <a:avLst/>
          </a:prstGeom>
          <a:noFill/>
          <a:ln>
            <a:noFill/>
          </a:ln>
        </p:spPr>
      </p:pic>
      <p:pic>
        <p:nvPicPr>
          <p:cNvPr id="296" name="Google Shape;296;p37"/>
          <p:cNvPicPr preferRelativeResize="0"/>
          <p:nvPr/>
        </p:nvPicPr>
        <p:blipFill>
          <a:blip r:embed="rId4">
            <a:alphaModFix/>
          </a:blip>
          <a:stretch>
            <a:fillRect/>
          </a:stretch>
        </p:blipFill>
        <p:spPr>
          <a:xfrm>
            <a:off x="7143768" y="2210068"/>
            <a:ext cx="1320275" cy="1320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 Topology based quality metrics</a:t>
            </a:r>
            <a:endParaRPr/>
          </a:p>
        </p:txBody>
      </p:sp>
      <p:sp>
        <p:nvSpPr>
          <p:cNvPr id="302" name="Google Shape;302;p3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Topological descriptors</a:t>
            </a:r>
            <a:endParaRPr/>
          </a:p>
          <a:p>
            <a:pPr indent="0" lvl="0" marL="914400" rtl="0" algn="l">
              <a:spcBef>
                <a:spcPts val="1200"/>
              </a:spcBef>
              <a:spcAft>
                <a:spcPts val="1200"/>
              </a:spcAft>
              <a:buNone/>
            </a:pPr>
            <a:r>
              <a:t/>
            </a:r>
            <a:endParaRPr/>
          </a:p>
        </p:txBody>
      </p:sp>
      <p:pic>
        <p:nvPicPr>
          <p:cNvPr id="303" name="Google Shape;303;p38"/>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39"/>
          <p:cNvPicPr preferRelativeResize="0"/>
          <p:nvPr/>
        </p:nvPicPr>
        <p:blipFill>
          <a:blip r:embed="rId3">
            <a:alphaModFix/>
          </a:blip>
          <a:stretch>
            <a:fillRect/>
          </a:stretch>
        </p:blipFill>
        <p:spPr>
          <a:xfrm>
            <a:off x="8013742" y="4507725"/>
            <a:ext cx="1130255" cy="635774"/>
          </a:xfrm>
          <a:prstGeom prst="rect">
            <a:avLst/>
          </a:prstGeom>
          <a:noFill/>
          <a:ln>
            <a:noFill/>
          </a:ln>
        </p:spPr>
      </p:pic>
      <p:sp>
        <p:nvSpPr>
          <p:cNvPr id="309" name="Google Shape;309;p3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 Topology based quality metrics</a:t>
            </a:r>
            <a:endParaRPr/>
          </a:p>
        </p:txBody>
      </p:sp>
      <p:sp>
        <p:nvSpPr>
          <p:cNvPr id="310" name="Google Shape;310;p39"/>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Topological descriptors</a:t>
            </a:r>
            <a:endParaRPr/>
          </a:p>
          <a:p>
            <a:pPr indent="-317500" lvl="1" marL="914400" rtl="0" algn="l">
              <a:spcBef>
                <a:spcPts val="0"/>
              </a:spcBef>
              <a:spcAft>
                <a:spcPts val="0"/>
              </a:spcAft>
              <a:buSzPts val="1400"/>
              <a:buChar char="○"/>
            </a:pPr>
            <a:r>
              <a:rPr b="1" lang="en"/>
              <a:t>Critical points in vector or scalar fields</a:t>
            </a:r>
            <a:endParaRPr b="1"/>
          </a:p>
        </p:txBody>
      </p:sp>
      <p:sp>
        <p:nvSpPr>
          <p:cNvPr id="311" name="Google Shape;311;p39"/>
          <p:cNvSpPr txBox="1"/>
          <p:nvPr/>
        </p:nvSpPr>
        <p:spPr>
          <a:xfrm>
            <a:off x="21300" y="4682175"/>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Image source: </a:t>
            </a:r>
            <a:r>
              <a:rPr lang="en" sz="800">
                <a:solidFill>
                  <a:schemeClr val="dk1"/>
                </a:solidFill>
                <a:latin typeface="Old Standard TT"/>
                <a:ea typeface="Old Standard TT"/>
                <a:cs typeface="Old Standard TT"/>
                <a:sym typeface="Old Standard TT"/>
              </a:rPr>
              <a:t>X. Liang, S. Di, F. Cappello, M. Raj, C. Liu, K. Ono, Z. Chen, T. Peterka,and H. Guo, “Toward feature-preserving vector field compression,” </a:t>
            </a:r>
            <a:endParaRPr sz="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IEEE Transactions on Visualization and Computer Graphics, 2022.</a:t>
            </a:r>
            <a:endParaRPr sz="800">
              <a:solidFill>
                <a:schemeClr val="dk1"/>
              </a:solidFill>
              <a:latin typeface="Old Standard TT"/>
              <a:ea typeface="Old Standard TT"/>
              <a:cs typeface="Old Standard TT"/>
              <a:sym typeface="Old Standard TT"/>
            </a:endParaRPr>
          </a:p>
        </p:txBody>
      </p:sp>
      <p:pic>
        <p:nvPicPr>
          <p:cNvPr id="312" name="Google Shape;312;p39"/>
          <p:cNvPicPr preferRelativeResize="0"/>
          <p:nvPr/>
        </p:nvPicPr>
        <p:blipFill>
          <a:blip r:embed="rId4">
            <a:alphaModFix/>
          </a:blip>
          <a:stretch>
            <a:fillRect/>
          </a:stretch>
        </p:blipFill>
        <p:spPr>
          <a:xfrm>
            <a:off x="4863650" y="1476525"/>
            <a:ext cx="2858638" cy="2763350"/>
          </a:xfrm>
          <a:prstGeom prst="rect">
            <a:avLst/>
          </a:prstGeom>
          <a:noFill/>
          <a:ln>
            <a:noFill/>
          </a:ln>
        </p:spPr>
      </p:pic>
      <p:sp>
        <p:nvSpPr>
          <p:cNvPr id="313" name="Google Shape;313;p39"/>
          <p:cNvSpPr txBox="1"/>
          <p:nvPr/>
        </p:nvSpPr>
        <p:spPr>
          <a:xfrm>
            <a:off x="4941575" y="4303950"/>
            <a:ext cx="2858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Old Standard TT"/>
                <a:ea typeface="Old Standard TT"/>
                <a:cs typeface="Old Standard TT"/>
                <a:sym typeface="Old Standard TT"/>
              </a:rPr>
              <a:t>Streamlines and critical points</a:t>
            </a:r>
            <a:endParaRPr sz="1600">
              <a:solidFill>
                <a:schemeClr val="dk1"/>
              </a:solidFill>
              <a:latin typeface="Old Standard TT"/>
              <a:ea typeface="Old Standard TT"/>
              <a:cs typeface="Old Standard TT"/>
              <a:sym typeface="Old Standard T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 Topology based quality metrics</a:t>
            </a:r>
            <a:endParaRPr/>
          </a:p>
        </p:txBody>
      </p:sp>
      <p:sp>
        <p:nvSpPr>
          <p:cNvPr id="319" name="Google Shape;319;p40"/>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Topological descriptors</a:t>
            </a:r>
            <a:endParaRPr/>
          </a:p>
          <a:p>
            <a:pPr indent="-317500" lvl="1" marL="914400" rtl="0" algn="l">
              <a:spcBef>
                <a:spcPts val="0"/>
              </a:spcBef>
              <a:spcAft>
                <a:spcPts val="0"/>
              </a:spcAft>
              <a:buSzPts val="1400"/>
              <a:buChar char="○"/>
            </a:pPr>
            <a:r>
              <a:rPr lang="en"/>
              <a:t>Critical points in vector or scalar fields</a:t>
            </a:r>
            <a:endParaRPr/>
          </a:p>
          <a:p>
            <a:pPr indent="-317500" lvl="1" marL="914400" rtl="0" algn="l">
              <a:spcBef>
                <a:spcPts val="0"/>
              </a:spcBef>
              <a:spcAft>
                <a:spcPts val="0"/>
              </a:spcAft>
              <a:buSzPts val="1400"/>
              <a:buChar char="○"/>
            </a:pPr>
            <a:r>
              <a:rPr b="1" lang="en"/>
              <a:t>Contour trees</a:t>
            </a:r>
            <a:endParaRPr b="1"/>
          </a:p>
          <a:p>
            <a:pPr indent="0" lvl="0" marL="914400" rtl="0" algn="l">
              <a:spcBef>
                <a:spcPts val="1200"/>
              </a:spcBef>
              <a:spcAft>
                <a:spcPts val="1200"/>
              </a:spcAft>
              <a:buNone/>
            </a:pPr>
            <a:r>
              <a:t/>
            </a:r>
            <a:endParaRPr/>
          </a:p>
        </p:txBody>
      </p:sp>
      <p:sp>
        <p:nvSpPr>
          <p:cNvPr id="320" name="Google Shape;320;p40"/>
          <p:cNvSpPr txBox="1"/>
          <p:nvPr/>
        </p:nvSpPr>
        <p:spPr>
          <a:xfrm>
            <a:off x="21300" y="4682175"/>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Image source: Yan et al. “TopoSZ: Preserving Topology in Error-Bounded Lossy Compression, 2023”</a:t>
            </a:r>
            <a:endParaRPr sz="800">
              <a:solidFill>
                <a:schemeClr val="dk1"/>
              </a:solidFill>
              <a:latin typeface="Old Standard TT"/>
              <a:ea typeface="Old Standard TT"/>
              <a:cs typeface="Old Standard TT"/>
              <a:sym typeface="Old Standard TT"/>
            </a:endParaRPr>
          </a:p>
        </p:txBody>
      </p:sp>
      <p:grpSp>
        <p:nvGrpSpPr>
          <p:cNvPr id="321" name="Google Shape;321;p40"/>
          <p:cNvGrpSpPr/>
          <p:nvPr/>
        </p:nvGrpSpPr>
        <p:grpSpPr>
          <a:xfrm>
            <a:off x="1680215" y="2120138"/>
            <a:ext cx="5245372" cy="2164395"/>
            <a:chOff x="311700" y="1885050"/>
            <a:chExt cx="3934127" cy="1623337"/>
          </a:xfrm>
        </p:grpSpPr>
        <p:pic>
          <p:nvPicPr>
            <p:cNvPr id="322" name="Google Shape;322;p40"/>
            <p:cNvPicPr preferRelativeResize="0"/>
            <p:nvPr/>
          </p:nvPicPr>
          <p:blipFill rotWithShape="1">
            <a:blip r:embed="rId3">
              <a:alphaModFix/>
            </a:blip>
            <a:srcRect b="0" l="0" r="0" t="0"/>
            <a:stretch/>
          </p:blipFill>
          <p:spPr>
            <a:xfrm>
              <a:off x="311700" y="2043650"/>
              <a:ext cx="3934127" cy="1377750"/>
            </a:xfrm>
            <a:prstGeom prst="rect">
              <a:avLst/>
            </a:prstGeom>
            <a:noFill/>
            <a:ln>
              <a:noFill/>
            </a:ln>
          </p:spPr>
        </p:pic>
        <p:pic>
          <p:nvPicPr>
            <p:cNvPr id="323" name="Google Shape;323;p40"/>
            <p:cNvPicPr preferRelativeResize="0"/>
            <p:nvPr/>
          </p:nvPicPr>
          <p:blipFill rotWithShape="1">
            <a:blip r:embed="rId4">
              <a:alphaModFix/>
            </a:blip>
            <a:srcRect b="0" l="0" r="0" t="0"/>
            <a:stretch/>
          </p:blipFill>
          <p:spPr>
            <a:xfrm>
              <a:off x="3576175" y="1885050"/>
              <a:ext cx="533629" cy="196025"/>
            </a:xfrm>
            <a:prstGeom prst="rect">
              <a:avLst/>
            </a:prstGeom>
            <a:noFill/>
            <a:ln>
              <a:noFill/>
            </a:ln>
          </p:spPr>
        </p:pic>
        <p:pic>
          <p:nvPicPr>
            <p:cNvPr id="324" name="Google Shape;324;p40"/>
            <p:cNvPicPr preferRelativeResize="0"/>
            <p:nvPr/>
          </p:nvPicPr>
          <p:blipFill rotWithShape="1">
            <a:blip r:embed="rId4">
              <a:alphaModFix/>
            </a:blip>
            <a:srcRect b="0" l="0" r="0" t="0"/>
            <a:stretch/>
          </p:blipFill>
          <p:spPr>
            <a:xfrm>
              <a:off x="3438025" y="3312362"/>
              <a:ext cx="533629" cy="196025"/>
            </a:xfrm>
            <a:prstGeom prst="rect">
              <a:avLst/>
            </a:prstGeom>
            <a:noFill/>
            <a:ln>
              <a:noFill/>
            </a:ln>
          </p:spPr>
        </p:pic>
      </p:grpSp>
      <p:sp>
        <p:nvSpPr>
          <p:cNvPr id="325" name="Google Shape;325;p40"/>
          <p:cNvSpPr txBox="1"/>
          <p:nvPr/>
        </p:nvSpPr>
        <p:spPr>
          <a:xfrm>
            <a:off x="1716900" y="4133925"/>
            <a:ext cx="5307600" cy="28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Old Standard TT"/>
                <a:ea typeface="Old Standard TT"/>
                <a:cs typeface="Old Standard TT"/>
                <a:sym typeface="Old Standard TT"/>
              </a:rPr>
              <a:t>Scalar field f                  graph of f            contour tree of f</a:t>
            </a:r>
            <a:endParaRPr sz="1600">
              <a:solidFill>
                <a:schemeClr val="dk1"/>
              </a:solidFill>
              <a:latin typeface="Old Standard TT"/>
              <a:ea typeface="Old Standard TT"/>
              <a:cs typeface="Old Standard TT"/>
              <a:sym typeface="Old Standard TT"/>
            </a:endParaRPr>
          </a:p>
        </p:txBody>
      </p:sp>
      <p:pic>
        <p:nvPicPr>
          <p:cNvPr id="326" name="Google Shape;326;p40"/>
          <p:cNvPicPr preferRelativeResize="0"/>
          <p:nvPr/>
        </p:nvPicPr>
        <p:blipFill>
          <a:blip r:embed="rId5">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 Topology based quality metrics</a:t>
            </a:r>
            <a:endParaRPr/>
          </a:p>
        </p:txBody>
      </p:sp>
      <p:sp>
        <p:nvSpPr>
          <p:cNvPr id="332" name="Google Shape;332;p41"/>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Topological descriptors</a:t>
            </a:r>
            <a:endParaRPr/>
          </a:p>
          <a:p>
            <a:pPr indent="-317500" lvl="1" marL="914400" rtl="0" algn="l">
              <a:spcBef>
                <a:spcPts val="0"/>
              </a:spcBef>
              <a:spcAft>
                <a:spcPts val="0"/>
              </a:spcAft>
              <a:buSzPts val="1400"/>
              <a:buChar char="○"/>
            </a:pPr>
            <a:r>
              <a:rPr lang="en"/>
              <a:t>Critical points in vector or scalar fields</a:t>
            </a:r>
            <a:endParaRPr/>
          </a:p>
          <a:p>
            <a:pPr indent="-317500" lvl="1" marL="914400" rtl="0" algn="l">
              <a:spcBef>
                <a:spcPts val="0"/>
              </a:spcBef>
              <a:spcAft>
                <a:spcPts val="0"/>
              </a:spcAft>
              <a:buSzPts val="1400"/>
              <a:buChar char="○"/>
            </a:pPr>
            <a:r>
              <a:rPr lang="en"/>
              <a:t>Contour trees</a:t>
            </a:r>
            <a:endParaRPr/>
          </a:p>
          <a:p>
            <a:pPr indent="-317500" lvl="1" marL="914400" rtl="0" algn="l">
              <a:spcBef>
                <a:spcPts val="0"/>
              </a:spcBef>
              <a:spcAft>
                <a:spcPts val="0"/>
              </a:spcAft>
              <a:buSzPts val="1400"/>
              <a:buChar char="○"/>
            </a:pPr>
            <a:r>
              <a:rPr b="1" lang="en"/>
              <a:t>Merge trees and Morse-smale complex</a:t>
            </a:r>
            <a:endParaRPr b="1"/>
          </a:p>
          <a:p>
            <a:pPr indent="0" lvl="0" marL="914400" rtl="0" algn="l">
              <a:spcBef>
                <a:spcPts val="1200"/>
              </a:spcBef>
              <a:spcAft>
                <a:spcPts val="1200"/>
              </a:spcAft>
              <a:buNone/>
            </a:pPr>
            <a:r>
              <a:t/>
            </a:r>
            <a:endParaRPr/>
          </a:p>
        </p:txBody>
      </p:sp>
      <p:pic>
        <p:nvPicPr>
          <p:cNvPr id="333" name="Google Shape;333;p41"/>
          <p:cNvPicPr preferRelativeResize="0"/>
          <p:nvPr/>
        </p:nvPicPr>
        <p:blipFill rotWithShape="1">
          <a:blip r:embed="rId3">
            <a:alphaModFix/>
          </a:blip>
          <a:srcRect b="0" l="0" r="0" t="0"/>
          <a:stretch/>
        </p:blipFill>
        <p:spPr>
          <a:xfrm>
            <a:off x="3652552" y="1798050"/>
            <a:ext cx="4882376" cy="2770750"/>
          </a:xfrm>
          <a:prstGeom prst="rect">
            <a:avLst/>
          </a:prstGeom>
          <a:noFill/>
          <a:ln>
            <a:noFill/>
          </a:ln>
        </p:spPr>
      </p:pic>
      <p:sp>
        <p:nvSpPr>
          <p:cNvPr id="334" name="Google Shape;334;p41"/>
          <p:cNvSpPr txBox="1"/>
          <p:nvPr/>
        </p:nvSpPr>
        <p:spPr>
          <a:xfrm>
            <a:off x="21300" y="4682175"/>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Image source: Liu et al. “Visualizing High-Dimensional Data: Advances in the Past Decade.” IEEE TVCG, 23(3):1249-1268, 2017.</a:t>
            </a:r>
            <a:endParaRPr sz="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800">
              <a:solidFill>
                <a:schemeClr val="dk1"/>
              </a:solidFill>
              <a:latin typeface="Old Standard TT"/>
              <a:ea typeface="Old Standard TT"/>
              <a:cs typeface="Old Standard TT"/>
              <a:sym typeface="Old Standard TT"/>
            </a:endParaRPr>
          </a:p>
        </p:txBody>
      </p:sp>
      <p:pic>
        <p:nvPicPr>
          <p:cNvPr id="335" name="Google Shape;335;p41"/>
          <p:cNvPicPr preferRelativeResize="0"/>
          <p:nvPr/>
        </p:nvPicPr>
        <p:blipFill>
          <a:blip r:embed="rId4">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False cases </a:t>
            </a:r>
            <a:endParaRPr/>
          </a:p>
        </p:txBody>
      </p:sp>
      <p:pic>
        <p:nvPicPr>
          <p:cNvPr descr="A diagram of a molecule&#10;&#10;Description automatically generated" id="341" name="Google Shape;341;p42"/>
          <p:cNvPicPr preferRelativeResize="0"/>
          <p:nvPr/>
        </p:nvPicPr>
        <p:blipFill rotWithShape="1">
          <a:blip r:embed="rId3">
            <a:alphaModFix/>
          </a:blip>
          <a:srcRect b="1419" l="0" r="78161" t="0"/>
          <a:stretch/>
        </p:blipFill>
        <p:spPr>
          <a:xfrm>
            <a:off x="2537529" y="3327518"/>
            <a:ext cx="804000" cy="1156781"/>
          </a:xfrm>
          <a:prstGeom prst="rect">
            <a:avLst/>
          </a:prstGeom>
          <a:noFill/>
          <a:ln>
            <a:noFill/>
          </a:ln>
        </p:spPr>
      </p:pic>
      <p:pic>
        <p:nvPicPr>
          <p:cNvPr descr="A diagram of a molecule&#10;&#10;Description automatically generated" id="342" name="Google Shape;342;p42"/>
          <p:cNvPicPr preferRelativeResize="0"/>
          <p:nvPr/>
        </p:nvPicPr>
        <p:blipFill rotWithShape="1">
          <a:blip r:embed="rId3">
            <a:alphaModFix/>
          </a:blip>
          <a:srcRect b="1419" l="24391" r="0" t="0"/>
          <a:stretch/>
        </p:blipFill>
        <p:spPr>
          <a:xfrm>
            <a:off x="4760370" y="1583424"/>
            <a:ext cx="3693731" cy="1535075"/>
          </a:xfrm>
          <a:prstGeom prst="rect">
            <a:avLst/>
          </a:prstGeom>
          <a:noFill/>
          <a:ln>
            <a:noFill/>
          </a:ln>
        </p:spPr>
      </p:pic>
      <p:sp>
        <p:nvSpPr>
          <p:cNvPr id="343" name="Google Shape;343;p42"/>
          <p:cNvSpPr txBox="1"/>
          <p:nvPr/>
        </p:nvSpPr>
        <p:spPr>
          <a:xfrm>
            <a:off x="3401701" y="3719525"/>
            <a:ext cx="1170300" cy="674700"/>
          </a:xfrm>
          <a:prstGeom prst="rect">
            <a:avLst/>
          </a:prstGeom>
          <a:noFill/>
          <a:ln>
            <a:noFill/>
          </a:ln>
        </p:spPr>
        <p:txBody>
          <a:bodyPr anchorCtr="0" anchor="t" bIns="29250" lIns="58550" spcFirstLastPara="1" rIns="58550" wrap="square" tIns="29250">
            <a:spAutoFit/>
          </a:bodyPr>
          <a:lstStyle/>
          <a:p>
            <a:pPr indent="0" lvl="0" marL="0" marR="0" rtl="0" algn="ctr">
              <a:lnSpc>
                <a:spcPct val="100000"/>
              </a:lnSpc>
              <a:spcBef>
                <a:spcPts val="0"/>
              </a:spcBef>
              <a:spcAft>
                <a:spcPts val="0"/>
              </a:spcAft>
              <a:buClr>
                <a:srgbClr val="000000"/>
              </a:buClr>
              <a:buSzPts val="768"/>
              <a:buFont typeface="Arial"/>
              <a:buNone/>
            </a:pPr>
            <a:r>
              <a:rPr b="1" i="0" lang="en" sz="1000" u="none" cap="none" strike="noStrike">
                <a:solidFill>
                  <a:srgbClr val="595959"/>
                </a:solidFill>
                <a:latin typeface="Old Standard TT"/>
                <a:ea typeface="Old Standard TT"/>
                <a:cs typeface="Old Standard TT"/>
                <a:sym typeface="Old Standard TT"/>
              </a:rPr>
              <a:t>contour tree constructed by decompressed data</a:t>
            </a:r>
            <a:endParaRPr b="1" i="0" sz="1000" u="none" cap="none" strike="noStrike">
              <a:solidFill>
                <a:srgbClr val="595959"/>
              </a:solidFill>
              <a:latin typeface="Old Standard TT"/>
              <a:ea typeface="Old Standard TT"/>
              <a:cs typeface="Old Standard TT"/>
              <a:sym typeface="Old Standard TT"/>
            </a:endParaRPr>
          </a:p>
        </p:txBody>
      </p:sp>
      <p:sp>
        <p:nvSpPr>
          <p:cNvPr id="344" name="Google Shape;344;p42"/>
          <p:cNvSpPr txBox="1"/>
          <p:nvPr/>
        </p:nvSpPr>
        <p:spPr>
          <a:xfrm>
            <a:off x="5173426" y="3130173"/>
            <a:ext cx="937200" cy="376800"/>
          </a:xfrm>
          <a:prstGeom prst="rect">
            <a:avLst/>
          </a:prstGeom>
          <a:noFill/>
          <a:ln>
            <a:noFill/>
          </a:ln>
        </p:spPr>
        <p:txBody>
          <a:bodyPr anchorCtr="0" anchor="t" bIns="34100" lIns="68250" spcFirstLastPara="1" rIns="68250" wrap="square" tIns="34100">
            <a:spAutoFit/>
          </a:bodyPr>
          <a:lstStyle/>
          <a:p>
            <a:pPr indent="0" lvl="0" marL="0" marR="0" rtl="0" algn="ctr">
              <a:lnSpc>
                <a:spcPct val="100000"/>
              </a:lnSpc>
              <a:spcBef>
                <a:spcPts val="0"/>
              </a:spcBef>
              <a:spcAft>
                <a:spcPts val="0"/>
              </a:spcAft>
              <a:buClr>
                <a:srgbClr val="000000"/>
              </a:buClr>
              <a:buSzPts val="896"/>
              <a:buFont typeface="Arial"/>
              <a:buNone/>
            </a:pPr>
            <a:r>
              <a:rPr b="1" i="0" lang="en" sz="1000" u="none" cap="none" strike="noStrike">
                <a:solidFill>
                  <a:srgbClr val="595959"/>
                </a:solidFill>
                <a:latin typeface="Old Standard TT"/>
                <a:ea typeface="Old Standard TT"/>
                <a:cs typeface="Old Standard TT"/>
                <a:sym typeface="Old Standard TT"/>
              </a:rPr>
              <a:t>False Positive (FP)</a:t>
            </a:r>
            <a:endParaRPr b="1" i="0" sz="1000" u="none" cap="none" strike="noStrike">
              <a:solidFill>
                <a:srgbClr val="595959"/>
              </a:solidFill>
              <a:latin typeface="Old Standard TT"/>
              <a:ea typeface="Old Standard TT"/>
              <a:cs typeface="Old Standard TT"/>
              <a:sym typeface="Old Standard TT"/>
            </a:endParaRPr>
          </a:p>
        </p:txBody>
      </p:sp>
      <p:sp>
        <p:nvSpPr>
          <p:cNvPr id="345" name="Google Shape;345;p42"/>
          <p:cNvSpPr txBox="1"/>
          <p:nvPr/>
        </p:nvSpPr>
        <p:spPr>
          <a:xfrm>
            <a:off x="6362023" y="3130177"/>
            <a:ext cx="1012200" cy="376800"/>
          </a:xfrm>
          <a:prstGeom prst="rect">
            <a:avLst/>
          </a:prstGeom>
          <a:noFill/>
          <a:ln>
            <a:noFill/>
          </a:ln>
        </p:spPr>
        <p:txBody>
          <a:bodyPr anchorCtr="0" anchor="t" bIns="34100" lIns="68250" spcFirstLastPara="1" rIns="68250" wrap="square" tIns="34100">
            <a:spAutoFit/>
          </a:bodyPr>
          <a:lstStyle/>
          <a:p>
            <a:pPr indent="0" lvl="0" marL="0" marR="0" rtl="0" algn="ctr">
              <a:lnSpc>
                <a:spcPct val="100000"/>
              </a:lnSpc>
              <a:spcBef>
                <a:spcPts val="0"/>
              </a:spcBef>
              <a:spcAft>
                <a:spcPts val="0"/>
              </a:spcAft>
              <a:buClr>
                <a:srgbClr val="000000"/>
              </a:buClr>
              <a:buSzPts val="896"/>
              <a:buFont typeface="Arial"/>
              <a:buNone/>
            </a:pPr>
            <a:r>
              <a:rPr b="1" i="0" lang="en" sz="1000" u="none" cap="none" strike="noStrike">
                <a:solidFill>
                  <a:srgbClr val="595959"/>
                </a:solidFill>
                <a:latin typeface="Old Standard TT"/>
                <a:ea typeface="Old Standard TT"/>
                <a:cs typeface="Old Standard TT"/>
                <a:sym typeface="Old Standard TT"/>
              </a:rPr>
              <a:t>False Negative (FN)</a:t>
            </a:r>
            <a:endParaRPr b="1" i="0" sz="1000" u="none" cap="none" strike="noStrike">
              <a:solidFill>
                <a:srgbClr val="595959"/>
              </a:solidFill>
              <a:latin typeface="Old Standard TT"/>
              <a:ea typeface="Old Standard TT"/>
              <a:cs typeface="Old Standard TT"/>
              <a:sym typeface="Old Standard TT"/>
            </a:endParaRPr>
          </a:p>
        </p:txBody>
      </p:sp>
      <p:sp>
        <p:nvSpPr>
          <p:cNvPr id="346" name="Google Shape;346;p42"/>
          <p:cNvSpPr txBox="1"/>
          <p:nvPr/>
        </p:nvSpPr>
        <p:spPr>
          <a:xfrm>
            <a:off x="7518382" y="3130177"/>
            <a:ext cx="807000" cy="376800"/>
          </a:xfrm>
          <a:prstGeom prst="rect">
            <a:avLst/>
          </a:prstGeom>
          <a:noFill/>
          <a:ln>
            <a:noFill/>
          </a:ln>
        </p:spPr>
        <p:txBody>
          <a:bodyPr anchorCtr="0" anchor="t" bIns="34100" lIns="68250" spcFirstLastPara="1" rIns="68250" wrap="square" tIns="34100">
            <a:spAutoFit/>
          </a:bodyPr>
          <a:lstStyle/>
          <a:p>
            <a:pPr indent="0" lvl="0" marL="0" marR="0" rtl="0" algn="ctr">
              <a:lnSpc>
                <a:spcPct val="100000"/>
              </a:lnSpc>
              <a:spcBef>
                <a:spcPts val="0"/>
              </a:spcBef>
              <a:spcAft>
                <a:spcPts val="0"/>
              </a:spcAft>
              <a:buClr>
                <a:srgbClr val="000000"/>
              </a:buClr>
              <a:buSzPts val="896"/>
              <a:buFont typeface="Arial"/>
              <a:buNone/>
            </a:pPr>
            <a:r>
              <a:rPr b="1" i="0" lang="en" sz="1000" u="none" cap="none" strike="noStrike">
                <a:solidFill>
                  <a:srgbClr val="595959"/>
                </a:solidFill>
                <a:latin typeface="Old Standard TT"/>
                <a:ea typeface="Old Standard TT"/>
                <a:cs typeface="Old Standard TT"/>
                <a:sym typeface="Old Standard TT"/>
              </a:rPr>
              <a:t>False Type (FT)</a:t>
            </a:r>
            <a:endParaRPr b="1" i="0" sz="1000" u="none" cap="none" strike="noStrike">
              <a:solidFill>
                <a:srgbClr val="595959"/>
              </a:solidFill>
              <a:latin typeface="Old Standard TT"/>
              <a:ea typeface="Old Standard TT"/>
              <a:cs typeface="Old Standard TT"/>
              <a:sym typeface="Old Standard TT"/>
            </a:endParaRPr>
          </a:p>
        </p:txBody>
      </p:sp>
      <p:pic>
        <p:nvPicPr>
          <p:cNvPr descr="A diagram of a molecule&#10;&#10;Description automatically generated" id="347" name="Google Shape;347;p42"/>
          <p:cNvPicPr preferRelativeResize="0"/>
          <p:nvPr/>
        </p:nvPicPr>
        <p:blipFill rotWithShape="1">
          <a:blip r:embed="rId3">
            <a:alphaModFix/>
          </a:blip>
          <a:srcRect b="1419" l="0" r="78161" t="0"/>
          <a:stretch/>
        </p:blipFill>
        <p:spPr>
          <a:xfrm>
            <a:off x="2497330" y="1425411"/>
            <a:ext cx="868499" cy="1249619"/>
          </a:xfrm>
          <a:prstGeom prst="rect">
            <a:avLst/>
          </a:prstGeom>
          <a:noFill/>
          <a:ln>
            <a:noFill/>
          </a:ln>
        </p:spPr>
      </p:pic>
      <p:sp>
        <p:nvSpPr>
          <p:cNvPr id="348" name="Google Shape;348;p42"/>
          <p:cNvSpPr txBox="1"/>
          <p:nvPr/>
        </p:nvSpPr>
        <p:spPr>
          <a:xfrm>
            <a:off x="3356849" y="1883613"/>
            <a:ext cx="1170300" cy="428400"/>
          </a:xfrm>
          <a:prstGeom prst="rect">
            <a:avLst/>
          </a:prstGeom>
          <a:noFill/>
          <a:ln>
            <a:noFill/>
          </a:ln>
        </p:spPr>
        <p:txBody>
          <a:bodyPr anchorCtr="0" anchor="t" bIns="29250" lIns="58550" spcFirstLastPara="1" rIns="58550" wrap="square" tIns="29250">
            <a:spAutoFit/>
          </a:bodyPr>
          <a:lstStyle/>
          <a:p>
            <a:pPr indent="0" lvl="0" marL="0" marR="0" rtl="0" algn="ctr">
              <a:lnSpc>
                <a:spcPct val="100000"/>
              </a:lnSpc>
              <a:spcBef>
                <a:spcPts val="0"/>
              </a:spcBef>
              <a:spcAft>
                <a:spcPts val="0"/>
              </a:spcAft>
              <a:buClr>
                <a:srgbClr val="000000"/>
              </a:buClr>
              <a:buSzPts val="768"/>
              <a:buFont typeface="Arial"/>
              <a:buNone/>
            </a:pPr>
            <a:r>
              <a:rPr b="1" i="0" lang="en" sz="1200" u="none" cap="none" strike="noStrike">
                <a:solidFill>
                  <a:srgbClr val="595959"/>
                </a:solidFill>
                <a:latin typeface="Old Standard TT"/>
                <a:ea typeface="Old Standard TT"/>
                <a:cs typeface="Old Standard TT"/>
                <a:sym typeface="Old Standard TT"/>
              </a:rPr>
              <a:t>original contour tree</a:t>
            </a:r>
            <a:endParaRPr b="1" i="0" sz="1200" u="none" cap="none" strike="noStrike">
              <a:solidFill>
                <a:srgbClr val="595959"/>
              </a:solidFill>
              <a:latin typeface="Old Standard TT"/>
              <a:ea typeface="Old Standard TT"/>
              <a:cs typeface="Old Standard TT"/>
              <a:sym typeface="Old Standard TT"/>
            </a:endParaRPr>
          </a:p>
        </p:txBody>
      </p:sp>
      <p:pic>
        <p:nvPicPr>
          <p:cNvPr id="349" name="Google Shape;349;p42"/>
          <p:cNvPicPr preferRelativeResize="0"/>
          <p:nvPr/>
        </p:nvPicPr>
        <p:blipFill rotWithShape="1">
          <a:blip r:embed="rId4">
            <a:alphaModFix/>
          </a:blip>
          <a:srcRect b="0" l="0" r="0" t="0"/>
          <a:stretch/>
        </p:blipFill>
        <p:spPr>
          <a:xfrm>
            <a:off x="5590952" y="3518651"/>
            <a:ext cx="272830" cy="253790"/>
          </a:xfrm>
          <a:prstGeom prst="rect">
            <a:avLst/>
          </a:prstGeom>
          <a:noFill/>
          <a:ln>
            <a:noFill/>
          </a:ln>
        </p:spPr>
      </p:pic>
      <p:pic>
        <p:nvPicPr>
          <p:cNvPr id="350" name="Google Shape;350;p42"/>
          <p:cNvPicPr preferRelativeResize="0"/>
          <p:nvPr/>
        </p:nvPicPr>
        <p:blipFill rotWithShape="1">
          <a:blip r:embed="rId4">
            <a:alphaModFix/>
          </a:blip>
          <a:srcRect b="0" l="0" r="0" t="0"/>
          <a:stretch/>
        </p:blipFill>
        <p:spPr>
          <a:xfrm>
            <a:off x="6731710" y="3518651"/>
            <a:ext cx="272830" cy="253790"/>
          </a:xfrm>
          <a:prstGeom prst="rect">
            <a:avLst/>
          </a:prstGeom>
          <a:noFill/>
          <a:ln>
            <a:noFill/>
          </a:ln>
        </p:spPr>
      </p:pic>
      <p:pic>
        <p:nvPicPr>
          <p:cNvPr id="351" name="Google Shape;351;p42"/>
          <p:cNvPicPr preferRelativeResize="0"/>
          <p:nvPr/>
        </p:nvPicPr>
        <p:blipFill rotWithShape="1">
          <a:blip r:embed="rId4">
            <a:alphaModFix/>
          </a:blip>
          <a:srcRect b="0" l="0" r="0" t="0"/>
          <a:stretch/>
        </p:blipFill>
        <p:spPr>
          <a:xfrm>
            <a:off x="7785455" y="3518651"/>
            <a:ext cx="272830" cy="253790"/>
          </a:xfrm>
          <a:prstGeom prst="rect">
            <a:avLst/>
          </a:prstGeom>
          <a:noFill/>
          <a:ln>
            <a:noFill/>
          </a:ln>
        </p:spPr>
      </p:pic>
      <p:cxnSp>
        <p:nvCxnSpPr>
          <p:cNvPr id="352" name="Google Shape;352;p42"/>
          <p:cNvCxnSpPr>
            <a:stCxn id="347" idx="2"/>
            <a:endCxn id="341" idx="0"/>
          </p:cNvCxnSpPr>
          <p:nvPr/>
        </p:nvCxnSpPr>
        <p:spPr>
          <a:xfrm>
            <a:off x="2931580" y="2675030"/>
            <a:ext cx="7800" cy="652500"/>
          </a:xfrm>
          <a:prstGeom prst="straightConnector1">
            <a:avLst/>
          </a:prstGeom>
          <a:noFill/>
          <a:ln cap="flat" cmpd="sng" w="9525">
            <a:solidFill>
              <a:schemeClr val="dk2"/>
            </a:solidFill>
            <a:prstDash val="solid"/>
            <a:round/>
            <a:headEnd len="med" w="med" type="none"/>
            <a:tailEnd len="med" w="med" type="triangle"/>
          </a:ln>
        </p:spPr>
      </p:cxnSp>
      <p:sp>
        <p:nvSpPr>
          <p:cNvPr id="353" name="Google Shape;353;p42"/>
          <p:cNvSpPr/>
          <p:nvPr/>
        </p:nvSpPr>
        <p:spPr>
          <a:xfrm>
            <a:off x="743900" y="1583425"/>
            <a:ext cx="1413300" cy="4284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ld Standard TT"/>
                <a:ea typeface="Old Standard TT"/>
                <a:cs typeface="Old Standard TT"/>
                <a:sym typeface="Old Standard TT"/>
              </a:rPr>
              <a:t>Original data</a:t>
            </a:r>
            <a:endParaRPr>
              <a:latin typeface="Old Standard TT"/>
              <a:ea typeface="Old Standard TT"/>
              <a:cs typeface="Old Standard TT"/>
              <a:sym typeface="Old Standard TT"/>
            </a:endParaRPr>
          </a:p>
        </p:txBody>
      </p:sp>
      <p:sp>
        <p:nvSpPr>
          <p:cNvPr id="354" name="Google Shape;354;p42"/>
          <p:cNvSpPr/>
          <p:nvPr/>
        </p:nvSpPr>
        <p:spPr>
          <a:xfrm>
            <a:off x="743900" y="2701775"/>
            <a:ext cx="1413300" cy="428400"/>
          </a:xfrm>
          <a:prstGeom prst="rect">
            <a:avLst/>
          </a:prstGeom>
          <a:solidFill>
            <a:srgbClr val="B6D7A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ld Standard TT"/>
                <a:ea typeface="Old Standard TT"/>
                <a:cs typeface="Old Standard TT"/>
                <a:sym typeface="Old Standard TT"/>
              </a:rPr>
              <a:t>Compressed data</a:t>
            </a:r>
            <a:endParaRPr>
              <a:latin typeface="Old Standard TT"/>
              <a:ea typeface="Old Standard TT"/>
              <a:cs typeface="Old Standard TT"/>
              <a:sym typeface="Old Standard TT"/>
            </a:endParaRPr>
          </a:p>
        </p:txBody>
      </p:sp>
      <p:sp>
        <p:nvSpPr>
          <p:cNvPr id="355" name="Google Shape;355;p42"/>
          <p:cNvSpPr/>
          <p:nvPr/>
        </p:nvSpPr>
        <p:spPr>
          <a:xfrm>
            <a:off x="743900" y="3820125"/>
            <a:ext cx="1413300" cy="4284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ld Standard TT"/>
                <a:ea typeface="Old Standard TT"/>
                <a:cs typeface="Old Standard TT"/>
                <a:sym typeface="Old Standard TT"/>
              </a:rPr>
              <a:t>Dec</a:t>
            </a:r>
            <a:r>
              <a:rPr lang="en">
                <a:latin typeface="Old Standard TT"/>
                <a:ea typeface="Old Standard TT"/>
                <a:cs typeface="Old Standard TT"/>
                <a:sym typeface="Old Standard TT"/>
              </a:rPr>
              <a:t>ompressed data</a:t>
            </a:r>
            <a:endParaRPr>
              <a:latin typeface="Old Standard TT"/>
              <a:ea typeface="Old Standard TT"/>
              <a:cs typeface="Old Standard TT"/>
              <a:sym typeface="Old Standard TT"/>
            </a:endParaRPr>
          </a:p>
        </p:txBody>
      </p:sp>
      <p:cxnSp>
        <p:nvCxnSpPr>
          <p:cNvPr id="356" name="Google Shape;356;p42"/>
          <p:cNvCxnSpPr>
            <a:stCxn id="353" idx="2"/>
            <a:endCxn id="354" idx="0"/>
          </p:cNvCxnSpPr>
          <p:nvPr/>
        </p:nvCxnSpPr>
        <p:spPr>
          <a:xfrm>
            <a:off x="1450550" y="2011825"/>
            <a:ext cx="0" cy="690000"/>
          </a:xfrm>
          <a:prstGeom prst="straightConnector1">
            <a:avLst/>
          </a:prstGeom>
          <a:noFill/>
          <a:ln cap="flat" cmpd="sng" w="9525">
            <a:solidFill>
              <a:schemeClr val="dk2"/>
            </a:solidFill>
            <a:prstDash val="solid"/>
            <a:round/>
            <a:headEnd len="med" w="med" type="none"/>
            <a:tailEnd len="med" w="med" type="triangle"/>
          </a:ln>
        </p:spPr>
      </p:cxnSp>
      <p:cxnSp>
        <p:nvCxnSpPr>
          <p:cNvPr id="357" name="Google Shape;357;p42"/>
          <p:cNvCxnSpPr/>
          <p:nvPr/>
        </p:nvCxnSpPr>
        <p:spPr>
          <a:xfrm>
            <a:off x="1450550" y="3118500"/>
            <a:ext cx="0" cy="690000"/>
          </a:xfrm>
          <a:prstGeom prst="straightConnector1">
            <a:avLst/>
          </a:prstGeom>
          <a:noFill/>
          <a:ln cap="flat" cmpd="sng" w="9525">
            <a:solidFill>
              <a:schemeClr val="dk2"/>
            </a:solidFill>
            <a:prstDash val="solid"/>
            <a:round/>
            <a:headEnd len="med" w="med" type="none"/>
            <a:tailEnd len="med" w="med" type="triangle"/>
          </a:ln>
        </p:spPr>
      </p:cxnSp>
      <p:sp>
        <p:nvSpPr>
          <p:cNvPr id="358" name="Google Shape;358;p42"/>
          <p:cNvSpPr txBox="1"/>
          <p:nvPr/>
        </p:nvSpPr>
        <p:spPr>
          <a:xfrm>
            <a:off x="21300" y="4682175"/>
            <a:ext cx="9101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latin typeface="Old Standard TT"/>
                <a:ea typeface="Old Standard TT"/>
                <a:cs typeface="Old Standard TT"/>
                <a:sym typeface="Old Standard TT"/>
              </a:rPr>
              <a:t>Image source: Yan et al. “TopoSZ: Preserving Topology in Error-Bounded Lossy Compression, 2023”</a:t>
            </a:r>
            <a:endParaRPr sz="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800">
              <a:solidFill>
                <a:schemeClr val="dk1"/>
              </a:solidFill>
              <a:latin typeface="Old Standard TT"/>
              <a:ea typeface="Old Standard TT"/>
              <a:cs typeface="Old Standard TT"/>
              <a:sym typeface="Old Standard TT"/>
            </a:endParaRPr>
          </a:p>
        </p:txBody>
      </p:sp>
      <p:pic>
        <p:nvPicPr>
          <p:cNvPr id="359" name="Google Shape;359;p42"/>
          <p:cNvPicPr preferRelativeResize="0"/>
          <p:nvPr/>
        </p:nvPicPr>
        <p:blipFill>
          <a:blip r:embed="rId5">
            <a:alphaModFix/>
          </a:blip>
          <a:stretch>
            <a:fillRect/>
          </a:stretch>
        </p:blipFill>
        <p:spPr>
          <a:xfrm>
            <a:off x="8013742" y="4507725"/>
            <a:ext cx="1130255" cy="635774"/>
          </a:xfrm>
          <a:prstGeom prst="rect">
            <a:avLst/>
          </a:prstGeom>
          <a:noFill/>
          <a:ln>
            <a:noFill/>
          </a:ln>
        </p:spPr>
      </p:pic>
      <p:sp>
        <p:nvSpPr>
          <p:cNvPr id="360" name="Google Shape;360;p42"/>
          <p:cNvSpPr/>
          <p:nvPr/>
        </p:nvSpPr>
        <p:spPr>
          <a:xfrm rot="1972329">
            <a:off x="2958872" y="4276148"/>
            <a:ext cx="128232" cy="124573"/>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a:t>
            </a:r>
            <a:endParaRPr/>
          </a:p>
        </p:txBody>
      </p:sp>
      <p:sp>
        <p:nvSpPr>
          <p:cNvPr id="366" name="Google Shape;366;p43"/>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Topology community is well </a:t>
            </a:r>
            <a:r>
              <a:rPr lang="en"/>
              <a:t>aware</a:t>
            </a:r>
            <a:r>
              <a:rPr lang="en"/>
              <a:t> of the problem</a:t>
            </a:r>
            <a:endParaRPr/>
          </a:p>
          <a:p>
            <a:pPr indent="-342900" lvl="0" marL="457200" rtl="0" algn="l">
              <a:spcBef>
                <a:spcPts val="0"/>
              </a:spcBef>
              <a:spcAft>
                <a:spcPts val="0"/>
              </a:spcAft>
              <a:buSzPts val="1800"/>
              <a:buChar char="●"/>
            </a:pPr>
            <a:r>
              <a:rPr lang="en"/>
              <a:t>Different solutions exists:</a:t>
            </a:r>
            <a:endParaRPr sz="1500">
              <a:latin typeface="Arial"/>
              <a:ea typeface="Arial"/>
              <a:cs typeface="Arial"/>
              <a:sym typeface="Arial"/>
            </a:endParaRPr>
          </a:p>
          <a:p>
            <a:pPr indent="-317500" lvl="1" marL="914400" rtl="0" algn="l">
              <a:lnSpc>
                <a:spcPct val="100000"/>
              </a:lnSpc>
              <a:spcBef>
                <a:spcPts val="0"/>
              </a:spcBef>
              <a:spcAft>
                <a:spcPts val="0"/>
              </a:spcAft>
              <a:buSzPts val="1400"/>
              <a:buChar char="○"/>
            </a:pPr>
            <a:r>
              <a:rPr lang="en" sz="900">
                <a:latin typeface="Arial"/>
                <a:ea typeface="Arial"/>
                <a:cs typeface="Arial"/>
                <a:sym typeface="Arial"/>
              </a:rPr>
              <a:t>M. Ainsworth, O. Tugluk, B. Whitney, and S. Klasky, “Multilevel techniques for compression and reduction of scientific data—the multivariate case,” SIAM Journal on Scientific Computing, vol. 41, no. 2, pp. A1278– A1303, 2019.</a:t>
            </a:r>
            <a:endParaRPr sz="1500">
              <a:latin typeface="Arial"/>
              <a:ea typeface="Arial"/>
              <a:cs typeface="Arial"/>
              <a:sym typeface="Arial"/>
            </a:endParaRPr>
          </a:p>
          <a:p>
            <a:pPr indent="-317500" lvl="1" marL="914400" rtl="0" algn="l">
              <a:lnSpc>
                <a:spcPct val="100000"/>
              </a:lnSpc>
              <a:spcBef>
                <a:spcPts val="0"/>
              </a:spcBef>
              <a:spcAft>
                <a:spcPts val="0"/>
              </a:spcAft>
              <a:buSzPts val="1400"/>
              <a:buChar char="○"/>
            </a:pPr>
            <a:r>
              <a:rPr lang="en" sz="900">
                <a:latin typeface="Arial"/>
                <a:ea typeface="Arial"/>
                <a:cs typeface="Arial"/>
                <a:sym typeface="Arial"/>
              </a:rPr>
              <a:t>X. Liang, S. Di, F. Cappello, M. Raj, C. Liu, K. Ono, Z. Chen, T. Peterka,and H. Guo, “Toward feature-preserving vector field compression,” IEEE Transactions on Visualization and Computer Graphics, 2022.</a:t>
            </a:r>
            <a:endParaRPr sz="1500">
              <a:latin typeface="Arial"/>
              <a:ea typeface="Arial"/>
              <a:cs typeface="Arial"/>
              <a:sym typeface="Arial"/>
            </a:endParaRPr>
          </a:p>
          <a:p>
            <a:pPr indent="-317500" lvl="1" marL="914400" rtl="0" algn="l">
              <a:lnSpc>
                <a:spcPct val="100000"/>
              </a:lnSpc>
              <a:spcBef>
                <a:spcPts val="0"/>
              </a:spcBef>
              <a:spcAft>
                <a:spcPts val="0"/>
              </a:spcAft>
              <a:buSzPts val="1400"/>
              <a:buChar char="○"/>
            </a:pPr>
            <a:r>
              <a:rPr lang="en" sz="900">
                <a:latin typeface="Arial"/>
                <a:ea typeface="Arial"/>
                <a:cs typeface="Arial"/>
                <a:sym typeface="Arial"/>
              </a:rPr>
              <a:t>H. Guo, D. Lenz, J. Xu, X. Liang, W. He, I. R. Grindeanu, H.-W. Shen, T. Peterka, T. Munson, and I. Foster, “Ftk: A simplicial spacetime meshing framework for robust and scalable feature tracking,” IEEE transactions on visualization and computer graphics, vol. 27, no. 8, pp. 3463–3480, 2021</a:t>
            </a:r>
            <a:endParaRPr sz="1500">
              <a:latin typeface="Arial"/>
              <a:ea typeface="Arial"/>
              <a:cs typeface="Arial"/>
              <a:sym typeface="Arial"/>
            </a:endParaRPr>
          </a:p>
          <a:p>
            <a:pPr indent="0" lvl="0" marL="457200" rtl="0" algn="l">
              <a:lnSpc>
                <a:spcPct val="100000"/>
              </a:lnSpc>
              <a:spcBef>
                <a:spcPts val="0"/>
              </a:spcBef>
              <a:spcAft>
                <a:spcPts val="0"/>
              </a:spcAft>
              <a:buNone/>
            </a:pPr>
            <a:r>
              <a:t/>
            </a:r>
            <a:endParaRPr sz="1500">
              <a:latin typeface="Arial"/>
              <a:ea typeface="Arial"/>
              <a:cs typeface="Arial"/>
              <a:sym typeface="Arial"/>
            </a:endParaRPr>
          </a:p>
        </p:txBody>
      </p:sp>
      <p:pic>
        <p:nvPicPr>
          <p:cNvPr id="367" name="Google Shape;367;p43"/>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a:t>
            </a:r>
            <a:endParaRPr/>
          </a:p>
        </p:txBody>
      </p:sp>
      <p:sp>
        <p:nvSpPr>
          <p:cNvPr id="373" name="Google Shape;373;p4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Topology community is well aware of the problem</a:t>
            </a:r>
            <a:endParaRPr/>
          </a:p>
          <a:p>
            <a:pPr indent="-342900" lvl="0" marL="457200" rtl="0" algn="l">
              <a:spcBef>
                <a:spcPts val="0"/>
              </a:spcBef>
              <a:spcAft>
                <a:spcPts val="0"/>
              </a:spcAft>
              <a:buSzPts val="1800"/>
              <a:buChar char="●"/>
            </a:pPr>
            <a:r>
              <a:rPr lang="en"/>
              <a:t>Different solutions exists:</a:t>
            </a:r>
            <a:endParaRPr sz="1500">
              <a:latin typeface="Arial"/>
              <a:ea typeface="Arial"/>
              <a:cs typeface="Arial"/>
              <a:sym typeface="Arial"/>
            </a:endParaRPr>
          </a:p>
          <a:p>
            <a:pPr indent="-317500" lvl="1" marL="914400" rtl="0" algn="l">
              <a:lnSpc>
                <a:spcPct val="100000"/>
              </a:lnSpc>
              <a:spcBef>
                <a:spcPts val="0"/>
              </a:spcBef>
              <a:spcAft>
                <a:spcPts val="0"/>
              </a:spcAft>
              <a:buSzPts val="1400"/>
              <a:buChar char="○"/>
            </a:pPr>
            <a:r>
              <a:rPr lang="en" sz="900">
                <a:latin typeface="Arial"/>
                <a:ea typeface="Arial"/>
                <a:cs typeface="Arial"/>
                <a:sym typeface="Arial"/>
              </a:rPr>
              <a:t>M. Ainsworth, O. Tugluk, B. Whitney, and S. Klasky, “Multilevel techniques for compression and reduction of scientific data—the multivariate case,” SIAM Journal on Scientific Computing, vol. 41, no. 2, pp. A1278– A1303, 2019.</a:t>
            </a:r>
            <a:endParaRPr sz="1500">
              <a:latin typeface="Arial"/>
              <a:ea typeface="Arial"/>
              <a:cs typeface="Arial"/>
              <a:sym typeface="Arial"/>
            </a:endParaRPr>
          </a:p>
          <a:p>
            <a:pPr indent="-317500" lvl="1" marL="914400" rtl="0" algn="l">
              <a:lnSpc>
                <a:spcPct val="100000"/>
              </a:lnSpc>
              <a:spcBef>
                <a:spcPts val="0"/>
              </a:spcBef>
              <a:spcAft>
                <a:spcPts val="0"/>
              </a:spcAft>
              <a:buSzPts val="1400"/>
              <a:buChar char="○"/>
            </a:pPr>
            <a:r>
              <a:rPr lang="en" sz="900">
                <a:latin typeface="Arial"/>
                <a:ea typeface="Arial"/>
                <a:cs typeface="Arial"/>
                <a:sym typeface="Arial"/>
              </a:rPr>
              <a:t>X. Liang, S. Di, F. Cappello, M. Raj, C. Liu, K. Ono, Z. Chen, T. Peterka,and H. Guo, “Toward feature-preserving vector field compression,” IEEE Transactions on Visualization and Computer Graphics, 2022.</a:t>
            </a:r>
            <a:endParaRPr sz="1500">
              <a:latin typeface="Arial"/>
              <a:ea typeface="Arial"/>
              <a:cs typeface="Arial"/>
              <a:sym typeface="Arial"/>
            </a:endParaRPr>
          </a:p>
          <a:p>
            <a:pPr indent="-317500" lvl="1" marL="914400" rtl="0" algn="l">
              <a:lnSpc>
                <a:spcPct val="100000"/>
              </a:lnSpc>
              <a:spcBef>
                <a:spcPts val="0"/>
              </a:spcBef>
              <a:spcAft>
                <a:spcPts val="0"/>
              </a:spcAft>
              <a:buSzPts val="1400"/>
              <a:buChar char="○"/>
            </a:pPr>
            <a:r>
              <a:rPr lang="en" sz="900">
                <a:latin typeface="Arial"/>
                <a:ea typeface="Arial"/>
                <a:cs typeface="Arial"/>
                <a:sym typeface="Arial"/>
              </a:rPr>
              <a:t>H. Guo, D. Lenz, J. Xu, X. Liang, W. He, I. R. Grindeanu, H.-W. Shen, T. Peterka, T. Munson, and I. Foster, “Ftk: A simplicial spacetime meshing framework for robust and scalable feature tracking,” IEEE transactions on visualization and computer graphics, vol. 27, no. 8, pp. 3463–3480, 2021</a:t>
            </a:r>
            <a:endParaRPr sz="1500">
              <a:latin typeface="Arial"/>
              <a:ea typeface="Arial"/>
              <a:cs typeface="Arial"/>
              <a:sym typeface="Arial"/>
            </a:endParaRPr>
          </a:p>
          <a:p>
            <a:pPr indent="-323850" lvl="0" marL="457200" rtl="0" algn="l">
              <a:lnSpc>
                <a:spcPct val="100000"/>
              </a:lnSpc>
              <a:spcBef>
                <a:spcPts val="0"/>
              </a:spcBef>
              <a:spcAft>
                <a:spcPts val="0"/>
              </a:spcAft>
              <a:buSzPts val="1500"/>
              <a:buFont typeface="Arial"/>
              <a:buChar char="●"/>
            </a:pPr>
            <a:r>
              <a:rPr b="1" lang="en" sz="1500">
                <a:latin typeface="Arial"/>
                <a:ea typeface="Arial"/>
                <a:cs typeface="Arial"/>
                <a:sym typeface="Arial"/>
              </a:rPr>
              <a:t>But all these solutions have multiple iterations or are bottlenecked by the topological descriptor construction</a:t>
            </a:r>
            <a:endParaRPr b="1" sz="1500">
              <a:latin typeface="Arial"/>
              <a:ea typeface="Arial"/>
              <a:cs typeface="Arial"/>
              <a:sym typeface="Arial"/>
            </a:endParaRPr>
          </a:p>
        </p:txBody>
      </p:sp>
      <p:pic>
        <p:nvPicPr>
          <p:cNvPr id="374" name="Google Shape;374;p44"/>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solution</a:t>
            </a:r>
            <a:endParaRPr/>
          </a:p>
        </p:txBody>
      </p:sp>
      <p:sp>
        <p:nvSpPr>
          <p:cNvPr id="380" name="Google Shape;380;p4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 a </a:t>
            </a:r>
            <a:r>
              <a:rPr b="1" lang="en"/>
              <a:t>single pass solution</a:t>
            </a:r>
            <a:r>
              <a:rPr lang="en"/>
              <a:t> to preserve</a:t>
            </a:r>
            <a:endParaRPr/>
          </a:p>
          <a:p>
            <a:pPr indent="-317500" lvl="1" marL="914400" rtl="0" algn="l">
              <a:spcBef>
                <a:spcPts val="0"/>
              </a:spcBef>
              <a:spcAft>
                <a:spcPts val="0"/>
              </a:spcAft>
              <a:buSzPts val="1400"/>
              <a:buChar char="○"/>
            </a:pPr>
            <a:r>
              <a:rPr lang="en"/>
              <a:t>Critical points types</a:t>
            </a:r>
            <a:endParaRPr/>
          </a:p>
          <a:p>
            <a:pPr indent="-317500" lvl="1" marL="914400" rtl="0" algn="l">
              <a:spcBef>
                <a:spcPts val="0"/>
              </a:spcBef>
              <a:spcAft>
                <a:spcPts val="0"/>
              </a:spcAft>
              <a:buSzPts val="1400"/>
              <a:buChar char="○"/>
            </a:pPr>
            <a:r>
              <a:rPr lang="en"/>
              <a:t>Critical points location</a:t>
            </a:r>
            <a:endParaRPr/>
          </a:p>
          <a:p>
            <a:pPr indent="-317500" lvl="1" marL="914400" rtl="0" algn="l">
              <a:spcBef>
                <a:spcPts val="0"/>
              </a:spcBef>
              <a:spcAft>
                <a:spcPts val="0"/>
              </a:spcAft>
              <a:buSzPts val="1400"/>
              <a:buChar char="○"/>
            </a:pPr>
            <a:r>
              <a:rPr lang="en"/>
              <a:t>Merge tree structure</a:t>
            </a:r>
            <a:endParaRPr/>
          </a:p>
          <a:p>
            <a:pPr indent="0" lvl="0" marL="457200" rtl="0" algn="l">
              <a:spcBef>
                <a:spcPts val="1200"/>
              </a:spcBef>
              <a:spcAft>
                <a:spcPts val="1200"/>
              </a:spcAft>
              <a:buNone/>
            </a:pPr>
            <a:r>
              <a:t/>
            </a:r>
            <a:endParaRPr/>
          </a:p>
        </p:txBody>
      </p:sp>
      <p:pic>
        <p:nvPicPr>
          <p:cNvPr id="381" name="Google Shape;381;p45"/>
          <p:cNvPicPr preferRelativeResize="0"/>
          <p:nvPr/>
        </p:nvPicPr>
        <p:blipFill>
          <a:blip r:embed="rId3">
            <a:alphaModFix/>
          </a:blip>
          <a:stretch>
            <a:fillRect/>
          </a:stretch>
        </p:blipFill>
        <p:spPr>
          <a:xfrm>
            <a:off x="8013742" y="4507725"/>
            <a:ext cx="1130255" cy="635774"/>
          </a:xfrm>
          <a:prstGeom prst="rect">
            <a:avLst/>
          </a:prstGeom>
          <a:noFill/>
          <a:ln>
            <a:noFill/>
          </a:ln>
        </p:spPr>
      </p:pic>
      <p:pic>
        <p:nvPicPr>
          <p:cNvPr id="382" name="Google Shape;382;p45"/>
          <p:cNvPicPr preferRelativeResize="0"/>
          <p:nvPr/>
        </p:nvPicPr>
        <p:blipFill>
          <a:blip r:embed="rId4">
            <a:alphaModFix/>
          </a:blip>
          <a:stretch>
            <a:fillRect/>
          </a:stretch>
        </p:blipFill>
        <p:spPr>
          <a:xfrm>
            <a:off x="7702050" y="945825"/>
            <a:ext cx="1130250" cy="1130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solution</a:t>
            </a:r>
            <a:endParaRPr/>
          </a:p>
        </p:txBody>
      </p:sp>
      <p:sp>
        <p:nvSpPr>
          <p:cNvPr id="388" name="Google Shape;388;p4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 a </a:t>
            </a:r>
            <a:r>
              <a:rPr b="1" lang="en"/>
              <a:t>single pass solution</a:t>
            </a:r>
            <a:r>
              <a:rPr lang="en"/>
              <a:t> to preserve</a:t>
            </a:r>
            <a:endParaRPr/>
          </a:p>
          <a:p>
            <a:pPr indent="-317500" lvl="1" marL="914400" rtl="0" algn="l">
              <a:spcBef>
                <a:spcPts val="0"/>
              </a:spcBef>
              <a:spcAft>
                <a:spcPts val="0"/>
              </a:spcAft>
              <a:buSzPts val="1400"/>
              <a:buChar char="○"/>
            </a:pPr>
            <a:r>
              <a:rPr lang="en"/>
              <a:t>Critical points types</a:t>
            </a:r>
            <a:endParaRPr/>
          </a:p>
          <a:p>
            <a:pPr indent="-317500" lvl="1" marL="914400" rtl="0" algn="l">
              <a:spcBef>
                <a:spcPts val="0"/>
              </a:spcBef>
              <a:spcAft>
                <a:spcPts val="0"/>
              </a:spcAft>
              <a:buSzPts val="1400"/>
              <a:buChar char="○"/>
            </a:pPr>
            <a:r>
              <a:rPr lang="en"/>
              <a:t>Critical points location</a:t>
            </a:r>
            <a:endParaRPr/>
          </a:p>
          <a:p>
            <a:pPr indent="-317500" lvl="1" marL="914400" rtl="0" algn="l">
              <a:spcBef>
                <a:spcPts val="0"/>
              </a:spcBef>
              <a:spcAft>
                <a:spcPts val="0"/>
              </a:spcAft>
              <a:buSzPts val="1400"/>
              <a:buChar char="○"/>
            </a:pPr>
            <a:r>
              <a:rPr lang="en"/>
              <a:t>Merge tree structure</a:t>
            </a:r>
            <a:endParaRPr/>
          </a:p>
          <a:p>
            <a:pPr indent="-342900" lvl="0" marL="457200" rtl="0" algn="l">
              <a:spcBef>
                <a:spcPts val="0"/>
              </a:spcBef>
              <a:spcAft>
                <a:spcPts val="0"/>
              </a:spcAft>
              <a:buSzPts val="1800"/>
              <a:buChar char="●"/>
            </a:pPr>
            <a:r>
              <a:rPr lang="en"/>
              <a:t>Use </a:t>
            </a:r>
            <a:r>
              <a:rPr b="1" lang="en"/>
              <a:t>stencil based method</a:t>
            </a:r>
            <a:r>
              <a:rPr lang="en"/>
              <a:t> to retrieve the critical point information</a:t>
            </a:r>
            <a:endParaRPr/>
          </a:p>
          <a:p>
            <a:pPr indent="0" lvl="0" marL="457200" rtl="0" algn="l">
              <a:spcBef>
                <a:spcPts val="1200"/>
              </a:spcBef>
              <a:spcAft>
                <a:spcPts val="1200"/>
              </a:spcAft>
              <a:buNone/>
            </a:pPr>
            <a:r>
              <a:t/>
            </a:r>
            <a:endParaRPr/>
          </a:p>
        </p:txBody>
      </p:sp>
      <p:pic>
        <p:nvPicPr>
          <p:cNvPr id="389" name="Google Shape;389;p46"/>
          <p:cNvPicPr preferRelativeResize="0"/>
          <p:nvPr/>
        </p:nvPicPr>
        <p:blipFill>
          <a:blip r:embed="rId3">
            <a:alphaModFix/>
          </a:blip>
          <a:stretch>
            <a:fillRect/>
          </a:stretch>
        </p:blipFill>
        <p:spPr>
          <a:xfrm>
            <a:off x="8013742" y="4507725"/>
            <a:ext cx="1130255" cy="635774"/>
          </a:xfrm>
          <a:prstGeom prst="rect">
            <a:avLst/>
          </a:prstGeom>
          <a:noFill/>
          <a:ln>
            <a:noFill/>
          </a:ln>
        </p:spPr>
      </p:pic>
      <p:pic>
        <p:nvPicPr>
          <p:cNvPr id="390" name="Google Shape;390;p46"/>
          <p:cNvPicPr preferRelativeResize="0"/>
          <p:nvPr/>
        </p:nvPicPr>
        <p:blipFill>
          <a:blip r:embed="rId4">
            <a:alphaModFix/>
          </a:blip>
          <a:stretch>
            <a:fillRect/>
          </a:stretch>
        </p:blipFill>
        <p:spPr>
          <a:xfrm>
            <a:off x="7702050" y="945825"/>
            <a:ext cx="1130250" cy="1130250"/>
          </a:xfrm>
          <a:prstGeom prst="rect">
            <a:avLst/>
          </a:prstGeom>
          <a:noFill/>
          <a:ln>
            <a:noFill/>
          </a:ln>
        </p:spPr>
      </p:pic>
      <p:pic>
        <p:nvPicPr>
          <p:cNvPr id="391" name="Google Shape;391;p46"/>
          <p:cNvPicPr preferRelativeResize="0"/>
          <p:nvPr/>
        </p:nvPicPr>
        <p:blipFill>
          <a:blip r:embed="rId5">
            <a:alphaModFix/>
          </a:blip>
          <a:stretch>
            <a:fillRect/>
          </a:stretch>
        </p:blipFill>
        <p:spPr>
          <a:xfrm>
            <a:off x="196837" y="2624667"/>
            <a:ext cx="8867775" cy="2019300"/>
          </a:xfrm>
          <a:prstGeom prst="rect">
            <a:avLst/>
          </a:prstGeom>
          <a:noFill/>
          <a:ln>
            <a:noFill/>
          </a:ln>
        </p:spPr>
      </p:pic>
      <p:cxnSp>
        <p:nvCxnSpPr>
          <p:cNvPr id="392" name="Google Shape;392;p46"/>
          <p:cNvCxnSpPr/>
          <p:nvPr/>
        </p:nvCxnSpPr>
        <p:spPr>
          <a:xfrm>
            <a:off x="1931450" y="3452825"/>
            <a:ext cx="582000" cy="13200"/>
          </a:xfrm>
          <a:prstGeom prst="straightConnector1">
            <a:avLst/>
          </a:prstGeom>
          <a:noFill/>
          <a:ln cap="flat" cmpd="sng" w="9525">
            <a:solidFill>
              <a:schemeClr val="dk2"/>
            </a:solidFill>
            <a:prstDash val="solid"/>
            <a:round/>
            <a:headEnd len="med" w="med" type="none"/>
            <a:tailEnd len="med" w="med" type="triangle"/>
          </a:ln>
        </p:spPr>
      </p:cxnSp>
      <p:cxnSp>
        <p:nvCxnSpPr>
          <p:cNvPr id="393" name="Google Shape;393;p46"/>
          <p:cNvCxnSpPr/>
          <p:nvPr/>
        </p:nvCxnSpPr>
        <p:spPr>
          <a:xfrm>
            <a:off x="4339713" y="3452825"/>
            <a:ext cx="582000" cy="13200"/>
          </a:xfrm>
          <a:prstGeom prst="straightConnector1">
            <a:avLst/>
          </a:prstGeom>
          <a:noFill/>
          <a:ln cap="flat" cmpd="sng" w="9525">
            <a:solidFill>
              <a:schemeClr val="dk2"/>
            </a:solidFill>
            <a:prstDash val="solid"/>
            <a:round/>
            <a:headEnd len="med" w="med" type="none"/>
            <a:tailEnd len="med" w="med" type="triangle"/>
          </a:ln>
        </p:spPr>
      </p:cxnSp>
      <p:cxnSp>
        <p:nvCxnSpPr>
          <p:cNvPr id="394" name="Google Shape;394;p46"/>
          <p:cNvCxnSpPr/>
          <p:nvPr/>
        </p:nvCxnSpPr>
        <p:spPr>
          <a:xfrm>
            <a:off x="6720425" y="3452825"/>
            <a:ext cx="767700" cy="13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solution</a:t>
            </a:r>
            <a:endParaRPr/>
          </a:p>
        </p:txBody>
      </p:sp>
      <p:sp>
        <p:nvSpPr>
          <p:cNvPr id="400" name="Google Shape;400;p4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 a </a:t>
            </a:r>
            <a:r>
              <a:rPr b="1" lang="en"/>
              <a:t>single pass solution</a:t>
            </a:r>
            <a:r>
              <a:rPr lang="en"/>
              <a:t> to preserve</a:t>
            </a:r>
            <a:endParaRPr/>
          </a:p>
          <a:p>
            <a:pPr indent="-317500" lvl="1" marL="914400" rtl="0" algn="l">
              <a:spcBef>
                <a:spcPts val="0"/>
              </a:spcBef>
              <a:spcAft>
                <a:spcPts val="0"/>
              </a:spcAft>
              <a:buSzPts val="1400"/>
              <a:buChar char="○"/>
            </a:pPr>
            <a:r>
              <a:rPr lang="en"/>
              <a:t>Critical points types</a:t>
            </a:r>
            <a:endParaRPr/>
          </a:p>
          <a:p>
            <a:pPr indent="-317500" lvl="1" marL="914400" rtl="0" algn="l">
              <a:spcBef>
                <a:spcPts val="0"/>
              </a:spcBef>
              <a:spcAft>
                <a:spcPts val="0"/>
              </a:spcAft>
              <a:buSzPts val="1400"/>
              <a:buChar char="○"/>
            </a:pPr>
            <a:r>
              <a:rPr lang="en"/>
              <a:t>Critical points location</a:t>
            </a:r>
            <a:endParaRPr/>
          </a:p>
          <a:p>
            <a:pPr indent="-317500" lvl="1" marL="914400" rtl="0" algn="l">
              <a:spcBef>
                <a:spcPts val="0"/>
              </a:spcBef>
              <a:spcAft>
                <a:spcPts val="0"/>
              </a:spcAft>
              <a:buSzPts val="1400"/>
              <a:buChar char="○"/>
            </a:pPr>
            <a:r>
              <a:rPr lang="en"/>
              <a:t>Merge tree structure</a:t>
            </a:r>
            <a:endParaRPr/>
          </a:p>
          <a:p>
            <a:pPr indent="-342900" lvl="0" marL="457200" rtl="0" algn="l">
              <a:spcBef>
                <a:spcPts val="0"/>
              </a:spcBef>
              <a:spcAft>
                <a:spcPts val="0"/>
              </a:spcAft>
              <a:buSzPts val="1800"/>
              <a:buChar char="●"/>
            </a:pPr>
            <a:r>
              <a:rPr lang="en"/>
              <a:t>Use </a:t>
            </a:r>
            <a:r>
              <a:rPr b="1" lang="en"/>
              <a:t>stencil based method</a:t>
            </a:r>
            <a:r>
              <a:rPr lang="en"/>
              <a:t> to retrieve the critical point information</a:t>
            </a:r>
            <a:endParaRPr/>
          </a:p>
          <a:p>
            <a:pPr indent="-342900" lvl="0" marL="457200" rtl="0" algn="l">
              <a:spcBef>
                <a:spcPts val="0"/>
              </a:spcBef>
              <a:spcAft>
                <a:spcPts val="0"/>
              </a:spcAft>
              <a:buSzPts val="1800"/>
              <a:buChar char="●"/>
            </a:pPr>
            <a:r>
              <a:rPr lang="en"/>
              <a:t>Save the </a:t>
            </a:r>
            <a:r>
              <a:rPr b="1" lang="en"/>
              <a:t>positions of critical points</a:t>
            </a:r>
            <a:r>
              <a:rPr lang="en"/>
              <a:t> to retrieve merge tree structure</a:t>
            </a:r>
            <a:endParaRPr/>
          </a:p>
        </p:txBody>
      </p:sp>
      <p:pic>
        <p:nvPicPr>
          <p:cNvPr id="401" name="Google Shape;401;p47"/>
          <p:cNvPicPr preferRelativeResize="0"/>
          <p:nvPr/>
        </p:nvPicPr>
        <p:blipFill>
          <a:blip r:embed="rId3">
            <a:alphaModFix/>
          </a:blip>
          <a:stretch>
            <a:fillRect/>
          </a:stretch>
        </p:blipFill>
        <p:spPr>
          <a:xfrm>
            <a:off x="8013742" y="4507725"/>
            <a:ext cx="1130255" cy="635774"/>
          </a:xfrm>
          <a:prstGeom prst="rect">
            <a:avLst/>
          </a:prstGeom>
          <a:noFill/>
          <a:ln>
            <a:noFill/>
          </a:ln>
        </p:spPr>
      </p:pic>
      <p:pic>
        <p:nvPicPr>
          <p:cNvPr id="402" name="Google Shape;402;p47"/>
          <p:cNvPicPr preferRelativeResize="0"/>
          <p:nvPr/>
        </p:nvPicPr>
        <p:blipFill>
          <a:blip r:embed="rId4">
            <a:alphaModFix/>
          </a:blip>
          <a:stretch>
            <a:fillRect/>
          </a:stretch>
        </p:blipFill>
        <p:spPr>
          <a:xfrm>
            <a:off x="7702050" y="945825"/>
            <a:ext cx="1130250" cy="1130250"/>
          </a:xfrm>
          <a:prstGeom prst="rect">
            <a:avLst/>
          </a:prstGeom>
          <a:noFill/>
          <a:ln>
            <a:noFill/>
          </a:ln>
        </p:spPr>
      </p:pic>
      <p:pic>
        <p:nvPicPr>
          <p:cNvPr id="403" name="Google Shape;403;p47"/>
          <p:cNvPicPr preferRelativeResize="0"/>
          <p:nvPr/>
        </p:nvPicPr>
        <p:blipFill>
          <a:blip r:embed="rId5">
            <a:alphaModFix/>
          </a:blip>
          <a:stretch>
            <a:fillRect/>
          </a:stretch>
        </p:blipFill>
        <p:spPr>
          <a:xfrm>
            <a:off x="0" y="2941650"/>
            <a:ext cx="3676650" cy="2038350"/>
          </a:xfrm>
          <a:prstGeom prst="rect">
            <a:avLst/>
          </a:prstGeom>
          <a:noFill/>
          <a:ln>
            <a:noFill/>
          </a:ln>
        </p:spPr>
      </p:pic>
      <p:pic>
        <p:nvPicPr>
          <p:cNvPr id="404" name="Google Shape;404;p47"/>
          <p:cNvPicPr preferRelativeResize="0"/>
          <p:nvPr/>
        </p:nvPicPr>
        <p:blipFill>
          <a:blip r:embed="rId6">
            <a:alphaModFix/>
          </a:blip>
          <a:stretch>
            <a:fillRect/>
          </a:stretch>
        </p:blipFill>
        <p:spPr>
          <a:xfrm>
            <a:off x="5282650" y="2827250"/>
            <a:ext cx="3676650" cy="1741554"/>
          </a:xfrm>
          <a:prstGeom prst="rect">
            <a:avLst/>
          </a:prstGeom>
          <a:noFill/>
          <a:ln>
            <a:noFill/>
          </a:ln>
        </p:spPr>
      </p:pic>
      <p:cxnSp>
        <p:nvCxnSpPr>
          <p:cNvPr id="405" name="Google Shape;405;p47"/>
          <p:cNvCxnSpPr/>
          <p:nvPr/>
        </p:nvCxnSpPr>
        <p:spPr>
          <a:xfrm flipH="1" rot="10800000">
            <a:off x="3876150" y="3611600"/>
            <a:ext cx="1111200" cy="13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solution</a:t>
            </a:r>
            <a:endParaRPr/>
          </a:p>
        </p:txBody>
      </p:sp>
      <p:sp>
        <p:nvSpPr>
          <p:cNvPr id="411" name="Google Shape;411;p4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Build a </a:t>
            </a:r>
            <a:r>
              <a:rPr b="1" lang="en"/>
              <a:t>single pass solution</a:t>
            </a:r>
            <a:r>
              <a:rPr lang="en"/>
              <a:t> to preserve</a:t>
            </a:r>
            <a:endParaRPr/>
          </a:p>
          <a:p>
            <a:pPr indent="-317500" lvl="1" marL="914400" rtl="0" algn="l">
              <a:spcBef>
                <a:spcPts val="0"/>
              </a:spcBef>
              <a:spcAft>
                <a:spcPts val="0"/>
              </a:spcAft>
              <a:buSzPts val="1400"/>
              <a:buChar char="○"/>
            </a:pPr>
            <a:r>
              <a:rPr lang="en"/>
              <a:t>Critical points types</a:t>
            </a:r>
            <a:endParaRPr/>
          </a:p>
          <a:p>
            <a:pPr indent="-317500" lvl="1" marL="914400" rtl="0" algn="l">
              <a:spcBef>
                <a:spcPts val="0"/>
              </a:spcBef>
              <a:spcAft>
                <a:spcPts val="0"/>
              </a:spcAft>
              <a:buSzPts val="1400"/>
              <a:buChar char="○"/>
            </a:pPr>
            <a:r>
              <a:rPr lang="en"/>
              <a:t>Critical points location</a:t>
            </a:r>
            <a:endParaRPr/>
          </a:p>
          <a:p>
            <a:pPr indent="-317500" lvl="1" marL="914400" rtl="0" algn="l">
              <a:spcBef>
                <a:spcPts val="0"/>
              </a:spcBef>
              <a:spcAft>
                <a:spcPts val="0"/>
              </a:spcAft>
              <a:buSzPts val="1400"/>
              <a:buChar char="○"/>
            </a:pPr>
            <a:r>
              <a:rPr lang="en"/>
              <a:t>Merge tree structure</a:t>
            </a:r>
            <a:endParaRPr/>
          </a:p>
          <a:p>
            <a:pPr indent="-342900" lvl="0" marL="457200" rtl="0" algn="l">
              <a:spcBef>
                <a:spcPts val="0"/>
              </a:spcBef>
              <a:spcAft>
                <a:spcPts val="0"/>
              </a:spcAft>
              <a:buSzPts val="1800"/>
              <a:buChar char="●"/>
            </a:pPr>
            <a:r>
              <a:rPr lang="en"/>
              <a:t>Use </a:t>
            </a:r>
            <a:r>
              <a:rPr b="1" lang="en"/>
              <a:t>stencil based method</a:t>
            </a:r>
            <a:r>
              <a:rPr lang="en"/>
              <a:t> to retrieve the critical point information</a:t>
            </a:r>
            <a:endParaRPr/>
          </a:p>
          <a:p>
            <a:pPr indent="-342900" lvl="0" marL="457200" rtl="0" algn="l">
              <a:spcBef>
                <a:spcPts val="0"/>
              </a:spcBef>
              <a:spcAft>
                <a:spcPts val="0"/>
              </a:spcAft>
              <a:buSzPts val="1800"/>
              <a:buChar char="●"/>
            </a:pPr>
            <a:r>
              <a:rPr lang="en"/>
              <a:t>Save the </a:t>
            </a:r>
            <a:r>
              <a:rPr b="1" lang="en"/>
              <a:t>positions of critical points</a:t>
            </a:r>
            <a:r>
              <a:rPr lang="en"/>
              <a:t> to retrieve merge tree structure</a:t>
            </a:r>
            <a:endParaRPr/>
          </a:p>
        </p:txBody>
      </p:sp>
      <p:pic>
        <p:nvPicPr>
          <p:cNvPr id="412" name="Google Shape;412;p48"/>
          <p:cNvPicPr preferRelativeResize="0"/>
          <p:nvPr/>
        </p:nvPicPr>
        <p:blipFill>
          <a:blip r:embed="rId3">
            <a:alphaModFix/>
          </a:blip>
          <a:stretch>
            <a:fillRect/>
          </a:stretch>
        </p:blipFill>
        <p:spPr>
          <a:xfrm>
            <a:off x="8013742" y="4507725"/>
            <a:ext cx="1130255" cy="635774"/>
          </a:xfrm>
          <a:prstGeom prst="rect">
            <a:avLst/>
          </a:prstGeom>
          <a:noFill/>
          <a:ln>
            <a:noFill/>
          </a:ln>
        </p:spPr>
      </p:pic>
      <p:pic>
        <p:nvPicPr>
          <p:cNvPr id="413" name="Google Shape;413;p48"/>
          <p:cNvPicPr preferRelativeResize="0"/>
          <p:nvPr/>
        </p:nvPicPr>
        <p:blipFill>
          <a:blip r:embed="rId4">
            <a:alphaModFix/>
          </a:blip>
          <a:stretch>
            <a:fillRect/>
          </a:stretch>
        </p:blipFill>
        <p:spPr>
          <a:xfrm>
            <a:off x="7702050" y="945825"/>
            <a:ext cx="1130250" cy="1130250"/>
          </a:xfrm>
          <a:prstGeom prst="rect">
            <a:avLst/>
          </a:prstGeom>
          <a:noFill/>
          <a:ln>
            <a:noFill/>
          </a:ln>
        </p:spPr>
      </p:pic>
      <p:pic>
        <p:nvPicPr>
          <p:cNvPr id="414" name="Google Shape;414;p48"/>
          <p:cNvPicPr preferRelativeResize="0"/>
          <p:nvPr/>
        </p:nvPicPr>
        <p:blipFill>
          <a:blip r:embed="rId5">
            <a:alphaModFix/>
          </a:blip>
          <a:stretch>
            <a:fillRect/>
          </a:stretch>
        </p:blipFill>
        <p:spPr>
          <a:xfrm>
            <a:off x="0" y="2941650"/>
            <a:ext cx="2824789" cy="1566075"/>
          </a:xfrm>
          <a:prstGeom prst="rect">
            <a:avLst/>
          </a:prstGeom>
          <a:noFill/>
          <a:ln>
            <a:noFill/>
          </a:ln>
        </p:spPr>
      </p:pic>
      <p:cxnSp>
        <p:nvCxnSpPr>
          <p:cNvPr id="415" name="Google Shape;415;p48"/>
          <p:cNvCxnSpPr/>
          <p:nvPr/>
        </p:nvCxnSpPr>
        <p:spPr>
          <a:xfrm flipH="1" rot="10800000">
            <a:off x="2950100" y="3585150"/>
            <a:ext cx="1111200" cy="13200"/>
          </a:xfrm>
          <a:prstGeom prst="straightConnector1">
            <a:avLst/>
          </a:prstGeom>
          <a:noFill/>
          <a:ln cap="flat" cmpd="sng" w="9525">
            <a:solidFill>
              <a:schemeClr val="dk2"/>
            </a:solidFill>
            <a:prstDash val="solid"/>
            <a:round/>
            <a:headEnd len="med" w="med" type="none"/>
            <a:tailEnd len="med" w="med" type="triangle"/>
          </a:ln>
        </p:spPr>
      </p:cxnSp>
      <p:pic>
        <p:nvPicPr>
          <p:cNvPr id="416" name="Google Shape;416;p48"/>
          <p:cNvPicPr preferRelativeResize="0"/>
          <p:nvPr/>
        </p:nvPicPr>
        <p:blipFill>
          <a:blip r:embed="rId6">
            <a:alphaModFix/>
          </a:blip>
          <a:stretch>
            <a:fillRect/>
          </a:stretch>
        </p:blipFill>
        <p:spPr>
          <a:xfrm>
            <a:off x="3670663" y="2862275"/>
            <a:ext cx="4729851" cy="200055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Takeaways</a:t>
            </a:r>
            <a:endParaRPr/>
          </a:p>
        </p:txBody>
      </p:sp>
      <p:sp>
        <p:nvSpPr>
          <p:cNvPr id="422" name="Google Shape;422;p49"/>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Problems in lossy compression exists in terms of </a:t>
            </a:r>
            <a:endParaRPr/>
          </a:p>
          <a:p>
            <a:pPr indent="-317500" lvl="1" marL="914400" rtl="0" algn="l">
              <a:spcBef>
                <a:spcPts val="0"/>
              </a:spcBef>
              <a:spcAft>
                <a:spcPts val="0"/>
              </a:spcAft>
              <a:buSzPts val="1400"/>
              <a:buChar char="○"/>
            </a:pPr>
            <a:r>
              <a:rPr lang="en"/>
              <a:t>Error bounds</a:t>
            </a:r>
            <a:endParaRPr/>
          </a:p>
          <a:p>
            <a:pPr indent="-317500" lvl="1" marL="914400" rtl="0" algn="l">
              <a:spcBef>
                <a:spcPts val="0"/>
              </a:spcBef>
              <a:spcAft>
                <a:spcPts val="0"/>
              </a:spcAft>
              <a:buSzPts val="1400"/>
              <a:buChar char="○"/>
            </a:pPr>
            <a:r>
              <a:rPr lang="en"/>
              <a:t>Floating point behavior</a:t>
            </a:r>
            <a:endParaRPr/>
          </a:p>
          <a:p>
            <a:pPr indent="-317500" lvl="1" marL="914400" rtl="0" algn="l">
              <a:spcBef>
                <a:spcPts val="0"/>
              </a:spcBef>
              <a:spcAft>
                <a:spcPts val="0"/>
              </a:spcAft>
              <a:buSzPts val="1400"/>
              <a:buChar char="○"/>
            </a:pPr>
            <a:r>
              <a:rPr lang="en"/>
              <a:t>Race conditions</a:t>
            </a:r>
            <a:endParaRPr/>
          </a:p>
          <a:p>
            <a:pPr indent="-317500" lvl="1" marL="914400" rtl="0" algn="l">
              <a:spcBef>
                <a:spcPts val="0"/>
              </a:spcBef>
              <a:spcAft>
                <a:spcPts val="0"/>
              </a:spcAft>
              <a:buSzPts val="1400"/>
              <a:buChar char="○"/>
            </a:pPr>
            <a:r>
              <a:rPr lang="en"/>
              <a:t>Topological </a:t>
            </a:r>
            <a:r>
              <a:rPr lang="en"/>
              <a:t>descriptor</a:t>
            </a:r>
            <a:endParaRPr/>
          </a:p>
          <a:p>
            <a:pPr indent="0" lvl="0" marL="457200" rtl="0" algn="l">
              <a:spcBef>
                <a:spcPts val="1200"/>
              </a:spcBef>
              <a:spcAft>
                <a:spcPts val="1200"/>
              </a:spcAft>
              <a:buNone/>
            </a:pPr>
            <a:r>
              <a:t/>
            </a:r>
            <a:endParaRPr/>
          </a:p>
        </p:txBody>
      </p:sp>
      <p:pic>
        <p:nvPicPr>
          <p:cNvPr id="423" name="Google Shape;423;p49"/>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Takeaways</a:t>
            </a:r>
            <a:endParaRPr/>
          </a:p>
          <a:p>
            <a:pPr indent="0" lvl="0" marL="0" rtl="0" algn="l">
              <a:spcBef>
                <a:spcPts val="0"/>
              </a:spcBef>
              <a:spcAft>
                <a:spcPts val="0"/>
              </a:spcAft>
              <a:buNone/>
            </a:pPr>
            <a:r>
              <a:t/>
            </a:r>
            <a:endParaRPr/>
          </a:p>
        </p:txBody>
      </p:sp>
      <p:sp>
        <p:nvSpPr>
          <p:cNvPr id="429" name="Google Shape;429;p50"/>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Problems in lossy compression exists in terms of </a:t>
            </a:r>
            <a:endParaRPr/>
          </a:p>
          <a:p>
            <a:pPr indent="-317500" lvl="1" marL="914400" rtl="0" algn="l">
              <a:spcBef>
                <a:spcPts val="0"/>
              </a:spcBef>
              <a:spcAft>
                <a:spcPts val="0"/>
              </a:spcAft>
              <a:buSzPts val="1400"/>
              <a:buChar char="○"/>
            </a:pPr>
            <a:r>
              <a:rPr lang="en"/>
              <a:t>Error bounds</a:t>
            </a:r>
            <a:endParaRPr/>
          </a:p>
          <a:p>
            <a:pPr indent="-317500" lvl="1" marL="914400" rtl="0" algn="l">
              <a:spcBef>
                <a:spcPts val="0"/>
              </a:spcBef>
              <a:spcAft>
                <a:spcPts val="0"/>
              </a:spcAft>
              <a:buSzPts val="1400"/>
              <a:buChar char="○"/>
            </a:pPr>
            <a:r>
              <a:rPr lang="en"/>
              <a:t>Floating point behavior</a:t>
            </a:r>
            <a:endParaRPr/>
          </a:p>
          <a:p>
            <a:pPr indent="-317500" lvl="1" marL="914400" rtl="0" algn="l">
              <a:spcBef>
                <a:spcPts val="0"/>
              </a:spcBef>
              <a:spcAft>
                <a:spcPts val="0"/>
              </a:spcAft>
              <a:buSzPts val="1400"/>
              <a:buChar char="○"/>
            </a:pPr>
            <a:r>
              <a:rPr lang="en"/>
              <a:t>Race conditions</a:t>
            </a:r>
            <a:endParaRPr/>
          </a:p>
          <a:p>
            <a:pPr indent="-317500" lvl="1" marL="914400" rtl="0" algn="l">
              <a:spcBef>
                <a:spcPts val="0"/>
              </a:spcBef>
              <a:spcAft>
                <a:spcPts val="0"/>
              </a:spcAft>
              <a:buSzPts val="1400"/>
              <a:buChar char="○"/>
            </a:pPr>
            <a:r>
              <a:rPr lang="en"/>
              <a:t>Topological descriptor</a:t>
            </a:r>
            <a:endParaRPr/>
          </a:p>
          <a:p>
            <a:pPr indent="-342900" lvl="0" marL="457200" rtl="0" algn="l">
              <a:spcBef>
                <a:spcPts val="0"/>
              </a:spcBef>
              <a:spcAft>
                <a:spcPts val="0"/>
              </a:spcAft>
              <a:buSzPts val="1800"/>
              <a:buChar char="●"/>
            </a:pPr>
            <a:r>
              <a:rPr lang="en"/>
              <a:t>Our solution </a:t>
            </a:r>
            <a:endParaRPr/>
          </a:p>
          <a:p>
            <a:pPr indent="-317500" lvl="1" marL="914400" rtl="0" algn="l">
              <a:spcBef>
                <a:spcPts val="0"/>
              </a:spcBef>
              <a:spcAft>
                <a:spcPts val="0"/>
              </a:spcAft>
              <a:buSzPts val="1400"/>
              <a:buChar char="○"/>
            </a:pPr>
            <a:r>
              <a:rPr lang="en"/>
              <a:t>Using </a:t>
            </a:r>
            <a:r>
              <a:rPr b="1" lang="en"/>
              <a:t>verified Verus kernels</a:t>
            </a:r>
            <a:r>
              <a:rPr lang="en"/>
              <a:t> – ensures </a:t>
            </a:r>
            <a:r>
              <a:rPr b="1" lang="en"/>
              <a:t>correct and deterministic</a:t>
            </a:r>
            <a:r>
              <a:rPr lang="en"/>
              <a:t> reconstructed results</a:t>
            </a:r>
            <a:endParaRPr/>
          </a:p>
          <a:p>
            <a:pPr indent="0" lvl="0" marL="914400" rtl="0" algn="l">
              <a:spcBef>
                <a:spcPts val="1200"/>
              </a:spcBef>
              <a:spcAft>
                <a:spcPts val="1200"/>
              </a:spcAft>
              <a:buNone/>
            </a:pPr>
            <a:r>
              <a:t/>
            </a:r>
            <a:endParaRPr/>
          </a:p>
        </p:txBody>
      </p:sp>
      <p:pic>
        <p:nvPicPr>
          <p:cNvPr id="430" name="Google Shape;430;p50"/>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Takeaways</a:t>
            </a:r>
            <a:endParaRPr/>
          </a:p>
          <a:p>
            <a:pPr indent="0" lvl="0" marL="0" rtl="0" algn="l">
              <a:spcBef>
                <a:spcPts val="0"/>
              </a:spcBef>
              <a:spcAft>
                <a:spcPts val="0"/>
              </a:spcAft>
              <a:buNone/>
            </a:pPr>
            <a:r>
              <a:t/>
            </a:r>
            <a:endParaRPr/>
          </a:p>
        </p:txBody>
      </p:sp>
      <p:sp>
        <p:nvSpPr>
          <p:cNvPr id="436" name="Google Shape;436;p51"/>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Problems in lossy compression exists in terms of </a:t>
            </a:r>
            <a:endParaRPr/>
          </a:p>
          <a:p>
            <a:pPr indent="-317500" lvl="1" marL="914400" rtl="0" algn="l">
              <a:spcBef>
                <a:spcPts val="0"/>
              </a:spcBef>
              <a:spcAft>
                <a:spcPts val="0"/>
              </a:spcAft>
              <a:buSzPts val="1400"/>
              <a:buChar char="○"/>
            </a:pPr>
            <a:r>
              <a:rPr lang="en"/>
              <a:t>Error bounds</a:t>
            </a:r>
            <a:endParaRPr/>
          </a:p>
          <a:p>
            <a:pPr indent="-317500" lvl="1" marL="914400" rtl="0" algn="l">
              <a:spcBef>
                <a:spcPts val="0"/>
              </a:spcBef>
              <a:spcAft>
                <a:spcPts val="0"/>
              </a:spcAft>
              <a:buSzPts val="1400"/>
              <a:buChar char="○"/>
            </a:pPr>
            <a:r>
              <a:rPr lang="en"/>
              <a:t>Floating point behavior</a:t>
            </a:r>
            <a:endParaRPr/>
          </a:p>
          <a:p>
            <a:pPr indent="-317500" lvl="1" marL="914400" rtl="0" algn="l">
              <a:spcBef>
                <a:spcPts val="0"/>
              </a:spcBef>
              <a:spcAft>
                <a:spcPts val="0"/>
              </a:spcAft>
              <a:buSzPts val="1400"/>
              <a:buChar char="○"/>
            </a:pPr>
            <a:r>
              <a:rPr lang="en"/>
              <a:t>Race conditions</a:t>
            </a:r>
            <a:endParaRPr/>
          </a:p>
          <a:p>
            <a:pPr indent="-317500" lvl="1" marL="914400" rtl="0" algn="l">
              <a:spcBef>
                <a:spcPts val="0"/>
              </a:spcBef>
              <a:spcAft>
                <a:spcPts val="0"/>
              </a:spcAft>
              <a:buSzPts val="1400"/>
              <a:buChar char="○"/>
            </a:pPr>
            <a:r>
              <a:rPr lang="en"/>
              <a:t>Topological descriptor</a:t>
            </a:r>
            <a:endParaRPr/>
          </a:p>
          <a:p>
            <a:pPr indent="-342900" lvl="0" marL="457200" rtl="0" algn="l">
              <a:spcBef>
                <a:spcPts val="0"/>
              </a:spcBef>
              <a:spcAft>
                <a:spcPts val="0"/>
              </a:spcAft>
              <a:buSzPts val="1800"/>
              <a:buChar char="●"/>
            </a:pPr>
            <a:r>
              <a:rPr lang="en"/>
              <a:t>Our solution </a:t>
            </a:r>
            <a:endParaRPr/>
          </a:p>
          <a:p>
            <a:pPr indent="-317500" lvl="1" marL="914400" rtl="0" algn="l">
              <a:spcBef>
                <a:spcPts val="0"/>
              </a:spcBef>
              <a:spcAft>
                <a:spcPts val="0"/>
              </a:spcAft>
              <a:buSzPts val="1400"/>
              <a:buChar char="○"/>
            </a:pPr>
            <a:r>
              <a:rPr lang="en"/>
              <a:t>Using </a:t>
            </a:r>
            <a:r>
              <a:rPr b="1" lang="en"/>
              <a:t>verified Verus kernels</a:t>
            </a:r>
            <a:r>
              <a:rPr lang="en"/>
              <a:t> – ensures </a:t>
            </a:r>
            <a:r>
              <a:rPr b="1" lang="en"/>
              <a:t>correct and deterministic</a:t>
            </a:r>
            <a:r>
              <a:rPr lang="en"/>
              <a:t> reconstructed results</a:t>
            </a:r>
            <a:endParaRPr/>
          </a:p>
          <a:p>
            <a:pPr indent="-317500" lvl="1" marL="914400" rtl="0" algn="l">
              <a:spcBef>
                <a:spcPts val="0"/>
              </a:spcBef>
              <a:spcAft>
                <a:spcPts val="0"/>
              </a:spcAft>
              <a:buSzPts val="1400"/>
              <a:buChar char="○"/>
            </a:pPr>
            <a:r>
              <a:rPr lang="en"/>
              <a:t>Using Verus </a:t>
            </a:r>
            <a:r>
              <a:rPr b="1" lang="en"/>
              <a:t>automatically remove race condition</a:t>
            </a:r>
            <a:r>
              <a:rPr lang="en"/>
              <a:t> problem </a:t>
            </a:r>
            <a:endParaRPr/>
          </a:p>
          <a:p>
            <a:pPr indent="0" lvl="0" marL="0" rtl="0" algn="l">
              <a:spcBef>
                <a:spcPts val="1200"/>
              </a:spcBef>
              <a:spcAft>
                <a:spcPts val="1200"/>
              </a:spcAft>
              <a:buNone/>
            </a:pPr>
            <a:r>
              <a:t/>
            </a:r>
            <a:endParaRPr/>
          </a:p>
        </p:txBody>
      </p:sp>
      <p:pic>
        <p:nvPicPr>
          <p:cNvPr id="437" name="Google Shape;437;p51"/>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Takeaways</a:t>
            </a:r>
            <a:endParaRPr/>
          </a:p>
          <a:p>
            <a:pPr indent="0" lvl="0" marL="0" rtl="0" algn="l">
              <a:spcBef>
                <a:spcPts val="0"/>
              </a:spcBef>
              <a:spcAft>
                <a:spcPts val="0"/>
              </a:spcAft>
              <a:buNone/>
            </a:pPr>
            <a:r>
              <a:t/>
            </a:r>
            <a:endParaRPr/>
          </a:p>
        </p:txBody>
      </p:sp>
      <p:sp>
        <p:nvSpPr>
          <p:cNvPr id="443" name="Google Shape;443;p52"/>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Problems in lossy compression exists in terms of </a:t>
            </a:r>
            <a:endParaRPr/>
          </a:p>
          <a:p>
            <a:pPr indent="-317500" lvl="1" marL="914400" rtl="0" algn="l">
              <a:spcBef>
                <a:spcPts val="0"/>
              </a:spcBef>
              <a:spcAft>
                <a:spcPts val="0"/>
              </a:spcAft>
              <a:buSzPts val="1400"/>
              <a:buChar char="○"/>
            </a:pPr>
            <a:r>
              <a:rPr lang="en"/>
              <a:t>Error bounds</a:t>
            </a:r>
            <a:endParaRPr/>
          </a:p>
          <a:p>
            <a:pPr indent="-317500" lvl="1" marL="914400" rtl="0" algn="l">
              <a:spcBef>
                <a:spcPts val="0"/>
              </a:spcBef>
              <a:spcAft>
                <a:spcPts val="0"/>
              </a:spcAft>
              <a:buSzPts val="1400"/>
              <a:buChar char="○"/>
            </a:pPr>
            <a:r>
              <a:rPr lang="en"/>
              <a:t>Floating point behavior</a:t>
            </a:r>
            <a:endParaRPr/>
          </a:p>
          <a:p>
            <a:pPr indent="-317500" lvl="1" marL="914400" rtl="0" algn="l">
              <a:spcBef>
                <a:spcPts val="0"/>
              </a:spcBef>
              <a:spcAft>
                <a:spcPts val="0"/>
              </a:spcAft>
              <a:buSzPts val="1400"/>
              <a:buChar char="○"/>
            </a:pPr>
            <a:r>
              <a:rPr lang="en"/>
              <a:t>Race conditions</a:t>
            </a:r>
            <a:endParaRPr/>
          </a:p>
          <a:p>
            <a:pPr indent="-317500" lvl="1" marL="914400" rtl="0" algn="l">
              <a:spcBef>
                <a:spcPts val="0"/>
              </a:spcBef>
              <a:spcAft>
                <a:spcPts val="0"/>
              </a:spcAft>
              <a:buSzPts val="1400"/>
              <a:buChar char="○"/>
            </a:pPr>
            <a:r>
              <a:rPr lang="en"/>
              <a:t>Topological descriptor</a:t>
            </a:r>
            <a:endParaRPr/>
          </a:p>
          <a:p>
            <a:pPr indent="-342900" lvl="0" marL="457200" rtl="0" algn="l">
              <a:spcBef>
                <a:spcPts val="0"/>
              </a:spcBef>
              <a:spcAft>
                <a:spcPts val="0"/>
              </a:spcAft>
              <a:buSzPts val="1800"/>
              <a:buChar char="●"/>
            </a:pPr>
            <a:r>
              <a:rPr lang="en"/>
              <a:t>Our solution </a:t>
            </a:r>
            <a:endParaRPr/>
          </a:p>
          <a:p>
            <a:pPr indent="-317500" lvl="1" marL="914400" rtl="0" algn="l">
              <a:spcBef>
                <a:spcPts val="0"/>
              </a:spcBef>
              <a:spcAft>
                <a:spcPts val="0"/>
              </a:spcAft>
              <a:buSzPts val="1400"/>
              <a:buChar char="○"/>
            </a:pPr>
            <a:r>
              <a:rPr lang="en"/>
              <a:t>Using </a:t>
            </a:r>
            <a:r>
              <a:rPr b="1" lang="en"/>
              <a:t>verified Verus kernels</a:t>
            </a:r>
            <a:r>
              <a:rPr lang="en"/>
              <a:t> – ensures </a:t>
            </a:r>
            <a:r>
              <a:rPr b="1" lang="en"/>
              <a:t>correct and deterministic</a:t>
            </a:r>
            <a:r>
              <a:rPr lang="en"/>
              <a:t> reconstructed results</a:t>
            </a:r>
            <a:endParaRPr/>
          </a:p>
          <a:p>
            <a:pPr indent="-317500" lvl="1" marL="914400" rtl="0" algn="l">
              <a:spcBef>
                <a:spcPts val="0"/>
              </a:spcBef>
              <a:spcAft>
                <a:spcPts val="0"/>
              </a:spcAft>
              <a:buSzPts val="1400"/>
              <a:buChar char="○"/>
            </a:pPr>
            <a:r>
              <a:rPr lang="en"/>
              <a:t>Using Verus </a:t>
            </a:r>
            <a:r>
              <a:rPr b="1" lang="en"/>
              <a:t>automatically remove race condition</a:t>
            </a:r>
            <a:r>
              <a:rPr lang="en"/>
              <a:t> problem </a:t>
            </a:r>
            <a:endParaRPr/>
          </a:p>
          <a:p>
            <a:pPr indent="-317500" lvl="1" marL="914400" rtl="0" algn="l">
              <a:spcBef>
                <a:spcPts val="0"/>
              </a:spcBef>
              <a:spcAft>
                <a:spcPts val="0"/>
              </a:spcAft>
              <a:buSzPts val="1400"/>
              <a:buChar char="○"/>
            </a:pPr>
            <a:r>
              <a:rPr b="1" lang="en"/>
              <a:t>Single-pass topology preservation </a:t>
            </a:r>
            <a:r>
              <a:rPr lang="en"/>
              <a:t>is fast and reliable</a:t>
            </a:r>
            <a:endParaRPr/>
          </a:p>
          <a:p>
            <a:pPr indent="0" lvl="0" marL="457200" rtl="0" algn="l">
              <a:spcBef>
                <a:spcPts val="1200"/>
              </a:spcBef>
              <a:spcAft>
                <a:spcPts val="1200"/>
              </a:spcAft>
              <a:buNone/>
            </a:pPr>
            <a:r>
              <a:t/>
            </a:r>
            <a:endParaRPr/>
          </a:p>
        </p:txBody>
      </p:sp>
      <p:pic>
        <p:nvPicPr>
          <p:cNvPr id="444" name="Google Shape;444;p52"/>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Takeaways</a:t>
            </a:r>
            <a:endParaRPr/>
          </a:p>
          <a:p>
            <a:pPr indent="0" lvl="0" marL="0" rtl="0" algn="l">
              <a:spcBef>
                <a:spcPts val="0"/>
              </a:spcBef>
              <a:spcAft>
                <a:spcPts val="0"/>
              </a:spcAft>
              <a:buNone/>
            </a:pPr>
            <a:r>
              <a:t/>
            </a:r>
            <a:endParaRPr/>
          </a:p>
        </p:txBody>
      </p:sp>
      <p:sp>
        <p:nvSpPr>
          <p:cNvPr id="450" name="Google Shape;450;p53"/>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Problems in lossy compression exists in terms of </a:t>
            </a:r>
            <a:endParaRPr/>
          </a:p>
          <a:p>
            <a:pPr indent="-317500" lvl="1" marL="914400" rtl="0" algn="l">
              <a:spcBef>
                <a:spcPts val="0"/>
              </a:spcBef>
              <a:spcAft>
                <a:spcPts val="0"/>
              </a:spcAft>
              <a:buSzPts val="1400"/>
              <a:buChar char="○"/>
            </a:pPr>
            <a:r>
              <a:rPr lang="en"/>
              <a:t>Error bounds</a:t>
            </a:r>
            <a:endParaRPr/>
          </a:p>
          <a:p>
            <a:pPr indent="-317500" lvl="1" marL="914400" rtl="0" algn="l">
              <a:spcBef>
                <a:spcPts val="0"/>
              </a:spcBef>
              <a:spcAft>
                <a:spcPts val="0"/>
              </a:spcAft>
              <a:buSzPts val="1400"/>
              <a:buChar char="○"/>
            </a:pPr>
            <a:r>
              <a:rPr lang="en"/>
              <a:t>Floating point behavior</a:t>
            </a:r>
            <a:endParaRPr/>
          </a:p>
          <a:p>
            <a:pPr indent="-317500" lvl="1" marL="914400" rtl="0" algn="l">
              <a:spcBef>
                <a:spcPts val="0"/>
              </a:spcBef>
              <a:spcAft>
                <a:spcPts val="0"/>
              </a:spcAft>
              <a:buSzPts val="1400"/>
              <a:buChar char="○"/>
            </a:pPr>
            <a:r>
              <a:rPr lang="en"/>
              <a:t>Race conditions</a:t>
            </a:r>
            <a:endParaRPr/>
          </a:p>
          <a:p>
            <a:pPr indent="-317500" lvl="1" marL="914400" rtl="0" algn="l">
              <a:spcBef>
                <a:spcPts val="0"/>
              </a:spcBef>
              <a:spcAft>
                <a:spcPts val="0"/>
              </a:spcAft>
              <a:buSzPts val="1400"/>
              <a:buChar char="○"/>
            </a:pPr>
            <a:r>
              <a:rPr lang="en"/>
              <a:t>Topological descriptor</a:t>
            </a:r>
            <a:endParaRPr/>
          </a:p>
          <a:p>
            <a:pPr indent="-342900" lvl="0" marL="457200" rtl="0" algn="l">
              <a:spcBef>
                <a:spcPts val="0"/>
              </a:spcBef>
              <a:spcAft>
                <a:spcPts val="0"/>
              </a:spcAft>
              <a:buSzPts val="1800"/>
              <a:buChar char="●"/>
            </a:pPr>
            <a:r>
              <a:rPr lang="en"/>
              <a:t>Our solution </a:t>
            </a:r>
            <a:endParaRPr/>
          </a:p>
          <a:p>
            <a:pPr indent="-317500" lvl="1" marL="914400" rtl="0" algn="l">
              <a:spcBef>
                <a:spcPts val="0"/>
              </a:spcBef>
              <a:spcAft>
                <a:spcPts val="0"/>
              </a:spcAft>
              <a:buSzPts val="1400"/>
              <a:buChar char="○"/>
            </a:pPr>
            <a:r>
              <a:rPr lang="en"/>
              <a:t>Using </a:t>
            </a:r>
            <a:r>
              <a:rPr b="1" lang="en"/>
              <a:t>verified Verus kernels</a:t>
            </a:r>
            <a:r>
              <a:rPr lang="en"/>
              <a:t> – </a:t>
            </a:r>
            <a:r>
              <a:rPr lang="en"/>
              <a:t>ensures</a:t>
            </a:r>
            <a:r>
              <a:rPr b="1" lang="en"/>
              <a:t> correct and deterministic</a:t>
            </a:r>
            <a:r>
              <a:rPr lang="en"/>
              <a:t> reconstructed results</a:t>
            </a:r>
            <a:endParaRPr/>
          </a:p>
          <a:p>
            <a:pPr indent="-317500" lvl="1" marL="914400" rtl="0" algn="l">
              <a:spcBef>
                <a:spcPts val="0"/>
              </a:spcBef>
              <a:spcAft>
                <a:spcPts val="0"/>
              </a:spcAft>
              <a:buSzPts val="1400"/>
              <a:buChar char="○"/>
            </a:pPr>
            <a:r>
              <a:rPr lang="en"/>
              <a:t>Using Verus </a:t>
            </a:r>
            <a:r>
              <a:rPr b="1" lang="en"/>
              <a:t>automatically remove race condition</a:t>
            </a:r>
            <a:r>
              <a:rPr lang="en"/>
              <a:t> problem</a:t>
            </a:r>
            <a:endParaRPr/>
          </a:p>
          <a:p>
            <a:pPr indent="-317500" lvl="1" marL="914400" rtl="0" algn="l">
              <a:spcBef>
                <a:spcPts val="0"/>
              </a:spcBef>
              <a:spcAft>
                <a:spcPts val="0"/>
              </a:spcAft>
              <a:buSzPts val="1400"/>
              <a:buChar char="○"/>
            </a:pPr>
            <a:r>
              <a:rPr b="1" lang="en"/>
              <a:t>Single-pass topology preservation </a:t>
            </a:r>
            <a:r>
              <a:rPr lang="en"/>
              <a:t>is fast and reliable</a:t>
            </a:r>
            <a:endParaRPr/>
          </a:p>
          <a:p>
            <a:pPr indent="-342900" lvl="0" marL="457200" rtl="0" algn="l">
              <a:spcBef>
                <a:spcPts val="0"/>
              </a:spcBef>
              <a:spcAft>
                <a:spcPts val="0"/>
              </a:spcAft>
              <a:buSzPts val="1800"/>
              <a:buChar char="●"/>
            </a:pPr>
            <a:r>
              <a:rPr lang="en"/>
              <a:t>Together they enable </a:t>
            </a:r>
            <a:r>
              <a:rPr b="1" lang="en">
                <a:solidFill>
                  <a:srgbClr val="980000"/>
                </a:solidFill>
              </a:rPr>
              <a:t>formally correct, deterministic and efficient lossy compression</a:t>
            </a:r>
            <a:r>
              <a:rPr lang="en"/>
              <a:t> for scientific workflows</a:t>
            </a:r>
            <a:endParaRPr/>
          </a:p>
        </p:txBody>
      </p:sp>
      <p:pic>
        <p:nvPicPr>
          <p:cNvPr id="451" name="Google Shape;451;p53"/>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457200" lvl="0" marL="2286000" rtl="0" algn="l">
              <a:spcBef>
                <a:spcPts val="0"/>
              </a:spcBef>
              <a:spcAft>
                <a:spcPts val="0"/>
              </a:spcAft>
              <a:buNone/>
            </a:pPr>
            <a:r>
              <a:t/>
            </a:r>
            <a:endParaRPr/>
          </a:p>
          <a:p>
            <a:pPr indent="457200" lvl="0" marL="2286000" rtl="0" algn="l">
              <a:spcBef>
                <a:spcPts val="1200"/>
              </a:spcBef>
              <a:spcAft>
                <a:spcPts val="0"/>
              </a:spcAft>
              <a:buNone/>
            </a:pPr>
            <a:r>
              <a:t/>
            </a:r>
            <a:endParaRPr/>
          </a:p>
          <a:p>
            <a:pPr indent="457200" lvl="0" marL="1371600" rtl="0" algn="l">
              <a:spcBef>
                <a:spcPts val="1200"/>
              </a:spcBef>
              <a:spcAft>
                <a:spcPts val="1200"/>
              </a:spcAft>
              <a:buNone/>
            </a:pPr>
            <a:r>
              <a:rPr b="1" lang="en" sz="6000"/>
              <a:t>Thank you!</a:t>
            </a:r>
            <a:endParaRPr b="1" sz="6000"/>
          </a:p>
        </p:txBody>
      </p:sp>
      <p:pic>
        <p:nvPicPr>
          <p:cNvPr id="457" name="Google Shape;457;p54"/>
          <p:cNvPicPr preferRelativeResize="0"/>
          <p:nvPr/>
        </p:nvPicPr>
        <p:blipFill>
          <a:blip r:embed="rId3">
            <a:alphaModFix/>
          </a:blip>
          <a:stretch>
            <a:fillRect/>
          </a:stretch>
        </p:blipFill>
        <p:spPr>
          <a:xfrm>
            <a:off x="8013742" y="4507725"/>
            <a:ext cx="1130255" cy="6357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