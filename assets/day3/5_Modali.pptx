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gBnxp0CugCe7nCPUeWT9S6BC+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Data is produced and moved across storage tiers, which could result in missing chunks for example.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>
                <a:solidFill>
                  <a:schemeClr val="dk1"/>
                </a:solidFill>
              </a:rPr>
              <a:t>chunk count, uninitialized chunks, missing chunks Vs zoom levels , fault tolerant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Enumerating the list of chunk IDs and checking , as the chunks are named as monotonically increasing integers in zarr v2.0 hierarchical structure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IFREMER  French institute for ocean science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6D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opscience.iop.org/article/10.1086/427976/pdf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hyperlink" Target="https://earthmover.io/blog/what-is-zarr/" TargetMode="External"/><Relationship Id="rId5" Type="http://schemas.openxmlformats.org/officeDocument/2006/relationships/image" Target="../media/image27.png"/><Relationship Id="rId6" Type="http://schemas.openxmlformats.org/officeDocument/2006/relationships/hyperlink" Target="http://easy.gems.dkrz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theozonehole.org/ozone1995.htm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hyperlink" Target="https://ieeexplore.ieee.org/document/1284395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hyperlink" Target="https://scikit-image.org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hyperlink" Target="https://ieeexplore.ieee.org/abstract/document/10319365" TargetMode="External"/><Relationship Id="rId5" Type="http://schemas.openxmlformats.org/officeDocument/2006/relationships/hyperlink" Target="https://ieeexplore.ieee.org/abstract/document/10319365" TargetMode="External"/><Relationship Id="rId6" Type="http://schemas.openxmlformats.org/officeDocument/2006/relationships/hyperlink" Target="https://ieeexplore.ieee.org/abstract/document/10319365" TargetMode="External"/><Relationship Id="rId7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ealpix-convolution.readthedocs.io/en/latest/index.html" TargetMode="External"/><Relationship Id="rId4" Type="http://schemas.openxmlformats.org/officeDocument/2006/relationships/image" Target="../media/image29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D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0" y="175347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de" sz="3600"/>
              <a:t>Assessing the quality of zarr datasets from km scale ESM simulations</a:t>
            </a:r>
            <a:endParaRPr sz="5000"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9750" y="1928375"/>
            <a:ext cx="91245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de" sz="2000">
                <a:solidFill>
                  <a:schemeClr val="dk1"/>
                </a:solidFill>
              </a:rPr>
              <a:t>Kameswar Rao Modali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 Karsten Peters von Gehlen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 Fabian Wachsmann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 Janos Zimmermann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,Dogus Kaan Bilir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 Florian Ziemen</a:t>
            </a:r>
            <a:r>
              <a:rPr baseline="30000" lang="de" sz="2000">
                <a:solidFill>
                  <a:schemeClr val="dk1"/>
                </a:solidFill>
              </a:rPr>
              <a:t>1</a:t>
            </a:r>
            <a:r>
              <a:rPr lang="de" sz="2000">
                <a:solidFill>
                  <a:schemeClr val="dk1"/>
                </a:solidFill>
              </a:rPr>
              <a:t>, Karl-Hermann Wieners</a:t>
            </a:r>
            <a:r>
              <a:rPr baseline="30000" lang="de" sz="2000">
                <a:solidFill>
                  <a:schemeClr val="dk1"/>
                </a:solidFill>
              </a:rPr>
              <a:t>2</a:t>
            </a:r>
            <a:r>
              <a:rPr lang="de" sz="2000">
                <a:solidFill>
                  <a:schemeClr val="dk1"/>
                </a:solidFill>
              </a:rPr>
              <a:t>, Lukas Kluft</a:t>
            </a:r>
            <a:r>
              <a:rPr baseline="30000" lang="de" sz="2000">
                <a:solidFill>
                  <a:schemeClr val="dk1"/>
                </a:solidFill>
              </a:rPr>
              <a:t>2</a:t>
            </a:r>
            <a:r>
              <a:rPr lang="de" sz="2000">
                <a:solidFill>
                  <a:schemeClr val="dk1"/>
                </a:solidFill>
              </a:rPr>
              <a:t>, Siddhant Tibrewal</a:t>
            </a:r>
            <a:r>
              <a:rPr baseline="30000" lang="de" sz="2000">
                <a:solidFill>
                  <a:schemeClr val="dk1"/>
                </a:solidFill>
              </a:rPr>
              <a:t>2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grpSp>
        <p:nvGrpSpPr>
          <p:cNvPr id="107" name="Google Shape;107;p1"/>
          <p:cNvGrpSpPr/>
          <p:nvPr/>
        </p:nvGrpSpPr>
        <p:grpSpPr>
          <a:xfrm>
            <a:off x="1884342" y="4496220"/>
            <a:ext cx="5375320" cy="559330"/>
            <a:chOff x="1053378" y="4051479"/>
            <a:chExt cx="7493824" cy="779771"/>
          </a:xfrm>
        </p:grpSpPr>
        <p:pic>
          <p:nvPicPr>
            <p:cNvPr id="108" name="Google Shape;10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3350" y="4054875"/>
              <a:ext cx="2080610" cy="743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"/>
            <p:cNvSpPr txBox="1"/>
            <p:nvPr/>
          </p:nvSpPr>
          <p:spPr>
            <a:xfrm>
              <a:off x="1053378" y="4054875"/>
              <a:ext cx="687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575" lIns="65575" spcFirstLastPara="1" rIns="65575" wrap="square" tIns="655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None/>
              </a:pPr>
              <a:r>
                <a:rPr b="0" baseline="30000" i="0" lang="de" sz="172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4057893" y="4051479"/>
              <a:ext cx="687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575" lIns="65575" spcFirstLastPara="1" rIns="65575" wrap="square" tIns="6557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None/>
              </a:pPr>
              <a:r>
                <a:rPr b="0" baseline="30000" i="0" lang="de" sz="172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" title="Logo_Mpi-MET-50Jahre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9050" y="4088175"/>
              <a:ext cx="3988152" cy="743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"/>
          <p:cNvSpPr txBox="1"/>
          <p:nvPr/>
        </p:nvSpPr>
        <p:spPr>
          <a:xfrm>
            <a:off x="62975" y="3317600"/>
            <a:ext cx="908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2nd Workshop on Correctness and Reproducibility for Earth System Software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NCAR and virtual, 6-7 November 2025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D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"/>
          <p:cNvGrpSpPr/>
          <p:nvPr/>
        </p:nvGrpSpPr>
        <p:grpSpPr>
          <a:xfrm>
            <a:off x="776875" y="558138"/>
            <a:ext cx="7781700" cy="4509862"/>
            <a:chOff x="776875" y="558138"/>
            <a:chExt cx="7781700" cy="4509862"/>
          </a:xfrm>
        </p:grpSpPr>
        <p:sp>
          <p:nvSpPr>
            <p:cNvPr id="118" name="Google Shape;118;p2"/>
            <p:cNvSpPr txBox="1"/>
            <p:nvPr/>
          </p:nvSpPr>
          <p:spPr>
            <a:xfrm>
              <a:off x="776875" y="4617400"/>
              <a:ext cx="7781700" cy="45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de" sz="12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Source: OurWorldInData.org, Karl Rupp,Microprocessor Trend Data (2022)</a:t>
              </a:r>
              <a:endPara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9" name="Google Shape;1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11725" y="558138"/>
              <a:ext cx="6711975" cy="4027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2"/>
          <p:cNvSpPr txBox="1"/>
          <p:nvPr/>
        </p:nvSpPr>
        <p:spPr>
          <a:xfrm>
            <a:off x="776875" y="107550"/>
            <a:ext cx="77817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de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Moore’s Law </a:t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050325" y="983000"/>
            <a:ext cx="29562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0" i="0" lang="de" sz="1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baseline="30000" i="0" lang="de" sz="1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baseline="30000" i="0" sz="1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0" baseline="30000" i="0" lang="de" sz="1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Exa</a:t>
            </a:r>
            <a:endParaRPr b="0" baseline="30000" i="0" sz="1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D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925" y="1027425"/>
            <a:ext cx="3634675" cy="3531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3"/>
          <p:cNvGrpSpPr/>
          <p:nvPr/>
        </p:nvGrpSpPr>
        <p:grpSpPr>
          <a:xfrm>
            <a:off x="457200" y="2819400"/>
            <a:ext cx="4572000" cy="2038800"/>
            <a:chOff x="457200" y="2819400"/>
            <a:chExt cx="4572000" cy="2038800"/>
          </a:xfrm>
        </p:grpSpPr>
        <p:sp>
          <p:nvSpPr>
            <p:cNvPr id="128" name="Google Shape;128;p3"/>
            <p:cNvSpPr txBox="1"/>
            <p:nvPr/>
          </p:nvSpPr>
          <p:spPr>
            <a:xfrm>
              <a:off x="457200" y="2819400"/>
              <a:ext cx="45720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457200" marR="0" rtl="0" algn="ctr">
                <a:lnSpc>
                  <a:spcPct val="115000"/>
                </a:lnSpc>
                <a:spcBef>
                  <a:spcPts val="2400"/>
                </a:spcBef>
                <a:spcAft>
                  <a:spcPts val="6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de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kind of simulations can be targeted with such ESMs?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493900" y="3657600"/>
              <a:ext cx="437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55600" lvl="0" marL="914400" marR="0" rtl="0" algn="ctr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●"/>
              </a:pPr>
              <a:r>
                <a:rPr b="0" i="0" lang="de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Possibility to compute and evaluate kilometer-scale climate trajectories.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0" y="538525"/>
            <a:ext cx="5822100" cy="1908275"/>
            <a:chOff x="0" y="538525"/>
            <a:chExt cx="5822100" cy="1908275"/>
          </a:xfrm>
        </p:grpSpPr>
        <p:sp>
          <p:nvSpPr>
            <p:cNvPr id="131" name="Google Shape;131;p3"/>
            <p:cNvSpPr txBox="1"/>
            <p:nvPr/>
          </p:nvSpPr>
          <p:spPr>
            <a:xfrm>
              <a:off x="304800" y="1600200"/>
              <a:ext cx="50049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55600" lvl="0" marL="457200" marR="0" rtl="0" algn="ctr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●"/>
              </a:pPr>
              <a:r>
                <a:rPr b="0" i="0" lang="de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Some parameterizations become obsolete -&gt; more “realism”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0" y="538525"/>
              <a:ext cx="58221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457200" marR="0" rtl="0" algn="ctr">
                <a:lnSpc>
                  <a:spcPct val="115000"/>
                </a:lnSpc>
                <a:spcBef>
                  <a:spcPts val="2400"/>
                </a:spcBef>
                <a:spcAft>
                  <a:spcPts val="6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de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do we expect from ESMs capable of leveraging Exascale computing power?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4158" y="9"/>
            <a:ext cx="1349850" cy="108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 title="BMFTR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5" y="4296900"/>
            <a:ext cx="1640275" cy="8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860" y="0"/>
            <a:ext cx="72242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4507300" y="2435695"/>
            <a:ext cx="3005400" cy="14952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1680600" y="3753500"/>
            <a:ext cx="3220800" cy="891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de"/>
              <a:t>Of course, new approaches come with challenges…</a:t>
            </a:r>
            <a:endParaRPr/>
          </a:p>
        </p:txBody>
      </p:sp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de" sz="2100"/>
              <a:t>How do we cater to the gamut of length and time scales of scientific pursuits?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2100"/>
              <a:t>How do we enable efficient data access, analysis and evaluation?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2100"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935" y="3851658"/>
            <a:ext cx="1921052" cy="712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 flipH="1" rot="10800000">
            <a:off x="847425" y="3710050"/>
            <a:ext cx="755700" cy="653700"/>
          </a:xfrm>
          <a:prstGeom prst="bentArrow">
            <a:avLst>
              <a:gd fmla="val 25000" name="adj1"/>
              <a:gd fmla="val 25575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9050" y="3739590"/>
            <a:ext cx="919100" cy="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5048858" y="3951225"/>
            <a:ext cx="36381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de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 of HEALPix grid and zarr-formatted data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394950" y="190875"/>
            <a:ext cx="835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Hierarchical equal area iso-latitude pixelization - HEALPix </a:t>
            </a:r>
            <a:r>
              <a:rPr b="1" i="0" lang="de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(Gorski et al. 2004)</a:t>
            </a:r>
            <a:endParaRPr b="1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6"/>
          <p:cNvGrpSpPr/>
          <p:nvPr/>
        </p:nvGrpSpPr>
        <p:grpSpPr>
          <a:xfrm>
            <a:off x="186425" y="1067475"/>
            <a:ext cx="8623865" cy="3170700"/>
            <a:chOff x="186425" y="1067475"/>
            <a:chExt cx="8623865" cy="3170700"/>
          </a:xfrm>
        </p:grpSpPr>
        <p:grpSp>
          <p:nvGrpSpPr>
            <p:cNvPr id="158" name="Google Shape;158;p6"/>
            <p:cNvGrpSpPr/>
            <p:nvPr/>
          </p:nvGrpSpPr>
          <p:grpSpPr>
            <a:xfrm>
              <a:off x="5041820" y="1067484"/>
              <a:ext cx="3768470" cy="1536548"/>
              <a:chOff x="1048598" y="2897851"/>
              <a:chExt cx="5163702" cy="2105437"/>
            </a:xfrm>
          </p:grpSpPr>
          <p:pic>
            <p:nvPicPr>
              <p:cNvPr id="159" name="Google Shape;159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48598" y="2897851"/>
                <a:ext cx="5120075" cy="1900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" name="Google Shape;160;p6"/>
              <p:cNvSpPr txBox="1"/>
              <p:nvPr/>
            </p:nvSpPr>
            <p:spPr>
              <a:xfrm>
                <a:off x="3844700" y="4674188"/>
                <a:ext cx="2367600" cy="32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6725" lIns="66725" spcFirstLastPara="1" rIns="66725" wrap="square" tIns="66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4"/>
                  <a:buFont typeface="Arial"/>
                  <a:buNone/>
                </a:pPr>
                <a:r>
                  <a:rPr b="0" i="0" lang="de" sz="1094" u="none" cap="none" strike="noStrik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Image source: wikipedia</a:t>
                </a:r>
                <a:endParaRPr b="0" i="0" sz="1094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" name="Google Shape;161;p6"/>
            <p:cNvSpPr txBox="1"/>
            <p:nvPr/>
          </p:nvSpPr>
          <p:spPr>
            <a:xfrm>
              <a:off x="186425" y="1067475"/>
              <a:ext cx="4298400" cy="31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746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300"/>
                <a:buFont typeface="Arial"/>
                <a:buChar char="●"/>
              </a:pPr>
              <a:r>
                <a:rPr b="0" i="0" lang="de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Hierarchical tessellation of sphere into curvilinear quadrilaterals - lowest resolution partition has 12 base pixels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46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300"/>
                <a:buFont typeface="Arial"/>
                <a:buChar char="●"/>
              </a:pPr>
              <a:r>
                <a:rPr b="0" i="0" lang="de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Resolution of the tessellation increases by division of each pixel into four new ones.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46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300"/>
                <a:buFont typeface="Arial"/>
                <a:buChar char="●"/>
              </a:pPr>
              <a:r>
                <a:rPr b="0" i="0" lang="de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Areas of all pixels at a given resolution are identical.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46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300"/>
                <a:buFont typeface="Arial"/>
                <a:buChar char="●"/>
              </a:pPr>
              <a:r>
                <a:rPr b="0" i="0" lang="de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Pixels are distributed on lines of constant latitude.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6"/>
          <p:cNvSpPr txBox="1"/>
          <p:nvPr/>
        </p:nvSpPr>
        <p:spPr>
          <a:xfrm>
            <a:off x="5104750" y="3003625"/>
            <a:ext cx="3768600" cy="1493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Mapping km-scale model output to HEALPix enables </a:t>
            </a:r>
            <a:r>
              <a:rPr b="1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</a:t>
            </a: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analysis and evaluation of global quantities as well as feature analysis at maximum resolution.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703" y="38780"/>
            <a:ext cx="1607925" cy="16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6881425" y="1544275"/>
            <a:ext cx="2355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de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https://zarr.readthedocs.io/en/stable/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394950" y="190875"/>
            <a:ext cx="835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HR ESM data on HEALPix, stored in zarr-format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05980" y="885325"/>
            <a:ext cx="6735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de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output is stored as combination of multiple resolutions and chunks; example from the ICON model: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85" y="1646730"/>
            <a:ext cx="6072842" cy="32198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356827" y="4537738"/>
            <a:ext cx="32034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025" lIns="90000" spcFirstLastPara="1" rIns="90000" wrap="square" tIns="3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de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de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easy.gems.dkrz.de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6423000" y="2363175"/>
            <a:ext cx="272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dataset per zoom level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(0-10)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temporal output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30 minutes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hours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day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750" y="667375"/>
            <a:ext cx="5789584" cy="4323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228600" y="152280"/>
            <a:ext cx="67359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How does it work in the context of ICON model output?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338275" y="1016825"/>
            <a:ext cx="28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6093600" y="1757675"/>
            <a:ext cx="3050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 to 10</a:t>
            </a:r>
            <a:r>
              <a:rPr b="0" baseline="3000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 </a:t>
            </a: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files/chunks per dataset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 to hundreds of Tb per dataset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challenge!!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How to ascertain the data integrity?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9"/>
          <p:cNvGrpSpPr/>
          <p:nvPr/>
        </p:nvGrpSpPr>
        <p:grpSpPr>
          <a:xfrm>
            <a:off x="266702" y="3021374"/>
            <a:ext cx="5314573" cy="2156070"/>
            <a:chOff x="-5846377" y="1162409"/>
            <a:chExt cx="8374681" cy="3397525"/>
          </a:xfrm>
        </p:grpSpPr>
        <p:pic>
          <p:nvPicPr>
            <p:cNvPr id="188" name="Google Shape;188;p9" title="Bildschirmfoto vom 2025-10-10 14-40-12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978520" y="1162409"/>
              <a:ext cx="6506824" cy="3397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9"/>
            <p:cNvSpPr/>
            <p:nvPr/>
          </p:nvSpPr>
          <p:spPr>
            <a:xfrm>
              <a:off x="-5846377" y="2687557"/>
              <a:ext cx="1854000" cy="12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8000" lIns="57125" spcFirstLastPara="1" rIns="57125" wrap="square" tIns="580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6"/>
                <a:buFont typeface="Arial"/>
                <a:buNone/>
              </a:pPr>
              <a:r>
                <a:rPr b="1" i="0" lang="de" sz="1205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zoom 9</a:t>
              </a:r>
              <a:endParaRPr b="1" i="0" sz="120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6"/>
                <a:buFont typeface="Arial"/>
                <a:buNone/>
              </a:pPr>
              <a:r>
                <a:rPr b="0" i="0" lang="de" sz="1205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Single chunk missing</a:t>
              </a:r>
              <a:endParaRPr b="0" i="0" sz="1205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387274" y="762118"/>
            <a:ext cx="5193777" cy="1938685"/>
            <a:chOff x="5579" y="762150"/>
            <a:chExt cx="5575713" cy="2081250"/>
          </a:xfrm>
        </p:grpSpPr>
        <p:sp>
          <p:nvSpPr>
            <p:cNvPr id="191" name="Google Shape;191;p9"/>
            <p:cNvSpPr/>
            <p:nvPr/>
          </p:nvSpPr>
          <p:spPr>
            <a:xfrm>
              <a:off x="5579" y="1440657"/>
              <a:ext cx="1374741" cy="9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2150" spcFirstLastPara="1" rIns="62150" wrap="square" tIns="631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12"/>
                <a:buFont typeface="Arial"/>
                <a:buNone/>
              </a:pPr>
              <a:r>
                <a:rPr b="1" i="0" lang="de" sz="1312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zoom 7</a:t>
              </a:r>
              <a:endParaRPr b="1" i="0" sz="1312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312"/>
                <a:buFont typeface="Arial"/>
                <a:buNone/>
              </a:pPr>
              <a:r>
                <a:rPr b="0" i="0" lang="de" sz="1312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Single chunk missing</a:t>
              </a:r>
              <a:endParaRPr b="0" i="0" sz="1312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9" title="zoom7_MissingChunks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1393" y="762150"/>
              <a:ext cx="4389899" cy="208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9"/>
          <p:cNvSpPr txBox="1"/>
          <p:nvPr/>
        </p:nvSpPr>
        <p:spPr>
          <a:xfrm>
            <a:off x="5626500" y="1245500"/>
            <a:ext cx="34659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 produced and moved across storage tiers (HDD -&gt; S3 -&gt; tape) which could result in missing chunks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Effects could be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wrong chunk count,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uninitialized chunks,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d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chunks Vs zoom levels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0" title="Bildschirmfoto vom 2025-10-10 14-43-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41" y="1089083"/>
            <a:ext cx="5428120" cy="2131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 title="Bildschirmfoto vom 2025-10-10 14-43-3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957" y="2084921"/>
            <a:ext cx="6656300" cy="14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 title="Bildschirmfoto vom 2025-10-10 14-44-34.png"/>
          <p:cNvPicPr preferRelativeResize="0"/>
          <p:nvPr/>
        </p:nvPicPr>
        <p:blipFill rotWithShape="1">
          <a:blip r:embed="rId5">
            <a:alphaModFix/>
          </a:blip>
          <a:srcRect b="0" l="0" r="7842" t="0"/>
          <a:stretch/>
        </p:blipFill>
        <p:spPr>
          <a:xfrm>
            <a:off x="352435" y="3681740"/>
            <a:ext cx="8426823" cy="110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266700" y="581236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rPr b="0" i="0" lang="de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Typical Zarr store</a:t>
            </a:r>
            <a:endParaRPr b="0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719625" y="982525"/>
            <a:ext cx="2286000" cy="852900"/>
          </a:xfrm>
          <a:prstGeom prst="wedgeRoundRectCallout">
            <a:avLst>
              <a:gd fmla="val -46277" name="adj1"/>
              <a:gd fmla="val 32571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names of chunks are numbers!!!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How to ascertain the data integrity?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1"/>
          <p:cNvGrpSpPr/>
          <p:nvPr/>
        </p:nvGrpSpPr>
        <p:grpSpPr>
          <a:xfrm>
            <a:off x="243750" y="750296"/>
            <a:ext cx="8656500" cy="4245300"/>
            <a:chOff x="243750" y="750296"/>
            <a:chExt cx="8656500" cy="4245300"/>
          </a:xfrm>
        </p:grpSpPr>
        <p:sp>
          <p:nvSpPr>
            <p:cNvPr id="209" name="Google Shape;209;p11"/>
            <p:cNvSpPr/>
            <p:nvPr/>
          </p:nvSpPr>
          <p:spPr>
            <a:xfrm>
              <a:off x="243750" y="750296"/>
              <a:ext cx="8656500" cy="42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900"/>
                <a:buFont typeface="Arial"/>
                <a:buNone/>
              </a:pPr>
              <a:r>
                <a:t/>
              </a:r>
              <a:endParaRPr b="1" i="0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11"/>
            <p:cNvGrpSpPr/>
            <p:nvPr/>
          </p:nvGrpSpPr>
          <p:grpSpPr>
            <a:xfrm>
              <a:off x="5574192" y="3008012"/>
              <a:ext cx="3043280" cy="997723"/>
              <a:chOff x="4783225" y="2748800"/>
              <a:chExt cx="3834777" cy="1257212"/>
            </a:xfrm>
          </p:grpSpPr>
          <p:sp>
            <p:nvSpPr>
              <p:cNvPr id="211" name="Google Shape;211;p11"/>
              <p:cNvSpPr/>
              <p:nvPr/>
            </p:nvSpPr>
            <p:spPr>
              <a:xfrm>
                <a:off x="4852702" y="3457012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>
                <a:off x="4814602" y="3183588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4821325" y="2954988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4783225" y="2748800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11"/>
            <p:cNvSpPr/>
            <p:nvPr/>
          </p:nvSpPr>
          <p:spPr>
            <a:xfrm>
              <a:off x="845474" y="2184025"/>
              <a:ext cx="190500" cy="20730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 rot="5400000">
              <a:off x="4516500" y="722899"/>
              <a:ext cx="190800" cy="73710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"/>
            <p:cNvSpPr txBox="1"/>
            <p:nvPr/>
          </p:nvSpPr>
          <p:spPr>
            <a:xfrm>
              <a:off x="3871075" y="4369165"/>
              <a:ext cx="11319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"/>
            <p:cNvSpPr txBox="1"/>
            <p:nvPr/>
          </p:nvSpPr>
          <p:spPr>
            <a:xfrm rot="-5400000">
              <a:off x="-156896" y="3019409"/>
              <a:ext cx="18054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Pressure levels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" name="Google Shape;219;p11"/>
            <p:cNvGrpSpPr/>
            <p:nvPr/>
          </p:nvGrpSpPr>
          <p:grpSpPr>
            <a:xfrm>
              <a:off x="1670063" y="3003530"/>
              <a:ext cx="3043280" cy="997723"/>
              <a:chOff x="4783225" y="2748800"/>
              <a:chExt cx="3834777" cy="1257212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4852702" y="3457012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4814602" y="3183588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>
                <a:off x="4821325" y="2954988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>
                <a:off x="4783225" y="2748800"/>
                <a:ext cx="3765300" cy="549000"/>
              </a:xfrm>
              <a:prstGeom prst="parallelogram">
                <a:avLst>
                  <a:gd fmla="val 53069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550" lIns="72550" spcFirstLastPara="1" rIns="72550" wrap="square" tIns="725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1"/>
                  <a:buFont typeface="Arial"/>
                  <a:buNone/>
                </a:pPr>
                <a:r>
                  <a:t/>
                </a:r>
                <a:endParaRPr b="0" i="0" sz="111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" name="Google Shape;224;p11"/>
            <p:cNvSpPr/>
            <p:nvPr/>
          </p:nvSpPr>
          <p:spPr>
            <a:xfrm>
              <a:off x="1764350" y="3003525"/>
              <a:ext cx="571500" cy="260700"/>
            </a:xfrm>
            <a:prstGeom prst="parallelogram">
              <a:avLst>
                <a:gd fmla="val 53069" name="adj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550" lIns="72550" spcFirstLastPara="1" rIns="72550" wrap="square" tIns="72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1"/>
                <a:buFont typeface="Arial"/>
                <a:buNone/>
              </a:pPr>
              <a:r>
                <a:t/>
              </a:r>
              <a:endParaRPr b="0" i="0" sz="1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5670725" y="3003525"/>
              <a:ext cx="571500" cy="260700"/>
            </a:xfrm>
            <a:prstGeom prst="parallelogram">
              <a:avLst>
                <a:gd fmla="val 53069" name="adj"/>
              </a:avLst>
            </a:prstGeom>
            <a:solidFill>
              <a:srgbClr val="99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2550" lIns="72550" spcFirstLastPara="1" rIns="72550" wrap="square" tIns="72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1"/>
                <a:buFont typeface="Arial"/>
                <a:buNone/>
              </a:pPr>
              <a:r>
                <a:t/>
              </a:r>
              <a:endParaRPr b="0" i="0" sz="11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"/>
            <p:cNvSpPr txBox="1"/>
            <p:nvPr/>
          </p:nvSpPr>
          <p:spPr>
            <a:xfrm>
              <a:off x="2465854" y="3894025"/>
              <a:ext cx="5715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t=0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6302749" y="3900750"/>
              <a:ext cx="9300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t +   t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6650141" y="4032993"/>
              <a:ext cx="190500" cy="1908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2033301" y="2340800"/>
              <a:ext cx="1669800" cy="4932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 flipH="1">
              <a:off x="4460496" y="2347524"/>
              <a:ext cx="1669800" cy="4932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3492325" y="1836650"/>
              <a:ext cx="2353200" cy="4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Mean squared error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11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11"/>
          <p:cNvGrpSpPr/>
          <p:nvPr/>
        </p:nvGrpSpPr>
        <p:grpSpPr>
          <a:xfrm>
            <a:off x="266700" y="692325"/>
            <a:ext cx="7420735" cy="1009650"/>
            <a:chOff x="266700" y="692325"/>
            <a:chExt cx="7420735" cy="1009650"/>
          </a:xfrm>
        </p:grpSpPr>
        <p:sp>
          <p:nvSpPr>
            <p:cNvPr id="234" name="Google Shape;234;p11"/>
            <p:cNvSpPr/>
            <p:nvPr/>
          </p:nvSpPr>
          <p:spPr>
            <a:xfrm>
              <a:off x="266700" y="941574"/>
              <a:ext cx="3520500" cy="52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0000" spcFirstLastPara="1" rIns="90000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900"/>
                <a:buFont typeface="Arial"/>
                <a:buNone/>
              </a:pPr>
              <a:r>
                <a:rPr b="0" i="0" lang="de" sz="19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     Mean Squared Error    </a:t>
              </a:r>
              <a:endPara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900"/>
                <a:buFont typeface="Arial"/>
                <a:buNone/>
              </a:pPr>
              <a:r>
                <a:t/>
              </a:r>
              <a:endParaRPr b="1" i="0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900"/>
                <a:buFont typeface="Arial"/>
                <a:buNone/>
              </a:pPr>
              <a:r>
                <a:t/>
              </a:r>
              <a:endParaRPr b="1" i="0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11" title="MSE_formula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01160" y="692325"/>
              <a:ext cx="4486275" cy="1009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228600" y="750296"/>
            <a:ext cx="86565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1651575" y="4259267"/>
            <a:ext cx="62172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de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ERA5 </a:t>
            </a:r>
            <a:r>
              <a:rPr b="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Geopotential(mon)   1968-2020    250 Km</a:t>
            </a:r>
            <a:r>
              <a:rPr b="0" baseline="3000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  </a:t>
            </a:r>
            <a:r>
              <a:rPr b="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37 pressure levels</a:t>
            </a:r>
            <a:endParaRPr b="0" i="0" sz="13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Mean Squared Error ( MSE )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2" title="ERA_z_M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138" y="1208524"/>
            <a:ext cx="7803426" cy="28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/>
        </p:nvSpPr>
        <p:spPr>
          <a:xfrm>
            <a:off x="1651575" y="3653775"/>
            <a:ext cx="62172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de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ERA5 </a:t>
            </a:r>
            <a:r>
              <a:rPr b="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Ozone mixing (mon)   1990-1997    250 Km</a:t>
            </a:r>
            <a:r>
              <a:rPr b="0" baseline="3000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   </a:t>
            </a:r>
            <a:r>
              <a:rPr b="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37 pressure levels</a:t>
            </a:r>
            <a:endParaRPr b="0" i="0" sz="13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Mean Squared Error ( MSE )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483000" y="4406189"/>
            <a:ext cx="799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800">
                <a:solidFill>
                  <a:schemeClr val="dk2"/>
                </a:solidFill>
              </a:rPr>
              <a:t>It turns out that some issue with measuring instrument(TOMS) in 1995… 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6109500" y="4789500"/>
            <a:ext cx="316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https://www.theozonehole.org/ozone1995.htm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3" title="ERA5_O3_MS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775" y="1016830"/>
            <a:ext cx="7260445" cy="258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266700" y="235955"/>
            <a:ext cx="67359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Mean Squared Error ( MSE )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1213150" y="3877025"/>
            <a:ext cx="2084100" cy="38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de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ICON  </a:t>
            </a:r>
            <a:r>
              <a:rPr b="0" i="0" lang="de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Geopotential(P1D)   </a:t>
            </a:r>
            <a:endParaRPr b="0" i="0" sz="13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4" title="ICON_zg_M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175" y="1170217"/>
            <a:ext cx="7260445" cy="258682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 txBox="1"/>
          <p:nvPr/>
        </p:nvSpPr>
        <p:spPr>
          <a:xfrm>
            <a:off x="1355238" y="4265168"/>
            <a:ext cx="643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turns out that those abnormal streaks are due to some issue in computing daily values from model time step…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266700" y="235950"/>
            <a:ext cx="82677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 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204800" y="877575"/>
            <a:ext cx="8507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Structural Similarity Index Measure (SSIM) 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=</a:t>
            </a:r>
            <a:r>
              <a:rPr b="0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f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 </a:t>
            </a:r>
            <a:r>
              <a:rPr b="1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uminance, </a:t>
            </a:r>
            <a:r>
              <a:rPr b="1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ontrast, </a:t>
            </a:r>
            <a:r>
              <a:rPr b="1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1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tructure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 b="0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5" title="SSIM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2278337"/>
            <a:ext cx="72961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5" title="ls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300037"/>
            <a:ext cx="8839198" cy="102727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 txBox="1"/>
          <p:nvPr/>
        </p:nvSpPr>
        <p:spPr>
          <a:xfrm>
            <a:off x="7197212" y="4594125"/>
            <a:ext cx="17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Z. Wang et al 2004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>
            <a:off x="266700" y="235950"/>
            <a:ext cx="8267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 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Similarity Index Measure (SSIM)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67425" y="4108025"/>
            <a:ext cx="90765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Evaluation of entire images for overall similarity -&gt; global ESM simulation fields?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However, difficult to realize for high-resolution climate simulation data (too many pixels)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6" title="SSIM_MSE_metho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151" y="1001550"/>
            <a:ext cx="7383501" cy="287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6"/>
          <p:cNvSpPr txBox="1"/>
          <p:nvPr/>
        </p:nvSpPr>
        <p:spPr>
          <a:xfrm>
            <a:off x="6469190" y="3800205"/>
            <a:ext cx="2674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de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https://scikit-image.org/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/>
          <p:nvPr/>
        </p:nvSpPr>
        <p:spPr>
          <a:xfrm>
            <a:off x="266700" y="235950"/>
            <a:ext cx="8267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 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7" title="Baker_et_al.png"/>
          <p:cNvPicPr preferRelativeResize="0"/>
          <p:nvPr/>
        </p:nvPicPr>
        <p:blipFill rotWithShape="1">
          <a:blip r:embed="rId3">
            <a:alphaModFix/>
          </a:blip>
          <a:srcRect b="0" l="0" r="0" t="16365"/>
          <a:stretch/>
        </p:blipFill>
        <p:spPr>
          <a:xfrm>
            <a:off x="609925" y="1254893"/>
            <a:ext cx="7581250" cy="1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 txBox="1"/>
          <p:nvPr/>
        </p:nvSpPr>
        <p:spPr>
          <a:xfrm>
            <a:off x="203250" y="4561150"/>
            <a:ext cx="836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Applicable to regular grids; HR model output is often unstructured, e.g. HEALPiX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264325" y="805069"/>
            <a:ext cx="8267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Structural Similarity Index Measure (DSSIM) </a:t>
            </a:r>
            <a:r>
              <a:rPr b="0" i="0" lang="de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(Baker et al., 202</a:t>
            </a:r>
            <a:r>
              <a:rPr lang="de" sz="1300" u="sng">
                <a:solidFill>
                  <a:schemeClr val="hlink"/>
                </a:solidFill>
                <a:hlinkClick r:id="rId5"/>
              </a:rPr>
              <a:t>4</a:t>
            </a:r>
            <a:r>
              <a:rPr b="0" i="0" lang="de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)</a:t>
            </a:r>
            <a:endParaRPr b="0" i="0" sz="13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7" title="Bildschirmfoto vom 2025-11-06 22-10-43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013" y="3053101"/>
            <a:ext cx="6271075" cy="14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/>
          <p:nvPr/>
        </p:nvSpPr>
        <p:spPr>
          <a:xfrm>
            <a:off x="266700" y="235950"/>
            <a:ext cx="82677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 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Structural Similarity Index Measure (DSSIM)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18"/>
          <p:cNvGrpSpPr/>
          <p:nvPr/>
        </p:nvGrpSpPr>
        <p:grpSpPr>
          <a:xfrm>
            <a:off x="2570176" y="997350"/>
            <a:ext cx="6465000" cy="3992899"/>
            <a:chOff x="2570176" y="997350"/>
            <a:chExt cx="6465000" cy="3992899"/>
          </a:xfrm>
        </p:grpSpPr>
        <p:sp>
          <p:nvSpPr>
            <p:cNvPr id="293" name="Google Shape;293;p18"/>
            <p:cNvSpPr txBox="1"/>
            <p:nvPr/>
          </p:nvSpPr>
          <p:spPr>
            <a:xfrm>
              <a:off x="2570176" y="4102549"/>
              <a:ext cx="6465000" cy="8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Adapted to HEALPix grid using ‘healpix-convolution’ package for constructing the gaussian kernel 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de" sz="1800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3"/>
                </a:rPr>
                <a:t>https://healpix-convolution.readthedocs.io/en/latest/index.html </a:t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4" name="Google Shape;294;p18" title="kernelZoom5-Loop.gif"/>
            <p:cNvPicPr preferRelativeResize="0"/>
            <p:nvPr/>
          </p:nvPicPr>
          <p:blipFill rotWithShape="1">
            <a:blip r:embed="rId4">
              <a:alphaModFix/>
            </a:blip>
            <a:srcRect b="0" l="17349" r="23009" t="0"/>
            <a:stretch/>
          </p:blipFill>
          <p:spPr>
            <a:xfrm>
              <a:off x="2774250" y="997350"/>
              <a:ext cx="5271452" cy="3156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" name="Google Shape;295;p18"/>
          <p:cNvSpPr txBox="1"/>
          <p:nvPr/>
        </p:nvSpPr>
        <p:spPr>
          <a:xfrm>
            <a:off x="38371" y="2085350"/>
            <a:ext cx="27270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d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Animation of kernel for various grid cell locations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/>
          <p:nvPr/>
        </p:nvSpPr>
        <p:spPr>
          <a:xfrm>
            <a:off x="266700" y="235950"/>
            <a:ext cx="82677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ascertain the data quality? 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Structural Similarity Index Measure (DSSIM)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9" title="Tas_ref_test366_zoom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22052"/>
            <a:ext cx="8839198" cy="340755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 rot="-196">
            <a:off x="1766699" y="4072725"/>
            <a:ext cx="52677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de" sz="4900">
                <a:solidFill>
                  <a:srgbClr val="38761D"/>
                </a:solidFill>
              </a:rPr>
              <a:t>!!!</a:t>
            </a:r>
            <a:r>
              <a:rPr b="0" i="0" lang="de" sz="4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DSSIM = 0.56!!!</a:t>
            </a:r>
            <a:endParaRPr b="0" i="0" sz="4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266700" y="235950"/>
            <a:ext cx="82677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 sz="1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266700" y="756200"/>
            <a:ext cx="8718900" cy="3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Km-scale global (physical) ESM simulation data require </a:t>
            </a: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novel data layout and data formats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allow processing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 of cloud native formats like </a:t>
            </a: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Zarr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(in small chunks) and </a:t>
            </a: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HEALPix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require adaptation of techniques to enable ensuring data integrity and data quality .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integrity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(erroneous chunks) can be verified using </a:t>
            </a: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simple method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Adapted DSSIM to HEALPix grid</a:t>
            </a: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which enables to assess data quality almost at the level of visual inspection.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Outlook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Publication of code for community reuse</a:t>
            </a:r>
            <a:endParaRPr b="0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0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Possibility to </a:t>
            </a:r>
            <a:r>
              <a:rPr b="1" i="0" lang="de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incorporate into HR ESM workflows</a:t>
            </a:r>
            <a:endParaRPr b="1" i="0" sz="1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/>
          <p:nvPr/>
        </p:nvSpPr>
        <p:spPr>
          <a:xfrm>
            <a:off x="476250" y="2040612"/>
            <a:ext cx="8191622" cy="10626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