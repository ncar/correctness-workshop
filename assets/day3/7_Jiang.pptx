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Lst>
  <p:sldSz cy="5143500" cx="9144000"/>
  <p:notesSz cx="6858000" cy="9144000"/>
  <p:embeddedFontLst>
    <p:embeddedFont>
      <p:font typeface="Proxima Nova"/>
      <p:regular r:id="rId66"/>
      <p:bold r:id="rId67"/>
      <p:italic r:id="rId68"/>
      <p:boldItalic r:id="rId69"/>
    </p:embeddedFont>
    <p:embeddedFont>
      <p:font typeface="Roboto"/>
      <p:regular r:id="rId70"/>
      <p:bold r:id="rId71"/>
      <p:italic r:id="rId72"/>
      <p:boldItalic r:id="rId73"/>
    </p:embeddedFont>
    <p:embeddedFont>
      <p:font typeface="Roboto Mono"/>
      <p:regular r:id="rId74"/>
      <p:bold r:id="rId75"/>
      <p:italic r:id="rId76"/>
      <p:boldItalic r:id="rId77"/>
    </p:embeddedFont>
    <p:embeddedFont>
      <p:font typeface="Merriweather"/>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Merriweather-italic.fntdata"/><Relationship Id="rId81" Type="http://schemas.openxmlformats.org/officeDocument/2006/relationships/font" Target="fonts/Merriweather-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oboto-boldItalic.fntdata"/><Relationship Id="rId72" Type="http://schemas.openxmlformats.org/officeDocument/2006/relationships/font" Target="fonts/Roboto-italic.fntdata"/><Relationship Id="rId31" Type="http://schemas.openxmlformats.org/officeDocument/2006/relationships/slide" Target="slides/slide26.xml"/><Relationship Id="rId75" Type="http://schemas.openxmlformats.org/officeDocument/2006/relationships/font" Target="fonts/RobotoMono-bold.fntdata"/><Relationship Id="rId30" Type="http://schemas.openxmlformats.org/officeDocument/2006/relationships/slide" Target="slides/slide25.xml"/><Relationship Id="rId74" Type="http://schemas.openxmlformats.org/officeDocument/2006/relationships/font" Target="fonts/RobotoMono-regular.fntdata"/><Relationship Id="rId33" Type="http://schemas.openxmlformats.org/officeDocument/2006/relationships/slide" Target="slides/slide28.xml"/><Relationship Id="rId77" Type="http://schemas.openxmlformats.org/officeDocument/2006/relationships/font" Target="fonts/RobotoMono-boldItalic.fntdata"/><Relationship Id="rId32" Type="http://schemas.openxmlformats.org/officeDocument/2006/relationships/slide" Target="slides/slide27.xml"/><Relationship Id="rId76" Type="http://schemas.openxmlformats.org/officeDocument/2006/relationships/font" Target="fonts/RobotoMono-italic.fntdata"/><Relationship Id="rId35" Type="http://schemas.openxmlformats.org/officeDocument/2006/relationships/slide" Target="slides/slide30.xml"/><Relationship Id="rId79" Type="http://schemas.openxmlformats.org/officeDocument/2006/relationships/font" Target="fonts/Merriweather-bold.fntdata"/><Relationship Id="rId34" Type="http://schemas.openxmlformats.org/officeDocument/2006/relationships/slide" Target="slides/slide29.xml"/><Relationship Id="rId78" Type="http://schemas.openxmlformats.org/officeDocument/2006/relationships/font" Target="fonts/Merriweather-regular.fntdata"/><Relationship Id="rId71" Type="http://schemas.openxmlformats.org/officeDocument/2006/relationships/font" Target="fonts/Roboto-bold.fntdata"/><Relationship Id="rId70" Type="http://schemas.openxmlformats.org/officeDocument/2006/relationships/font" Target="fonts/Roboto-regular.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font" Target="fonts/ProximaNova-regular.fntdata"/><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font" Target="fonts/ProximaNova-italic.fntdata"/><Relationship Id="rId23" Type="http://schemas.openxmlformats.org/officeDocument/2006/relationships/slide" Target="slides/slide18.xml"/><Relationship Id="rId67" Type="http://schemas.openxmlformats.org/officeDocument/2006/relationships/font" Target="fonts/ProximaNova-bold.fntdata"/><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ProximaNova-boldItalic.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9f621392c0_0_5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9f621392c0_0_5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9f621392c0_0_5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9f621392c0_0_5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9f621392c0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9f621392c0_0_5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a15327cc9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a15327cc9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11e1cc5c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11e1cc5c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9f621392c0_0_5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9f621392c0_0_5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9f621392c0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9f621392c0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f621392c0_0_5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f621392c0_0_5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f621392c0_0_5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f621392c0_0_5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a11e1cc5cc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a11e1cc5cc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a11e1cc5c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a11e1cc5c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11e1cc5c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11e1cc5c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11e1cc5cc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11e1cc5cc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a11e1cc5cc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a11e1cc5cc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a11e1cc5cc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a11e1cc5cc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a11e1cc5cc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a11e1cc5cc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11e1cc5cc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a11e1cc5cc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11e1cc5cc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11e1cc5c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a11e1cc5cc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3a11e1cc5cc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11e1cc5cc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11e1cc5c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a11e1cc5cc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a11e1cc5cc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a11e1cc5c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a11e1cc5c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a11e1cc5c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a11e1cc5c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a11e1cc5cc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a11e1cc5cc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a11e1cc5cc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a11e1cc5cc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a11e1cc5cc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a11e1cc5cc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11e1cc5cc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11e1cc5cc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11e1cc5cc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11e1cc5cc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a11e1cc5cc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a11e1cc5cc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11e1cc5cc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11e1cc5cc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11e1cc5c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a11e1cc5c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a11e1cc5cc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a11e1cc5cc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11e1cc5cc_0_3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a11e1cc5cc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a11e1cc5cc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a11e1cc5cc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a11e1cc5cc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a11e1cc5cc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a11e1cc5cc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a11e1cc5cc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a11e1cc5cc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a11e1cc5cc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11e1cc5cc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a11e1cc5cc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a11e1cc5cc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3a11e1cc5cc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a11e1cc5cc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a11e1cc5cc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a11e1cc5cc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3a11e1cc5cc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a11e1cc5cc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a11e1cc5cc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a11e1cc5cc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a11e1cc5cc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a11e1cc5cc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a11e1cc5cc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a11e1cc5cc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a11e1cc5cc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a11e1cc5cc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a11e1cc5cc_0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a11e1cc5cc_0_2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a11e1cc5cc_0_2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a11e1cc5cc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a11e1cc5cc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a11e1cc5cc_0_2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a11e1cc5cc_0_2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a11e1cc5cc_0_2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a11e1cc5cc_0_2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a11e1cc5cc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a11e1cc5cc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a11e1cc5cc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a11e1cc5cc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a11e1cc5cc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a11e1cc5cc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a11e1cc5cc_0_3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3a11e1cc5cc_0_3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3a11e1cc5cc_0_3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3a11e1cc5cc_0_3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a11e1cc5cc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3a11e1cc5cc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a11e1cc5cc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3a11e1cc5cc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a11e1cc5cc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a11e1cc5cc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a11e1cc5cc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a11e1cc5cc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4.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3.png"/><Relationship Id="rId4" Type="http://schemas.openxmlformats.org/officeDocument/2006/relationships/image" Target="../media/image9.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0.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311708" y="1676550"/>
            <a:ext cx="8520600" cy="20526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Characterizing and Correcting Non-Standard Arithmetic in GPUs</a:t>
            </a:r>
            <a:endParaRPr/>
          </a:p>
          <a:p>
            <a:pPr indent="0" lvl="0" marL="0" rtl="0" algn="l">
              <a:spcBef>
                <a:spcPts val="0"/>
              </a:spcBef>
              <a:spcAft>
                <a:spcPts val="0"/>
              </a:spcAft>
              <a:buNone/>
            </a:pPr>
            <a:r>
              <a:t/>
            </a:r>
            <a:endParaRPr sz="1911"/>
          </a:p>
          <a:p>
            <a:pPr indent="0" lvl="0" marL="0" rtl="0" algn="l">
              <a:spcBef>
                <a:spcPts val="0"/>
              </a:spcBef>
              <a:spcAft>
                <a:spcPts val="0"/>
              </a:spcAft>
              <a:buNone/>
            </a:pPr>
            <a:r>
              <a:rPr lang="en"/>
              <a:t>for Scientific Computing</a:t>
            </a:r>
            <a:endParaRPr/>
          </a:p>
        </p:txBody>
      </p:sp>
      <p:sp>
        <p:nvSpPr>
          <p:cNvPr id="60" name="Google Shape;60;p13"/>
          <p:cNvSpPr txBox="1"/>
          <p:nvPr>
            <p:ph idx="1" type="subTitle"/>
          </p:nvPr>
        </p:nvSpPr>
        <p:spPr>
          <a:xfrm>
            <a:off x="311700" y="3659100"/>
            <a:ext cx="85206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Paul Jiang</a:t>
            </a:r>
            <a:r>
              <a:rPr lang="en"/>
              <a:t>, Benjamin Valpey, Ganesh Gopalakrishnan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solidFill>
                  <a:srgbClr val="333333"/>
                </a:solidFill>
                <a:highlight>
                  <a:srgbClr val="FDFDFA"/>
                </a:highlight>
              </a:rPr>
              <a:t>Modern computing relies on hardware accelerators for high performance</a:t>
            </a:r>
            <a:endParaRPr>
              <a:solidFill>
                <a:srgbClr val="333333"/>
              </a:solidFill>
              <a:highlight>
                <a:srgbClr val="FDFDFA"/>
              </a:highlight>
            </a:endParaRPr>
          </a:p>
          <a:p>
            <a:pPr indent="-342900" lvl="1" marL="914400" rtl="0" algn="l">
              <a:lnSpc>
                <a:spcPct val="115000"/>
              </a:lnSpc>
              <a:spcBef>
                <a:spcPts val="0"/>
              </a:spcBef>
              <a:spcAft>
                <a:spcPts val="0"/>
              </a:spcAft>
              <a:buSzPts val="1800"/>
              <a:buChar char="○"/>
            </a:pPr>
            <a:r>
              <a:rPr lang="en" sz="1800">
                <a:solidFill>
                  <a:srgbClr val="333333"/>
                </a:solidFill>
                <a:highlight>
                  <a:srgbClr val="FDFDFA"/>
                </a:highlight>
              </a:rPr>
              <a:t>GPUs have embraced these specialized units, commonly known as Tensor Cores, to accelerate matrix operations of the form:</a:t>
            </a:r>
            <a:endParaRPr sz="1800">
              <a:solidFill>
                <a:srgbClr val="333333"/>
              </a:solidFill>
              <a:highlight>
                <a:srgbClr val="FDFDFA"/>
              </a:highlight>
            </a:endParaRPr>
          </a:p>
          <a:p>
            <a:pPr indent="0" lvl="0" marL="0" rtl="0" algn="l">
              <a:lnSpc>
                <a:spcPct val="115000"/>
              </a:lnSpc>
              <a:spcBef>
                <a:spcPts val="2300"/>
              </a:spcBef>
              <a:spcAft>
                <a:spcPts val="0"/>
              </a:spcAft>
              <a:buNone/>
            </a:pPr>
            <a:r>
              <a:t/>
            </a:r>
            <a:endParaRPr sz="3600">
              <a:solidFill>
                <a:schemeClr val="dk1"/>
              </a:solidFill>
              <a:highlight>
                <a:srgbClr val="FDFDFA"/>
              </a:highlight>
            </a:endParaRPr>
          </a:p>
          <a:p>
            <a:pPr indent="-342900" lvl="0" marL="457200" rtl="0" algn="l">
              <a:lnSpc>
                <a:spcPct val="115000"/>
              </a:lnSpc>
              <a:spcBef>
                <a:spcPts val="2300"/>
              </a:spcBef>
              <a:spcAft>
                <a:spcPts val="0"/>
              </a:spcAft>
              <a:buSzPts val="1800"/>
              <a:buChar char="●"/>
            </a:pPr>
            <a:r>
              <a:rPr lang="en">
                <a:solidFill>
                  <a:srgbClr val="333333"/>
                </a:solidFill>
                <a:highlight>
                  <a:srgbClr val="FDFDFA"/>
                </a:highlight>
              </a:rPr>
              <a:t>Until recently, the precise semantics of these units were proprietary and effectively a “black box”</a:t>
            </a:r>
            <a:endParaRPr/>
          </a:p>
        </p:txBody>
      </p:sp>
      <p:pic>
        <p:nvPicPr>
          <p:cNvPr id="67" name="Google Shape;67;p14" title="tensor core arithmetic.jpg"/>
          <p:cNvPicPr preferRelativeResize="0"/>
          <p:nvPr/>
        </p:nvPicPr>
        <p:blipFill>
          <a:blip r:embed="rId3">
            <a:alphaModFix/>
          </a:blip>
          <a:stretch>
            <a:fillRect/>
          </a:stretch>
        </p:blipFill>
        <p:spPr>
          <a:xfrm>
            <a:off x="375200" y="2399750"/>
            <a:ext cx="4122102" cy="92183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73" name="Google Shape;73;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a:bodyPr>
          <a:lstStyle/>
          <a:p>
            <a:pPr indent="-344815" lvl="0" marL="457200" rtl="0" algn="l">
              <a:lnSpc>
                <a:spcPct val="115000"/>
              </a:lnSpc>
              <a:spcBef>
                <a:spcPts val="0"/>
              </a:spcBef>
              <a:spcAft>
                <a:spcPts val="0"/>
              </a:spcAft>
              <a:buClr>
                <a:srgbClr val="333333"/>
              </a:buClr>
              <a:buSzPct val="100000"/>
              <a:buChar char="●"/>
            </a:pPr>
            <a:r>
              <a:rPr lang="en" sz="7320">
                <a:solidFill>
                  <a:srgbClr val="333333"/>
                </a:solidFill>
                <a:highlight>
                  <a:srgbClr val="FDFDFA"/>
                </a:highlight>
              </a:rPr>
              <a:t>T</a:t>
            </a:r>
            <a:r>
              <a:rPr lang="en" sz="7320">
                <a:solidFill>
                  <a:srgbClr val="333333"/>
                </a:solidFill>
                <a:highlight>
                  <a:srgbClr val="FDFDFA"/>
                </a:highlight>
              </a:rPr>
              <a:t>hrough recent work by Fasi</a:t>
            </a:r>
            <a:r>
              <a:rPr baseline="30000" lang="en" sz="7320">
                <a:solidFill>
                  <a:srgbClr val="333333"/>
                </a:solidFill>
                <a:highlight>
                  <a:srgbClr val="FDFDFA"/>
                </a:highlight>
              </a:rPr>
              <a:t>1</a:t>
            </a:r>
            <a:r>
              <a:rPr lang="en" sz="7320">
                <a:solidFill>
                  <a:srgbClr val="333333"/>
                </a:solidFill>
                <a:highlight>
                  <a:srgbClr val="FDFDFA"/>
                </a:highlight>
              </a:rPr>
              <a:t>, Li</a:t>
            </a:r>
            <a:r>
              <a:rPr baseline="30000" lang="en" sz="7320">
                <a:solidFill>
                  <a:srgbClr val="333333"/>
                </a:solidFill>
                <a:highlight>
                  <a:srgbClr val="FDFDFA"/>
                </a:highlight>
              </a:rPr>
              <a:t>2</a:t>
            </a:r>
            <a:r>
              <a:rPr lang="en" sz="7320">
                <a:solidFill>
                  <a:srgbClr val="333333"/>
                </a:solidFill>
                <a:highlight>
                  <a:srgbClr val="FDFDFA"/>
                </a:highlight>
              </a:rPr>
              <a:t>, Mantas</a:t>
            </a:r>
            <a:r>
              <a:rPr baseline="30000" lang="en" sz="7320">
                <a:solidFill>
                  <a:srgbClr val="333333"/>
                </a:solidFill>
                <a:highlight>
                  <a:srgbClr val="FDFDFA"/>
                </a:highlight>
              </a:rPr>
              <a:t>3</a:t>
            </a:r>
            <a:r>
              <a:rPr lang="en" sz="7320">
                <a:solidFill>
                  <a:srgbClr val="333333"/>
                </a:solidFill>
                <a:highlight>
                  <a:srgbClr val="FDFDFA"/>
                </a:highlight>
              </a:rPr>
              <a:t>, and Valpey</a:t>
            </a:r>
            <a:r>
              <a:rPr baseline="30000" lang="en" sz="7320">
                <a:solidFill>
                  <a:srgbClr val="333333"/>
                </a:solidFill>
                <a:highlight>
                  <a:srgbClr val="FDFDFA"/>
                </a:highlight>
              </a:rPr>
              <a:t>4</a:t>
            </a:r>
            <a:r>
              <a:rPr lang="en" sz="7320">
                <a:solidFill>
                  <a:srgbClr val="333333"/>
                </a:solidFill>
                <a:highlight>
                  <a:srgbClr val="FDFDFA"/>
                </a:highlight>
              </a:rPr>
              <a:t> that we now understand how these hardwares function</a:t>
            </a:r>
            <a:endParaRPr sz="7320">
              <a:solidFill>
                <a:srgbClr val="333333"/>
              </a:solidFill>
              <a:highlight>
                <a:srgbClr val="FDFDFA"/>
              </a:highlight>
            </a:endParaRPr>
          </a:p>
          <a:p>
            <a:pPr indent="-344815" lvl="1" marL="914400" rtl="0" algn="l">
              <a:lnSpc>
                <a:spcPct val="115000"/>
              </a:lnSpc>
              <a:spcBef>
                <a:spcPts val="0"/>
              </a:spcBef>
              <a:spcAft>
                <a:spcPts val="0"/>
              </a:spcAft>
              <a:buClr>
                <a:srgbClr val="333333"/>
              </a:buClr>
              <a:buSzPct val="100000"/>
              <a:buChar char="○"/>
            </a:pPr>
            <a:r>
              <a:rPr lang="en" sz="7320">
                <a:solidFill>
                  <a:srgbClr val="333333"/>
                </a:solidFill>
                <a:highlight>
                  <a:srgbClr val="FDFDFA"/>
                </a:highlight>
              </a:rPr>
              <a:t>However, sometimes simply understanding the semantics is not enoug</a:t>
            </a:r>
            <a:r>
              <a:rPr lang="en" sz="7320">
                <a:solidFill>
                  <a:srgbClr val="333333"/>
                </a:solidFill>
                <a:highlight>
                  <a:srgbClr val="FDFDFA"/>
                </a:highlight>
              </a:rPr>
              <a:t>h</a:t>
            </a:r>
            <a:endParaRPr sz="7320">
              <a:solidFill>
                <a:srgbClr val="333333"/>
              </a:solidFill>
              <a:highlight>
                <a:srgbClr val="FDFDFA"/>
              </a:highlight>
            </a:endParaRPr>
          </a:p>
          <a:p>
            <a:pPr indent="-344815" lvl="0" marL="457200" rtl="0" algn="l">
              <a:lnSpc>
                <a:spcPct val="115000"/>
              </a:lnSpc>
              <a:spcBef>
                <a:spcPts val="0"/>
              </a:spcBef>
              <a:spcAft>
                <a:spcPts val="0"/>
              </a:spcAft>
              <a:buClr>
                <a:srgbClr val="333333"/>
              </a:buClr>
              <a:buSzPct val="100000"/>
              <a:buChar char="●"/>
            </a:pPr>
            <a:r>
              <a:rPr lang="en" sz="7320">
                <a:solidFill>
                  <a:srgbClr val="333333"/>
                </a:solidFill>
                <a:highlight>
                  <a:srgbClr val="FDFDFA"/>
                </a:highlight>
              </a:rPr>
              <a:t>Early work from Fasi and Mantas demonstrated a </a:t>
            </a:r>
            <a:r>
              <a:rPr lang="en" sz="7320">
                <a:solidFill>
                  <a:srgbClr val="333333"/>
                </a:solidFill>
                <a:highlight>
                  <a:srgbClr val="FDFDFA"/>
                </a:highlight>
              </a:rPr>
              <a:t>phenomenon</a:t>
            </a:r>
            <a:r>
              <a:rPr lang="en" sz="7320">
                <a:solidFill>
                  <a:srgbClr val="333333"/>
                </a:solidFill>
                <a:highlight>
                  <a:srgbClr val="FDFDFA"/>
                </a:highlight>
              </a:rPr>
              <a:t> emergent from the non-standard behavior of Tensor Core accumulation: </a:t>
            </a:r>
            <a:r>
              <a:rPr b="1" lang="en" sz="7320">
                <a:solidFill>
                  <a:schemeClr val="dk1"/>
                </a:solidFill>
                <a:highlight>
                  <a:srgbClr val="FDFDFA"/>
                </a:highlight>
              </a:rPr>
              <a:t>non-monotonicity</a:t>
            </a:r>
            <a:endParaRPr sz="7320">
              <a:solidFill>
                <a:schemeClr val="dk1"/>
              </a:solidFill>
              <a:highlight>
                <a:srgbClr val="FDFDFA"/>
              </a:highlight>
            </a:endParaRPr>
          </a:p>
          <a:p>
            <a:pPr indent="-344815" lvl="0" marL="457200" rtl="0" algn="l">
              <a:lnSpc>
                <a:spcPct val="115000"/>
              </a:lnSpc>
              <a:spcBef>
                <a:spcPts val="0"/>
              </a:spcBef>
              <a:spcAft>
                <a:spcPts val="0"/>
              </a:spcAft>
              <a:buClr>
                <a:srgbClr val="333333"/>
              </a:buClr>
              <a:buSzPct val="100000"/>
              <a:buChar char="●"/>
            </a:pPr>
            <a:r>
              <a:rPr lang="en" sz="7320">
                <a:solidFill>
                  <a:srgbClr val="333333"/>
                </a:solidFill>
                <a:highlight>
                  <a:srgbClr val="FDFDFA"/>
                </a:highlight>
              </a:rPr>
              <a:t>Non-monotonicity can violate basic assumptions in numerically sensitive code, affecting convergence, error bounds, and stability</a:t>
            </a:r>
            <a:endParaRPr sz="7320">
              <a:solidFill>
                <a:srgbClr val="333333"/>
              </a:solidFill>
              <a:highlight>
                <a:srgbClr val="FDFDFA"/>
              </a:highlight>
            </a:endParaRPr>
          </a:p>
          <a:p>
            <a:pPr indent="0" lvl="0" marL="0" rtl="0" algn="l">
              <a:lnSpc>
                <a:spcPct val="115000"/>
              </a:lnSpc>
              <a:spcBef>
                <a:spcPts val="1900"/>
              </a:spcBef>
              <a:spcAft>
                <a:spcPts val="1200"/>
              </a:spcAft>
              <a:buNone/>
            </a:pPr>
            <a:r>
              <a:t/>
            </a:r>
            <a:endParaRPr/>
          </a:p>
        </p:txBody>
      </p:sp>
      <p:sp>
        <p:nvSpPr>
          <p:cNvPr id="74" name="Google Shape;74;p15"/>
          <p:cNvSpPr txBox="1"/>
          <p:nvPr/>
        </p:nvSpPr>
        <p:spPr>
          <a:xfrm>
            <a:off x="167850" y="4230475"/>
            <a:ext cx="8808300" cy="70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a:ea typeface="Roboto"/>
                <a:cs typeface="Roboto"/>
                <a:sym typeface="Roboto"/>
              </a:rPr>
              <a:t>[1] Massimiliano Fasi, Nicholas J Higham, Mantas Mikaitis, and Srikara Pranesh. Numerical Behavior of NVIDIA Tensor Cores. PeerJ Computer Science, 7:e330, 2021.</a:t>
            </a:r>
            <a:endParaRPr sz="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600">
                <a:solidFill>
                  <a:schemeClr val="dk1"/>
                </a:solidFill>
                <a:latin typeface="Roboto"/>
                <a:ea typeface="Roboto"/>
                <a:cs typeface="Roboto"/>
                <a:sym typeface="Roboto"/>
              </a:rPr>
              <a:t>[2] Xinyi Li, Ang Li, Bo Fang, Katarzyna Swirydowicz, Ignacio Laguna, and Ganesh Gopalakrishnan. FTTN: Feature-Targeted Testing for Numerical Properties of nvidia &amp; AMD Matrix Accelerators. In 2024 IEEE/ACM 24th International Symposium on Cluster, Cloud and Internet Computing (CCGrid). IEEE, 2024.</a:t>
            </a:r>
            <a:endParaRPr sz="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600">
                <a:solidFill>
                  <a:schemeClr val="dk1"/>
                </a:solidFill>
                <a:latin typeface="Roboto"/>
                <a:ea typeface="Roboto"/>
                <a:cs typeface="Roboto"/>
                <a:sym typeface="Roboto"/>
              </a:rPr>
              <a:t>[3] Mantas Mikaitis. Monotonicity of multi-term floating-point adders. IEEE Transactions on Computers, 73(6):1531–1543, 2024.</a:t>
            </a:r>
            <a:endParaRPr sz="6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 sz="600">
                <a:solidFill>
                  <a:schemeClr val="dk1"/>
                </a:solidFill>
                <a:latin typeface="Roboto"/>
                <a:ea typeface="Roboto"/>
                <a:cs typeface="Roboto"/>
                <a:sym typeface="Roboto"/>
              </a:rPr>
              <a:t>[4] Benjamin Valpey, Xinyi Li, Sreepathi Pai, and Ganesh Gopalakrishnan. An SMT Formalization of Mixed-Precision Matrix Multiplication: Modeling Three Generations of Tensor Cores. In NASA Formal Methods Symposium, pages 360–379, Cham, Jun 2025. Springer Nature Switzerland.</a:t>
            </a:r>
            <a:endParaRPr sz="6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6"/>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Char char="●"/>
            </a:pPr>
            <a:r>
              <a:rPr b="1" lang="en" sz="1800">
                <a:solidFill>
                  <a:schemeClr val="dk1"/>
                </a:solidFill>
                <a:highlight>
                  <a:srgbClr val="FDFDFA"/>
                </a:highlight>
              </a:rPr>
              <a:t>Non-monotonicity </a:t>
            </a:r>
            <a:r>
              <a:rPr lang="en" sz="1800">
                <a:solidFill>
                  <a:schemeClr val="dk1"/>
                </a:solidFill>
                <a:highlight>
                  <a:srgbClr val="FDFDFA"/>
                </a:highlight>
              </a:rPr>
              <a:t>occurs when increasing an operand decreases result’s magnitude</a:t>
            </a:r>
            <a:endParaRPr sz="1800">
              <a:solidFill>
                <a:schemeClr val="dk1"/>
              </a:solidFill>
              <a:highlight>
                <a:srgbClr val="FDFDFA"/>
              </a:highlight>
            </a:endParaRPr>
          </a:p>
          <a:p>
            <a:pPr indent="0" lvl="0" marL="457200" rtl="0" algn="l">
              <a:lnSpc>
                <a:spcPct val="115000"/>
              </a:lnSpc>
              <a:spcBef>
                <a:spcPts val="0"/>
              </a:spcBef>
              <a:spcAft>
                <a:spcPts val="0"/>
              </a:spcAft>
              <a:buNone/>
            </a:pPr>
            <a:r>
              <a:t/>
            </a:r>
            <a:endParaRPr sz="1800">
              <a:solidFill>
                <a:schemeClr val="dk1"/>
              </a:solidFill>
              <a:highlight>
                <a:srgbClr val="FDFDFA"/>
              </a:highlight>
            </a:endParaRPr>
          </a:p>
          <a:p>
            <a:pPr indent="-342900" lvl="0" marL="457200" rtl="0" algn="l">
              <a:lnSpc>
                <a:spcPct val="115000"/>
              </a:lnSpc>
              <a:spcBef>
                <a:spcPts val="0"/>
              </a:spcBef>
              <a:spcAft>
                <a:spcPts val="0"/>
              </a:spcAft>
              <a:buClr>
                <a:schemeClr val="dk1"/>
              </a:buClr>
              <a:buSzPts val="1800"/>
              <a:buChar char="●"/>
            </a:pPr>
            <a:r>
              <a:rPr lang="en" sz="1800">
                <a:solidFill>
                  <a:schemeClr val="dk1"/>
                </a:solidFill>
                <a:highlight>
                  <a:srgbClr val="FDFDFA"/>
                </a:highlight>
              </a:rPr>
              <a:t>i.e. it is possible for</a:t>
            </a:r>
            <a:br>
              <a:rPr lang="en" sz="1800">
                <a:solidFill>
                  <a:schemeClr val="dk1"/>
                </a:solidFill>
                <a:highlight>
                  <a:srgbClr val="FDFDFA"/>
                </a:highlight>
              </a:rPr>
            </a:br>
            <a:r>
              <a:rPr b="1" lang="en" sz="1800">
                <a:solidFill>
                  <a:schemeClr val="dk1"/>
                </a:solidFill>
                <a:highlight>
                  <a:srgbClr val="FDFDFA"/>
                </a:highlight>
              </a:rPr>
              <a:t>(1 + 2 + 9) &lt; (1 + 2 + 8</a:t>
            </a:r>
            <a:r>
              <a:rPr b="1" lang="en" sz="1800">
                <a:solidFill>
                  <a:schemeClr val="dk1"/>
                </a:solidFill>
                <a:highlight>
                  <a:srgbClr val="FDFDFA"/>
                </a:highlight>
              </a:rPr>
              <a:t>) </a:t>
            </a:r>
            <a:r>
              <a:rPr lang="en" sz="1800">
                <a:solidFill>
                  <a:schemeClr val="dk1"/>
                </a:solidFill>
                <a:highlight>
                  <a:srgbClr val="FDFDFA"/>
                </a:highlight>
              </a:rPr>
              <a:t>to be true</a:t>
            </a:r>
            <a:endParaRPr sz="1800">
              <a:solidFill>
                <a:schemeClr val="dk1"/>
              </a:solidFill>
              <a:highlight>
                <a:srgbClr val="FDFDFA"/>
              </a:highlight>
            </a:endParaRPr>
          </a:p>
          <a:p>
            <a:pPr indent="0" lvl="0" marL="0" rtl="0" algn="l">
              <a:lnSpc>
                <a:spcPct val="115000"/>
              </a:lnSpc>
              <a:spcBef>
                <a:spcPts val="0"/>
              </a:spcBef>
              <a:spcAft>
                <a:spcPts val="0"/>
              </a:spcAft>
              <a:buNone/>
            </a:pPr>
            <a:r>
              <a:t/>
            </a:r>
            <a:endParaRPr sz="1800">
              <a:solidFill>
                <a:schemeClr val="dk1"/>
              </a:solidFill>
              <a:highlight>
                <a:srgbClr val="FDFDFA"/>
              </a:highlight>
            </a:endParaRPr>
          </a:p>
        </p:txBody>
      </p:sp>
      <p:sp>
        <p:nvSpPr>
          <p:cNvPr id="80" name="Google Shape;80;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81" name="Google Shape;81;p16"/>
          <p:cNvSpPr txBox="1"/>
          <p:nvPr>
            <p:ph idx="1" type="body"/>
          </p:nvPr>
        </p:nvSpPr>
        <p:spPr>
          <a:xfrm>
            <a:off x="311700" y="1152475"/>
            <a:ext cx="3999900" cy="3416400"/>
          </a:xfrm>
          <a:prstGeom prst="rect">
            <a:avLst/>
          </a:prstGeom>
        </p:spPr>
        <p:txBody>
          <a:bodyPr anchorCtr="0" anchor="t" bIns="91425" lIns="91425" spcFirstLastPara="1" rIns="91425" wrap="square" tIns="91425">
            <a:normAutofit lnSpcReduction="10000"/>
          </a:bodyPr>
          <a:lstStyle/>
          <a:p>
            <a:pPr indent="0" lvl="0" marL="0" rtl="0" algn="l">
              <a:lnSpc>
                <a:spcPct val="150000"/>
              </a:lnSpc>
              <a:spcBef>
                <a:spcPts val="0"/>
              </a:spcBef>
              <a:spcAft>
                <a:spcPts val="0"/>
              </a:spcAft>
              <a:buClr>
                <a:schemeClr val="dk1"/>
              </a:buClr>
              <a:buSzPts val="1100"/>
              <a:buFont typeface="Arial"/>
              <a:buNone/>
            </a:pPr>
            <a:r>
              <a:rPr lang="en" sz="1800">
                <a:solidFill>
                  <a:srgbClr val="333333"/>
                </a:solidFill>
              </a:rPr>
              <a:t>Consider an addition of 3 terms:</a:t>
            </a:r>
            <a:endParaRPr sz="1800">
              <a:solidFill>
                <a:srgbClr val="333333"/>
              </a:solidFill>
            </a:endParaRPr>
          </a:p>
          <a:p>
            <a:pPr indent="0" lvl="0" marL="0" rtl="0" algn="ctr">
              <a:lnSpc>
                <a:spcPct val="130000"/>
              </a:lnSpc>
              <a:spcBef>
                <a:spcPts val="1500"/>
              </a:spcBef>
              <a:spcAft>
                <a:spcPts val="0"/>
              </a:spcAft>
              <a:buClr>
                <a:schemeClr val="dk1"/>
              </a:buClr>
              <a:buSzPts val="1100"/>
              <a:buFont typeface="Arial"/>
              <a:buNone/>
            </a:pPr>
            <a:r>
              <a:rPr b="1" lang="en" sz="3000">
                <a:solidFill>
                  <a:schemeClr val="dk1"/>
                </a:solidFill>
                <a:latin typeface="Merriweather"/>
                <a:ea typeface="Merriweather"/>
                <a:cs typeface="Merriweather"/>
                <a:sym typeface="Merriweather"/>
              </a:rPr>
              <a:t>1 + 2 + 8</a:t>
            </a:r>
            <a:endParaRPr b="1" sz="3000">
              <a:solidFill>
                <a:schemeClr val="dk1"/>
              </a:solidFill>
              <a:latin typeface="Merriweather"/>
              <a:ea typeface="Merriweather"/>
              <a:cs typeface="Merriweather"/>
              <a:sym typeface="Merriweather"/>
            </a:endParaRPr>
          </a:p>
          <a:p>
            <a:pPr indent="0" lvl="0" marL="0" rtl="0" algn="l">
              <a:lnSpc>
                <a:spcPct val="115000"/>
              </a:lnSpc>
              <a:spcBef>
                <a:spcPts val="1500"/>
              </a:spcBef>
              <a:spcAft>
                <a:spcPts val="0"/>
              </a:spcAft>
              <a:buClr>
                <a:schemeClr val="dk1"/>
              </a:buClr>
              <a:buSzPts val="1100"/>
              <a:buFont typeface="Arial"/>
              <a:buNone/>
            </a:pPr>
            <a:r>
              <a:rPr lang="en" sz="1800">
                <a:solidFill>
                  <a:srgbClr val="333333"/>
                </a:solidFill>
              </a:rPr>
              <a:t>...and a second addition where addends are larger:</a:t>
            </a:r>
            <a:endParaRPr sz="1800">
              <a:solidFill>
                <a:srgbClr val="333333"/>
              </a:solidFill>
            </a:endParaRPr>
          </a:p>
          <a:p>
            <a:pPr indent="0" lvl="0" marL="0" rtl="0" algn="ctr">
              <a:lnSpc>
                <a:spcPct val="130000"/>
              </a:lnSpc>
              <a:spcBef>
                <a:spcPts val="0"/>
              </a:spcBef>
              <a:spcAft>
                <a:spcPts val="0"/>
              </a:spcAft>
              <a:buNone/>
            </a:pPr>
            <a:r>
              <a:t/>
            </a:r>
            <a:endParaRPr b="1" sz="3000">
              <a:solidFill>
                <a:srgbClr val="0D3B66"/>
              </a:solidFill>
              <a:latin typeface="Merriweather"/>
              <a:ea typeface="Merriweather"/>
              <a:cs typeface="Merriweather"/>
              <a:sym typeface="Merriweather"/>
            </a:endParaRPr>
          </a:p>
          <a:p>
            <a:pPr indent="0" lvl="0" marL="0" rtl="0" algn="ctr">
              <a:lnSpc>
                <a:spcPct val="130000"/>
              </a:lnSpc>
              <a:spcBef>
                <a:spcPts val="0"/>
              </a:spcBef>
              <a:spcAft>
                <a:spcPts val="0"/>
              </a:spcAft>
              <a:buClr>
                <a:schemeClr val="dk1"/>
              </a:buClr>
              <a:buSzPts val="1100"/>
              <a:buFont typeface="Arial"/>
              <a:buNone/>
            </a:pPr>
            <a:r>
              <a:rPr b="1" lang="en" sz="3000">
                <a:solidFill>
                  <a:schemeClr val="dk1"/>
                </a:solidFill>
                <a:latin typeface="Merriweather"/>
                <a:ea typeface="Merriweather"/>
                <a:cs typeface="Merriweather"/>
                <a:sym typeface="Merriweather"/>
              </a:rPr>
              <a:t>1 + 2 + 9</a:t>
            </a:r>
            <a:endParaRPr b="1" sz="3000">
              <a:solidFill>
                <a:schemeClr val="dk1"/>
              </a:solidFill>
              <a:latin typeface="Merriweather"/>
              <a:ea typeface="Merriweather"/>
              <a:cs typeface="Merriweather"/>
              <a:sym typeface="Merriweather"/>
            </a:endParaRPr>
          </a:p>
          <a:p>
            <a:pPr indent="0" lvl="0" marL="0" rtl="0" algn="l">
              <a:spcBef>
                <a:spcPts val="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lnSpc>
                <a:spcPct val="130000"/>
              </a:lnSpc>
              <a:spcBef>
                <a:spcPts val="0"/>
              </a:spcBef>
              <a:spcAft>
                <a:spcPts val="0"/>
              </a:spcAft>
              <a:buClr>
                <a:schemeClr val="dk1"/>
              </a:buClr>
              <a:buSzPts val="1800"/>
              <a:buFont typeface="Merriweather"/>
              <a:buChar char="●"/>
            </a:pPr>
            <a:r>
              <a:rPr lang="en">
                <a:solidFill>
                  <a:schemeClr val="dk1"/>
                </a:solidFill>
              </a:rPr>
              <a:t>TC results are “good enough” for machine learning</a:t>
            </a:r>
            <a:endParaRPr>
              <a:solidFill>
                <a:schemeClr val="dk1"/>
              </a:solidFill>
            </a:endParaRPr>
          </a:p>
          <a:p>
            <a:pPr indent="-342900" lvl="1" marL="914400" rtl="0" algn="l">
              <a:lnSpc>
                <a:spcPct val="130000"/>
              </a:lnSpc>
              <a:spcBef>
                <a:spcPts val="0"/>
              </a:spcBef>
              <a:spcAft>
                <a:spcPts val="0"/>
              </a:spcAft>
              <a:buClr>
                <a:schemeClr val="dk1"/>
              </a:buClr>
              <a:buSzPts val="1800"/>
              <a:buFont typeface="Merriweather"/>
              <a:buChar char="○"/>
            </a:pPr>
            <a:r>
              <a:rPr lang="en" sz="1800">
                <a:solidFill>
                  <a:schemeClr val="dk1"/>
                </a:solidFill>
              </a:rPr>
              <a:t>TC often not “good enough” for scientific computing</a:t>
            </a:r>
            <a:endParaRPr sz="1800">
              <a:solidFill>
                <a:schemeClr val="dk1"/>
              </a:solidFill>
            </a:endParaRPr>
          </a:p>
          <a:p>
            <a:pPr indent="0" lvl="0" marL="0" rtl="0" algn="l">
              <a:spcBef>
                <a:spcPts val="0"/>
              </a:spcBef>
              <a:spcAft>
                <a:spcPts val="1200"/>
              </a:spcAft>
              <a:buNone/>
            </a:pPr>
            <a:r>
              <a:t/>
            </a:r>
            <a:endParaRPr/>
          </a:p>
        </p:txBody>
      </p:sp>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Motivation</a:t>
            </a:r>
            <a:endParaRPr/>
          </a:p>
        </p:txBody>
      </p:sp>
      <p:sp>
        <p:nvSpPr>
          <p:cNvPr id="93" name="Google Shape;93;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333333"/>
              </a:buClr>
              <a:buSzPts val="1800"/>
              <a:buChar char="●"/>
            </a:pPr>
            <a:r>
              <a:rPr lang="en">
                <a:solidFill>
                  <a:srgbClr val="333333"/>
                </a:solidFill>
                <a:highlight>
                  <a:srgbClr val="FDFDFA"/>
                </a:highlight>
              </a:rPr>
              <a:t>The </a:t>
            </a:r>
            <a:r>
              <a:rPr lang="en">
                <a:solidFill>
                  <a:srgbClr val="333333"/>
                </a:solidFill>
                <a:highlight>
                  <a:srgbClr val="FDFDFA"/>
                </a:highlight>
              </a:rPr>
              <a:t>internal arithmetic</a:t>
            </a:r>
            <a:r>
              <a:rPr lang="en">
                <a:solidFill>
                  <a:srgbClr val="333333"/>
                </a:solidFill>
                <a:highlight>
                  <a:srgbClr val="FDFDFA"/>
                </a:highlight>
              </a:rPr>
              <a:t> of these accelerators evolves with each generation</a:t>
            </a:r>
            <a:endParaRPr>
              <a:solidFill>
                <a:srgbClr val="333333"/>
              </a:solidFill>
              <a:highlight>
                <a:srgbClr val="FDFDFA"/>
              </a:highlight>
            </a:endParaRPr>
          </a:p>
          <a:p>
            <a:pPr indent="-342900" lvl="0" marL="457200" rtl="0" algn="l">
              <a:spcBef>
                <a:spcPts val="0"/>
              </a:spcBef>
              <a:spcAft>
                <a:spcPts val="0"/>
              </a:spcAft>
              <a:buClr>
                <a:srgbClr val="333333"/>
              </a:buClr>
              <a:buSzPts val="1800"/>
              <a:buChar char="●"/>
            </a:pPr>
            <a:r>
              <a:rPr lang="en">
                <a:solidFill>
                  <a:srgbClr val="333333"/>
                </a:solidFill>
                <a:highlight>
                  <a:srgbClr val="FDFDFA"/>
                </a:highlight>
              </a:rPr>
              <a:t>Important to formalize the precise conditions for non-monotonicity in tensor cores </a:t>
            </a:r>
            <a:r>
              <a:rPr lang="en">
                <a:solidFill>
                  <a:srgbClr val="333333"/>
                </a:solidFill>
                <a:highlight>
                  <a:srgbClr val="FDFDFA"/>
                </a:highlight>
              </a:rPr>
              <a:t>in an effort to</a:t>
            </a:r>
            <a:endParaRPr>
              <a:solidFill>
                <a:srgbClr val="333333"/>
              </a:solidFill>
              <a:highlight>
                <a:srgbClr val="FDFDFA"/>
              </a:highlight>
            </a:endParaRPr>
          </a:p>
          <a:p>
            <a:pPr indent="-342900" lvl="1" marL="914400" rtl="0" algn="l">
              <a:spcBef>
                <a:spcPts val="0"/>
              </a:spcBef>
              <a:spcAft>
                <a:spcPts val="0"/>
              </a:spcAft>
              <a:buClr>
                <a:srgbClr val="333333"/>
              </a:buClr>
              <a:buSzPts val="1800"/>
              <a:buChar char="○"/>
            </a:pPr>
            <a:r>
              <a:rPr lang="en" sz="1800">
                <a:solidFill>
                  <a:srgbClr val="333333"/>
                </a:solidFill>
                <a:highlight>
                  <a:srgbClr val="FDFDFA"/>
                </a:highlight>
              </a:rPr>
              <a:t>Understand input ranges that may trigger this behavior</a:t>
            </a:r>
            <a:endParaRPr sz="1800">
              <a:solidFill>
                <a:srgbClr val="333333"/>
              </a:solidFill>
              <a:highlight>
                <a:srgbClr val="FDFDFA"/>
              </a:highlight>
            </a:endParaRPr>
          </a:p>
          <a:p>
            <a:pPr indent="-342900" lvl="1" marL="914400" rtl="0" algn="l">
              <a:spcBef>
                <a:spcPts val="0"/>
              </a:spcBef>
              <a:spcAft>
                <a:spcPts val="0"/>
              </a:spcAft>
              <a:buClr>
                <a:srgbClr val="333333"/>
              </a:buClr>
              <a:buSzPts val="1800"/>
              <a:buChar char="○"/>
            </a:pPr>
            <a:r>
              <a:rPr lang="en" sz="1800">
                <a:solidFill>
                  <a:srgbClr val="333333"/>
                </a:solidFill>
                <a:highlight>
                  <a:srgbClr val="FDFDFA"/>
                </a:highlight>
              </a:rPr>
              <a:t>Inform hardware designs in future generations such that these dangerous emergent phenomenon like are guarded against</a:t>
            </a:r>
            <a:endParaRPr sz="1800">
              <a:solidFill>
                <a:srgbClr val="333333"/>
              </a:solidFill>
              <a:highlight>
                <a:srgbClr val="FDFDFA"/>
              </a:highlight>
            </a:endParaRPr>
          </a:p>
          <a:p>
            <a:pPr indent="0" lvl="0" marL="0" rtl="0" algn="l">
              <a:lnSpc>
                <a:spcPct val="115000"/>
              </a:lnSpc>
              <a:spcBef>
                <a:spcPts val="19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a:t>
            </a:r>
            <a:endParaRPr/>
          </a:p>
        </p:txBody>
      </p:sp>
      <p:sp>
        <p:nvSpPr>
          <p:cNvPr id="99" name="Google Shape;99;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
                <a:solidFill>
                  <a:schemeClr val="dk1"/>
                </a:solidFill>
              </a:rPr>
              <a:t>Floating point values consist of a sign (s), exponent (e), and an m-bit mantissa. The term 1.m is known as the significand</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Commonly expressed as </a:t>
            </a:r>
            <a:r>
              <a:rPr lang="en" sz="1800">
                <a:solidFill>
                  <a:schemeClr val="dk1"/>
                </a:solidFill>
              </a:rPr>
              <a:t> </a:t>
            </a:r>
            <a:endParaRPr sz="1800">
              <a:solidFill>
                <a:schemeClr val="dk1"/>
              </a:solidFill>
            </a:endParaRPr>
          </a:p>
          <a:p>
            <a:pPr indent="0" lvl="0" marL="0" rtl="0" algn="l">
              <a:spcBef>
                <a:spcPts val="1200"/>
              </a:spcBef>
              <a:spcAft>
                <a:spcPts val="0"/>
              </a:spcAft>
              <a:buNone/>
            </a:pPr>
            <a:r>
              <a:t/>
            </a:r>
            <a:endParaRPr sz="1800">
              <a:solidFill>
                <a:schemeClr val="dk1"/>
              </a:solidFill>
            </a:endParaRPr>
          </a:p>
          <a:p>
            <a:pPr indent="-342900" lvl="0" marL="457200" rtl="0" algn="l">
              <a:spcBef>
                <a:spcPts val="1200"/>
              </a:spcBef>
              <a:spcAft>
                <a:spcPts val="0"/>
              </a:spcAft>
              <a:buClr>
                <a:schemeClr val="dk1"/>
              </a:buClr>
              <a:buSzPts val="1800"/>
              <a:buChar char="●"/>
            </a:pPr>
            <a:r>
              <a:rPr b="1" lang="en">
                <a:solidFill>
                  <a:schemeClr val="dk1"/>
                </a:solidFill>
              </a:rPr>
              <a:t>ulp</a:t>
            </a:r>
            <a:r>
              <a:rPr lang="en">
                <a:solidFill>
                  <a:schemeClr val="dk1"/>
                </a:solidFill>
              </a:rPr>
              <a:t> (</a:t>
            </a:r>
            <a:r>
              <a:rPr b="1" lang="en">
                <a:solidFill>
                  <a:schemeClr val="dk1"/>
                </a:solidFill>
              </a:rPr>
              <a:t>u</a:t>
            </a:r>
            <a:r>
              <a:rPr lang="en">
                <a:solidFill>
                  <a:schemeClr val="dk1"/>
                </a:solidFill>
              </a:rPr>
              <a:t>nit in the </a:t>
            </a:r>
            <a:r>
              <a:rPr b="1" lang="en">
                <a:solidFill>
                  <a:schemeClr val="dk1"/>
                </a:solidFill>
              </a:rPr>
              <a:t>l</a:t>
            </a:r>
            <a:r>
              <a:rPr lang="en">
                <a:solidFill>
                  <a:schemeClr val="dk1"/>
                </a:solidFill>
              </a:rPr>
              <a:t>ast </a:t>
            </a:r>
            <a:r>
              <a:rPr b="1" lang="en">
                <a:solidFill>
                  <a:schemeClr val="dk1"/>
                </a:solidFill>
              </a:rPr>
              <a:t>p</a:t>
            </a:r>
            <a:r>
              <a:rPr lang="en">
                <a:solidFill>
                  <a:schemeClr val="dk1"/>
                </a:solidFill>
              </a:rPr>
              <a:t>lace) – the value of the mantis</a:t>
            </a:r>
            <a:r>
              <a:rPr lang="en">
                <a:solidFill>
                  <a:schemeClr val="dk1"/>
                </a:solidFill>
              </a:rPr>
              <a:t>a</a:t>
            </a:r>
            <a:r>
              <a:rPr lang="en">
                <a:solidFill>
                  <a:schemeClr val="dk1"/>
                </a:solidFill>
              </a:rPr>
              <a:t>’s least significant bit</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sign | exp | impl | mant  </a:t>
            </a:r>
            <a:endParaRPr>
              <a:solidFill>
                <a:schemeClr val="dk1"/>
              </a:solidFill>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20  | 1    | 0110</a:t>
            </a:r>
            <a:r>
              <a:rPr lang="en">
                <a:solidFill>
                  <a:schemeClr val="dk1"/>
                </a:solidFill>
                <a:highlight>
                  <a:srgbClr val="FFFF00"/>
                </a:highlight>
                <a:latin typeface="Roboto Mono"/>
                <a:ea typeface="Roboto Mono"/>
                <a:cs typeface="Roboto Mono"/>
                <a:sym typeface="Roboto Mono"/>
              </a:rPr>
              <a:t>1</a:t>
            </a:r>
            <a:r>
              <a:rPr lang="en">
                <a:solidFill>
                  <a:schemeClr val="dk1"/>
                </a:solidFill>
                <a:latin typeface="Roboto Mono"/>
                <a:ea typeface="Roboto Mono"/>
                <a:cs typeface="Roboto Mono"/>
                <a:sym typeface="Roboto Mono"/>
              </a:rPr>
              <a:t> ← ulp</a:t>
            </a:r>
            <a:endParaRPr>
              <a:solidFill>
                <a:schemeClr val="dk1"/>
              </a:solidFill>
            </a:endParaRPr>
          </a:p>
        </p:txBody>
      </p:sp>
      <p:pic>
        <p:nvPicPr>
          <p:cNvPr descr="{&quot;mathml&quot;:&quot;&lt;math style=\&quot;font-family:stix;font-size:16px;\&quot; xmlns=\&quot;http://www.w3.org/1998/Math/MathML\&quot;&gt;&lt;mstyle mathsize=\&quot;16px\&quot;&gt;&lt;msup&gt;&lt;mfenced&gt;&lt;mrow&gt;&lt;mo&gt;-&lt;/mo&gt;&lt;mn&gt;1&lt;/mn&gt;&lt;/mrow&gt;&lt;/mfenced&gt;&lt;mi&gt;s&lt;/mi&gt;&lt;/msup&gt;&lt;mo&gt;&amp;#xB7;&lt;/mo&gt;&lt;mn&gt;1&lt;/mn&gt;&lt;mo&gt;.&lt;/mo&gt;&lt;mi&gt;m&lt;/mi&gt;&lt;mo&gt;&amp;#xA0;&lt;/mo&gt;&lt;mo&gt;&amp;#xB7;&lt;/mo&gt;&lt;msup&gt;&lt;mn&gt;2&lt;/mn&gt;&lt;mi&gt;e&lt;/mi&gt;&lt;/msup&gt;&lt;/mstyle&gt;&lt;/math&gt;&quot;,&quot;truncated&quot;:false}" id="100" name="Google Shape;100;p19" title="open parentheses negative 1 close parentheses to the power of s times 1. m space times 2 to the power of e"/>
          <p:cNvPicPr preferRelativeResize="0"/>
          <p:nvPr/>
        </p:nvPicPr>
        <p:blipFill>
          <a:blip r:embed="rId3">
            <a:alphaModFix/>
          </a:blip>
          <a:stretch>
            <a:fillRect/>
          </a:stretch>
        </p:blipFill>
        <p:spPr>
          <a:xfrm>
            <a:off x="3909950" y="1875150"/>
            <a:ext cx="2005074" cy="2415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a:t>
            </a:r>
            <a:endParaRPr/>
          </a:p>
        </p:txBody>
      </p:sp>
      <p:sp>
        <p:nvSpPr>
          <p:cNvPr id="106" name="Google Shape;106;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Tensor cores generally vary generation by generation in two ways: </a:t>
            </a:r>
            <a:endParaRPr>
              <a:solidFill>
                <a:schemeClr val="dk1"/>
              </a:solidFill>
            </a:endParaRPr>
          </a:p>
          <a:p>
            <a:pPr indent="0" lvl="0" marL="457200" rtl="0" algn="l">
              <a:spcBef>
                <a:spcPts val="1200"/>
              </a:spcBef>
              <a:spcAft>
                <a:spcPts val="0"/>
              </a:spcAft>
              <a:buNone/>
            </a:pPr>
            <a:r>
              <a:rPr lang="en">
                <a:solidFill>
                  <a:schemeClr val="dk1"/>
                </a:solidFill>
              </a:rPr>
              <a:t>1. </a:t>
            </a:r>
            <a:r>
              <a:rPr i="1" lang="en">
                <a:solidFill>
                  <a:schemeClr val="dk1"/>
                </a:solidFill>
              </a:rPr>
              <a:t>n</a:t>
            </a:r>
            <a:r>
              <a:rPr lang="en">
                <a:solidFill>
                  <a:schemeClr val="dk1"/>
                </a:solidFill>
              </a:rPr>
              <a:t> : number of terms added in one block</a:t>
            </a:r>
            <a:endParaRPr>
              <a:solidFill>
                <a:schemeClr val="dk1"/>
              </a:solidFill>
            </a:endParaRPr>
          </a:p>
          <a:p>
            <a:pPr indent="0" lvl="0" marL="457200" rtl="0" algn="l">
              <a:spcBef>
                <a:spcPts val="1200"/>
              </a:spcBef>
              <a:spcAft>
                <a:spcPts val="0"/>
              </a:spcAft>
              <a:buNone/>
            </a:pPr>
            <a:r>
              <a:rPr lang="en">
                <a:solidFill>
                  <a:schemeClr val="dk1"/>
                </a:solidFill>
              </a:rPr>
              <a:t>2. </a:t>
            </a:r>
            <a:r>
              <a:rPr i="1" lang="en">
                <a:solidFill>
                  <a:schemeClr val="dk1"/>
                </a:solidFill>
              </a:rPr>
              <a:t>p</a:t>
            </a:r>
            <a:r>
              <a:rPr lang="en">
                <a:solidFill>
                  <a:schemeClr val="dk1"/>
                </a:solidFill>
              </a:rPr>
              <a:t> : the number of extra ‘padding’ bits appended to the end of the mantissa</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pic>
        <p:nvPicPr>
          <p:cNvPr id="107" name="Google Shape;107;p20"/>
          <p:cNvPicPr preferRelativeResize="0"/>
          <p:nvPr/>
        </p:nvPicPr>
        <p:blipFill rotWithShape="1">
          <a:blip r:embed="rId3">
            <a:alphaModFix/>
          </a:blip>
          <a:srcRect b="0" l="1803" r="39452" t="0"/>
          <a:stretch/>
        </p:blipFill>
        <p:spPr>
          <a:xfrm>
            <a:off x="2705950" y="2736350"/>
            <a:ext cx="3732100" cy="20322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a:t>
            </a:r>
            <a:endParaRPr/>
          </a:p>
        </p:txBody>
      </p:sp>
      <p:sp>
        <p:nvSpPr>
          <p:cNvPr id="113" name="Google Shape;113;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a:solidFill>
                  <a:schemeClr val="dk1"/>
                </a:solidFill>
              </a:rPr>
              <a:t>A tensor core performs its operations in 4 primary steps:</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A[i,k] · B[k,j] are computed exactly and held in FP32</a:t>
            </a:r>
            <a:endParaRPr sz="1800">
              <a:solidFill>
                <a:schemeClr val="dk1"/>
              </a:solidFill>
            </a:endParaRPr>
          </a:p>
          <a:p>
            <a:pPr indent="-342900" lvl="2" marL="1371600" rtl="0" algn="l">
              <a:spcBef>
                <a:spcPts val="0"/>
              </a:spcBef>
              <a:spcAft>
                <a:spcPts val="0"/>
              </a:spcAft>
              <a:buClr>
                <a:schemeClr val="dk1"/>
              </a:buClr>
              <a:buSzPts val="1800"/>
              <a:buChar char="■"/>
            </a:pPr>
            <a:r>
              <a:rPr lang="en" sz="1800">
                <a:solidFill>
                  <a:schemeClr val="dk1"/>
                </a:solidFill>
              </a:rPr>
              <a:t>Because exact, can simplify A[i,k] · B[k,j] terms to be </a:t>
            </a:r>
            <a:r>
              <a:rPr i="1" lang="en" sz="1800">
                <a:solidFill>
                  <a:schemeClr val="dk1"/>
                </a:solidFill>
              </a:rPr>
              <a:t>T</a:t>
            </a:r>
            <a:r>
              <a:rPr baseline="-25000" i="1" lang="en" sz="1800">
                <a:solidFill>
                  <a:schemeClr val="dk1"/>
                </a:solidFill>
              </a:rPr>
              <a:t>1</a:t>
            </a:r>
            <a:r>
              <a:rPr i="1" lang="en" sz="1800">
                <a:solidFill>
                  <a:schemeClr val="dk1"/>
                </a:solidFill>
              </a:rPr>
              <a:t>… T</a:t>
            </a:r>
            <a:r>
              <a:rPr baseline="-25000" i="1" lang="en" sz="1800">
                <a:solidFill>
                  <a:schemeClr val="dk1"/>
                </a:solidFill>
              </a:rPr>
              <a:t>i</a:t>
            </a:r>
            <a:endParaRPr i="1"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A max exponent is determined from all </a:t>
            </a:r>
            <a:r>
              <a:rPr i="1" lang="en" sz="1800">
                <a:solidFill>
                  <a:schemeClr val="dk1"/>
                </a:solidFill>
              </a:rPr>
              <a:t>T</a:t>
            </a:r>
            <a:r>
              <a:rPr baseline="-25000" i="1" lang="en" sz="1800">
                <a:solidFill>
                  <a:schemeClr val="dk1"/>
                </a:solidFill>
              </a:rPr>
              <a:t>1</a:t>
            </a:r>
            <a:r>
              <a:rPr i="1" lang="en" sz="1800">
                <a:solidFill>
                  <a:schemeClr val="dk1"/>
                </a:solidFill>
              </a:rPr>
              <a:t>… T</a:t>
            </a:r>
            <a:r>
              <a:rPr baseline="-25000" lang="en" sz="1800">
                <a:solidFill>
                  <a:schemeClr val="dk1"/>
                </a:solidFill>
              </a:rPr>
              <a:t>i</a:t>
            </a:r>
            <a:r>
              <a:rPr lang="en" sz="1800">
                <a:solidFill>
                  <a:schemeClr val="dk1"/>
                </a:solidFill>
              </a:rPr>
              <a:t> and the C term and all terms are right-shifted to align to this exponent</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The aligned significands are summed at once in an extended significand with p extra bits of padding precision</a:t>
            </a:r>
            <a:endParaRPr sz="1800">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Results are normalized and bits beyond mantissa are truncated and lost </a:t>
            </a:r>
            <a:endParaRPr sz="1800">
              <a:solidFill>
                <a:schemeClr val="dk1"/>
              </a:solidFill>
            </a:endParaRPr>
          </a:p>
          <a:p>
            <a:pPr indent="0" lvl="0" marL="914400" rtl="0" algn="l">
              <a:spcBef>
                <a:spcPts val="1200"/>
              </a:spcBef>
              <a:spcAft>
                <a:spcPts val="0"/>
              </a:spcAft>
              <a:buNone/>
            </a:pPr>
            <a:r>
              <a:t/>
            </a:r>
            <a:endParaRPr sz="1800">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 (n = 4, p = 1)</a:t>
            </a:r>
            <a:endParaRPr/>
          </a:p>
        </p:txBody>
      </p:sp>
      <p:sp>
        <p:nvSpPr>
          <p:cNvPr id="119" name="Google Shape;11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chemeClr val="dk1"/>
                </a:solidFill>
                <a:latin typeface="Roboto Mono"/>
                <a:ea typeface="Roboto Mono"/>
                <a:cs typeface="Roboto Mono"/>
                <a:sym typeface="Roboto Mono"/>
              </a:rPr>
              <a:t>0    | 20  | 1    | 01101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chemeClr val="dk1"/>
                </a:solidFill>
                <a:latin typeface="Roboto Mono"/>
                <a:ea typeface="Roboto Mono"/>
                <a:cs typeface="Roboto Mono"/>
                <a:sym typeface="Roboto Mono"/>
              </a:rPr>
              <a:t>0    | 18  | 1    | 01110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16  | 1    | 11100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17  | 1    | 01111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t/>
            </a:r>
            <a:endParaRPr>
              <a:solidFill>
                <a:schemeClr val="dk1"/>
              </a:solidFill>
              <a:latin typeface="Roboto Mono"/>
              <a:ea typeface="Roboto Mono"/>
              <a:cs typeface="Roboto Mono"/>
              <a:sym typeface="Roboto Mono"/>
            </a:endParaRPr>
          </a:p>
          <a:p>
            <a:pPr indent="0" lvl="0" marL="0" rtl="0" algn="l">
              <a:spcBef>
                <a:spcPts val="1200"/>
              </a:spcBef>
              <a:spcAft>
                <a:spcPts val="1200"/>
              </a:spcAft>
              <a:buClr>
                <a:schemeClr val="dk1"/>
              </a:buClr>
              <a:buSzPts val="1100"/>
              <a:buFont typeface="Arial"/>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 </a:t>
            </a:r>
            <a:r>
              <a:rPr lang="en"/>
              <a:t>(n = 4, p = 1)</a:t>
            </a:r>
            <a:endParaRPr/>
          </a:p>
          <a:p>
            <a:pPr indent="0" lvl="0" marL="0" rtl="0" algn="l">
              <a:spcBef>
                <a:spcPts val="0"/>
              </a:spcBef>
              <a:spcAft>
                <a:spcPts val="0"/>
              </a:spcAft>
              <a:buNone/>
            </a:pPr>
            <a:r>
              <a:t/>
            </a:r>
            <a:endParaRPr/>
          </a:p>
        </p:txBody>
      </p:sp>
      <p:sp>
        <p:nvSpPr>
          <p:cNvPr id="125" name="Google Shape;125;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20</a:t>
            </a:r>
            <a:r>
              <a:rPr lang="en">
                <a:solidFill>
                  <a:schemeClr val="dk1"/>
                </a:solidFill>
                <a:latin typeface="Roboto Mono"/>
                <a:ea typeface="Roboto Mono"/>
                <a:cs typeface="Roboto Mono"/>
                <a:sym typeface="Roboto Mono"/>
              </a:rPr>
              <a:t>  | 1    | 01101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01110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16  | 1    | 11100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17  | 1    | 01111 | 0       |</a:t>
            </a:r>
            <a:endParaRPr>
              <a:solidFill>
                <a:schemeClr val="dk1"/>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 </a:t>
            </a:r>
            <a:r>
              <a:rPr lang="en"/>
              <a:t>(n = 4, p = 1)</a:t>
            </a:r>
            <a:endParaRPr/>
          </a:p>
          <a:p>
            <a:pPr indent="0" lvl="0" marL="0" rtl="0" algn="l">
              <a:spcBef>
                <a:spcPts val="0"/>
              </a:spcBef>
              <a:spcAft>
                <a:spcPts val="0"/>
              </a:spcAft>
              <a:buNone/>
            </a:pPr>
            <a:r>
              <a:t/>
            </a:r>
            <a:endParaRPr/>
          </a:p>
        </p:txBody>
      </p:sp>
      <p:sp>
        <p:nvSpPr>
          <p:cNvPr id="131" name="Google Shape;131;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20</a:t>
            </a:r>
            <a:r>
              <a:rPr lang="en">
                <a:solidFill>
                  <a:schemeClr val="dk1"/>
                </a:solidFill>
                <a:latin typeface="Roboto Mono"/>
                <a:ea typeface="Roboto Mono"/>
                <a:cs typeface="Roboto Mono"/>
                <a:sym typeface="Roboto Mono"/>
              </a:rPr>
              <a:t>  | 1    | 01101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a:t>
            </a:r>
            <a:r>
              <a:rPr lang="en">
                <a:solidFill>
                  <a:schemeClr val="dk1"/>
                </a:solidFill>
                <a:latin typeface="Roboto Mono"/>
                <a:ea typeface="Roboto Mono"/>
                <a:cs typeface="Roboto Mono"/>
                <a:sym typeface="Roboto Mono"/>
              </a:rPr>
              <a:t>01</a:t>
            </a:r>
            <a:r>
              <a:rPr lang="en">
                <a:solidFill>
                  <a:schemeClr val="dk1"/>
                </a:solidFill>
                <a:latin typeface="Roboto Mono"/>
                <a:ea typeface="Roboto Mono"/>
                <a:cs typeface="Roboto Mono"/>
                <a:sym typeface="Roboto Mono"/>
              </a:rPr>
              <a:t>011 | </a:t>
            </a:r>
            <a:r>
              <a:rPr lang="en">
                <a:solidFill>
                  <a:schemeClr val="dk1"/>
                </a:solidFill>
                <a:latin typeface="Roboto Mono"/>
                <a:ea typeface="Roboto Mono"/>
                <a:cs typeface="Roboto Mono"/>
                <a:sym typeface="Roboto Mono"/>
              </a:rPr>
              <a:t>1</a:t>
            </a:r>
            <a:r>
              <a:rPr lang="en">
                <a:solidFill>
                  <a:schemeClr val="dk1"/>
                </a:solidFill>
                <a:latin typeface="Roboto Mono"/>
                <a:ea typeface="Roboto Mono"/>
                <a:cs typeface="Roboto Mono"/>
                <a:sym typeface="Roboto Mono"/>
              </a:rPr>
              <a:t>       | 0</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a:t>
            </a:r>
            <a:r>
              <a:rPr lang="en">
                <a:solidFill>
                  <a:schemeClr val="dk1"/>
                </a:solidFill>
                <a:latin typeface="Roboto Mono"/>
                <a:ea typeface="Roboto Mono"/>
                <a:cs typeface="Roboto Mono"/>
                <a:sym typeface="Roboto Mono"/>
              </a:rPr>
              <a:t>0001</a:t>
            </a:r>
            <a:r>
              <a:rPr lang="en">
                <a:solidFill>
                  <a:schemeClr val="dk1"/>
                </a:solidFill>
                <a:latin typeface="Roboto Mono"/>
                <a:ea typeface="Roboto Mono"/>
                <a:cs typeface="Roboto Mono"/>
                <a:sym typeface="Roboto Mono"/>
              </a:rPr>
              <a:t>1 | 1       | </a:t>
            </a:r>
            <a:r>
              <a:rPr lang="en">
                <a:solidFill>
                  <a:schemeClr val="dk1"/>
                </a:solidFill>
                <a:latin typeface="Roboto Mono"/>
                <a:ea typeface="Roboto Mono"/>
                <a:cs typeface="Roboto Mono"/>
                <a:sym typeface="Roboto Mono"/>
              </a:rPr>
              <a:t>100</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00101 | 1       | 11</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 </a:t>
            </a:r>
            <a:r>
              <a:rPr lang="en"/>
              <a:t>(n = 4, p = 1)</a:t>
            </a:r>
            <a:endParaRPr/>
          </a:p>
          <a:p>
            <a:pPr indent="0" lvl="0" marL="0" rtl="0" algn="l">
              <a:spcBef>
                <a:spcPts val="0"/>
              </a:spcBef>
              <a:spcAft>
                <a:spcPts val="0"/>
              </a:spcAft>
              <a:buNone/>
            </a:pPr>
            <a:r>
              <a:t/>
            </a:r>
            <a:endParaRPr/>
          </a:p>
        </p:txBody>
      </p:sp>
      <p:sp>
        <p:nvSpPr>
          <p:cNvPr id="137" name="Google Shape;137;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20</a:t>
            </a:r>
            <a:r>
              <a:rPr lang="en">
                <a:solidFill>
                  <a:schemeClr val="dk1"/>
                </a:solidFill>
                <a:latin typeface="Roboto Mono"/>
                <a:ea typeface="Roboto Mono"/>
                <a:cs typeface="Roboto Mono"/>
                <a:sym typeface="Roboto Mono"/>
              </a:rPr>
              <a:t>  | 1    | 01101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01011 | 1       | </a:t>
            </a:r>
            <a:r>
              <a:rPr lang="en">
                <a:solidFill>
                  <a:schemeClr val="dk1"/>
                </a:solidFill>
                <a:highlight>
                  <a:srgbClr val="E06666"/>
                </a:highlight>
                <a:latin typeface="Roboto Mono"/>
                <a:ea typeface="Roboto Mono"/>
                <a:cs typeface="Roboto Mono"/>
                <a:sym typeface="Roboto Mono"/>
              </a:rPr>
              <a:t>0</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00011 | 1       | </a:t>
            </a:r>
            <a:r>
              <a:rPr lang="en">
                <a:solidFill>
                  <a:schemeClr val="dk1"/>
                </a:solidFill>
                <a:highlight>
                  <a:srgbClr val="E06666"/>
                </a:highlight>
                <a:latin typeface="Roboto Mono"/>
                <a:ea typeface="Roboto Mono"/>
                <a:cs typeface="Roboto Mono"/>
                <a:sym typeface="Roboto Mono"/>
              </a:rPr>
              <a:t>100</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00101 | 1       | </a:t>
            </a:r>
            <a:r>
              <a:rPr lang="en">
                <a:solidFill>
                  <a:schemeClr val="dk1"/>
                </a:solidFill>
                <a:highlight>
                  <a:srgbClr val="E06666"/>
                </a:highlight>
                <a:latin typeface="Roboto Mono"/>
                <a:ea typeface="Roboto Mono"/>
                <a:cs typeface="Roboto Mono"/>
                <a:sym typeface="Roboto Mono"/>
              </a:rPr>
              <a:t>11</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 </a:t>
            </a:r>
            <a:r>
              <a:rPr lang="en"/>
              <a:t>(n = 4, p = 1)</a:t>
            </a:r>
            <a:endParaRPr/>
          </a:p>
          <a:p>
            <a:pPr indent="0" lvl="0" marL="0" rtl="0" algn="l">
              <a:spcBef>
                <a:spcPts val="0"/>
              </a:spcBef>
              <a:spcAft>
                <a:spcPts val="0"/>
              </a:spcAft>
              <a:buNone/>
            </a:pPr>
            <a:r>
              <a:t/>
            </a:r>
            <a:endParaRPr/>
          </a:p>
        </p:txBody>
      </p:sp>
      <p:sp>
        <p:nvSpPr>
          <p:cNvPr id="143" name="Google Shape;143;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20</a:t>
            </a:r>
            <a:r>
              <a:rPr lang="en">
                <a:solidFill>
                  <a:schemeClr val="dk1"/>
                </a:solidFill>
                <a:latin typeface="Roboto Mono"/>
                <a:ea typeface="Roboto Mono"/>
                <a:cs typeface="Roboto Mono"/>
                <a:sym typeface="Roboto Mono"/>
              </a:rPr>
              <a:t>  | 1    | 01101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01011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00011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00101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 </a:t>
            </a:r>
            <a:r>
              <a:rPr lang="en"/>
              <a:t>(n = 4, p = 1)</a:t>
            </a:r>
            <a:endParaRPr/>
          </a:p>
          <a:p>
            <a:pPr indent="0" lvl="0" marL="0" rtl="0" algn="l">
              <a:spcBef>
                <a:spcPts val="0"/>
              </a:spcBef>
              <a:spcAft>
                <a:spcPts val="0"/>
              </a:spcAft>
              <a:buNone/>
            </a:pPr>
            <a:r>
              <a:t/>
            </a:r>
            <a:endParaRPr/>
          </a:p>
        </p:txBody>
      </p:sp>
      <p:sp>
        <p:nvSpPr>
          <p:cNvPr id="149" name="Google Shape;14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20</a:t>
            </a:r>
            <a:r>
              <a:rPr lang="en">
                <a:solidFill>
                  <a:schemeClr val="dk1"/>
                </a:solidFill>
                <a:latin typeface="Roboto Mono"/>
                <a:ea typeface="Roboto Mono"/>
                <a:cs typeface="Roboto Mono"/>
                <a:sym typeface="Roboto Mono"/>
              </a:rPr>
              <a:t>  | 1    | 01101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01011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00011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00101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 </a:t>
            </a:r>
            <a:r>
              <a:rPr lang="en"/>
              <a:t>(n = 4, p = 1)</a:t>
            </a:r>
            <a:endParaRPr/>
          </a:p>
          <a:p>
            <a:pPr indent="0" lvl="0" marL="0" rtl="0" algn="l">
              <a:spcBef>
                <a:spcPts val="0"/>
              </a:spcBef>
              <a:spcAft>
                <a:spcPts val="0"/>
              </a:spcAft>
              <a:buNone/>
            </a:pPr>
            <a:r>
              <a:t/>
            </a:r>
            <a:endParaRPr/>
          </a:p>
        </p:txBody>
      </p:sp>
      <p:sp>
        <p:nvSpPr>
          <p:cNvPr id="155" name="Google Shape;15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20</a:t>
            </a:r>
            <a:r>
              <a:rPr lang="en">
                <a:solidFill>
                  <a:schemeClr val="dk1"/>
                </a:solidFill>
                <a:latin typeface="Roboto Mono"/>
                <a:ea typeface="Roboto Mono"/>
                <a:cs typeface="Roboto Mono"/>
                <a:sym typeface="Roboto Mono"/>
              </a:rPr>
              <a:t>  | 1    | 01101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01011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00011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00101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20  | 10   | 00001 | 1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 </a:t>
            </a:r>
            <a:r>
              <a:rPr lang="en"/>
              <a:t>(n = 4, p = 1)</a:t>
            </a:r>
            <a:endParaRPr/>
          </a:p>
          <a:p>
            <a:pPr indent="0" lvl="0" marL="0" rtl="0" algn="l">
              <a:spcBef>
                <a:spcPts val="0"/>
              </a:spcBef>
              <a:spcAft>
                <a:spcPts val="0"/>
              </a:spcAft>
              <a:buNone/>
            </a:pPr>
            <a:r>
              <a:t/>
            </a:r>
            <a:endParaRPr/>
          </a:p>
        </p:txBody>
      </p:sp>
      <p:sp>
        <p:nvSpPr>
          <p:cNvPr id="161" name="Google Shape;161;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20</a:t>
            </a:r>
            <a:r>
              <a:rPr lang="en">
                <a:solidFill>
                  <a:schemeClr val="dk1"/>
                </a:solidFill>
                <a:latin typeface="Roboto Mono"/>
                <a:ea typeface="Roboto Mono"/>
                <a:cs typeface="Roboto Mono"/>
                <a:sym typeface="Roboto Mono"/>
              </a:rPr>
              <a:t>  | 1    | 01101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01011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00011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00101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21  | 1    | 00000 | 1       | 1</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 </a:t>
            </a:r>
            <a:r>
              <a:rPr lang="en"/>
              <a:t>(n = 4, p = 1)</a:t>
            </a:r>
            <a:endParaRPr/>
          </a:p>
          <a:p>
            <a:pPr indent="0" lvl="0" marL="0" rtl="0" algn="l">
              <a:spcBef>
                <a:spcPts val="0"/>
              </a:spcBef>
              <a:spcAft>
                <a:spcPts val="0"/>
              </a:spcAft>
              <a:buNone/>
            </a:pPr>
            <a:r>
              <a:t/>
            </a:r>
            <a:endParaRPr/>
          </a:p>
        </p:txBody>
      </p:sp>
      <p:sp>
        <p:nvSpPr>
          <p:cNvPr id="167" name="Google Shape;167;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20</a:t>
            </a:r>
            <a:r>
              <a:rPr lang="en">
                <a:solidFill>
                  <a:schemeClr val="dk1"/>
                </a:solidFill>
                <a:latin typeface="Roboto Mono"/>
                <a:ea typeface="Roboto Mono"/>
                <a:cs typeface="Roboto Mono"/>
                <a:sym typeface="Roboto Mono"/>
              </a:rPr>
              <a:t>  | 1    | 01101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01011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00011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00101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21  | 1    | 00000 | </a:t>
            </a:r>
            <a:r>
              <a:rPr lang="en">
                <a:solidFill>
                  <a:schemeClr val="dk1"/>
                </a:solidFill>
                <a:highlight>
                  <a:srgbClr val="E06666"/>
                </a:highlight>
                <a:latin typeface="Roboto Mono"/>
                <a:ea typeface="Roboto Mono"/>
                <a:cs typeface="Roboto Mono"/>
                <a:sym typeface="Roboto Mono"/>
              </a:rPr>
              <a:t>1</a:t>
            </a:r>
            <a:r>
              <a:rPr lang="en">
                <a:solidFill>
                  <a:schemeClr val="dk1"/>
                </a:solidFill>
                <a:latin typeface="Roboto Mono"/>
                <a:ea typeface="Roboto Mono"/>
                <a:cs typeface="Roboto Mono"/>
                <a:sym typeface="Roboto Mono"/>
              </a:rPr>
              <a:t>       | </a:t>
            </a:r>
            <a:r>
              <a:rPr lang="en">
                <a:solidFill>
                  <a:schemeClr val="dk1"/>
                </a:solidFill>
                <a:highlight>
                  <a:srgbClr val="E06666"/>
                </a:highlight>
                <a:latin typeface="Roboto Mono"/>
                <a:ea typeface="Roboto Mono"/>
                <a:cs typeface="Roboto Mono"/>
                <a:sym typeface="Roboto Mono"/>
              </a:rPr>
              <a:t>1</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Preliminaries </a:t>
            </a:r>
            <a:r>
              <a:rPr lang="en"/>
              <a:t>(n = 4, p = 1)</a:t>
            </a:r>
            <a:endParaRPr/>
          </a:p>
          <a:p>
            <a:pPr indent="0" lvl="0" marL="0" rtl="0" algn="l">
              <a:spcBef>
                <a:spcPts val="0"/>
              </a:spcBef>
              <a:spcAft>
                <a:spcPts val="0"/>
              </a:spcAft>
              <a:buNone/>
            </a:pPr>
            <a:r>
              <a:t/>
            </a:r>
            <a:endParaRPr/>
          </a:p>
        </p:txBody>
      </p:sp>
      <p:sp>
        <p:nvSpPr>
          <p:cNvPr id="173" name="Google Shape;173;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20</a:t>
            </a:r>
            <a:r>
              <a:rPr lang="en">
                <a:solidFill>
                  <a:schemeClr val="dk1"/>
                </a:solidFill>
                <a:latin typeface="Roboto Mono"/>
                <a:ea typeface="Roboto Mono"/>
                <a:cs typeface="Roboto Mono"/>
                <a:sym typeface="Roboto Mono"/>
              </a:rPr>
              <a:t>  | 1    | 01101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01011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00011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20  | 0    | 00101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21  | 1    | 00000 |         |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a:t>
            </a:r>
            <a:endParaRPr/>
          </a:p>
        </p:txBody>
      </p:sp>
      <p:sp>
        <p:nvSpPr>
          <p:cNvPr id="179" name="Google Shape;179;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Now that we know how these units work, </a:t>
            </a:r>
            <a:r>
              <a:rPr lang="en">
                <a:solidFill>
                  <a:schemeClr val="dk1"/>
                </a:solidFill>
              </a:rPr>
              <a:t>let's</a:t>
            </a:r>
            <a:r>
              <a:rPr lang="en">
                <a:solidFill>
                  <a:schemeClr val="dk1"/>
                </a:solidFill>
              </a:rPr>
              <a:t> try to investigate a case of non-monotonicity…</a:t>
            </a:r>
            <a:endParaRPr sz="1800">
              <a:solidFill>
                <a:schemeClr val="dk1"/>
              </a:solidFill>
            </a:endParaRPr>
          </a:p>
          <a:p>
            <a:pPr indent="0" lvl="0" marL="0" rtl="0" algn="l">
              <a:spcBef>
                <a:spcPts val="1200"/>
              </a:spcBef>
              <a:spcAft>
                <a:spcPts val="1200"/>
              </a:spcAft>
              <a:buNone/>
            </a:pPr>
            <a:r>
              <a:t/>
            </a:r>
            <a:endParaRPr sz="1800">
              <a:solidFill>
                <a:schemeClr val="dk1"/>
              </a:solidFill>
            </a:endParaRPr>
          </a:p>
        </p:txBody>
      </p:sp>
      <p:pic>
        <p:nvPicPr>
          <p:cNvPr id="180" name="Google Shape;180;p32" title="Untitled Diagram.drawio (3).png"/>
          <p:cNvPicPr preferRelativeResize="0"/>
          <p:nvPr/>
        </p:nvPicPr>
        <p:blipFill>
          <a:blip r:embed="rId3">
            <a:alphaModFix/>
          </a:blip>
          <a:stretch>
            <a:fillRect/>
          </a:stretch>
        </p:blipFill>
        <p:spPr>
          <a:xfrm>
            <a:off x="1455750" y="31999500"/>
            <a:ext cx="16676841" cy="100194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0)</a:t>
            </a:r>
            <a:endParaRPr/>
          </a:p>
        </p:txBody>
      </p:sp>
      <p:sp>
        <p:nvSpPr>
          <p:cNvPr id="186" name="Google Shape;186;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1    | 00000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a:t>
            </a:r>
            <a:r>
              <a:rPr lang="en">
                <a:solidFill>
                  <a:schemeClr val="dk1"/>
                </a:solidFill>
                <a:latin typeface="Roboto Mono"/>
                <a:ea typeface="Roboto Mono"/>
                <a:cs typeface="Roboto Mono"/>
                <a:sym typeface="Roboto Mono"/>
              </a:rPr>
              <a:t>1</a:t>
            </a:r>
            <a:r>
              <a:rPr lang="en">
                <a:solidFill>
                  <a:schemeClr val="dk1"/>
                </a:solidFill>
                <a:latin typeface="Roboto Mono"/>
                <a:ea typeface="Roboto Mono"/>
                <a:cs typeface="Roboto Mono"/>
                <a:sym typeface="Roboto Mono"/>
              </a:rPr>
              <a:t>    | </a:t>
            </a:r>
            <a:r>
              <a:rPr lang="en">
                <a:solidFill>
                  <a:schemeClr val="dk1"/>
                </a:solidFill>
                <a:latin typeface="Roboto Mono"/>
                <a:ea typeface="Roboto Mono"/>
                <a:cs typeface="Roboto Mono"/>
                <a:sym typeface="Roboto Mono"/>
              </a:rPr>
              <a:t>00000</a:t>
            </a:r>
            <a:r>
              <a:rPr lang="en">
                <a:solidFill>
                  <a:schemeClr val="dk1"/>
                </a:solidFill>
                <a:latin typeface="Roboto Mono"/>
                <a:ea typeface="Roboto Mono"/>
                <a:cs typeface="Roboto Mono"/>
                <a:sym typeface="Roboto Mono"/>
              </a:rPr>
              <a:t> | </a:t>
            </a:r>
            <a:r>
              <a:rPr lang="en">
                <a:solidFill>
                  <a:schemeClr val="dk1"/>
                </a:solidFill>
                <a:latin typeface="Roboto Mono"/>
                <a:ea typeface="Roboto Mono"/>
                <a:cs typeface="Roboto Mono"/>
                <a:sym typeface="Roboto Mono"/>
              </a:rPr>
              <a:t>0</a:t>
            </a:r>
            <a:r>
              <a:rPr lang="en">
                <a:solidFill>
                  <a:schemeClr val="dk1"/>
                </a:solidFill>
                <a:latin typeface="Roboto Mono"/>
                <a:ea typeface="Roboto Mono"/>
                <a:cs typeface="Roboto Mono"/>
                <a:sym typeface="Roboto Mono"/>
              </a:rPr>
              <a:t>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0)</a:t>
            </a:r>
            <a:endParaRPr/>
          </a:p>
        </p:txBody>
      </p:sp>
      <p:sp>
        <p:nvSpPr>
          <p:cNvPr id="192" name="Google Shape;192;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24</a:t>
            </a:r>
            <a:r>
              <a:rPr lang="en">
                <a:solidFill>
                  <a:schemeClr val="dk1"/>
                </a:solidFill>
                <a:latin typeface="Roboto Mono"/>
                <a:ea typeface="Roboto Mono"/>
                <a:cs typeface="Roboto Mono"/>
                <a:sym typeface="Roboto Mono"/>
              </a:rPr>
              <a:t>  | 1    | 00000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latin typeface="Roboto Mono"/>
                <a:ea typeface="Roboto Mono"/>
                <a:cs typeface="Roboto Mono"/>
                <a:sym typeface="Roboto Mono"/>
              </a:rPr>
              <a:t>18</a:t>
            </a:r>
            <a:r>
              <a:rPr lang="en">
                <a:solidFill>
                  <a:schemeClr val="dk1"/>
                </a:solidFill>
                <a:latin typeface="Roboto Mono"/>
                <a:ea typeface="Roboto Mono"/>
                <a:cs typeface="Roboto Mono"/>
                <a:sym typeface="Roboto Mono"/>
              </a:rPr>
              <a:t>  | 1    | 00000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0)</a:t>
            </a:r>
            <a:endParaRPr/>
          </a:p>
        </p:txBody>
      </p:sp>
      <p:sp>
        <p:nvSpPr>
          <p:cNvPr id="198" name="Google Shape;198;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24</a:t>
            </a:r>
            <a:r>
              <a:rPr lang="en">
                <a:solidFill>
                  <a:schemeClr val="dk1"/>
                </a:solidFill>
                <a:latin typeface="Roboto Mono"/>
                <a:ea typeface="Roboto Mono"/>
                <a:cs typeface="Roboto Mono"/>
                <a:sym typeface="Roboto Mono"/>
              </a:rPr>
              <a:t>  | 1    | 00000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0)</a:t>
            </a:r>
            <a:endParaRPr/>
          </a:p>
        </p:txBody>
      </p:sp>
      <p:sp>
        <p:nvSpPr>
          <p:cNvPr id="204" name="Google Shape;204;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24</a:t>
            </a:r>
            <a:r>
              <a:rPr lang="en">
                <a:solidFill>
                  <a:schemeClr val="dk1"/>
                </a:solidFill>
                <a:latin typeface="Roboto Mono"/>
                <a:ea typeface="Roboto Mono"/>
                <a:cs typeface="Roboto Mono"/>
                <a:sym typeface="Roboto Mono"/>
              </a:rPr>
              <a:t>  | 1    | 00000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a:t>
            </a:r>
            <a:r>
              <a:rPr lang="en">
                <a:solidFill>
                  <a:schemeClr val="dk1"/>
                </a:solidFill>
                <a:highlight>
                  <a:srgbClr val="E06666"/>
                </a:highlight>
                <a:latin typeface="Roboto Mono"/>
                <a:ea typeface="Roboto Mono"/>
                <a:cs typeface="Roboto Mono"/>
                <a:sym typeface="Roboto Mono"/>
              </a:rPr>
              <a:t>1</a:t>
            </a:r>
            <a:r>
              <a:rPr lang="en">
                <a:solidFill>
                  <a:schemeClr val="dk1"/>
                </a:solidFill>
                <a:latin typeface="Roboto Mono"/>
                <a:ea typeface="Roboto Mono"/>
                <a:cs typeface="Roboto Mono"/>
                <a:sym typeface="Roboto Mono"/>
              </a:rPr>
              <a:t>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a:t>
            </a:r>
            <a:r>
              <a:rPr lang="en">
                <a:solidFill>
                  <a:schemeClr val="dk1"/>
                </a:solidFill>
                <a:highlight>
                  <a:srgbClr val="E06666"/>
                </a:highlight>
                <a:latin typeface="Roboto Mono"/>
                <a:ea typeface="Roboto Mono"/>
                <a:cs typeface="Roboto Mono"/>
                <a:sym typeface="Roboto Mono"/>
              </a:rPr>
              <a:t>1</a:t>
            </a:r>
            <a:r>
              <a:rPr lang="en">
                <a:solidFill>
                  <a:schemeClr val="dk1"/>
                </a:solidFill>
                <a:latin typeface="Roboto Mono"/>
                <a:ea typeface="Roboto Mono"/>
                <a:cs typeface="Roboto Mono"/>
                <a:sym typeface="Roboto Mono"/>
              </a:rPr>
              <a:t>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a:t>
            </a:r>
            <a:r>
              <a:rPr lang="en">
                <a:solidFill>
                  <a:schemeClr val="dk1"/>
                </a:solidFill>
                <a:highlight>
                  <a:srgbClr val="E06666"/>
                </a:highlight>
                <a:latin typeface="Roboto Mono"/>
                <a:ea typeface="Roboto Mono"/>
                <a:cs typeface="Roboto Mono"/>
                <a:sym typeface="Roboto Mono"/>
              </a:rPr>
              <a:t>1</a:t>
            </a:r>
            <a:r>
              <a:rPr lang="en">
                <a:solidFill>
                  <a:schemeClr val="dk1"/>
                </a:solidFill>
                <a:latin typeface="Roboto Mono"/>
                <a:ea typeface="Roboto Mono"/>
                <a:cs typeface="Roboto Mono"/>
                <a:sym typeface="Roboto Mono"/>
              </a:rPr>
              <a:t>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0)</a:t>
            </a:r>
            <a:endParaRPr/>
          </a:p>
        </p:txBody>
      </p:sp>
      <p:sp>
        <p:nvSpPr>
          <p:cNvPr id="210" name="Google Shape;210;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24</a:t>
            </a:r>
            <a:r>
              <a:rPr lang="en">
                <a:solidFill>
                  <a:schemeClr val="dk1"/>
                </a:solidFill>
                <a:latin typeface="Roboto Mono"/>
                <a:ea typeface="Roboto Mono"/>
                <a:cs typeface="Roboto Mono"/>
                <a:sym typeface="Roboto Mono"/>
              </a:rPr>
              <a:t>  | 1    | 00000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0)</a:t>
            </a:r>
            <a:endParaRPr/>
          </a:p>
        </p:txBody>
      </p:sp>
      <p:sp>
        <p:nvSpPr>
          <p:cNvPr id="216" name="Google Shape;216;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24</a:t>
            </a:r>
            <a:r>
              <a:rPr lang="en">
                <a:solidFill>
                  <a:schemeClr val="dk1"/>
                </a:solidFill>
                <a:latin typeface="Roboto Mono"/>
                <a:ea typeface="Roboto Mono"/>
                <a:cs typeface="Roboto Mono"/>
                <a:sym typeface="Roboto Mono"/>
              </a:rPr>
              <a:t>  | 1    | 00000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24  | 1    | 00000 |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0)</a:t>
            </a:r>
            <a:endParaRPr/>
          </a:p>
        </p:txBody>
      </p:sp>
      <p:sp>
        <p:nvSpPr>
          <p:cNvPr id="222" name="Google Shape;222;p3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1    | 11111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0)</a:t>
            </a:r>
            <a:endParaRPr/>
          </a:p>
        </p:txBody>
      </p:sp>
      <p:sp>
        <p:nvSpPr>
          <p:cNvPr id="228" name="Google Shape;228;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23</a:t>
            </a:r>
            <a:r>
              <a:rPr lang="en">
                <a:solidFill>
                  <a:schemeClr val="dk1"/>
                </a:solidFill>
                <a:latin typeface="Roboto Mono"/>
                <a:ea typeface="Roboto Mono"/>
                <a:cs typeface="Roboto Mono"/>
                <a:sym typeface="Roboto Mono"/>
              </a:rPr>
              <a:t>  | 1    | 11111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0)</a:t>
            </a:r>
            <a:endParaRPr/>
          </a:p>
        </p:txBody>
      </p:sp>
      <p:sp>
        <p:nvSpPr>
          <p:cNvPr id="234" name="Google Shape;234;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23</a:t>
            </a:r>
            <a:r>
              <a:rPr lang="en">
                <a:solidFill>
                  <a:schemeClr val="dk1"/>
                </a:solidFill>
                <a:latin typeface="Roboto Mono"/>
                <a:ea typeface="Roboto Mono"/>
                <a:cs typeface="Roboto Mono"/>
                <a:sym typeface="Roboto Mono"/>
              </a:rPr>
              <a:t>  | 1    | 11111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0)</a:t>
            </a:r>
            <a:endParaRPr/>
          </a:p>
        </p:txBody>
      </p:sp>
      <p:sp>
        <p:nvSpPr>
          <p:cNvPr id="240" name="Google Shape;240;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23</a:t>
            </a:r>
            <a:r>
              <a:rPr lang="en">
                <a:solidFill>
                  <a:schemeClr val="dk1"/>
                </a:solidFill>
                <a:latin typeface="Roboto Mono"/>
                <a:ea typeface="Roboto Mono"/>
                <a:cs typeface="Roboto Mono"/>
                <a:sym typeface="Roboto Mono"/>
              </a:rPr>
              <a:t>  | 1    | 11111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0)</a:t>
            </a:r>
            <a:endParaRPr/>
          </a:p>
        </p:txBody>
      </p:sp>
      <p:sp>
        <p:nvSpPr>
          <p:cNvPr id="246" name="Google Shape;246;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23</a:t>
            </a:r>
            <a:r>
              <a:rPr lang="en">
                <a:solidFill>
                  <a:schemeClr val="dk1"/>
                </a:solidFill>
                <a:latin typeface="Roboto Mono"/>
                <a:ea typeface="Roboto Mono"/>
                <a:cs typeface="Roboto Mono"/>
                <a:sym typeface="Roboto Mono"/>
              </a:rPr>
              <a:t>  | 1    | 11111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23  | 10   | 00010 | 0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0)</a:t>
            </a:r>
            <a:endParaRPr/>
          </a:p>
        </p:txBody>
      </p:sp>
      <p:sp>
        <p:nvSpPr>
          <p:cNvPr id="252" name="Google Shape;252;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23</a:t>
            </a:r>
            <a:r>
              <a:rPr lang="en">
                <a:solidFill>
                  <a:schemeClr val="dk1"/>
                </a:solidFill>
                <a:latin typeface="Roboto Mono"/>
                <a:ea typeface="Roboto Mono"/>
                <a:cs typeface="Roboto Mono"/>
                <a:sym typeface="Roboto Mono"/>
              </a:rPr>
              <a:t>  | 1    | 11111 | 0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24  | 1    | 00001 | 0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a:t>
            </a:r>
            <a:r>
              <a:rPr lang="en"/>
              <a:t>-M</a:t>
            </a:r>
            <a:r>
              <a:rPr lang="en"/>
              <a:t>onotonicity</a:t>
            </a:r>
            <a:endParaRPr/>
          </a:p>
        </p:txBody>
      </p:sp>
      <p:sp>
        <p:nvSpPr>
          <p:cNvPr id="258" name="Google Shape;258;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Non-monotonicity described by literature to be resultant from a class of  tensor core-like adders computing n-term sums without the normalization of intermediate quantities</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a:t>
            </a:r>
            <a:endParaRPr/>
          </a:p>
        </p:txBody>
      </p:sp>
      <p:sp>
        <p:nvSpPr>
          <p:cNvPr id="264" name="Google Shape;264;p4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Non-monotonicity described by literature to be resultant from a class of  tensor core-like adders computing n-term sums without the normalization of intermediate quantities</a:t>
            </a:r>
            <a:endParaRPr>
              <a:solidFill>
                <a:schemeClr val="dk1"/>
              </a:solidFill>
            </a:endParaRPr>
          </a:p>
          <a:p>
            <a:pPr indent="-342900" lvl="0" marL="457200" rtl="0" algn="l">
              <a:spcBef>
                <a:spcPts val="0"/>
              </a:spcBef>
              <a:spcAft>
                <a:spcPts val="0"/>
              </a:spcAft>
              <a:buClr>
                <a:schemeClr val="dk1"/>
              </a:buClr>
              <a:buSzPts val="1800"/>
              <a:buChar char="●"/>
            </a:pPr>
            <a:r>
              <a:rPr lang="en">
                <a:solidFill>
                  <a:schemeClr val="dk1"/>
                </a:solidFill>
              </a:rPr>
              <a:t>Is there a space within this class that is guaranteed to be safe from non-monotonicity?</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L</a:t>
            </a:r>
            <a:r>
              <a:rPr lang="en" sz="1800">
                <a:solidFill>
                  <a:schemeClr val="dk1"/>
                </a:solidFill>
              </a:rPr>
              <a:t>ack of intermediate normalization is much of what makes TC efficient</a:t>
            </a:r>
            <a:endParaRPr sz="1800">
              <a:solidFill>
                <a:schemeClr val="dk1"/>
              </a:solidFill>
            </a:endParaRPr>
          </a:p>
          <a:p>
            <a:pPr indent="-342900" lvl="2" marL="1371600" rtl="0" algn="l">
              <a:spcBef>
                <a:spcPts val="0"/>
              </a:spcBef>
              <a:spcAft>
                <a:spcPts val="0"/>
              </a:spcAft>
              <a:buClr>
                <a:schemeClr val="dk1"/>
              </a:buClr>
              <a:buSzPts val="1800"/>
              <a:buChar char="■"/>
            </a:pPr>
            <a:r>
              <a:rPr lang="en" sz="1800">
                <a:solidFill>
                  <a:schemeClr val="dk1"/>
                </a:solidFill>
              </a:rPr>
              <a:t>→ Can we keep this general schema while still correcting for its problematic behavior?</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a:t>
            </a:r>
            <a:endParaRPr/>
          </a:p>
        </p:txBody>
      </p:sp>
      <p:sp>
        <p:nvSpPr>
          <p:cNvPr id="270" name="Google Shape;270;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INTUITION: We can see from the example when given a large term and n - 1 small terms</a:t>
            </a:r>
            <a:endParaRPr>
              <a:solidFill>
                <a:schemeClr val="dk1"/>
              </a:solidFill>
            </a:endParaRPr>
          </a:p>
          <a:p>
            <a:pPr indent="-368300" lvl="1" marL="914400" rtl="0" algn="l">
              <a:spcBef>
                <a:spcPts val="0"/>
              </a:spcBef>
              <a:spcAft>
                <a:spcPts val="0"/>
              </a:spcAft>
              <a:buClr>
                <a:schemeClr val="dk1"/>
              </a:buClr>
              <a:buSzPts val="2200"/>
              <a:buChar char="○"/>
            </a:pPr>
            <a:r>
              <a:rPr lang="en" sz="1800">
                <a:solidFill>
                  <a:schemeClr val="dk1"/>
                </a:solidFill>
              </a:rPr>
              <a:t>When the large term’s exponent decreases, the smaller terms re-enter the representable range of the large term and into the accumulator</a:t>
            </a:r>
            <a:endParaRPr>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a:t>
            </a:r>
            <a:endParaRPr/>
          </a:p>
        </p:txBody>
      </p:sp>
      <p:sp>
        <p:nvSpPr>
          <p:cNvPr id="276" name="Google Shape;276;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Non-monotonic behavior occurs in a Tensor Core accumulator if the sum of the smaller terms that “flow back” into the accumulator is greater than the decrease in the large term, without loss of generality: T1 − T1’</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a:t>
            </a:r>
            <a:endParaRPr/>
          </a:p>
        </p:txBody>
      </p:sp>
      <p:sp>
        <p:nvSpPr>
          <p:cNvPr id="282" name="Google Shape;282;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N</a:t>
            </a:r>
            <a:r>
              <a:rPr lang="en">
                <a:solidFill>
                  <a:schemeClr val="dk1"/>
                </a:solidFill>
              </a:rPr>
              <a:t>on-monotonic behavior occurs in a Tensor Core accumulator if the sum of the smaller terms that “flow back” into the accumulator is greater than the decrease in the large term, without loss of generality: T1 − T1’</a:t>
            </a:r>
            <a:endParaRPr>
              <a:solidFill>
                <a:schemeClr val="dk1"/>
              </a:solidFill>
            </a:endParaRPr>
          </a:p>
          <a:p>
            <a:pPr indent="0" lvl="0" marL="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INTUITION: A Tensor Core accumulator is m + p bits wide. These p bits are appended onto the lower end of the mantissa. This means for smaller terms to “flow in and out”  of the large term, they must fall below the padding bits too</a:t>
            </a:r>
            <a:endParaRPr>
              <a:solidFill>
                <a:schemeClr val="dk1"/>
              </a:solidFill>
            </a:endParaRPr>
          </a:p>
          <a:p>
            <a:pPr indent="0" lvl="0" marL="457200" rtl="0" algn="l">
              <a:spcBef>
                <a:spcPts val="1200"/>
              </a:spcBef>
              <a:spcAft>
                <a:spcPts val="1200"/>
              </a:spcAft>
              <a:buNone/>
            </a:pPr>
            <a:r>
              <a:rPr b="1" lang="en">
                <a:solidFill>
                  <a:schemeClr val="dk1"/>
                </a:solidFill>
              </a:rPr>
              <a:t>Lets try!</a:t>
            </a:r>
            <a:endParaRPr b="1">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288" name="Google Shape;288;p5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1    | 00000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294" name="Google Shape;294;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24</a:t>
            </a:r>
            <a:r>
              <a:rPr lang="en">
                <a:solidFill>
                  <a:schemeClr val="dk1"/>
                </a:solidFill>
                <a:latin typeface="Roboto Mono"/>
                <a:ea typeface="Roboto Mono"/>
                <a:cs typeface="Roboto Mono"/>
                <a:sym typeface="Roboto Mono"/>
              </a:rPr>
              <a:t>  | 1    | 00000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300" name="Google Shape;300;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24</a:t>
            </a:r>
            <a:r>
              <a:rPr lang="en">
                <a:solidFill>
                  <a:schemeClr val="dk1"/>
                </a:solidFill>
                <a:latin typeface="Roboto Mono"/>
                <a:ea typeface="Roboto Mono"/>
                <a:cs typeface="Roboto Mono"/>
                <a:sym typeface="Roboto Mono"/>
              </a:rPr>
              <a:t>  | 1    | 00000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306" name="Google Shape;306;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24</a:t>
            </a:r>
            <a:r>
              <a:rPr lang="en">
                <a:solidFill>
                  <a:schemeClr val="dk1"/>
                </a:solidFill>
                <a:latin typeface="Roboto Mono"/>
                <a:ea typeface="Roboto Mono"/>
                <a:cs typeface="Roboto Mono"/>
                <a:sym typeface="Roboto Mono"/>
              </a:rPr>
              <a:t>  | 1    | 00000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24  | 1    | 00001 | 1       |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312" name="Google Shape;312;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24</a:t>
            </a:r>
            <a:r>
              <a:rPr lang="en">
                <a:solidFill>
                  <a:schemeClr val="dk1"/>
                </a:solidFill>
                <a:latin typeface="Roboto Mono"/>
                <a:ea typeface="Roboto Mono"/>
                <a:cs typeface="Roboto Mono"/>
                <a:sym typeface="Roboto Mono"/>
              </a:rPr>
              <a:t>  | 1    | 00000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24  | 1    | 00001 | </a:t>
            </a:r>
            <a:r>
              <a:rPr lang="en">
                <a:solidFill>
                  <a:schemeClr val="dk1"/>
                </a:solidFill>
                <a:highlight>
                  <a:srgbClr val="E06666"/>
                </a:highlight>
                <a:latin typeface="Roboto Mono"/>
                <a:ea typeface="Roboto Mono"/>
                <a:cs typeface="Roboto Mono"/>
                <a:sym typeface="Roboto Mono"/>
              </a:rPr>
              <a:t>1</a:t>
            </a:r>
            <a:r>
              <a:rPr lang="en">
                <a:solidFill>
                  <a:schemeClr val="dk1"/>
                </a:solidFill>
                <a:latin typeface="Roboto Mono"/>
                <a:ea typeface="Roboto Mono"/>
                <a:cs typeface="Roboto Mono"/>
                <a:sym typeface="Roboto Mono"/>
              </a:rPr>
              <a:t>       |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318" name="Google Shape;318;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24</a:t>
            </a:r>
            <a:r>
              <a:rPr lang="en">
                <a:solidFill>
                  <a:schemeClr val="dk1"/>
                </a:solidFill>
                <a:latin typeface="Roboto Mono"/>
                <a:ea typeface="Roboto Mono"/>
                <a:cs typeface="Roboto Mono"/>
                <a:sym typeface="Roboto Mono"/>
              </a:rPr>
              <a:t>  | 1    | 00000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24  | 0    | 00000 | 1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24  | 1    | 00001 |         |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324" name="Google Shape;324;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1    | 11111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330" name="Google Shape;330;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23</a:t>
            </a:r>
            <a:r>
              <a:rPr lang="en">
                <a:solidFill>
                  <a:schemeClr val="dk1"/>
                </a:solidFill>
                <a:latin typeface="Roboto Mono"/>
                <a:ea typeface="Roboto Mono"/>
                <a:cs typeface="Roboto Mono"/>
                <a:sym typeface="Roboto Mono"/>
              </a:rPr>
              <a:t>  | 1    | 11111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18  | 1    | 00000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336" name="Google Shape;336;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23</a:t>
            </a:r>
            <a:r>
              <a:rPr lang="en">
                <a:solidFill>
                  <a:schemeClr val="dk1"/>
                </a:solidFill>
                <a:latin typeface="Roboto Mono"/>
                <a:ea typeface="Roboto Mono"/>
                <a:cs typeface="Roboto Mono"/>
                <a:sym typeface="Roboto Mono"/>
              </a:rPr>
              <a:t>  | 1    | 11111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342" name="Google Shape;342;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23</a:t>
            </a:r>
            <a:r>
              <a:rPr lang="en">
                <a:solidFill>
                  <a:schemeClr val="dk1"/>
                </a:solidFill>
                <a:latin typeface="Roboto Mono"/>
                <a:ea typeface="Roboto Mono"/>
                <a:cs typeface="Roboto Mono"/>
                <a:sym typeface="Roboto Mono"/>
              </a:rPr>
              <a:t>  | 1    | 11111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Clr>
                <a:schemeClr val="dk1"/>
              </a:buClr>
              <a:buSzPts val="1100"/>
              <a:buFont typeface="Arial"/>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Clr>
                <a:schemeClr val="dk1"/>
              </a:buClr>
              <a:buSzPts val="1100"/>
              <a:buFont typeface="Arial"/>
              <a:buNone/>
            </a:pPr>
            <a:r>
              <a:t/>
            </a:r>
            <a:endParaRPr>
              <a:solidFill>
                <a:schemeClr val="dk1"/>
              </a:solidFill>
              <a:latin typeface="Roboto Mono"/>
              <a:ea typeface="Roboto Mono"/>
              <a:cs typeface="Roboto Mono"/>
              <a:sym typeface="Roboto Mono"/>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348" name="Google Shape;348;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23</a:t>
            </a:r>
            <a:r>
              <a:rPr lang="en">
                <a:solidFill>
                  <a:schemeClr val="dk1"/>
                </a:solidFill>
                <a:latin typeface="Roboto Mono"/>
                <a:ea typeface="Roboto Mono"/>
                <a:cs typeface="Roboto Mono"/>
                <a:sym typeface="Roboto Mono"/>
              </a:rPr>
              <a:t>  | 1    | 11111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23  | 10   | 00010 | 0       |     </a:t>
            </a:r>
            <a:endParaRPr>
              <a:solidFill>
                <a:schemeClr val="dk1"/>
              </a:solidFill>
              <a:latin typeface="Roboto Mono"/>
              <a:ea typeface="Roboto Mono"/>
              <a:cs typeface="Roboto Mono"/>
              <a:sym typeface="Roboto Mon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354" name="Google Shape;354;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23</a:t>
            </a:r>
            <a:r>
              <a:rPr lang="en">
                <a:solidFill>
                  <a:schemeClr val="dk1"/>
                </a:solidFill>
                <a:latin typeface="Roboto Mono"/>
                <a:ea typeface="Roboto Mono"/>
                <a:cs typeface="Roboto Mono"/>
                <a:sym typeface="Roboto Mono"/>
              </a:rPr>
              <a:t>  | 1    | 11111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23  | 1    | 00001 | 0       |     </a:t>
            </a:r>
            <a:endParaRPr>
              <a:solidFill>
                <a:schemeClr val="dk1"/>
              </a:solidFill>
              <a:latin typeface="Roboto Mono"/>
              <a:ea typeface="Roboto Mono"/>
              <a:cs typeface="Roboto Mono"/>
              <a:sym typeface="Roboto Mono"/>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 (n = 4, p = 1)</a:t>
            </a:r>
            <a:endParaRPr/>
          </a:p>
        </p:txBody>
      </p:sp>
      <p:sp>
        <p:nvSpPr>
          <p:cNvPr id="360" name="Google Shape;360;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chemeClr val="dk1"/>
                </a:solidFill>
                <a:latin typeface="Roboto Mono"/>
                <a:ea typeface="Roboto Mono"/>
                <a:cs typeface="Roboto Mono"/>
                <a:sym typeface="Roboto Mono"/>
              </a:rPr>
              <a:t>sign | exp | impl | mant  | padding | lost</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a:t>
            </a:r>
            <a:r>
              <a:rPr lang="en">
                <a:solidFill>
                  <a:schemeClr val="dk1"/>
                </a:solidFill>
                <a:highlight>
                  <a:schemeClr val="accent6"/>
                </a:highlight>
                <a:latin typeface="Roboto Mono"/>
                <a:ea typeface="Roboto Mono"/>
                <a:cs typeface="Roboto Mono"/>
                <a:sym typeface="Roboto Mono"/>
              </a:rPr>
              <a:t>23</a:t>
            </a:r>
            <a:r>
              <a:rPr lang="en">
                <a:solidFill>
                  <a:schemeClr val="dk1"/>
                </a:solidFill>
                <a:latin typeface="Roboto Mono"/>
                <a:ea typeface="Roboto Mono"/>
                <a:cs typeface="Roboto Mono"/>
                <a:sym typeface="Roboto Mono"/>
              </a:rPr>
              <a:t>  | 1    | 11111 | 0       |        </a:t>
            </a:r>
            <a:endParaRPr>
              <a:solidFill>
                <a:schemeClr val="dk1"/>
              </a:solidFill>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0    | 23  | 0    | 00001 | 0       |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0"/>
              </a:spcAft>
              <a:buNone/>
            </a:pPr>
            <a:r>
              <a:rPr lang="en">
                <a:solidFill>
                  <a:schemeClr val="dk1"/>
                </a:solidFill>
                <a:latin typeface="Roboto Mono"/>
                <a:ea typeface="Roboto Mono"/>
                <a:cs typeface="Roboto Mono"/>
                <a:sym typeface="Roboto Mono"/>
              </a:rPr>
              <a:t>SUM —------------------------------------------------</a:t>
            </a:r>
            <a:endParaRPr>
              <a:solidFill>
                <a:schemeClr val="dk1"/>
              </a:solidFill>
              <a:highlight>
                <a:srgbClr val="E06666"/>
              </a:highlight>
              <a:latin typeface="Roboto Mono"/>
              <a:ea typeface="Roboto Mono"/>
              <a:cs typeface="Roboto Mono"/>
              <a:sym typeface="Roboto Mono"/>
            </a:endParaRPr>
          </a:p>
          <a:p>
            <a:pPr indent="0" lvl="0" marL="0" rtl="0" algn="l">
              <a:spcBef>
                <a:spcPts val="1200"/>
              </a:spcBef>
              <a:spcAft>
                <a:spcPts val="1200"/>
              </a:spcAft>
              <a:buNone/>
            </a:pPr>
            <a:r>
              <a:rPr lang="en">
                <a:solidFill>
                  <a:schemeClr val="dk1"/>
                </a:solidFill>
                <a:latin typeface="Roboto Mono"/>
                <a:ea typeface="Roboto Mono"/>
                <a:cs typeface="Roboto Mono"/>
                <a:sym typeface="Roboto Mono"/>
              </a:rPr>
              <a:t>0    | 23  | 1    | 00001 |     </a:t>
            </a:r>
            <a:endParaRPr>
              <a:solidFill>
                <a:schemeClr val="dk1"/>
              </a:solidFill>
              <a:latin typeface="Roboto Mono"/>
              <a:ea typeface="Roboto Mono"/>
              <a:cs typeface="Roboto Mono"/>
              <a:sym typeface="Roboto Mono"/>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Non-Monotonicity</a:t>
            </a:r>
            <a:endParaRPr/>
          </a:p>
        </p:txBody>
      </p:sp>
      <p:sp>
        <p:nvSpPr>
          <p:cNvPr id="366" name="Google Shape;366;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No longer non-monotonic for this one example</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But this is just for one example, is there a way to know for all cases?</a:t>
            </a:r>
            <a:endParaRPr sz="1800">
              <a:solidFill>
                <a:schemeClr val="dk1"/>
              </a:solidFill>
            </a:endParaRPr>
          </a:p>
          <a:p>
            <a:pPr indent="0" lvl="0" marL="0" rtl="0" algn="l">
              <a:spcBef>
                <a:spcPts val="1200"/>
              </a:spcBef>
              <a:spcAft>
                <a:spcPts val="1200"/>
              </a:spcAft>
              <a:buNone/>
            </a:pPr>
            <a:r>
              <a:t/>
            </a:r>
            <a:endParaRPr sz="1800">
              <a:solidFill>
                <a:schemeClr val="dk1"/>
              </a:solidFill>
            </a:endParaRPr>
          </a:p>
        </p:txBody>
      </p:sp>
      <p:pic>
        <p:nvPicPr>
          <p:cNvPr id="367" name="Google Shape;367;p63" title="Untitled Diagram.drawio (3).png"/>
          <p:cNvPicPr preferRelativeResize="0"/>
          <p:nvPr/>
        </p:nvPicPr>
        <p:blipFill>
          <a:blip r:embed="rId3">
            <a:alphaModFix/>
          </a:blip>
          <a:stretch>
            <a:fillRect/>
          </a:stretch>
        </p:blipFill>
        <p:spPr>
          <a:xfrm>
            <a:off x="1455750" y="31999500"/>
            <a:ext cx="16676841" cy="1001942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64"/>
          <p:cNvSpPr txBox="1"/>
          <p:nvPr/>
        </p:nvSpPr>
        <p:spPr>
          <a:xfrm>
            <a:off x="311700" y="1068725"/>
            <a:ext cx="8265600" cy="36723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chemeClr val="dk1"/>
              </a:buClr>
              <a:buSzPts val="1800"/>
              <a:buChar char="●"/>
            </a:pPr>
            <a:r>
              <a:rPr lang="en" sz="1800">
                <a:solidFill>
                  <a:schemeClr val="dk1"/>
                </a:solidFill>
              </a:rPr>
              <a:t>SMT Solvers can be powerful </a:t>
            </a:r>
            <a:endParaRPr sz="1800">
              <a:solidFill>
                <a:schemeClr val="dk1"/>
              </a:solidFill>
            </a:endParaRPr>
          </a:p>
          <a:p>
            <a:pPr indent="0" lvl="0" marL="457200" rtl="0" algn="l">
              <a:spcBef>
                <a:spcPts val="0"/>
              </a:spcBef>
              <a:spcAft>
                <a:spcPts val="0"/>
              </a:spcAft>
              <a:buNone/>
            </a:pPr>
            <a:r>
              <a:rPr lang="en" sz="1800">
                <a:solidFill>
                  <a:schemeClr val="dk1"/>
                </a:solidFill>
              </a:rPr>
              <a:t>in modeling arithmetic schemes</a:t>
            </a:r>
            <a:endParaRPr sz="1800">
              <a:solidFill>
                <a:schemeClr val="dk1"/>
              </a:solidFill>
            </a:endParaRPr>
          </a:p>
          <a:p>
            <a:pPr indent="0" lvl="0" marL="457200" rtl="0" algn="l">
              <a:spcBef>
                <a:spcPts val="0"/>
              </a:spcBef>
              <a:spcAft>
                <a:spcPts val="0"/>
              </a:spcAft>
              <a:buNone/>
            </a:pPr>
            <a:r>
              <a:t/>
            </a:r>
            <a:endParaRPr sz="1800">
              <a:solidFill>
                <a:schemeClr val="dk1"/>
              </a:solidFill>
            </a:endParaRPr>
          </a:p>
          <a:p>
            <a:pPr indent="-342900" lvl="0" marL="457200" rtl="0" algn="l">
              <a:spcBef>
                <a:spcPts val="0"/>
              </a:spcBef>
              <a:spcAft>
                <a:spcPts val="0"/>
              </a:spcAft>
              <a:buClr>
                <a:schemeClr val="dk1"/>
              </a:buClr>
              <a:buSzPts val="1800"/>
              <a:buChar char="●"/>
            </a:pPr>
            <a:r>
              <a:rPr lang="en" sz="1800">
                <a:solidFill>
                  <a:schemeClr val="dk1"/>
                </a:solidFill>
              </a:rPr>
              <a:t>We can encode each operation</a:t>
            </a:r>
            <a:endParaRPr sz="1800">
              <a:solidFill>
                <a:schemeClr val="dk1"/>
              </a:solidFill>
            </a:endParaRPr>
          </a:p>
          <a:p>
            <a:pPr indent="0" lvl="0" marL="457200" rtl="0" algn="l">
              <a:spcBef>
                <a:spcPts val="0"/>
              </a:spcBef>
              <a:spcAft>
                <a:spcPts val="0"/>
              </a:spcAft>
              <a:buNone/>
            </a:pPr>
            <a:r>
              <a:rPr lang="en" sz="1800">
                <a:solidFill>
                  <a:schemeClr val="dk1"/>
                </a:solidFill>
              </a:rPr>
              <a:t>that the tensor core performs </a:t>
            </a:r>
            <a:endParaRPr sz="1800">
              <a:solidFill>
                <a:schemeClr val="dk1"/>
              </a:solidFill>
            </a:endParaRPr>
          </a:p>
          <a:p>
            <a:pPr indent="0" lvl="0" marL="457200" rtl="0" algn="l">
              <a:spcBef>
                <a:spcPts val="0"/>
              </a:spcBef>
              <a:spcAft>
                <a:spcPts val="0"/>
              </a:spcAft>
              <a:buNone/>
            </a:pPr>
            <a:r>
              <a:rPr lang="en" sz="1800">
                <a:solidFill>
                  <a:schemeClr val="dk1"/>
                </a:solidFill>
              </a:rPr>
              <a:t>a</a:t>
            </a:r>
            <a:r>
              <a:rPr lang="en" sz="1800">
                <a:solidFill>
                  <a:schemeClr val="dk1"/>
                </a:solidFill>
              </a:rPr>
              <a:t>s constraints on bit-vectors </a:t>
            </a:r>
            <a:endParaRPr sz="1800">
              <a:solidFill>
                <a:schemeClr val="dk1"/>
              </a:solidFill>
            </a:endParaRPr>
          </a:p>
        </p:txBody>
      </p:sp>
      <p:sp>
        <p:nvSpPr>
          <p:cNvPr id="373" name="Google Shape;373;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SMT </a:t>
            </a:r>
            <a:endParaRPr/>
          </a:p>
        </p:txBody>
      </p:sp>
      <p:pic>
        <p:nvPicPr>
          <p:cNvPr id="374" name="Google Shape;374;p64" title="Untitled Diagram.drawio (3).png"/>
          <p:cNvPicPr preferRelativeResize="0"/>
          <p:nvPr/>
        </p:nvPicPr>
        <p:blipFill>
          <a:blip r:embed="rId3">
            <a:alphaModFix/>
          </a:blip>
          <a:stretch>
            <a:fillRect/>
          </a:stretch>
        </p:blipFill>
        <p:spPr>
          <a:xfrm>
            <a:off x="4170548" y="1017713"/>
            <a:ext cx="4661750" cy="280077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Process</a:t>
            </a:r>
            <a:endParaRPr/>
          </a:p>
        </p:txBody>
      </p:sp>
      <p:pic>
        <p:nvPicPr>
          <p:cNvPr id="380" name="Google Shape;380;p65" title="asfjeahfkjaehskj.drawio.png"/>
          <p:cNvPicPr preferRelativeResize="0"/>
          <p:nvPr/>
        </p:nvPicPr>
        <p:blipFill>
          <a:blip r:embed="rId3">
            <a:alphaModFix/>
          </a:blip>
          <a:stretch>
            <a:fillRect/>
          </a:stretch>
        </p:blipFill>
        <p:spPr>
          <a:xfrm>
            <a:off x="2118963" y="487638"/>
            <a:ext cx="4906076" cy="416822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a:t>
            </a:r>
            <a:endParaRPr/>
          </a:p>
        </p:txBody>
      </p:sp>
      <p:pic>
        <p:nvPicPr>
          <p:cNvPr id="386" name="Google Shape;386;p66" title="myplot3.png"/>
          <p:cNvPicPr preferRelativeResize="0"/>
          <p:nvPr/>
        </p:nvPicPr>
        <p:blipFill rotWithShape="1">
          <a:blip r:embed="rId3">
            <a:alphaModFix/>
          </a:blip>
          <a:srcRect b="0" l="0" r="0" t="7706"/>
          <a:stretch/>
        </p:blipFill>
        <p:spPr>
          <a:xfrm>
            <a:off x="1685888" y="973500"/>
            <a:ext cx="5772225" cy="3196500"/>
          </a:xfrm>
          <a:prstGeom prst="rect">
            <a:avLst/>
          </a:prstGeom>
          <a:solidFill>
            <a:srgbClr val="FFFFFF"/>
          </a:solid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a:t>
            </a:r>
            <a:endParaRPr/>
          </a:p>
        </p:txBody>
      </p:sp>
      <p:pic>
        <p:nvPicPr>
          <p:cNvPr id="392" name="Google Shape;392;p67" title="finalseajfklsej.png"/>
          <p:cNvPicPr preferRelativeResize="0"/>
          <p:nvPr/>
        </p:nvPicPr>
        <p:blipFill rotWithShape="1">
          <a:blip r:embed="rId3">
            <a:alphaModFix/>
          </a:blip>
          <a:srcRect b="2841" l="5178" r="16000" t="9446"/>
          <a:stretch/>
        </p:blipFill>
        <p:spPr>
          <a:xfrm>
            <a:off x="1745025" y="622650"/>
            <a:ext cx="5301999" cy="3933100"/>
          </a:xfrm>
          <a:prstGeom prst="rect">
            <a:avLst/>
          </a:prstGeom>
          <a:noFill/>
          <a:ln>
            <a:noFill/>
          </a:ln>
        </p:spPr>
      </p:pic>
      <p:pic>
        <p:nvPicPr>
          <p:cNvPr id="393" name="Google Shape;393;p67" title="finalseajfklsej.png"/>
          <p:cNvPicPr preferRelativeResize="0"/>
          <p:nvPr/>
        </p:nvPicPr>
        <p:blipFill rotWithShape="1">
          <a:blip r:embed="rId3">
            <a:alphaModFix/>
          </a:blip>
          <a:srcRect b="2841" l="84230" r="12022" t="9446"/>
          <a:stretch/>
        </p:blipFill>
        <p:spPr>
          <a:xfrm rot="-5400000">
            <a:off x="6739751" y="-1469900"/>
            <a:ext cx="252000" cy="39331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a:t>
            </a:r>
            <a:endParaRPr/>
          </a:p>
        </p:txBody>
      </p:sp>
      <p:pic>
        <p:nvPicPr>
          <p:cNvPr id="399" name="Google Shape;399;p68"/>
          <p:cNvPicPr preferRelativeResize="0"/>
          <p:nvPr/>
        </p:nvPicPr>
        <p:blipFill>
          <a:blip r:embed="rId3">
            <a:alphaModFix/>
          </a:blip>
          <a:stretch>
            <a:fillRect/>
          </a:stretch>
        </p:blipFill>
        <p:spPr>
          <a:xfrm>
            <a:off x="152400" y="1170125"/>
            <a:ext cx="8839200" cy="28275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Results </a:t>
            </a:r>
            <a:endParaRPr/>
          </a:p>
        </p:txBody>
      </p:sp>
      <p:pic>
        <p:nvPicPr>
          <p:cNvPr id="405" name="Google Shape;405;p69"/>
          <p:cNvPicPr preferRelativeResize="0"/>
          <p:nvPr/>
        </p:nvPicPr>
        <p:blipFill>
          <a:blip r:embed="rId3">
            <a:alphaModFix/>
          </a:blip>
          <a:stretch>
            <a:fillRect/>
          </a:stretch>
        </p:blipFill>
        <p:spPr>
          <a:xfrm>
            <a:off x="152400" y="1170125"/>
            <a:ext cx="8839200" cy="2827525"/>
          </a:xfrm>
          <a:prstGeom prst="rect">
            <a:avLst/>
          </a:prstGeom>
          <a:noFill/>
          <a:ln>
            <a:noFill/>
          </a:ln>
        </p:spPr>
      </p:pic>
      <p:pic>
        <p:nvPicPr>
          <p:cNvPr id="406" name="Google Shape;406;p69"/>
          <p:cNvPicPr preferRelativeResize="0"/>
          <p:nvPr/>
        </p:nvPicPr>
        <p:blipFill>
          <a:blip r:embed="rId4">
            <a:alphaModFix/>
          </a:blip>
          <a:stretch>
            <a:fillRect/>
          </a:stretch>
        </p:blipFill>
        <p:spPr>
          <a:xfrm rot="-1385052">
            <a:off x="1157825" y="1706825"/>
            <a:ext cx="5942700" cy="1412825"/>
          </a:xfrm>
          <a:prstGeom prst="rect">
            <a:avLst/>
          </a:prstGeom>
          <a:noFill/>
          <a:ln cap="flat" cmpd="sng" w="9525">
            <a:solidFill>
              <a:srgbClr val="FF0000"/>
            </a:solidFill>
            <a:prstDash val="solid"/>
            <a:round/>
            <a:headEnd len="sm" w="sm" type="none"/>
            <a:tailEnd len="sm" w="sm" type="none"/>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7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Takeaways</a:t>
            </a:r>
            <a:endParaRPr/>
          </a:p>
        </p:txBody>
      </p:sp>
      <p:sp>
        <p:nvSpPr>
          <p:cNvPr id="412" name="Google Shape;412;p7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
                <a:solidFill>
                  <a:schemeClr val="dk1"/>
                </a:solidFill>
              </a:rPr>
              <a:t>YES! There is a space of hardware configurations that fall </a:t>
            </a:r>
            <a:r>
              <a:rPr lang="en">
                <a:solidFill>
                  <a:schemeClr val="dk1"/>
                </a:solidFill>
              </a:rPr>
              <a:t>within</a:t>
            </a:r>
            <a:r>
              <a:rPr lang="en">
                <a:solidFill>
                  <a:schemeClr val="dk1"/>
                </a:solidFill>
              </a:rPr>
              <a:t> this class of Tensor Core-like adders that also does not allow for non-monotonicity</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The existing Turing architecture falls under this classification</a:t>
            </a:r>
            <a:endParaRPr sz="1800">
              <a:solidFill>
                <a:schemeClr val="dk1"/>
              </a:solidFill>
            </a:endParaRPr>
          </a:p>
          <a:p>
            <a:pPr indent="0" lvl="0" marL="457200" rtl="0" algn="l">
              <a:spcBef>
                <a:spcPts val="1200"/>
              </a:spcBef>
              <a:spcAft>
                <a:spcPts val="0"/>
              </a:spcAft>
              <a:buNone/>
            </a:pPr>
            <a:r>
              <a:t/>
            </a:r>
            <a:endParaRPr>
              <a:solidFill>
                <a:schemeClr val="dk1"/>
              </a:solidFill>
            </a:endParaRPr>
          </a:p>
          <a:p>
            <a:pPr indent="-342900" lvl="0" marL="457200" rtl="0" algn="l">
              <a:spcBef>
                <a:spcPts val="1200"/>
              </a:spcBef>
              <a:spcAft>
                <a:spcPts val="0"/>
              </a:spcAft>
              <a:buClr>
                <a:schemeClr val="dk1"/>
              </a:buClr>
              <a:buSzPts val="1800"/>
              <a:buChar char="●"/>
            </a:pPr>
            <a:r>
              <a:rPr lang="en">
                <a:solidFill>
                  <a:schemeClr val="dk1"/>
                </a:solidFill>
              </a:rPr>
              <a:t>We have only discussed non-monotonicity here</a:t>
            </a:r>
            <a:endParaRPr>
              <a:solidFill>
                <a:schemeClr val="dk1"/>
              </a:solidFill>
            </a:endParaRPr>
          </a:p>
          <a:p>
            <a:pPr indent="-342900" lvl="1" marL="914400" rtl="0" algn="l">
              <a:spcBef>
                <a:spcPts val="0"/>
              </a:spcBef>
              <a:spcAft>
                <a:spcPts val="0"/>
              </a:spcAft>
              <a:buClr>
                <a:schemeClr val="dk1"/>
              </a:buClr>
              <a:buSzPts val="1800"/>
              <a:buChar char="○"/>
            </a:pPr>
            <a:r>
              <a:rPr lang="en" sz="1800">
                <a:solidFill>
                  <a:schemeClr val="dk1"/>
                </a:solidFill>
              </a:rPr>
              <a:t>What about the larger bounds of general error that come inherent to TC</a:t>
            </a:r>
            <a:endParaRPr sz="1800">
              <a:solidFill>
                <a:schemeClr val="dk1"/>
              </a:solidFill>
            </a:endParaRPr>
          </a:p>
          <a:p>
            <a:pPr indent="-342900" lvl="2" marL="1371600" rtl="0" algn="l">
              <a:spcBef>
                <a:spcPts val="0"/>
              </a:spcBef>
              <a:spcAft>
                <a:spcPts val="0"/>
              </a:spcAft>
              <a:buClr>
                <a:schemeClr val="dk1"/>
              </a:buClr>
              <a:buSzPts val="1800"/>
              <a:buChar char="■"/>
            </a:pPr>
            <a:r>
              <a:rPr lang="en" sz="1800">
                <a:solidFill>
                  <a:schemeClr val="dk1"/>
                </a:solidFill>
              </a:rPr>
              <a:t>Can we correct for these too?</a:t>
            </a:r>
            <a:endParaRPr sz="1800">
              <a:solidFill>
                <a:schemeClr val="dk1"/>
              </a:solidFill>
            </a:endParaRPr>
          </a:p>
          <a:p>
            <a:pPr indent="-342900" lvl="3" marL="1828800" rtl="0" algn="l">
              <a:spcBef>
                <a:spcPts val="0"/>
              </a:spcBef>
              <a:spcAft>
                <a:spcPts val="0"/>
              </a:spcAft>
              <a:buClr>
                <a:schemeClr val="dk1"/>
              </a:buClr>
              <a:buSzPts val="1800"/>
              <a:buChar char="●"/>
            </a:pPr>
            <a:r>
              <a:rPr lang="en" sz="1800">
                <a:solidFill>
                  <a:schemeClr val="dk1"/>
                </a:solidFill>
              </a:rPr>
              <a:t>→ Come talk with me, we can discuss :) </a:t>
            </a:r>
            <a:endParaRPr sz="1800">
              <a:solidFill>
                <a:schemeClr val="dk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71"/>
          <p:cNvSpPr txBox="1"/>
          <p:nvPr>
            <p:ph type="title"/>
          </p:nvPr>
        </p:nvSpPr>
        <p:spPr>
          <a:xfrm>
            <a:off x="311700" y="991475"/>
            <a:ext cx="8520600" cy="19179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Thank You :)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pic>
        <p:nvPicPr>
          <p:cNvPr id="422" name="Google Shape;422;p72" title="adobe-express-qr-code.png"/>
          <p:cNvPicPr preferRelativeResize="0"/>
          <p:nvPr/>
        </p:nvPicPr>
        <p:blipFill>
          <a:blip r:embed="rId3">
            <a:alphaModFix/>
          </a:blip>
          <a:stretch>
            <a:fillRect/>
          </a:stretch>
        </p:blipFill>
        <p:spPr>
          <a:xfrm>
            <a:off x="2377963" y="377713"/>
            <a:ext cx="4388063" cy="4388063"/>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